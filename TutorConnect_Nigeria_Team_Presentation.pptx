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Project Introduction</a:t>
            </a:r>
          </a:p>
          <a:p>
            <a:r>
              <a:t>Approximate speaking time: 0:25</a:t>
            </a:r>
          </a:p>
          <a:p/>
          <a:p>
            <a:r>
              <a:t>Speaking script:</a:t>
            </a:r>
          </a:p>
          <a:p>
            <a:r>
              <a:t>Good day, judges, mentors, lecturers and everyone joining us. We are presenting TutorConnect Nigeria at the Edumentry AI Hackathon 1.0 Web App Challenge. I am Uchekwe Uchechukwu Hephzibah, the team leader. Our team also includes Chioma Helen Ezeufonna for frontend and interface design; Uzochukwu Mary Cynthia Enyemakachukwu for tutor discovery and booking; Bodman Ebuka Precous for backend and APIs; and Pius Kaosisochukwu Aminie for the database, architecture and future direction. We will take you from the learner's challenge through the product and its technical foundation.</a:t>
            </a:r>
          </a:p>
          <a:p/>
          <a:p>
            <a:r>
              <a:t>Terms to explain simply:</a:t>
            </a:r>
          </a:p>
          <a:p>
            <a:r>
              <a:t>A full-stack application includes the screens people use and the server-side logic and data behind them.</a:t>
            </a:r>
          </a:p>
          <a:p/>
          <a:p>
            <a:r>
              <a:t>Transition:</a:t>
            </a:r>
          </a:p>
          <a:p>
            <a:r>
              <a:t>Let's begin with what the platform is designed to do.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Project Overview</a:t>
            </a:r>
          </a:p>
          <a:p>
            <a:r>
              <a:t>Approximate speaking time: 0:50</a:t>
            </a:r>
          </a:p>
          <a:p/>
          <a:p>
            <a:r>
              <a:t>Speaking script:</a:t>
            </a:r>
          </a:p>
          <a:p>
            <a:r>
              <a:t>TutorConnect Nigeria is an education platform for students and parents looking for local or online tutoring. It gives a learner a place to explore tutor options, compare information such as subject, curriculum, location, price and availability, and send a booking request. Tutors can describe what they teach and when they are available. The goal is to make the first steps of finding and contacting a tutor more organized. A request is a request for a lesson; it should not be confused with a completed lesson or an online payment.</a:t>
            </a:r>
          </a:p>
          <a:p/>
          <a:p>
            <a:r>
              <a:t>Terms to explain simply:</a:t>
            </a:r>
          </a:p>
          <a:p>
            <a:r>
              <a:t>A tutor marketplace is a platform that helps people find and contact tutors; it does not itself guarantee a match.</a:t>
            </a:r>
          </a:p>
          <a:p/>
          <a:p>
            <a:r>
              <a:t>Transition:</a:t>
            </a:r>
          </a:p>
          <a:p>
            <a:r>
              <a:t>To see why those details matter, let's look at the challenge the product is designed around.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Problem Statement and Objectives</a:t>
            </a:r>
          </a:p>
          <a:p>
            <a:r>
              <a:t>Approximate speaking time: 1:00</a:t>
            </a:r>
          </a:p>
          <a:p/>
          <a:p>
            <a:r>
              <a:t>Speaking script:</a:t>
            </a:r>
          </a:p>
          <a:p>
            <a:r>
              <a:t>The challenge we are addressing is that finding a tutor is a multi-part decision. A learner may need a certain subject and curriculum, a location or online option, a budget that works for the family, and a time that fits the tutor's availability. The project is designed to bring these details into one discovery and request flow. Its main objectives are to make searching more focused, make profiles easier to compare, and make booking requests easier for both sides to follow. These are product goals, not results from a survey or a claim about how many people have used the platform.</a:t>
            </a:r>
          </a:p>
          <a:p/>
          <a:p>
            <a:r>
              <a:t>Terms to explain simply:</a:t>
            </a:r>
          </a:p>
          <a:p>
            <a:r>
              <a:t>Curriculum means the learning programme a student follows, such as Nigerian National, British Cambridge or American. Availability means the time slots a tutor has listed.</a:t>
            </a:r>
          </a:p>
          <a:p/>
          <a:p>
            <a:r>
              <a:t>Transition:</a:t>
            </a:r>
          </a:p>
          <a:p>
            <a:r>
              <a:t>The next slide shows the people the platform is designed to support and the main actions available to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Platform Overview</a:t>
            </a:r>
          </a:p>
          <a:p>
            <a:r>
              <a:t>Approximate speaking time: 0:50</a:t>
            </a:r>
          </a:p>
          <a:p/>
          <a:p>
            <a:r>
              <a:t>Speaking script:</a:t>
            </a:r>
          </a:p>
          <a:p>
            <a:r>
              <a:t>TutorConnect brings together four roles. Students and parents can look for tutors, submit a request and follow its status; the parent profile also holds learning context such as a child's level and budget. Tutors can describe their subjects, experience and schedule, then respond to requests. Administrators have tools for account review and tutor credential submissions. The platform ties these actions together through the directory, tutor profiles, bookings and dashboards. One important boundary is that the current dashboard pages are not protected by middleware in this build; we will return to that as a production improvement.</a:t>
            </a:r>
          </a:p>
          <a:p/>
          <a:p>
            <a:r>
              <a:t>Terms to explain simply:</a:t>
            </a:r>
          </a:p>
          <a:p>
            <a:r>
              <a:t>A dashboard is a role-focused page for seeing and managing relevant activity. Middleware is a server-side gate that can check who is allowed to open a page.</a:t>
            </a:r>
          </a:p>
          <a:p/>
          <a:p>
            <a:r>
              <a:t>Transition:</a:t>
            </a:r>
          </a:p>
          <a:p>
            <a:r>
              <a:t>I will now hand over to Chioma Helen Ezeufonna, who will explain the frontend and how those journeys appear to users.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Chioma Helen Ezeufonna</a:t>
            </a:r>
          </a:p>
          <a:p>
            <a:r>
              <a:t>Role: Frontend Development and User Interface Design</a:t>
            </a:r>
          </a:p>
          <a:p>
            <a:r>
              <a:t>Approximate speaking time: 1:15</a:t>
            </a:r>
          </a:p>
          <a:p/>
          <a:p>
            <a:r>
              <a:t>Speaking script:</a:t>
            </a:r>
          </a:p>
          <a:p>
            <a:r>
              <a:t>The frontend is the part people see and use. The project uses the Next.js App Router with React and TypeScript to organize pages and reusable interface pieces. Tailwind CSS provides consistent styling and responsive layouts, while Framer Motion adds restrained transitions and Lucide React supplies interface icons. The homepage uses a hero and navigation to introduce the main paths; subject categories support browsing; tutor cards present repeatable profile summaries and actions. Components such as the navigation, booking dialog and availability calendar help keep behavior consistent. The student-learning visual is an existing project image asset. The small panel beside it is an illustrative layout map, not a screenshot of the running application.</a:t>
            </a:r>
          </a:p>
          <a:p/>
          <a:p>
            <a:r>
              <a:t>Terms to explain simply:</a:t>
            </a:r>
          </a:p>
          <a:p>
            <a:r>
              <a:t>A reusable component is an interface element that can be used on multiple pages. Responsive design means the layout adjusts to different screen sizes.</a:t>
            </a:r>
          </a:p>
          <a:p/>
          <a:p>
            <a:r>
              <a:t>Transition:</a:t>
            </a:r>
          </a:p>
          <a:p>
            <a:r>
              <a:t>I have explained how the interface is organized. Uzochukwu Mary Cynthia Enyemakachukwu will now show how learners discover tutors and make a request.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a:t>
            </a:r>
          </a:p>
          <a:p>
            <a:r>
              <a:t>Role: Tutor Discovery, Tutor Profiles and Booking Workflow</a:t>
            </a:r>
          </a:p>
          <a:p>
            <a:r>
              <a:t>Approximate speaking time: 1:05</a:t>
            </a:r>
          </a:p>
          <a:p/>
          <a:p>
            <a:r>
              <a:t>Speaking script:</a:t>
            </a:r>
          </a:p>
          <a:p>
            <a:r>
              <a:t>A learner can begin with a subject or a search term, then narrow the tutor directory. The available filters include subject, state or online location, hourly budget, weekday or weekend availability, curriculum and a verified-only option. A profile brings together the tutor's subjects, curriculum, experience, rate, location or online status, weekly availability and review information. The data-backed public directory is built to show profiles whose verified flag is set. The portrait here is an existing project image used only as a visual; it is not a named sample tutor and it does not imply a real rating or review count.</a:t>
            </a:r>
          </a:p>
          <a:p/>
          <a:p>
            <a:r>
              <a:t>Terms to explain simply:</a:t>
            </a:r>
          </a:p>
          <a:p>
            <a:r>
              <a:t>A filter narrows a list using a condition. A verification indicator records an administrative document-review step; it is not a guarantee of teaching quality.</a:t>
            </a:r>
          </a:p>
          <a:p/>
          <a:p>
            <a:r>
              <a:t>Transition:</a:t>
            </a:r>
          </a:p>
          <a:p>
            <a:r>
              <a:t>After a suitable tutor is found, the next step is to send and manage a booking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Uzochukwu Mary Cynthia Enyemakachukwu</a:t>
            </a:r>
          </a:p>
          <a:p>
            <a:r>
              <a:t>Role: Tutor Discovery, Tutor Profiles and Booking Workflow</a:t>
            </a:r>
          </a:p>
          <a:p>
            <a:r>
              <a:t>Approximate speaking time: 1:10</a:t>
            </a:r>
          </a:p>
          <a:p/>
          <a:p>
            <a:r>
              <a:t>Speaking script:</a:t>
            </a:r>
          </a:p>
          <a:p>
            <a:r>
              <a:t>The booking flow starts from a tutor profile and uses the tutor's listed availability. The request form collects the learner's grade level and subject, the preferred date and time, whether the session is online or in person, and any notes for the tutor. The application calculates an estimated total in Nigerian naira using the tutor's hourly rate and the selected duration. The request begins in a pending state; it can then be accepted or rejected, and later marked completed or cancelled. Student and parent dashboards help track requests, while tutors can respond and manage availability. The estimate helps with planning, but it does not charge a card or prove that a payment system exists.</a:t>
            </a:r>
          </a:p>
          <a:p/>
          <a:p>
            <a:r>
              <a:t>Terms to explain simply:</a:t>
            </a:r>
          </a:p>
          <a:p>
            <a:r>
              <a:t>A booking status is a label describing where the request is in its lifecycle. A price estimate is an amount calculated for reference, not a completed transaction.</a:t>
            </a:r>
          </a:p>
          <a:p/>
          <a:p>
            <a:r>
              <a:t>Transition:</a:t>
            </a:r>
          </a:p>
          <a:p>
            <a:r>
              <a:t>I have described the user-facing flow. Bodman Ebuka Precous will now explain the backend routes that receive and process these requests.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Bodman Ebuka Precous</a:t>
            </a:r>
          </a:p>
          <a:p>
            <a:r>
              <a:t>Role: Backend Development and API Integration</a:t>
            </a:r>
          </a:p>
          <a:p>
            <a:r>
              <a:t>Approximate speaking time: 1:10</a:t>
            </a:r>
          </a:p>
          <a:p/>
          <a:p>
            <a:r>
              <a:t>Speaking script:</a:t>
            </a:r>
          </a:p>
          <a:p>
            <a:r>
              <a:t>The backend is the server-side part of the application. The frontend sends a request to an API route, which is a defined endpoint for a particular task. TutorConnect has routes for account registration and login, tutor search, bookings, reviews and messages. Those routes parse the request, check required fields and then read or write application data. Passwords are hashed with bcryptjs instead of being stored as plain text. After login, a signed JSON Web Token, or JWT, represents the user's identity for API requests that require authentication. Neon is the persistent data store when it is configured. Some demo flows use temporary in-memory storage; review and messaging endpoints require a database.</a:t>
            </a:r>
          </a:p>
          <a:p/>
          <a:p>
            <a:r>
              <a:t>Terms to explain simply:</a:t>
            </a:r>
          </a:p>
          <a:p>
            <a:r>
              <a:t>An API is a communication point between parts of software. A password hash is a one-way derived value; a JWT is a signed token that carries identity claims.</a:t>
            </a:r>
          </a:p>
          <a:p/>
          <a:p>
            <a:r>
              <a:t>Transition:</a:t>
            </a:r>
          </a:p>
          <a:p>
            <a:r>
              <a:t>I have explained how the application handles requests. Pius Kaosisochukwu Aminie will now show how the data is organized and related.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Pius Kaosisochukwu Aminie</a:t>
            </a:r>
          </a:p>
          <a:p>
            <a:r>
              <a:t>Role: Database Management and System Architecture</a:t>
            </a:r>
          </a:p>
          <a:p>
            <a:r>
              <a:t>Approximate speaking time: 1:05</a:t>
            </a:r>
          </a:p>
          <a:p/>
          <a:p>
            <a:r>
              <a:t>Speaking script:</a:t>
            </a:r>
          </a:p>
          <a:p>
            <a:r>
              <a:t>Neon Serverless PostgreSQL is the persistent relational database when the project is configured to use it. The users table stores accounts and roles. A tutor profile extends a user with tutor-specific details, while a parent profile can hold child and learning context. A tutor profile can have multiple subject rows, availability slots, documents and a verification record. A booking connects a learner account to a tutor profile and stores the planned date, time, session mode, status and price estimate. A review can be linked to a booking, and a database trigger updates the tutor's rating average and review count when review records change. Messages store the two participants and the conversation text.</a:t>
            </a:r>
          </a:p>
          <a:p/>
          <a:p>
            <a:r>
              <a:t>Terms to explain simply:</a:t>
            </a:r>
          </a:p>
          <a:p>
            <a:r>
              <a:t>A relational database organizes information in tables. A key is an identifier used to connect related rows; a one-to-many relationship means one profile can have several related records.</a:t>
            </a:r>
          </a:p>
          <a:p/>
          <a:p>
            <a:r>
              <a:t>Transition:</a:t>
            </a:r>
          </a:p>
          <a:p>
            <a:r>
              <a:t>With the data model in view, I will explain the verification, review and messaging workflows it supports.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Pius Kaosisochukwu Aminie</a:t>
            </a:r>
          </a:p>
          <a:p>
            <a:r>
              <a:t>Role: Database Management, Tutor Verification, Reviews and Messaging</a:t>
            </a:r>
          </a:p>
          <a:p>
            <a:r>
              <a:t>Approximate speaking time: 1:05</a:t>
            </a:r>
          </a:p>
          <a:p/>
          <a:p>
            <a:r>
              <a:t>Speaking script:</a:t>
            </a:r>
          </a:p>
          <a:p>
            <a:r>
              <a:t>Tutors can submit identity and academic credential documents. Administrators review those submissions and record a verification status. The public directory uses the verified flag to decide which profiles can appear; this is a document-review signal, not a promise about every lesson or a guarantee of teaching quality. Students and parents can submit a rating and comment for a completed booking, and the database trigger recalculates the tutor's average and review count from the stored reviews. The messaging route uses authentication and stores private one-to-one conversations. Review persistence and messaging require Neon to be configured, so those features should be described with that dependency in mind.</a:t>
            </a:r>
          </a:p>
          <a:p/>
          <a:p>
            <a:r>
              <a:t>Terms to explain simply:</a:t>
            </a:r>
          </a:p>
          <a:p>
            <a:r>
              <a:t>A database trigger is an automatic database rule that runs after a change, such as inserting a review. Private messaging means a conversation between its intended participants, not a public post.</a:t>
            </a:r>
          </a:p>
          <a:p/>
          <a:p>
            <a:r>
              <a:t>Transition:</a:t>
            </a:r>
          </a:p>
          <a:p>
            <a:r>
              <a:t>Next, I will summarize the technology stack and the intended deployment approach.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Pius Kaosisochukwu Aminie</a:t>
            </a:r>
          </a:p>
          <a:p>
            <a:r>
              <a:t>Role: Technology Stack, System Architecture and Deployment</a:t>
            </a:r>
          </a:p>
          <a:p>
            <a:r>
              <a:t>Approximate speaking time: 0:55</a:t>
            </a:r>
          </a:p>
          <a:p/>
          <a:p>
            <a:r>
              <a:t>Speaking script:</a:t>
            </a:r>
          </a:p>
          <a:p>
            <a:r>
              <a:t>The frontend uses Next.js, React, TypeScript, Tailwind CSS, Framer Motion and Lucide React. The same Next.js application also provides server-side API routes. Passwords are hashed with bcryptjs, and JSON Web Tokens support authentication. Neon Serverless PostgreSQL is the relational database, and Vercel is the deployment target described by the project documentation. This combination is suitable for a web application that has a React interface, server-side request handling and a managed PostgreSQL service. I am describing the intended architecture and deployment approach, not claiming that a production site is currently live.</a:t>
            </a:r>
          </a:p>
          <a:p/>
          <a:p>
            <a:r>
              <a:t>Terms to explain simply:</a:t>
            </a:r>
          </a:p>
          <a:p>
            <a:r>
              <a:t>Serverless hosting runs application code on demand. A deployment target is the hosting platform the project is designed to use; it is not proof of a completed release.</a:t>
            </a:r>
          </a:p>
          <a:p/>
          <a:p>
            <a:r>
              <a:t>Transition:</a:t>
            </a:r>
          </a:p>
          <a:p>
            <a:r>
              <a:t>I will now outline the main production-readiness priorities that follow from this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Pius Kaosisochukwu Aminie</a:t>
            </a:r>
          </a:p>
          <a:p>
            <a:r>
              <a:t>Role: System Architecture, Deployment and Future Improvements</a:t>
            </a:r>
          </a:p>
          <a:p>
            <a:r>
              <a:t>Approximate speaking time: 1:00</a:t>
            </a:r>
          </a:p>
          <a:p/>
          <a:p>
            <a:r>
              <a:t>Speaking script:</a:t>
            </a:r>
          </a:p>
          <a:p>
            <a:r>
              <a:t>There are several sensible next steps before treating this as production-ready. The project documentation notes that dashboard pages are not currently protected by middleware, so production work should add consistent role and record-level access checks. The most important user journeys should be covered by end-to-end tests across student, parent, tutor and administrator roles. Persistent operation depends on a working Neon configuration; some flows can use temporary in-memory data, which is lost on a cold start or redeploy, while reviews and messaging need the database. A secure payment integration, clear refund and reconciliation rules, and operational monitoring are future work. This is a roadmap, not a claim that those items are already complete or that the application has passed a test suite.</a:t>
            </a:r>
          </a:p>
          <a:p/>
          <a:p>
            <a:r>
              <a:t>Terms to explain simply:</a:t>
            </a:r>
          </a:p>
          <a:p>
            <a:r>
              <a:t>End-to-end testing follows a complete user journey through the application. Record-level access means checking that a person can only access the specific data they are permitted to see or change.</a:t>
            </a:r>
          </a:p>
          <a:p/>
          <a:p>
            <a:r>
              <a:t>Transition:</a:t>
            </a:r>
          </a:p>
          <a:p>
            <a:r>
              <a:t>One possible future business model is a commission on completed paid tutoring sessions; I will distinguish that proposal from current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Pius Kaosisochukwu Aminie</a:t>
            </a:r>
          </a:p>
          <a:p>
            <a:r>
              <a:t>Role: System Architecture and Proposed Revenue Model</a:t>
            </a:r>
          </a:p>
          <a:p>
            <a:r>
              <a:t>Approximate speaking time: 0:50</a:t>
            </a:r>
          </a:p>
          <a:p/>
          <a:p>
            <a:r>
              <a:t>Speaking script:</a:t>
            </a:r>
          </a:p>
          <a:p>
            <a:r>
              <a:t>Our proposed revenue model is a commission on completed paid tutoring sessions. In a future version, once a paid session has been completed, the platform could receive a commission agreed in advance. This proposal does not include a percentage, pricing plan or revenue forecast because none is established in the project material. The application currently supports booking requests and price estimates; it does not demonstrate an online payment gateway or commission processing. Before implementing this model, the team would need a secure payment provider and clear rules for refunds, disputes, records and tutor payouts.</a:t>
            </a:r>
          </a:p>
          <a:p/>
          <a:p>
            <a:r>
              <a:t>Terms to explain simply:</a:t>
            </a:r>
          </a:p>
          <a:p>
            <a:r>
              <a:t>A commission is an agreed share of a transaction. Here it is a future business-model proposal, not a payment feature currently claimed by the project.</a:t>
            </a:r>
          </a:p>
          <a:p/>
          <a:p>
            <a:r>
              <a:t>Transition:</a:t>
            </a:r>
          </a:p>
          <a:p>
            <a:r>
              <a:t>That completes the technical and future-direction section. I will hand back to Uchekwe Uchechukwu Hephzibah to introduce the team's responsibilities and close.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Team Responsibilities</a:t>
            </a:r>
          </a:p>
          <a:p>
            <a:r>
              <a:t>Approximate speaking time: 0:50</a:t>
            </a:r>
          </a:p>
          <a:p/>
          <a:p>
            <a:r>
              <a:t>Speaking script:</a:t>
            </a:r>
          </a:p>
          <a:p>
            <a:r>
              <a:t>This slide shows how our five team members contributed to the project story. I am Uchekwe Uchechukwu Hephzibah, team leader, and I cover the project introduction, overview and conclusion. Chioma Helen Ezeufonna presents the frontend and interface design. Uzochukwu Mary Cynthia Enyemakachukwu presents tutor discovery, profiles and the booking workflow. Bodman Ebuka Precous presents backend development and API integration. Pius Kaosisochukwu Aminie presents database management, architecture, deployment direction and future improvements. We have kept the speaking order consistent, so the audience moves from the product idea to the user experience and then into its technical foundation.</a:t>
            </a:r>
          </a:p>
          <a:p/>
          <a:p>
            <a:r>
              <a:t>Terms to explain simply:</a:t>
            </a:r>
          </a:p>
          <a:p>
            <a:r>
              <a:t>Frontend means the screens people use; backend means the server-side logic; the database organizes the information those parts share.</a:t>
            </a:r>
          </a:p>
          <a:p/>
          <a:p>
            <a:r>
              <a:t>Transition:</a:t>
            </a:r>
          </a:p>
          <a:p>
            <a:r>
              <a:t>I will now bring the presentation together and invite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Uchekwe Uchechukwu Hephzibah</a:t>
            </a:r>
          </a:p>
          <a:p>
            <a:r>
              <a:t>Role: Team Leader · Conclusion and Questions</a:t>
            </a:r>
          </a:p>
          <a:p>
            <a:r>
              <a:t>Approximate speaking time: 0:30</a:t>
            </a:r>
          </a:p>
          <a:p/>
          <a:p>
            <a:r>
              <a:t>Speaking script:</a:t>
            </a:r>
          </a:p>
          <a:p>
            <a:r>
              <a:t>TutorConnect Nigeria is designed to help learners and families discover tutors, compare relevant profile details and manage lesson requests. We have shown the user journey, the backend and database structure, and the trust workflows behind profiles, reviews and messaging. We have also been clear about what remains future work, including production access-control hardening, secure payments and the proposed commission model. Thank you for listening to our presentation. We welcome your questions and feedback.</a:t>
            </a:r>
          </a:p>
          <a:p/>
          <a:p>
            <a:r>
              <a:t>Terms to explain simply:</a:t>
            </a:r>
          </a:p>
          <a:p>
            <a:r>
              <a:t>A booking request is not the same as a paid or completed lesson; future plans have been labelled as proposals.</a:t>
            </a:r>
          </a:p>
          <a:p/>
          <a:p>
            <a:r>
              <a:t>Transition:</a:t>
            </a:r>
          </a:p>
          <a:p>
            <a:r>
              <a:t>End of presentation — invite questions and allow the judges or audience to speak.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0B1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hape 2"/>
          <p:cNvSpPr/>
          <p:nvPr/>
        </p:nvSpPr>
        <p:spPr>
          <a:xfrm>
            <a:off x="0" y="0"/>
            <a:ext cx="11887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hape 3"/>
          <p:cNvSpPr/>
          <p:nvPr/>
        </p:nvSpPr>
        <p:spPr>
          <a:xfrm>
            <a:off x="6821424" y="310896"/>
            <a:ext cx="5010912" cy="6236208"/>
          </a:xfrm>
          <a:prstGeom prst="roundRect">
            <a:avLst>
              <a:gd name="adj" fmla="val 6000"/>
            </a:avLst>
          </a:prstGeom>
          <a:solidFill>
            <a:srgbClr val="132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Embedded visual: hero-tutor" descr="image.png"/>
          <p:cNvPicPr>
            <a:picLocks noChangeAspect="1"/>
          </p:cNvPicPr>
          <p:nvPr/>
        </p:nvPicPr>
        <p:blipFill>
          <a:blip r:embed="rId2"/>
          <a:stretch>
            <a:fillRect/>
          </a:stretch>
        </p:blipFill>
        <p:spPr>
          <a:xfrm>
            <a:off x="6894576" y="384048"/>
            <a:ext cx="4864608" cy="6089904"/>
          </a:xfrm>
          <a:prstGeom prst="rect">
            <a:avLst/>
          </a:prstGeom>
        </p:spPr>
      </p:pic>
      <p:sp>
        <p:nvSpPr>
          <p:cNvPr id="6" name="Shape 5"/>
          <p:cNvSpPr/>
          <p:nvPr/>
        </p:nvSpPr>
        <p:spPr>
          <a:xfrm>
            <a:off x="704088" y="512064"/>
            <a:ext cx="4023360" cy="310896"/>
          </a:xfrm>
          <a:prstGeom prst="roundRect">
            <a:avLst>
              <a:gd name="adj" fmla="val 28000"/>
            </a:avLst>
          </a:prstGeom>
          <a:solidFill>
            <a:srgbClr val="1B2D50"/>
          </a:solidFill>
          <a:ln w="8890">
            <a:solidFill>
              <a:srgbClr val="314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768096" y="530352"/>
            <a:ext cx="3895344" cy="274320"/>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DCE8FF"/>
                </a:solidFill>
                <a:latin typeface="Arial"/>
              </a:rPr>
              <a:t>EDUMENTRY AI HACKATHON 1.0  ·  WEB APP CHALLENGE</a:t>
            </a:r>
          </a:p>
        </p:txBody>
      </p:sp>
      <p:sp>
        <p:nvSpPr>
          <p:cNvPr id="8" name="Text 7"/>
          <p:cNvSpPr txBox="1"/>
          <p:nvPr/>
        </p:nvSpPr>
        <p:spPr>
          <a:xfrm>
            <a:off x="731520" y="1188720"/>
            <a:ext cx="5715000" cy="1371600"/>
          </a:xfrm>
          <a:prstGeom prst="rect">
            <a:avLst/>
          </a:prstGeom>
          <a:noFill/>
        </p:spPr>
        <p:txBody>
          <a:bodyPr wrap="square" lIns="0" rIns="0" tIns="0" bIns="0" anchor="t">
            <a:noAutofit/>
          </a:bodyPr>
          <a:lstStyle/>
          <a:p>
            <a:pPr algn="l">
              <a:lnSpc>
                <a:spcPct val="98000"/>
              </a:lnSpc>
              <a:spcBef>
                <a:spcPts val="0"/>
              </a:spcBef>
              <a:spcAft>
                <a:spcPts val="0"/>
              </a:spcAft>
            </a:pPr>
            <a:r>
              <a:rPr sz="4200" b="1">
                <a:solidFill>
                  <a:srgbClr val="FFFFFF"/>
                </a:solidFill>
                <a:latin typeface="Arial"/>
              </a:rPr>
              <a:t>TutorConnect</a:t>
            </a:r>
          </a:p>
          <a:p>
            <a:pPr algn="l">
              <a:lnSpc>
                <a:spcPct val="98000"/>
              </a:lnSpc>
              <a:spcBef>
                <a:spcPts val="0"/>
              </a:spcBef>
              <a:spcAft>
                <a:spcPts val="0"/>
              </a:spcAft>
            </a:pPr>
            <a:r>
              <a:rPr sz="4200" b="1">
                <a:solidFill>
                  <a:srgbClr val="FFFFFF"/>
                </a:solidFill>
                <a:latin typeface="Arial"/>
              </a:rPr>
              <a:t>Nigeria</a:t>
            </a:r>
          </a:p>
        </p:txBody>
      </p:sp>
      <p:sp>
        <p:nvSpPr>
          <p:cNvPr id="9" name="Text 8"/>
          <p:cNvSpPr txBox="1"/>
          <p:nvPr/>
        </p:nvSpPr>
        <p:spPr>
          <a:xfrm>
            <a:off x="768096" y="2761488"/>
            <a:ext cx="5486400" cy="658368"/>
          </a:xfrm>
          <a:prstGeom prst="rect">
            <a:avLst/>
          </a:prstGeom>
          <a:noFill/>
        </p:spPr>
        <p:txBody>
          <a:bodyPr wrap="square" lIns="0" rIns="0" tIns="0" bIns="0" anchor="t">
            <a:noAutofit/>
          </a:bodyPr>
          <a:lstStyle/>
          <a:p>
            <a:pPr algn="l">
              <a:lnSpc>
                <a:spcPct val="112000"/>
              </a:lnSpc>
              <a:spcBef>
                <a:spcPts val="0"/>
              </a:spcBef>
              <a:spcAft>
                <a:spcPts val="0"/>
              </a:spcAft>
            </a:pPr>
            <a:r>
              <a:rPr sz="2000" b="0">
                <a:solidFill>
                  <a:srgbClr val="D9E5F8"/>
                </a:solidFill>
                <a:latin typeface="Arial"/>
              </a:rPr>
              <a:t>Connecting learners with</a:t>
            </a:r>
          </a:p>
          <a:p>
            <a:pPr algn="l">
              <a:lnSpc>
                <a:spcPct val="112000"/>
              </a:lnSpc>
              <a:spcBef>
                <a:spcPts val="0"/>
              </a:spcBef>
              <a:spcAft>
                <a:spcPts val="0"/>
              </a:spcAft>
            </a:pPr>
            <a:r>
              <a:rPr sz="2000" b="0">
                <a:solidFill>
                  <a:srgbClr val="D9E5F8"/>
                </a:solidFill>
                <a:latin typeface="Arial"/>
              </a:rPr>
              <a:t>suitable tutors</a:t>
            </a:r>
          </a:p>
        </p:txBody>
      </p:sp>
      <p:sp>
        <p:nvSpPr>
          <p:cNvPr id="10" name="Shape 9"/>
          <p:cNvSpPr/>
          <p:nvPr/>
        </p:nvSpPr>
        <p:spPr>
          <a:xfrm>
            <a:off x="768096" y="3584448"/>
            <a:ext cx="694944" cy="50292"/>
          </a:xfrm>
          <a:prstGeom prst="roundRect">
            <a:avLst>
              <a:gd name="adj" fmla="val 28000"/>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768096" y="3794760"/>
            <a:ext cx="5440680" cy="201168"/>
          </a:xfrm>
          <a:prstGeom prst="rect">
            <a:avLst/>
          </a:prstGeom>
          <a:noFill/>
        </p:spPr>
        <p:txBody>
          <a:bodyPr wrap="none" lIns="0" rIns="0" tIns="0" bIns="0" anchor="t">
            <a:noAutofit/>
          </a:bodyPr>
          <a:lstStyle/>
          <a:p>
            <a:pPr algn="l">
              <a:lnSpc>
                <a:spcPct val="108000"/>
              </a:lnSpc>
              <a:spcBef>
                <a:spcPts val="0"/>
              </a:spcBef>
              <a:spcAft>
                <a:spcPts val="0"/>
              </a:spcAft>
            </a:pPr>
            <a:r>
              <a:rPr sz="910" b="1">
                <a:solidFill>
                  <a:srgbClr val="A9B9D2"/>
                </a:solidFill>
                <a:latin typeface="Arial"/>
              </a:rPr>
              <a:t>PRESENTING TEAM  ·  SPEAKING ORDER</a:t>
            </a:r>
          </a:p>
        </p:txBody>
      </p:sp>
      <p:sp>
        <p:nvSpPr>
          <p:cNvPr id="12" name="Text 11"/>
          <p:cNvSpPr txBox="1"/>
          <p:nvPr/>
        </p:nvSpPr>
        <p:spPr>
          <a:xfrm>
            <a:off x="795528" y="4133087"/>
            <a:ext cx="274320" cy="228600"/>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0B981"/>
                </a:solidFill>
                <a:latin typeface="Arial"/>
              </a:rPr>
              <a:t>01</a:t>
            </a:r>
          </a:p>
        </p:txBody>
      </p:sp>
      <p:sp>
        <p:nvSpPr>
          <p:cNvPr id="13" name="Text 12"/>
          <p:cNvSpPr txBox="1"/>
          <p:nvPr/>
        </p:nvSpPr>
        <p:spPr>
          <a:xfrm>
            <a:off x="1143000" y="4133087"/>
            <a:ext cx="5074920" cy="228600"/>
          </a:xfrm>
          <a:prstGeom prst="rect">
            <a:avLst/>
          </a:prstGeom>
          <a:noFill/>
        </p:spPr>
        <p:txBody>
          <a:bodyPr wrap="none" lIns="0" rIns="0" tIns="0" bIns="0" anchor="ctr">
            <a:noAutofit/>
          </a:bodyPr>
          <a:lstStyle/>
          <a:p>
            <a:pPr algn="l">
              <a:lnSpc>
                <a:spcPct val="108000"/>
              </a:lnSpc>
              <a:spcBef>
                <a:spcPts val="0"/>
              </a:spcBef>
              <a:spcAft>
                <a:spcPts val="0"/>
              </a:spcAft>
            </a:pPr>
            <a:r>
              <a:rPr sz="1140" b="1">
                <a:solidFill>
                  <a:srgbClr val="FFFFFF"/>
                </a:solidFill>
                <a:latin typeface="Arial"/>
              </a:rPr>
              <a:t>Uchekwe Uchechukwu Hephzibah</a:t>
            </a:r>
          </a:p>
        </p:txBody>
      </p:sp>
      <p:sp>
        <p:nvSpPr>
          <p:cNvPr id="14" name="Text 13"/>
          <p:cNvSpPr txBox="1"/>
          <p:nvPr/>
        </p:nvSpPr>
        <p:spPr>
          <a:xfrm>
            <a:off x="795528" y="4471416"/>
            <a:ext cx="274320" cy="228600"/>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0B981"/>
                </a:solidFill>
                <a:latin typeface="Arial"/>
              </a:rPr>
              <a:t>02</a:t>
            </a:r>
          </a:p>
        </p:txBody>
      </p:sp>
      <p:sp>
        <p:nvSpPr>
          <p:cNvPr id="15" name="Text 14"/>
          <p:cNvSpPr txBox="1"/>
          <p:nvPr/>
        </p:nvSpPr>
        <p:spPr>
          <a:xfrm>
            <a:off x="1143000" y="4471416"/>
            <a:ext cx="5074920" cy="228600"/>
          </a:xfrm>
          <a:prstGeom prst="rect">
            <a:avLst/>
          </a:prstGeom>
          <a:noFill/>
        </p:spPr>
        <p:txBody>
          <a:bodyPr wrap="none" lIns="0" rIns="0" tIns="0" bIns="0" anchor="ctr">
            <a:noAutofit/>
          </a:bodyPr>
          <a:lstStyle/>
          <a:p>
            <a:pPr algn="l">
              <a:lnSpc>
                <a:spcPct val="108000"/>
              </a:lnSpc>
              <a:spcBef>
                <a:spcPts val="0"/>
              </a:spcBef>
              <a:spcAft>
                <a:spcPts val="0"/>
              </a:spcAft>
            </a:pPr>
            <a:r>
              <a:rPr sz="1140" b="0">
                <a:solidFill>
                  <a:srgbClr val="FFFFFF"/>
                </a:solidFill>
                <a:latin typeface="Arial"/>
              </a:rPr>
              <a:t>Chioma Helen Ezeufonna</a:t>
            </a:r>
          </a:p>
        </p:txBody>
      </p:sp>
      <p:sp>
        <p:nvSpPr>
          <p:cNvPr id="16" name="Text 15"/>
          <p:cNvSpPr txBox="1"/>
          <p:nvPr/>
        </p:nvSpPr>
        <p:spPr>
          <a:xfrm>
            <a:off x="795528" y="4809744"/>
            <a:ext cx="274320" cy="228600"/>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0B981"/>
                </a:solidFill>
                <a:latin typeface="Arial"/>
              </a:rPr>
              <a:t>03</a:t>
            </a:r>
          </a:p>
        </p:txBody>
      </p:sp>
      <p:sp>
        <p:nvSpPr>
          <p:cNvPr id="17" name="Text 16"/>
          <p:cNvSpPr txBox="1"/>
          <p:nvPr/>
        </p:nvSpPr>
        <p:spPr>
          <a:xfrm>
            <a:off x="1143000" y="4809744"/>
            <a:ext cx="5074920" cy="228600"/>
          </a:xfrm>
          <a:prstGeom prst="rect">
            <a:avLst/>
          </a:prstGeom>
          <a:noFill/>
        </p:spPr>
        <p:txBody>
          <a:bodyPr wrap="none" lIns="0" rIns="0" tIns="0" bIns="0" anchor="ctr">
            <a:noAutofit/>
          </a:bodyPr>
          <a:lstStyle/>
          <a:p>
            <a:pPr algn="l">
              <a:lnSpc>
                <a:spcPct val="108000"/>
              </a:lnSpc>
              <a:spcBef>
                <a:spcPts val="0"/>
              </a:spcBef>
              <a:spcAft>
                <a:spcPts val="0"/>
              </a:spcAft>
            </a:pPr>
            <a:r>
              <a:rPr sz="1140" b="0">
                <a:solidFill>
                  <a:srgbClr val="FFFFFF"/>
                </a:solidFill>
                <a:latin typeface="Arial"/>
              </a:rPr>
              <a:t>Uzochukwu Mary Cynthia Enyemakachukwu</a:t>
            </a:r>
          </a:p>
        </p:txBody>
      </p:sp>
      <p:sp>
        <p:nvSpPr>
          <p:cNvPr id="18" name="Text 17"/>
          <p:cNvSpPr txBox="1"/>
          <p:nvPr/>
        </p:nvSpPr>
        <p:spPr>
          <a:xfrm>
            <a:off x="795528" y="5148071"/>
            <a:ext cx="274320" cy="228600"/>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0B981"/>
                </a:solidFill>
                <a:latin typeface="Arial"/>
              </a:rPr>
              <a:t>04</a:t>
            </a:r>
          </a:p>
        </p:txBody>
      </p:sp>
      <p:sp>
        <p:nvSpPr>
          <p:cNvPr id="19" name="Text 18"/>
          <p:cNvSpPr txBox="1"/>
          <p:nvPr/>
        </p:nvSpPr>
        <p:spPr>
          <a:xfrm>
            <a:off x="1143000" y="5148071"/>
            <a:ext cx="5074920" cy="228600"/>
          </a:xfrm>
          <a:prstGeom prst="rect">
            <a:avLst/>
          </a:prstGeom>
          <a:noFill/>
        </p:spPr>
        <p:txBody>
          <a:bodyPr wrap="none" lIns="0" rIns="0" tIns="0" bIns="0" anchor="ctr">
            <a:noAutofit/>
          </a:bodyPr>
          <a:lstStyle/>
          <a:p>
            <a:pPr algn="l">
              <a:lnSpc>
                <a:spcPct val="108000"/>
              </a:lnSpc>
              <a:spcBef>
                <a:spcPts val="0"/>
              </a:spcBef>
              <a:spcAft>
                <a:spcPts val="0"/>
              </a:spcAft>
            </a:pPr>
            <a:r>
              <a:rPr sz="1140" b="0">
                <a:solidFill>
                  <a:srgbClr val="FFFFFF"/>
                </a:solidFill>
                <a:latin typeface="Arial"/>
              </a:rPr>
              <a:t>Bodman Ebuka Precous</a:t>
            </a:r>
          </a:p>
        </p:txBody>
      </p:sp>
      <p:sp>
        <p:nvSpPr>
          <p:cNvPr id="20" name="Text 19"/>
          <p:cNvSpPr txBox="1"/>
          <p:nvPr/>
        </p:nvSpPr>
        <p:spPr>
          <a:xfrm>
            <a:off x="795528" y="5486400"/>
            <a:ext cx="274320" cy="228600"/>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0B981"/>
                </a:solidFill>
                <a:latin typeface="Arial"/>
              </a:rPr>
              <a:t>05</a:t>
            </a:r>
          </a:p>
        </p:txBody>
      </p:sp>
      <p:sp>
        <p:nvSpPr>
          <p:cNvPr id="21" name="Text 20"/>
          <p:cNvSpPr txBox="1"/>
          <p:nvPr/>
        </p:nvSpPr>
        <p:spPr>
          <a:xfrm>
            <a:off x="1143000" y="5486400"/>
            <a:ext cx="5074920" cy="228600"/>
          </a:xfrm>
          <a:prstGeom prst="rect">
            <a:avLst/>
          </a:prstGeom>
          <a:noFill/>
        </p:spPr>
        <p:txBody>
          <a:bodyPr wrap="none" lIns="0" rIns="0" tIns="0" bIns="0" anchor="ctr">
            <a:noAutofit/>
          </a:bodyPr>
          <a:lstStyle/>
          <a:p>
            <a:pPr algn="l">
              <a:lnSpc>
                <a:spcPct val="108000"/>
              </a:lnSpc>
              <a:spcBef>
                <a:spcPts val="0"/>
              </a:spcBef>
              <a:spcAft>
                <a:spcPts val="0"/>
              </a:spcAft>
            </a:pPr>
            <a:r>
              <a:rPr sz="1140" b="0">
                <a:solidFill>
                  <a:srgbClr val="FFFFFF"/>
                </a:solidFill>
                <a:latin typeface="Arial"/>
              </a:rPr>
              <a:t>Pius Kaosisochukwu Aminie</a:t>
            </a:r>
          </a:p>
        </p:txBody>
      </p:sp>
      <p:sp>
        <p:nvSpPr>
          <p:cNvPr id="22" name="Shape 21"/>
          <p:cNvSpPr/>
          <p:nvPr/>
        </p:nvSpPr>
        <p:spPr>
          <a:xfrm>
            <a:off x="7333488" y="5404104"/>
            <a:ext cx="3364992" cy="384048"/>
          </a:xfrm>
          <a:prstGeom prst="roundRect">
            <a:avLst>
              <a:gd name="adj" fmla="val 28000"/>
            </a:avLst>
          </a:prstGeom>
          <a:solidFill>
            <a:srgbClr val="F7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7397496" y="5422392"/>
            <a:ext cx="3236976" cy="347472"/>
          </a:xfrm>
          <a:prstGeom prst="rect">
            <a:avLst/>
          </a:prstGeom>
          <a:noFill/>
        </p:spPr>
        <p:txBody>
          <a:bodyPr wrap="none" lIns="0" rIns="0" tIns="0" bIns="0" anchor="ctr">
            <a:noAutofit/>
          </a:bodyPr>
          <a:lstStyle/>
          <a:p>
            <a:pPr algn="ctr">
              <a:lnSpc>
                <a:spcPct val="108000"/>
              </a:lnSpc>
              <a:spcBef>
                <a:spcPts val="0"/>
              </a:spcBef>
              <a:spcAft>
                <a:spcPts val="0"/>
              </a:spcAft>
            </a:pPr>
            <a:r>
              <a:rPr sz="1019" b="1">
                <a:solidFill>
                  <a:srgbClr val="0B1733"/>
                </a:solidFill>
                <a:latin typeface="Arial"/>
              </a:rPr>
              <a:t>LEARN  ·  TEACH  ·  GROW</a:t>
            </a:r>
          </a:p>
        </p:txBody>
      </p:sp>
      <p:sp>
        <p:nvSpPr>
          <p:cNvPr id="24" name="Text 23"/>
          <p:cNvSpPr txBox="1"/>
          <p:nvPr/>
        </p:nvSpPr>
        <p:spPr>
          <a:xfrm>
            <a:off x="768096" y="6172200"/>
            <a:ext cx="5303520" cy="164592"/>
          </a:xfrm>
          <a:prstGeom prst="rect">
            <a:avLst/>
          </a:prstGeom>
          <a:noFill/>
        </p:spPr>
        <p:txBody>
          <a:bodyPr wrap="none" lIns="0" rIns="0" tIns="0" bIns="0" anchor="t">
            <a:noAutofit/>
          </a:bodyPr>
          <a:lstStyle/>
          <a:p>
            <a:pPr algn="l">
              <a:lnSpc>
                <a:spcPct val="108000"/>
              </a:lnSpc>
              <a:spcBef>
                <a:spcPts val="0"/>
              </a:spcBef>
              <a:spcAft>
                <a:spcPts val="0"/>
              </a:spcAft>
            </a:pPr>
            <a:r>
              <a:rPr sz="910" b="0">
                <a:solidFill>
                  <a:srgbClr val="9FB0CB"/>
                </a:solidFill>
                <a:latin typeface="Arial"/>
              </a:rPr>
              <a:t>A learner-first tutor discovery and booking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01  /  PROJECT INTRODUCTION</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Uchekwe Uchechukwu Hephzibah</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One place to discover, compare and request tutoring</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TutorConnect Nigeria connects learners and families with local or online tutors.</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02  /  15</a:t>
            </a:r>
          </a:p>
        </p:txBody>
      </p:sp>
      <p:sp>
        <p:nvSpPr>
          <p:cNvPr id="11" name="Shape 10"/>
          <p:cNvSpPr/>
          <p:nvPr/>
        </p:nvSpPr>
        <p:spPr>
          <a:xfrm>
            <a:off x="699516" y="1952244"/>
            <a:ext cx="5303520" cy="2148840"/>
          </a:xfrm>
          <a:prstGeom prst="roundRect">
            <a:avLst>
              <a:gd name="adj" fmla="val 6808"/>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1901952"/>
            <a:ext cx="5303520" cy="2148840"/>
          </a:xfrm>
          <a:prstGeom prst="roundRect">
            <a:avLst>
              <a:gd name="adj" fmla="val 6808"/>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hape 12"/>
          <p:cNvSpPr/>
          <p:nvPr/>
        </p:nvSpPr>
        <p:spPr>
          <a:xfrm>
            <a:off x="932688" y="2139696"/>
            <a:ext cx="1481328" cy="283464"/>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996696" y="2157984"/>
            <a:ext cx="1353312" cy="246888"/>
          </a:xfrm>
          <a:prstGeom prst="rect">
            <a:avLst/>
          </a:prstGeom>
          <a:noFill/>
        </p:spPr>
        <p:txBody>
          <a:bodyPr wrap="none" lIns="0" rIns="0" tIns="0" bIns="0" anchor="ctr">
            <a:noAutofit/>
          </a:bodyPr>
          <a:lstStyle/>
          <a:p>
            <a:pPr algn="ctr">
              <a:lnSpc>
                <a:spcPct val="108000"/>
              </a:lnSpc>
              <a:spcBef>
                <a:spcPts val="0"/>
              </a:spcBef>
              <a:spcAft>
                <a:spcPts val="0"/>
              </a:spcAft>
            </a:pPr>
            <a:r>
              <a:rPr sz="900" b="1">
                <a:solidFill>
                  <a:srgbClr val="1E3A8A"/>
                </a:solidFill>
                <a:latin typeface="Arial"/>
              </a:rPr>
              <a:t>THE PLATFORM</a:t>
            </a:r>
          </a:p>
        </p:txBody>
      </p:sp>
      <p:sp>
        <p:nvSpPr>
          <p:cNvPr id="15" name="Text 14"/>
          <p:cNvSpPr txBox="1"/>
          <p:nvPr/>
        </p:nvSpPr>
        <p:spPr>
          <a:xfrm>
            <a:off x="932688" y="2596896"/>
            <a:ext cx="4709160" cy="640080"/>
          </a:xfrm>
          <a:prstGeom prst="rect">
            <a:avLst/>
          </a:prstGeom>
          <a:noFill/>
        </p:spPr>
        <p:txBody>
          <a:bodyPr wrap="square" lIns="0" rIns="0" tIns="0" bIns="0" anchor="t">
            <a:noAutofit/>
          </a:bodyPr>
          <a:lstStyle/>
          <a:p>
            <a:pPr algn="l">
              <a:lnSpc>
                <a:spcPct val="104000"/>
              </a:lnSpc>
              <a:spcBef>
                <a:spcPts val="0"/>
              </a:spcBef>
              <a:spcAft>
                <a:spcPts val="0"/>
              </a:spcAft>
            </a:pPr>
            <a:r>
              <a:rPr sz="2200" b="1">
                <a:solidFill>
                  <a:srgbClr val="0B1733"/>
                </a:solidFill>
                <a:latin typeface="Arial"/>
              </a:rPr>
              <a:t>From learning need</a:t>
            </a:r>
          </a:p>
          <a:p>
            <a:pPr algn="l">
              <a:lnSpc>
                <a:spcPct val="104000"/>
              </a:lnSpc>
              <a:spcBef>
                <a:spcPts val="0"/>
              </a:spcBef>
              <a:spcAft>
                <a:spcPts val="0"/>
              </a:spcAft>
            </a:pPr>
            <a:r>
              <a:rPr sz="2200" b="1">
                <a:solidFill>
                  <a:srgbClr val="0B1733"/>
                </a:solidFill>
                <a:latin typeface="Arial"/>
              </a:rPr>
              <a:t>to tutor request</a:t>
            </a:r>
          </a:p>
        </p:txBody>
      </p:sp>
      <p:sp>
        <p:nvSpPr>
          <p:cNvPr id="16" name="Text 15"/>
          <p:cNvSpPr txBox="1"/>
          <p:nvPr/>
        </p:nvSpPr>
        <p:spPr>
          <a:xfrm>
            <a:off x="932688" y="3364992"/>
            <a:ext cx="4663440" cy="438912"/>
          </a:xfrm>
          <a:prstGeom prst="rect">
            <a:avLst/>
          </a:prstGeom>
          <a:noFill/>
        </p:spPr>
        <p:txBody>
          <a:bodyPr wrap="square" lIns="0" rIns="0" tIns="0" bIns="0" anchor="t">
            <a:noAutofit/>
          </a:bodyPr>
          <a:lstStyle/>
          <a:p>
            <a:pPr algn="l">
              <a:lnSpc>
                <a:spcPct val="114000"/>
              </a:lnSpc>
              <a:spcBef>
                <a:spcPts val="0"/>
              </a:spcBef>
              <a:spcAft>
                <a:spcPts val="0"/>
              </a:spcAft>
            </a:pPr>
            <a:r>
              <a:rPr sz="1300" b="0">
                <a:solidFill>
                  <a:srgbClr val="63718A"/>
                </a:solidFill>
                <a:latin typeface="Arial"/>
              </a:rPr>
              <a:t>Families can browse profiles and send a lesson request; tutors can present their teaching details and availability.</a:t>
            </a:r>
          </a:p>
        </p:txBody>
      </p:sp>
      <p:sp>
        <p:nvSpPr>
          <p:cNvPr id="17" name="Shape 16"/>
          <p:cNvSpPr/>
          <p:nvPr/>
        </p:nvSpPr>
        <p:spPr>
          <a:xfrm>
            <a:off x="6199632" y="1901952"/>
            <a:ext cx="5321808" cy="2148840"/>
          </a:xfrm>
          <a:prstGeom prst="roundRect">
            <a:avLst>
              <a:gd name="adj" fmla="val 6808"/>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6510528" y="2194560"/>
            <a:ext cx="4617720" cy="219456"/>
          </a:xfrm>
          <a:prstGeom prst="rect">
            <a:avLst/>
          </a:prstGeom>
          <a:noFill/>
        </p:spPr>
        <p:txBody>
          <a:bodyPr wrap="none" lIns="0" rIns="0" tIns="0" bIns="0" anchor="t">
            <a:noAutofit/>
          </a:bodyPr>
          <a:lstStyle/>
          <a:p>
            <a:pPr algn="l">
              <a:lnSpc>
                <a:spcPct val="108000"/>
              </a:lnSpc>
              <a:spcBef>
                <a:spcPts val="0"/>
              </a:spcBef>
              <a:spcAft>
                <a:spcPts val="0"/>
              </a:spcAft>
            </a:pPr>
            <a:r>
              <a:rPr sz="919" b="1">
                <a:solidFill>
                  <a:srgbClr val="AFC0DE"/>
                </a:solidFill>
                <a:latin typeface="Arial"/>
              </a:rPr>
              <a:t>WHAT IT BRINGS TOGETHER</a:t>
            </a:r>
          </a:p>
        </p:txBody>
      </p:sp>
      <p:sp>
        <p:nvSpPr>
          <p:cNvPr id="19" name="Circle 18"/>
          <p:cNvSpPr/>
          <p:nvPr/>
        </p:nvSpPr>
        <p:spPr>
          <a:xfrm>
            <a:off x="6537960" y="2624328"/>
            <a:ext cx="128016" cy="12801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6766560" y="2587752"/>
            <a:ext cx="1901952" cy="201168"/>
          </a:xfrm>
          <a:prstGeom prst="rect">
            <a:avLst/>
          </a:prstGeom>
          <a:noFill/>
        </p:spPr>
        <p:txBody>
          <a:bodyPr wrap="none" lIns="0" rIns="0" tIns="0" bIns="0" anchor="ctr">
            <a:noAutofit/>
          </a:bodyPr>
          <a:lstStyle/>
          <a:p>
            <a:pPr algn="l">
              <a:lnSpc>
                <a:spcPct val="108000"/>
              </a:lnSpc>
              <a:spcBef>
                <a:spcPts val="0"/>
              </a:spcBef>
              <a:spcAft>
                <a:spcPts val="0"/>
              </a:spcAft>
            </a:pPr>
            <a:r>
              <a:rPr sz="1220" b="1">
                <a:solidFill>
                  <a:srgbClr val="FFFFFF"/>
                </a:solidFill>
                <a:latin typeface="Arial"/>
              </a:rPr>
              <a:t>Learners &amp; parents</a:t>
            </a:r>
          </a:p>
        </p:txBody>
      </p:sp>
      <p:sp>
        <p:nvSpPr>
          <p:cNvPr id="21" name="Text 20"/>
          <p:cNvSpPr txBox="1"/>
          <p:nvPr/>
        </p:nvSpPr>
        <p:spPr>
          <a:xfrm>
            <a:off x="8714232" y="2587752"/>
            <a:ext cx="2496312" cy="228600"/>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D5DFF0"/>
                </a:solidFill>
                <a:latin typeface="Arial"/>
              </a:rPr>
              <a:t>Learning needs &amp; curriculum</a:t>
            </a:r>
          </a:p>
        </p:txBody>
      </p:sp>
      <p:sp>
        <p:nvSpPr>
          <p:cNvPr id="22" name="Circle 21"/>
          <p:cNvSpPr/>
          <p:nvPr/>
        </p:nvSpPr>
        <p:spPr>
          <a:xfrm>
            <a:off x="6537960" y="3090672"/>
            <a:ext cx="128016" cy="12801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6766560" y="3054096"/>
            <a:ext cx="1901952" cy="201168"/>
          </a:xfrm>
          <a:prstGeom prst="rect">
            <a:avLst/>
          </a:prstGeom>
          <a:noFill/>
        </p:spPr>
        <p:txBody>
          <a:bodyPr wrap="none" lIns="0" rIns="0" tIns="0" bIns="0" anchor="ctr">
            <a:noAutofit/>
          </a:bodyPr>
          <a:lstStyle/>
          <a:p>
            <a:pPr algn="l">
              <a:lnSpc>
                <a:spcPct val="108000"/>
              </a:lnSpc>
              <a:spcBef>
                <a:spcPts val="0"/>
              </a:spcBef>
              <a:spcAft>
                <a:spcPts val="0"/>
              </a:spcAft>
            </a:pPr>
            <a:r>
              <a:rPr sz="1220" b="1">
                <a:solidFill>
                  <a:srgbClr val="FFFFFF"/>
                </a:solidFill>
                <a:latin typeface="Arial"/>
              </a:rPr>
              <a:t>Tutors</a:t>
            </a:r>
          </a:p>
        </p:txBody>
      </p:sp>
      <p:sp>
        <p:nvSpPr>
          <p:cNvPr id="24" name="Text 23"/>
          <p:cNvSpPr txBox="1"/>
          <p:nvPr/>
        </p:nvSpPr>
        <p:spPr>
          <a:xfrm>
            <a:off x="8714232" y="3054096"/>
            <a:ext cx="2496312" cy="228600"/>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D5DFF0"/>
                </a:solidFill>
                <a:latin typeface="Arial"/>
              </a:rPr>
              <a:t>Profile, rate &amp; schedule</a:t>
            </a:r>
          </a:p>
        </p:txBody>
      </p:sp>
      <p:sp>
        <p:nvSpPr>
          <p:cNvPr id="25" name="Circle 24"/>
          <p:cNvSpPr/>
          <p:nvPr/>
        </p:nvSpPr>
        <p:spPr>
          <a:xfrm>
            <a:off x="6537960" y="3557016"/>
            <a:ext cx="128016" cy="12801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5"/>
          <p:cNvSpPr txBox="1"/>
          <p:nvPr/>
        </p:nvSpPr>
        <p:spPr>
          <a:xfrm>
            <a:off x="6766560" y="3520440"/>
            <a:ext cx="1901952" cy="201168"/>
          </a:xfrm>
          <a:prstGeom prst="rect">
            <a:avLst/>
          </a:prstGeom>
          <a:noFill/>
        </p:spPr>
        <p:txBody>
          <a:bodyPr wrap="none" lIns="0" rIns="0" tIns="0" bIns="0" anchor="ctr">
            <a:noAutofit/>
          </a:bodyPr>
          <a:lstStyle/>
          <a:p>
            <a:pPr algn="l">
              <a:lnSpc>
                <a:spcPct val="108000"/>
              </a:lnSpc>
              <a:spcBef>
                <a:spcPts val="0"/>
              </a:spcBef>
              <a:spcAft>
                <a:spcPts val="0"/>
              </a:spcAft>
            </a:pPr>
            <a:r>
              <a:rPr sz="1220" b="1">
                <a:solidFill>
                  <a:srgbClr val="FFFFFF"/>
                </a:solidFill>
                <a:latin typeface="Arial"/>
              </a:rPr>
              <a:t>A managed request</a:t>
            </a:r>
          </a:p>
        </p:txBody>
      </p:sp>
      <p:sp>
        <p:nvSpPr>
          <p:cNvPr id="27" name="Text 26"/>
          <p:cNvSpPr txBox="1"/>
          <p:nvPr/>
        </p:nvSpPr>
        <p:spPr>
          <a:xfrm>
            <a:off x="8714232" y="3520440"/>
            <a:ext cx="2496312" cy="228600"/>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D5DFF0"/>
                </a:solidFill>
                <a:latin typeface="Arial"/>
              </a:rPr>
              <a:t>Status-tracked request</a:t>
            </a:r>
          </a:p>
        </p:txBody>
      </p:sp>
      <p:sp>
        <p:nvSpPr>
          <p:cNvPr id="28" name="Text 27"/>
          <p:cNvSpPr txBox="1"/>
          <p:nvPr/>
        </p:nvSpPr>
        <p:spPr>
          <a:xfrm>
            <a:off x="713232" y="4389120"/>
            <a:ext cx="3657600" cy="219456"/>
          </a:xfrm>
          <a:prstGeom prst="rect">
            <a:avLst/>
          </a:prstGeom>
          <a:noFill/>
        </p:spPr>
        <p:txBody>
          <a:bodyPr wrap="none" lIns="0" rIns="0" tIns="0" bIns="0" anchor="t">
            <a:noAutofit/>
          </a:bodyPr>
          <a:lstStyle/>
          <a:p>
            <a:pPr algn="l">
              <a:lnSpc>
                <a:spcPct val="108000"/>
              </a:lnSpc>
              <a:spcBef>
                <a:spcPts val="0"/>
              </a:spcBef>
              <a:spcAft>
                <a:spcPts val="0"/>
              </a:spcAft>
            </a:pPr>
            <a:r>
              <a:rPr sz="910" b="1">
                <a:solidFill>
                  <a:srgbClr val="1E3A8A"/>
                </a:solidFill>
                <a:latin typeface="Arial"/>
              </a:rPr>
              <a:t>THE CORE USER JOURNEY</a:t>
            </a:r>
          </a:p>
        </p:txBody>
      </p:sp>
      <p:sp>
        <p:nvSpPr>
          <p:cNvPr id="29" name="Shape 28"/>
          <p:cNvSpPr/>
          <p:nvPr/>
        </p:nvSpPr>
        <p:spPr>
          <a:xfrm>
            <a:off x="726948" y="4777740"/>
            <a:ext cx="3227832" cy="1088136"/>
          </a:xfrm>
          <a:prstGeom prst="roundRect">
            <a:avLst>
              <a:gd name="adj" fmla="val 1092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hape 29"/>
          <p:cNvSpPr/>
          <p:nvPr/>
        </p:nvSpPr>
        <p:spPr>
          <a:xfrm>
            <a:off x="685800" y="4727448"/>
            <a:ext cx="3227832" cy="1088136"/>
          </a:xfrm>
          <a:prstGeom prst="roundRect">
            <a:avLst>
              <a:gd name="adj" fmla="val 1092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ircle 30"/>
          <p:cNvSpPr/>
          <p:nvPr/>
        </p:nvSpPr>
        <p:spPr>
          <a:xfrm>
            <a:off x="868680" y="5001768"/>
            <a:ext cx="356616" cy="35661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1"/>
          <p:cNvSpPr txBox="1"/>
          <p:nvPr/>
        </p:nvSpPr>
        <p:spPr>
          <a:xfrm>
            <a:off x="868680" y="5010912"/>
            <a:ext cx="356616" cy="338328"/>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01</a:t>
            </a:r>
          </a:p>
        </p:txBody>
      </p:sp>
      <p:sp>
        <p:nvSpPr>
          <p:cNvPr id="33" name="Text 32"/>
          <p:cNvSpPr txBox="1"/>
          <p:nvPr/>
        </p:nvSpPr>
        <p:spPr>
          <a:xfrm>
            <a:off x="1362456" y="4882896"/>
            <a:ext cx="2331720" cy="256032"/>
          </a:xfrm>
          <a:prstGeom prst="rect">
            <a:avLst/>
          </a:prstGeom>
          <a:noFill/>
        </p:spPr>
        <p:txBody>
          <a:bodyPr wrap="none" lIns="0" rIns="0" tIns="0" bIns="0" anchor="ctr">
            <a:noAutofit/>
          </a:bodyPr>
          <a:lstStyle/>
          <a:p>
            <a:pPr algn="l">
              <a:lnSpc>
                <a:spcPct val="108000"/>
              </a:lnSpc>
              <a:spcBef>
                <a:spcPts val="0"/>
              </a:spcBef>
              <a:spcAft>
                <a:spcPts val="0"/>
              </a:spcAft>
            </a:pPr>
            <a:r>
              <a:rPr sz="1550" b="1">
                <a:solidFill>
                  <a:srgbClr val="0B1733"/>
                </a:solidFill>
                <a:latin typeface="Arial"/>
              </a:rPr>
              <a:t>Explore</a:t>
            </a:r>
          </a:p>
        </p:txBody>
      </p:sp>
      <p:sp>
        <p:nvSpPr>
          <p:cNvPr id="34" name="Text 33"/>
          <p:cNvSpPr txBox="1"/>
          <p:nvPr/>
        </p:nvSpPr>
        <p:spPr>
          <a:xfrm>
            <a:off x="1362456" y="5212080"/>
            <a:ext cx="2331720" cy="329184"/>
          </a:xfrm>
          <a:prstGeom prst="rect">
            <a:avLst/>
          </a:prstGeom>
          <a:noFill/>
        </p:spPr>
        <p:txBody>
          <a:bodyPr wrap="square" lIns="0" rIns="0" tIns="0" bIns="0" anchor="ctr">
            <a:noAutofit/>
          </a:bodyPr>
          <a:lstStyle/>
          <a:p>
            <a:pPr algn="l">
              <a:lnSpc>
                <a:spcPct val="108000"/>
              </a:lnSpc>
              <a:spcBef>
                <a:spcPts val="0"/>
              </a:spcBef>
              <a:spcAft>
                <a:spcPts val="0"/>
              </a:spcAft>
            </a:pPr>
            <a:r>
              <a:rPr sz="1080" b="0">
                <a:solidFill>
                  <a:srgbClr val="63718A"/>
                </a:solidFill>
                <a:latin typeface="Arial"/>
              </a:rPr>
              <a:t>Search tutor options</a:t>
            </a:r>
          </a:p>
        </p:txBody>
      </p:sp>
      <p:sp>
        <p:nvSpPr>
          <p:cNvPr id="35" name="Shape 34"/>
          <p:cNvSpPr/>
          <p:nvPr/>
        </p:nvSpPr>
        <p:spPr>
          <a:xfrm>
            <a:off x="4475988" y="4777740"/>
            <a:ext cx="3227832" cy="1088136"/>
          </a:xfrm>
          <a:prstGeom prst="roundRect">
            <a:avLst>
              <a:gd name="adj" fmla="val 1092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hape 35"/>
          <p:cNvSpPr/>
          <p:nvPr/>
        </p:nvSpPr>
        <p:spPr>
          <a:xfrm>
            <a:off x="4434840" y="4727448"/>
            <a:ext cx="3227832" cy="1088136"/>
          </a:xfrm>
          <a:prstGeom prst="roundRect">
            <a:avLst>
              <a:gd name="adj" fmla="val 1092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ircle 36"/>
          <p:cNvSpPr/>
          <p:nvPr/>
        </p:nvSpPr>
        <p:spPr>
          <a:xfrm>
            <a:off x="4617720" y="5001768"/>
            <a:ext cx="356616" cy="35661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4617720" y="5010912"/>
            <a:ext cx="356616" cy="338328"/>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02</a:t>
            </a:r>
          </a:p>
        </p:txBody>
      </p:sp>
      <p:sp>
        <p:nvSpPr>
          <p:cNvPr id="39" name="Text 38"/>
          <p:cNvSpPr txBox="1"/>
          <p:nvPr/>
        </p:nvSpPr>
        <p:spPr>
          <a:xfrm>
            <a:off x="5111496" y="4882896"/>
            <a:ext cx="2331720" cy="256032"/>
          </a:xfrm>
          <a:prstGeom prst="rect">
            <a:avLst/>
          </a:prstGeom>
          <a:noFill/>
        </p:spPr>
        <p:txBody>
          <a:bodyPr wrap="none" lIns="0" rIns="0" tIns="0" bIns="0" anchor="ctr">
            <a:noAutofit/>
          </a:bodyPr>
          <a:lstStyle/>
          <a:p>
            <a:pPr algn="l">
              <a:lnSpc>
                <a:spcPct val="108000"/>
              </a:lnSpc>
              <a:spcBef>
                <a:spcPts val="0"/>
              </a:spcBef>
              <a:spcAft>
                <a:spcPts val="0"/>
              </a:spcAft>
            </a:pPr>
            <a:r>
              <a:rPr sz="1550" b="1">
                <a:solidFill>
                  <a:srgbClr val="0B1733"/>
                </a:solidFill>
                <a:latin typeface="Arial"/>
              </a:rPr>
              <a:t>Compare</a:t>
            </a:r>
          </a:p>
        </p:txBody>
      </p:sp>
      <p:sp>
        <p:nvSpPr>
          <p:cNvPr id="40" name="Text 39"/>
          <p:cNvSpPr txBox="1"/>
          <p:nvPr/>
        </p:nvSpPr>
        <p:spPr>
          <a:xfrm>
            <a:off x="5111496" y="5212080"/>
            <a:ext cx="2331720" cy="329184"/>
          </a:xfrm>
          <a:prstGeom prst="rect">
            <a:avLst/>
          </a:prstGeom>
          <a:noFill/>
        </p:spPr>
        <p:txBody>
          <a:bodyPr wrap="square" lIns="0" rIns="0" tIns="0" bIns="0" anchor="ctr">
            <a:noAutofit/>
          </a:bodyPr>
          <a:lstStyle/>
          <a:p>
            <a:pPr algn="l">
              <a:lnSpc>
                <a:spcPct val="108000"/>
              </a:lnSpc>
              <a:spcBef>
                <a:spcPts val="0"/>
              </a:spcBef>
              <a:spcAft>
                <a:spcPts val="0"/>
              </a:spcAft>
            </a:pPr>
            <a:r>
              <a:rPr sz="1080" b="0">
                <a:solidFill>
                  <a:srgbClr val="63718A"/>
                </a:solidFill>
                <a:latin typeface="Arial"/>
              </a:rPr>
              <a:t>Review relevant details</a:t>
            </a:r>
          </a:p>
        </p:txBody>
      </p:sp>
      <p:sp>
        <p:nvSpPr>
          <p:cNvPr id="41" name="Shape 40"/>
          <p:cNvSpPr/>
          <p:nvPr/>
        </p:nvSpPr>
        <p:spPr>
          <a:xfrm>
            <a:off x="8225027" y="4777740"/>
            <a:ext cx="3227832" cy="1088136"/>
          </a:xfrm>
          <a:prstGeom prst="roundRect">
            <a:avLst>
              <a:gd name="adj" fmla="val 1092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hape 41"/>
          <p:cNvSpPr/>
          <p:nvPr/>
        </p:nvSpPr>
        <p:spPr>
          <a:xfrm>
            <a:off x="8183879" y="4727448"/>
            <a:ext cx="3227832" cy="1088136"/>
          </a:xfrm>
          <a:prstGeom prst="roundRect">
            <a:avLst>
              <a:gd name="adj" fmla="val 1092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ircle 42"/>
          <p:cNvSpPr/>
          <p:nvPr/>
        </p:nvSpPr>
        <p:spPr>
          <a:xfrm>
            <a:off x="8366759" y="5001768"/>
            <a:ext cx="356616" cy="35661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8366759" y="5010912"/>
            <a:ext cx="356616" cy="338328"/>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03</a:t>
            </a:r>
          </a:p>
        </p:txBody>
      </p:sp>
      <p:sp>
        <p:nvSpPr>
          <p:cNvPr id="45" name="Text 44"/>
          <p:cNvSpPr txBox="1"/>
          <p:nvPr/>
        </p:nvSpPr>
        <p:spPr>
          <a:xfrm>
            <a:off x="8860536" y="4882896"/>
            <a:ext cx="2331720" cy="256032"/>
          </a:xfrm>
          <a:prstGeom prst="rect">
            <a:avLst/>
          </a:prstGeom>
          <a:noFill/>
        </p:spPr>
        <p:txBody>
          <a:bodyPr wrap="none" lIns="0" rIns="0" tIns="0" bIns="0" anchor="ctr">
            <a:noAutofit/>
          </a:bodyPr>
          <a:lstStyle/>
          <a:p>
            <a:pPr algn="l">
              <a:lnSpc>
                <a:spcPct val="108000"/>
              </a:lnSpc>
              <a:spcBef>
                <a:spcPts val="0"/>
              </a:spcBef>
              <a:spcAft>
                <a:spcPts val="0"/>
              </a:spcAft>
            </a:pPr>
            <a:r>
              <a:rPr sz="1550" b="1">
                <a:solidFill>
                  <a:srgbClr val="0B1733"/>
                </a:solidFill>
                <a:latin typeface="Arial"/>
              </a:rPr>
              <a:t>Request</a:t>
            </a:r>
          </a:p>
        </p:txBody>
      </p:sp>
      <p:sp>
        <p:nvSpPr>
          <p:cNvPr id="46" name="Text 45"/>
          <p:cNvSpPr txBox="1"/>
          <p:nvPr/>
        </p:nvSpPr>
        <p:spPr>
          <a:xfrm>
            <a:off x="8860536" y="5212080"/>
            <a:ext cx="2331720" cy="329184"/>
          </a:xfrm>
          <a:prstGeom prst="rect">
            <a:avLst/>
          </a:prstGeom>
          <a:noFill/>
        </p:spPr>
        <p:txBody>
          <a:bodyPr wrap="square" lIns="0" rIns="0" tIns="0" bIns="0" anchor="ctr">
            <a:noAutofit/>
          </a:bodyPr>
          <a:lstStyle/>
          <a:p>
            <a:pPr algn="l">
              <a:lnSpc>
                <a:spcPct val="108000"/>
              </a:lnSpc>
              <a:spcBef>
                <a:spcPts val="0"/>
              </a:spcBef>
              <a:spcAft>
                <a:spcPts val="0"/>
              </a:spcAft>
            </a:pPr>
            <a:r>
              <a:rPr sz="1080" b="0">
                <a:solidFill>
                  <a:srgbClr val="63718A"/>
                </a:solidFill>
                <a:latin typeface="Arial"/>
              </a:rPr>
              <a:t>Send a booking request</a:t>
            </a:r>
          </a:p>
        </p:txBody>
      </p:sp>
      <p:sp>
        <p:nvSpPr>
          <p:cNvPr id="47" name="Text 46"/>
          <p:cNvSpPr txBox="1"/>
          <p:nvPr/>
        </p:nvSpPr>
        <p:spPr>
          <a:xfrm>
            <a:off x="4050791" y="5056632"/>
            <a:ext cx="310896" cy="320040"/>
          </a:xfrm>
          <a:prstGeom prst="rect">
            <a:avLst/>
          </a:prstGeom>
          <a:noFill/>
        </p:spPr>
        <p:txBody>
          <a:bodyPr wrap="none" lIns="0" rIns="0" tIns="0" bIns="0" anchor="ctr">
            <a:noAutofit/>
          </a:bodyPr>
          <a:lstStyle/>
          <a:p>
            <a:pPr algn="ctr">
              <a:lnSpc>
                <a:spcPct val="108000"/>
              </a:lnSpc>
              <a:spcBef>
                <a:spcPts val="0"/>
              </a:spcBef>
              <a:spcAft>
                <a:spcPts val="0"/>
              </a:spcAft>
            </a:pPr>
            <a:r>
              <a:rPr sz="2000" b="1">
                <a:solidFill>
                  <a:srgbClr val="10B981"/>
                </a:solidFill>
                <a:latin typeface="Arial"/>
              </a:rPr>
              <a:t>→</a:t>
            </a:r>
          </a:p>
        </p:txBody>
      </p:sp>
      <p:sp>
        <p:nvSpPr>
          <p:cNvPr id="48" name="Text 47"/>
          <p:cNvSpPr txBox="1"/>
          <p:nvPr/>
        </p:nvSpPr>
        <p:spPr>
          <a:xfrm>
            <a:off x="7799831" y="5056632"/>
            <a:ext cx="310896" cy="320040"/>
          </a:xfrm>
          <a:prstGeom prst="rect">
            <a:avLst/>
          </a:prstGeom>
          <a:noFill/>
        </p:spPr>
        <p:txBody>
          <a:bodyPr wrap="none" lIns="0" rIns="0" tIns="0" bIns="0" anchor="ctr">
            <a:noAutofit/>
          </a:bodyPr>
          <a:lstStyle/>
          <a:p>
            <a:pPr algn="ctr">
              <a:lnSpc>
                <a:spcPct val="108000"/>
              </a:lnSpc>
              <a:spcBef>
                <a:spcPts val="0"/>
              </a:spcBef>
              <a:spcAft>
                <a:spcPts val="0"/>
              </a:spcAft>
            </a:pPr>
            <a:r>
              <a:rPr sz="2000" b="1">
                <a:solidFill>
                  <a:srgbClr val="10B981"/>
                </a:solidFill>
                <a:latin typeface="Arial"/>
              </a:rPr>
              <a:t>→</a:t>
            </a:r>
          </a:p>
        </p:txBody>
      </p:sp>
      <p:sp>
        <p:nvSpPr>
          <p:cNvPr id="49" name="Text 48"/>
          <p:cNvSpPr txBox="1"/>
          <p:nvPr/>
        </p:nvSpPr>
        <p:spPr>
          <a:xfrm>
            <a:off x="713232" y="5989320"/>
            <a:ext cx="10515600" cy="182880"/>
          </a:xfrm>
          <a:prstGeom prst="rect">
            <a:avLst/>
          </a:prstGeom>
          <a:noFill/>
        </p:spPr>
        <p:txBody>
          <a:bodyPr wrap="none" lIns="0" rIns="0" tIns="0" bIns="0" anchor="t">
            <a:noAutofit/>
          </a:bodyPr>
          <a:lstStyle/>
          <a:p>
            <a:pPr algn="l">
              <a:lnSpc>
                <a:spcPct val="108000"/>
              </a:lnSpc>
              <a:spcBef>
                <a:spcPts val="0"/>
              </a:spcBef>
              <a:spcAft>
                <a:spcPts val="0"/>
              </a:spcAft>
            </a:pPr>
            <a:r>
              <a:rPr sz="969" b="0">
                <a:solidFill>
                  <a:srgbClr val="63718A"/>
                </a:solidFill>
                <a:latin typeface="Arial"/>
              </a:rPr>
              <a:t>Project intent: make tutor search and lesson coordination easier to understand — without claiming measured impact.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01  /  PROBLEM &amp; OBJECTIVES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Uchekwe Uchechukwu Hephzibah</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A good tutor fit depends on more than subject alone</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platform is designed around several practical matching criteria — not survey statistics.</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03  /  15</a:t>
            </a:r>
          </a:p>
        </p:txBody>
      </p:sp>
      <p:sp>
        <p:nvSpPr>
          <p:cNvPr id="11" name="Shape 10"/>
          <p:cNvSpPr/>
          <p:nvPr/>
        </p:nvSpPr>
        <p:spPr>
          <a:xfrm>
            <a:off x="699516" y="1924812"/>
            <a:ext cx="4645152" cy="4215384"/>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1874519"/>
            <a:ext cx="4645152" cy="4215384"/>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950976" y="2121408"/>
            <a:ext cx="4078224" cy="292608"/>
          </a:xfrm>
          <a:prstGeom prst="rect">
            <a:avLst/>
          </a:prstGeom>
          <a:noFill/>
        </p:spPr>
        <p:txBody>
          <a:bodyPr wrap="none" lIns="0" rIns="0" tIns="0" bIns="0" anchor="t">
            <a:noAutofit/>
          </a:bodyPr>
          <a:lstStyle/>
          <a:p>
            <a:pPr algn="l">
              <a:lnSpc>
                <a:spcPct val="108000"/>
              </a:lnSpc>
              <a:spcBef>
                <a:spcPts val="0"/>
              </a:spcBef>
              <a:spcAft>
                <a:spcPts val="0"/>
              </a:spcAft>
            </a:pPr>
            <a:r>
              <a:rPr sz="1000" b="1">
                <a:solidFill>
                  <a:srgbClr val="1E3A8A"/>
                </a:solidFill>
                <a:latin typeface="Arial"/>
              </a:rPr>
              <a:t>THE DISCOVERY CHALLENGE</a:t>
            </a:r>
          </a:p>
        </p:txBody>
      </p:sp>
      <p:sp>
        <p:nvSpPr>
          <p:cNvPr id="14" name="Text 13"/>
          <p:cNvSpPr txBox="1"/>
          <p:nvPr/>
        </p:nvSpPr>
        <p:spPr>
          <a:xfrm>
            <a:off x="950976" y="2487168"/>
            <a:ext cx="3986784" cy="621792"/>
          </a:xfrm>
          <a:prstGeom prst="rect">
            <a:avLst/>
          </a:prstGeom>
          <a:noFill/>
        </p:spPr>
        <p:txBody>
          <a:bodyPr wrap="square" lIns="0" rIns="0" tIns="0" bIns="0" anchor="t">
            <a:noAutofit/>
          </a:bodyPr>
          <a:lstStyle/>
          <a:p>
            <a:pPr algn="l">
              <a:lnSpc>
                <a:spcPct val="105000"/>
              </a:lnSpc>
              <a:spcBef>
                <a:spcPts val="0"/>
              </a:spcBef>
              <a:spcAft>
                <a:spcPts val="0"/>
              </a:spcAft>
            </a:pPr>
            <a:r>
              <a:rPr sz="1950" b="1">
                <a:solidFill>
                  <a:srgbClr val="0B1733"/>
                </a:solidFill>
                <a:latin typeface="Arial"/>
              </a:rPr>
              <a:t>A learner needs a tutor</a:t>
            </a:r>
          </a:p>
          <a:p>
            <a:pPr algn="l">
              <a:lnSpc>
                <a:spcPct val="105000"/>
              </a:lnSpc>
              <a:spcBef>
                <a:spcPts val="0"/>
              </a:spcBef>
              <a:spcAft>
                <a:spcPts val="0"/>
              </a:spcAft>
            </a:pPr>
            <a:r>
              <a:rPr sz="1950" b="1">
                <a:solidFill>
                  <a:srgbClr val="0B1733"/>
                </a:solidFill>
                <a:latin typeface="Arial"/>
              </a:rPr>
              <a:t>who fits the whole picture.</a:t>
            </a:r>
          </a:p>
        </p:txBody>
      </p:sp>
      <p:sp>
        <p:nvSpPr>
          <p:cNvPr id="15" name="Circle 14"/>
          <p:cNvSpPr/>
          <p:nvPr/>
        </p:nvSpPr>
        <p:spPr>
          <a:xfrm>
            <a:off x="2075688" y="4069080"/>
            <a:ext cx="1143000" cy="1143000"/>
          </a:xfrm>
          <a:prstGeom prst="ellipse">
            <a:avLst/>
          </a:prstGeom>
          <a:solidFill>
            <a:srgbClr val="EAF1FF"/>
          </a:solidFill>
          <a:ln w="10160">
            <a:solidFill>
              <a:srgbClr val="D8E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2130552" y="4370832"/>
            <a:ext cx="1033271" cy="502920"/>
          </a:xfrm>
          <a:prstGeom prst="rect">
            <a:avLst/>
          </a:prstGeom>
          <a:noFill/>
        </p:spPr>
        <p:txBody>
          <a:bodyPr wrap="square" lIns="0" rIns="0" tIns="0" bIns="0" anchor="ctr">
            <a:noAutofit/>
          </a:bodyPr>
          <a:lstStyle/>
          <a:p>
            <a:pPr algn="ctr">
              <a:lnSpc>
                <a:spcPct val="100000"/>
              </a:lnSpc>
              <a:spcBef>
                <a:spcPts val="0"/>
              </a:spcBef>
              <a:spcAft>
                <a:spcPts val="0"/>
              </a:spcAft>
            </a:pPr>
            <a:r>
              <a:rPr sz="1250" b="1">
                <a:solidFill>
                  <a:srgbClr val="1E3A8A"/>
                </a:solidFill>
                <a:latin typeface="Arial"/>
              </a:rPr>
              <a:t>GOOD</a:t>
            </a:r>
          </a:p>
          <a:p>
            <a:pPr algn="ctr">
              <a:lnSpc>
                <a:spcPct val="100000"/>
              </a:lnSpc>
              <a:spcBef>
                <a:spcPts val="0"/>
              </a:spcBef>
              <a:spcAft>
                <a:spcPts val="0"/>
              </a:spcAft>
            </a:pPr>
            <a:r>
              <a:rPr sz="1250" b="1">
                <a:solidFill>
                  <a:srgbClr val="1E3A8A"/>
                </a:solidFill>
                <a:latin typeface="Arial"/>
              </a:rPr>
              <a:t>FIT</a:t>
            </a:r>
          </a:p>
        </p:txBody>
      </p:sp>
      <p:sp>
        <p:nvSpPr>
          <p:cNvPr id="17" name="Shape 16"/>
          <p:cNvSpPr/>
          <p:nvPr/>
        </p:nvSpPr>
        <p:spPr>
          <a:xfrm>
            <a:off x="932688" y="3401568"/>
            <a:ext cx="1335024" cy="292608"/>
          </a:xfrm>
          <a:prstGeom prst="roundRect">
            <a:avLst>
              <a:gd name="adj" fmla="val 28000"/>
            </a:avLst>
          </a:prstGeom>
          <a:solidFill>
            <a:srgbClr val="F0F4FA"/>
          </a:solidFill>
          <a:ln w="889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996696" y="3419856"/>
            <a:ext cx="1207007"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63718A"/>
                </a:solidFill>
                <a:latin typeface="Arial"/>
              </a:rPr>
              <a:t>SUBJECT</a:t>
            </a:r>
          </a:p>
        </p:txBody>
      </p:sp>
      <p:sp>
        <p:nvSpPr>
          <p:cNvPr id="19" name="Shape 18"/>
          <p:cNvSpPr/>
          <p:nvPr/>
        </p:nvSpPr>
        <p:spPr>
          <a:xfrm>
            <a:off x="3154680" y="3401568"/>
            <a:ext cx="1307592" cy="292608"/>
          </a:xfrm>
          <a:prstGeom prst="roundRect">
            <a:avLst>
              <a:gd name="adj" fmla="val 28000"/>
            </a:avLst>
          </a:prstGeom>
          <a:solidFill>
            <a:srgbClr val="F0F4FA"/>
          </a:solidFill>
          <a:ln w="889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3218688" y="3419856"/>
            <a:ext cx="1179576"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63718A"/>
                </a:solidFill>
                <a:latin typeface="Arial"/>
              </a:rPr>
              <a:t>CURRICULUM</a:t>
            </a:r>
          </a:p>
        </p:txBody>
      </p:sp>
      <p:sp>
        <p:nvSpPr>
          <p:cNvPr id="21" name="Shape 20"/>
          <p:cNvSpPr/>
          <p:nvPr/>
        </p:nvSpPr>
        <p:spPr>
          <a:xfrm>
            <a:off x="896112" y="5358384"/>
            <a:ext cx="1280160" cy="292608"/>
          </a:xfrm>
          <a:prstGeom prst="roundRect">
            <a:avLst>
              <a:gd name="adj" fmla="val 28000"/>
            </a:avLst>
          </a:prstGeom>
          <a:solidFill>
            <a:srgbClr val="F0F4FA"/>
          </a:solidFill>
          <a:ln w="889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960120" y="5376672"/>
            <a:ext cx="1152143"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63718A"/>
                </a:solidFill>
                <a:latin typeface="Arial"/>
              </a:rPr>
              <a:t>LOCATION</a:t>
            </a:r>
          </a:p>
        </p:txBody>
      </p:sp>
      <p:sp>
        <p:nvSpPr>
          <p:cNvPr id="23" name="Shape 22"/>
          <p:cNvSpPr/>
          <p:nvPr/>
        </p:nvSpPr>
        <p:spPr>
          <a:xfrm>
            <a:off x="2450592" y="5513832"/>
            <a:ext cx="1234440" cy="292608"/>
          </a:xfrm>
          <a:prstGeom prst="roundRect">
            <a:avLst>
              <a:gd name="adj" fmla="val 28000"/>
            </a:avLst>
          </a:prstGeom>
          <a:solidFill>
            <a:srgbClr val="F0F4FA"/>
          </a:solidFill>
          <a:ln w="889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2514600" y="5532120"/>
            <a:ext cx="1106424"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63718A"/>
                </a:solidFill>
                <a:latin typeface="Arial"/>
              </a:rPr>
              <a:t>BUDGET</a:t>
            </a:r>
          </a:p>
        </p:txBody>
      </p:sp>
      <p:sp>
        <p:nvSpPr>
          <p:cNvPr id="25" name="Shape 24"/>
          <p:cNvSpPr/>
          <p:nvPr/>
        </p:nvSpPr>
        <p:spPr>
          <a:xfrm>
            <a:off x="3867912" y="5358384"/>
            <a:ext cx="1097280" cy="292608"/>
          </a:xfrm>
          <a:prstGeom prst="roundRect">
            <a:avLst>
              <a:gd name="adj" fmla="val 28000"/>
            </a:avLst>
          </a:prstGeom>
          <a:solidFill>
            <a:srgbClr val="F0F4FA"/>
          </a:solidFill>
          <a:ln w="889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5"/>
          <p:cNvSpPr txBox="1"/>
          <p:nvPr/>
        </p:nvSpPr>
        <p:spPr>
          <a:xfrm>
            <a:off x="3931920" y="5376672"/>
            <a:ext cx="969264"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63718A"/>
                </a:solidFill>
                <a:latin typeface="Arial"/>
              </a:rPr>
              <a:t>TIME</a:t>
            </a:r>
          </a:p>
        </p:txBody>
      </p:sp>
      <p:cxnSp>
        <p:nvCxnSpPr>
          <p:cNvPr id="27" name="Connector 26"/>
          <p:cNvCxnSpPr/>
          <p:nvPr/>
        </p:nvCxnSpPr>
        <p:spPr>
          <a:xfrm>
            <a:off x="1636776" y="3666744"/>
            <a:ext cx="694944" cy="493776"/>
          </a:xfrm>
          <a:prstGeom prst="line">
            <a:avLst/>
          </a:prstGeom>
          <a:ln w="12700">
            <a:solidFill>
              <a:srgbClr val="C8D5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2962656" y="3666744"/>
            <a:ext cx="740664" cy="502919"/>
          </a:xfrm>
          <a:prstGeom prst="line">
            <a:avLst/>
          </a:prstGeom>
          <a:ln w="12700">
            <a:solidFill>
              <a:srgbClr val="C8D5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00784" y="5084064"/>
            <a:ext cx="539496" cy="347472"/>
          </a:xfrm>
          <a:prstGeom prst="line">
            <a:avLst/>
          </a:prstGeom>
          <a:ln w="12700">
            <a:solidFill>
              <a:srgbClr val="C8D5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70048" y="5202936"/>
            <a:ext cx="393192" cy="283464"/>
          </a:xfrm>
          <a:prstGeom prst="line">
            <a:avLst/>
          </a:prstGeom>
          <a:ln w="12700">
            <a:solidFill>
              <a:srgbClr val="C8D5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3099816" y="5056632"/>
            <a:ext cx="1042416" cy="329184"/>
          </a:xfrm>
          <a:prstGeom prst="line">
            <a:avLst/>
          </a:prstGeom>
          <a:ln w="12700">
            <a:solidFill>
              <a:srgbClr val="C8D5E8"/>
            </a:solidFill>
          </a:ln>
        </p:spPr>
        <p:style>
          <a:lnRef idx="2">
            <a:schemeClr val="accent1"/>
          </a:lnRef>
          <a:fillRef idx="0">
            <a:schemeClr val="accent1"/>
          </a:fillRef>
          <a:effectRef idx="1">
            <a:schemeClr val="accent1"/>
          </a:effectRef>
          <a:fontRef idx="minor">
            <a:schemeClr val="tx1"/>
          </a:fontRef>
        </p:style>
      </p:cxnSp>
      <p:sp>
        <p:nvSpPr>
          <p:cNvPr id="32" name="Text 31"/>
          <p:cNvSpPr txBox="1"/>
          <p:nvPr/>
        </p:nvSpPr>
        <p:spPr>
          <a:xfrm>
            <a:off x="941832" y="5806440"/>
            <a:ext cx="3931920" cy="173736"/>
          </a:xfrm>
          <a:prstGeom prst="rect">
            <a:avLst/>
          </a:prstGeom>
          <a:noFill/>
        </p:spPr>
        <p:txBody>
          <a:bodyPr wrap="none" lIns="0" rIns="0" tIns="0" bIns="0" anchor="t">
            <a:noAutofit/>
          </a:bodyPr>
          <a:lstStyle/>
          <a:p>
            <a:pPr algn="l">
              <a:lnSpc>
                <a:spcPct val="108000"/>
              </a:lnSpc>
              <a:spcBef>
                <a:spcPts val="0"/>
              </a:spcBef>
              <a:spcAft>
                <a:spcPts val="0"/>
              </a:spcAft>
            </a:pPr>
            <a:r>
              <a:rPr sz="880" b="0">
                <a:solidFill>
                  <a:srgbClr val="63718A"/>
                </a:solidFill>
                <a:latin typeface="Arial"/>
              </a:rPr>
              <a:t>Product framing only — no measured findings are claimed.</a:t>
            </a:r>
          </a:p>
        </p:txBody>
      </p:sp>
      <p:sp>
        <p:nvSpPr>
          <p:cNvPr id="33" name="Shape 32"/>
          <p:cNvSpPr/>
          <p:nvPr/>
        </p:nvSpPr>
        <p:spPr>
          <a:xfrm>
            <a:off x="5559552" y="1874519"/>
            <a:ext cx="5961888" cy="4215384"/>
          </a:xfrm>
          <a:prstGeom prst="roundRect">
            <a:avLst>
              <a:gd name="adj" fmla="val 60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33"/>
          <p:cNvSpPr txBox="1"/>
          <p:nvPr/>
        </p:nvSpPr>
        <p:spPr>
          <a:xfrm>
            <a:off x="5925312" y="2167128"/>
            <a:ext cx="5212080" cy="283464"/>
          </a:xfrm>
          <a:prstGeom prst="rect">
            <a:avLst/>
          </a:prstGeom>
          <a:noFill/>
        </p:spPr>
        <p:txBody>
          <a:bodyPr wrap="none" lIns="0" rIns="0" tIns="0" bIns="0" anchor="t">
            <a:noAutofit/>
          </a:bodyPr>
          <a:lstStyle/>
          <a:p>
            <a:pPr algn="l">
              <a:lnSpc>
                <a:spcPct val="108000"/>
              </a:lnSpc>
              <a:spcBef>
                <a:spcPts val="0"/>
              </a:spcBef>
              <a:spcAft>
                <a:spcPts val="0"/>
              </a:spcAft>
            </a:pPr>
            <a:r>
              <a:rPr sz="1000" b="1">
                <a:solidFill>
                  <a:srgbClr val="B9C9E2"/>
                </a:solidFill>
                <a:latin typeface="Arial"/>
              </a:rPr>
              <a:t>PROJECT OBJECTIVES</a:t>
            </a:r>
          </a:p>
        </p:txBody>
      </p:sp>
      <p:sp>
        <p:nvSpPr>
          <p:cNvPr id="35" name="Circle 34"/>
          <p:cNvSpPr/>
          <p:nvPr/>
        </p:nvSpPr>
        <p:spPr>
          <a:xfrm>
            <a:off x="5943600" y="2715768"/>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35"/>
          <p:cNvSpPr txBox="1"/>
          <p:nvPr/>
        </p:nvSpPr>
        <p:spPr>
          <a:xfrm>
            <a:off x="5943600" y="2724912"/>
            <a:ext cx="411480" cy="384048"/>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01</a:t>
            </a:r>
          </a:p>
        </p:txBody>
      </p:sp>
      <p:sp>
        <p:nvSpPr>
          <p:cNvPr id="37" name="Text 36"/>
          <p:cNvSpPr txBox="1"/>
          <p:nvPr/>
        </p:nvSpPr>
        <p:spPr>
          <a:xfrm>
            <a:off x="6537960" y="2697480"/>
            <a:ext cx="4480560" cy="274320"/>
          </a:xfrm>
          <a:prstGeom prst="rect">
            <a:avLst/>
          </a:prstGeom>
          <a:noFill/>
        </p:spPr>
        <p:txBody>
          <a:bodyPr wrap="none" lIns="0" rIns="0" tIns="0" bIns="0" anchor="ctr">
            <a:noAutofit/>
          </a:bodyPr>
          <a:lstStyle/>
          <a:p>
            <a:pPr algn="l">
              <a:lnSpc>
                <a:spcPct val="108000"/>
              </a:lnSpc>
              <a:spcBef>
                <a:spcPts val="0"/>
              </a:spcBef>
              <a:spcAft>
                <a:spcPts val="0"/>
              </a:spcAft>
            </a:pPr>
            <a:r>
              <a:rPr sz="1540" b="1">
                <a:solidFill>
                  <a:srgbClr val="FFFFFF"/>
                </a:solidFill>
                <a:latin typeface="Arial"/>
              </a:rPr>
              <a:t>Make discovery filterable</a:t>
            </a:r>
          </a:p>
        </p:txBody>
      </p:sp>
      <p:sp>
        <p:nvSpPr>
          <p:cNvPr id="38" name="Text 37"/>
          <p:cNvSpPr txBox="1"/>
          <p:nvPr/>
        </p:nvSpPr>
        <p:spPr>
          <a:xfrm>
            <a:off x="6537960" y="3035808"/>
            <a:ext cx="4480560" cy="429768"/>
          </a:xfrm>
          <a:prstGeom prst="rect">
            <a:avLst/>
          </a:prstGeom>
          <a:noFill/>
        </p:spPr>
        <p:txBody>
          <a:bodyPr wrap="square" lIns="0" rIns="0" tIns="0" bIns="0" anchor="ctr">
            <a:noAutofit/>
          </a:bodyPr>
          <a:lstStyle/>
          <a:p>
            <a:pPr algn="l">
              <a:lnSpc>
                <a:spcPct val="108000"/>
              </a:lnSpc>
              <a:spcBef>
                <a:spcPts val="0"/>
              </a:spcBef>
              <a:spcAft>
                <a:spcPts val="0"/>
              </a:spcAft>
            </a:pPr>
            <a:r>
              <a:rPr sz="1110" b="0">
                <a:solidFill>
                  <a:srgbClr val="D7E1F1"/>
                </a:solidFill>
                <a:latin typeface="Arial"/>
              </a:rPr>
              <a:t>Let people narrow options by criteria that matter to the learner.</a:t>
            </a:r>
          </a:p>
        </p:txBody>
      </p:sp>
      <p:cxnSp>
        <p:nvCxnSpPr>
          <p:cNvPr id="39" name="Connector 38"/>
          <p:cNvCxnSpPr/>
          <p:nvPr/>
        </p:nvCxnSpPr>
        <p:spPr>
          <a:xfrm>
            <a:off x="6537960" y="3529584"/>
            <a:ext cx="4343400" cy="0"/>
          </a:xfrm>
          <a:prstGeom prst="line">
            <a:avLst/>
          </a:prstGeom>
          <a:ln w="10160">
            <a:solidFill>
              <a:srgbClr val="30466A"/>
            </a:solidFill>
          </a:ln>
        </p:spPr>
        <p:style>
          <a:lnRef idx="2">
            <a:schemeClr val="accent1"/>
          </a:lnRef>
          <a:fillRef idx="0">
            <a:schemeClr val="accent1"/>
          </a:fillRef>
          <a:effectRef idx="1">
            <a:schemeClr val="accent1"/>
          </a:effectRef>
          <a:fontRef idx="minor">
            <a:schemeClr val="tx1"/>
          </a:fontRef>
        </p:style>
      </p:cxnSp>
      <p:sp>
        <p:nvSpPr>
          <p:cNvPr id="40" name="Circle 39"/>
          <p:cNvSpPr/>
          <p:nvPr/>
        </p:nvSpPr>
        <p:spPr>
          <a:xfrm>
            <a:off x="5943600" y="3703320"/>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40"/>
          <p:cNvSpPr txBox="1"/>
          <p:nvPr/>
        </p:nvSpPr>
        <p:spPr>
          <a:xfrm>
            <a:off x="5943600" y="3712464"/>
            <a:ext cx="411480" cy="384048"/>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02</a:t>
            </a:r>
          </a:p>
        </p:txBody>
      </p:sp>
      <p:sp>
        <p:nvSpPr>
          <p:cNvPr id="42" name="Text 41"/>
          <p:cNvSpPr txBox="1"/>
          <p:nvPr/>
        </p:nvSpPr>
        <p:spPr>
          <a:xfrm>
            <a:off x="6537960" y="3685032"/>
            <a:ext cx="4480560" cy="274320"/>
          </a:xfrm>
          <a:prstGeom prst="rect">
            <a:avLst/>
          </a:prstGeom>
          <a:noFill/>
        </p:spPr>
        <p:txBody>
          <a:bodyPr wrap="none" lIns="0" rIns="0" tIns="0" bIns="0" anchor="ctr">
            <a:noAutofit/>
          </a:bodyPr>
          <a:lstStyle/>
          <a:p>
            <a:pPr algn="l">
              <a:lnSpc>
                <a:spcPct val="108000"/>
              </a:lnSpc>
              <a:spcBef>
                <a:spcPts val="0"/>
              </a:spcBef>
              <a:spcAft>
                <a:spcPts val="0"/>
              </a:spcAft>
            </a:pPr>
            <a:r>
              <a:rPr sz="1540" b="1">
                <a:solidFill>
                  <a:srgbClr val="FFFFFF"/>
                </a:solidFill>
                <a:latin typeface="Arial"/>
              </a:rPr>
              <a:t>Make tutor profiles useful</a:t>
            </a:r>
          </a:p>
        </p:txBody>
      </p:sp>
      <p:sp>
        <p:nvSpPr>
          <p:cNvPr id="43" name="Text 42"/>
          <p:cNvSpPr txBox="1"/>
          <p:nvPr/>
        </p:nvSpPr>
        <p:spPr>
          <a:xfrm>
            <a:off x="6537960" y="4023360"/>
            <a:ext cx="4480560" cy="429768"/>
          </a:xfrm>
          <a:prstGeom prst="rect">
            <a:avLst/>
          </a:prstGeom>
          <a:noFill/>
        </p:spPr>
        <p:txBody>
          <a:bodyPr wrap="square" lIns="0" rIns="0" tIns="0" bIns="0" anchor="ctr">
            <a:noAutofit/>
          </a:bodyPr>
          <a:lstStyle/>
          <a:p>
            <a:pPr algn="l">
              <a:lnSpc>
                <a:spcPct val="108000"/>
              </a:lnSpc>
              <a:spcBef>
                <a:spcPts val="0"/>
              </a:spcBef>
              <a:spcAft>
                <a:spcPts val="0"/>
              </a:spcAft>
            </a:pPr>
            <a:r>
              <a:rPr sz="1110" b="0">
                <a:solidFill>
                  <a:srgbClr val="D7E1F1"/>
                </a:solidFill>
                <a:latin typeface="Arial"/>
              </a:rPr>
              <a:t>Bring teaching details, rates, availability and review signals together.</a:t>
            </a:r>
          </a:p>
        </p:txBody>
      </p:sp>
      <p:cxnSp>
        <p:nvCxnSpPr>
          <p:cNvPr id="44" name="Connector 43"/>
          <p:cNvCxnSpPr/>
          <p:nvPr/>
        </p:nvCxnSpPr>
        <p:spPr>
          <a:xfrm>
            <a:off x="6537960" y="4517136"/>
            <a:ext cx="4343400" cy="0"/>
          </a:xfrm>
          <a:prstGeom prst="line">
            <a:avLst/>
          </a:prstGeom>
          <a:ln w="10160">
            <a:solidFill>
              <a:srgbClr val="30466A"/>
            </a:solidFill>
          </a:ln>
        </p:spPr>
        <p:style>
          <a:lnRef idx="2">
            <a:schemeClr val="accent1"/>
          </a:lnRef>
          <a:fillRef idx="0">
            <a:schemeClr val="accent1"/>
          </a:fillRef>
          <a:effectRef idx="1">
            <a:schemeClr val="accent1"/>
          </a:effectRef>
          <a:fontRef idx="minor">
            <a:schemeClr val="tx1"/>
          </a:fontRef>
        </p:style>
      </p:cxnSp>
      <p:sp>
        <p:nvSpPr>
          <p:cNvPr id="45" name="Circle 44"/>
          <p:cNvSpPr/>
          <p:nvPr/>
        </p:nvSpPr>
        <p:spPr>
          <a:xfrm>
            <a:off x="5943600" y="4690872"/>
            <a:ext cx="411480" cy="4114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45"/>
          <p:cNvSpPr txBox="1"/>
          <p:nvPr/>
        </p:nvSpPr>
        <p:spPr>
          <a:xfrm>
            <a:off x="5943600" y="4700016"/>
            <a:ext cx="411480" cy="384048"/>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03</a:t>
            </a:r>
          </a:p>
        </p:txBody>
      </p:sp>
      <p:sp>
        <p:nvSpPr>
          <p:cNvPr id="47" name="Text 46"/>
          <p:cNvSpPr txBox="1"/>
          <p:nvPr/>
        </p:nvSpPr>
        <p:spPr>
          <a:xfrm>
            <a:off x="6537960" y="4672584"/>
            <a:ext cx="4480560" cy="274320"/>
          </a:xfrm>
          <a:prstGeom prst="rect">
            <a:avLst/>
          </a:prstGeom>
          <a:noFill/>
        </p:spPr>
        <p:txBody>
          <a:bodyPr wrap="none" lIns="0" rIns="0" tIns="0" bIns="0" anchor="ctr">
            <a:noAutofit/>
          </a:bodyPr>
          <a:lstStyle/>
          <a:p>
            <a:pPr algn="l">
              <a:lnSpc>
                <a:spcPct val="108000"/>
              </a:lnSpc>
              <a:spcBef>
                <a:spcPts val="0"/>
              </a:spcBef>
              <a:spcAft>
                <a:spcPts val="0"/>
              </a:spcAft>
            </a:pPr>
            <a:r>
              <a:rPr sz="1540" b="1">
                <a:solidFill>
                  <a:srgbClr val="FFFFFF"/>
                </a:solidFill>
                <a:latin typeface="Arial"/>
              </a:rPr>
              <a:t>Make requests manageable</a:t>
            </a:r>
          </a:p>
        </p:txBody>
      </p:sp>
      <p:sp>
        <p:nvSpPr>
          <p:cNvPr id="48" name="Text 47"/>
          <p:cNvSpPr txBox="1"/>
          <p:nvPr/>
        </p:nvSpPr>
        <p:spPr>
          <a:xfrm>
            <a:off x="6537960" y="5010912"/>
            <a:ext cx="4480560" cy="429768"/>
          </a:xfrm>
          <a:prstGeom prst="rect">
            <a:avLst/>
          </a:prstGeom>
          <a:noFill/>
        </p:spPr>
        <p:txBody>
          <a:bodyPr wrap="square" lIns="0" rIns="0" tIns="0" bIns="0" anchor="ctr">
            <a:noAutofit/>
          </a:bodyPr>
          <a:lstStyle/>
          <a:p>
            <a:pPr algn="l">
              <a:lnSpc>
                <a:spcPct val="108000"/>
              </a:lnSpc>
              <a:spcBef>
                <a:spcPts val="0"/>
              </a:spcBef>
              <a:spcAft>
                <a:spcPts val="0"/>
              </a:spcAft>
            </a:pPr>
            <a:r>
              <a:rPr sz="1110" b="0">
                <a:solidFill>
                  <a:srgbClr val="D7E1F1"/>
                </a:solidFill>
                <a:latin typeface="Arial"/>
              </a:rPr>
              <a:t>Give learners and tutors a clear booking-request status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01  /  PLATFORM USERS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Uchekwe Uchechukwu Hephzibah</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Four roles, connected by one learning journey</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Each role has a distinct place in discovery, teaching, coordination and oversight.</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04  /  15</a:t>
            </a:r>
          </a:p>
        </p:txBody>
      </p:sp>
      <p:sp>
        <p:nvSpPr>
          <p:cNvPr id="11" name="Shape 10"/>
          <p:cNvSpPr/>
          <p:nvPr/>
        </p:nvSpPr>
        <p:spPr>
          <a:xfrm>
            <a:off x="717804" y="1952244"/>
            <a:ext cx="5212080" cy="1801368"/>
          </a:xfrm>
          <a:prstGeom prst="roundRect">
            <a:avLst>
              <a:gd name="adj" fmla="val 812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76656" y="1901952"/>
            <a:ext cx="5212080" cy="1801368"/>
          </a:xfrm>
          <a:prstGeom prst="roundRect">
            <a:avLst>
              <a:gd name="adj" fmla="val 812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hape 12"/>
          <p:cNvSpPr/>
          <p:nvPr/>
        </p:nvSpPr>
        <p:spPr>
          <a:xfrm>
            <a:off x="676656" y="1901952"/>
            <a:ext cx="82296" cy="1801368"/>
          </a:xfrm>
          <a:prstGeom prst="roundRect">
            <a:avLst>
              <a:gd name="adj" fmla="val 28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ircle 13"/>
          <p:cNvSpPr/>
          <p:nvPr/>
        </p:nvSpPr>
        <p:spPr>
          <a:xfrm>
            <a:off x="950976" y="2157984"/>
            <a:ext cx="420624" cy="420624"/>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950976" y="2167128"/>
            <a:ext cx="420624" cy="384048"/>
          </a:xfrm>
          <a:prstGeom prst="rect">
            <a:avLst/>
          </a:prstGeom>
          <a:noFill/>
        </p:spPr>
        <p:txBody>
          <a:bodyPr wrap="none" lIns="0" rIns="0" tIns="0" bIns="0" anchor="ctr">
            <a:noAutofit/>
          </a:bodyPr>
          <a:lstStyle/>
          <a:p>
            <a:pPr algn="ctr">
              <a:lnSpc>
                <a:spcPct val="108000"/>
              </a:lnSpc>
              <a:spcBef>
                <a:spcPts val="0"/>
              </a:spcBef>
              <a:spcAft>
                <a:spcPts val="0"/>
              </a:spcAft>
            </a:pPr>
            <a:r>
              <a:rPr sz="1300" b="1">
                <a:solidFill>
                  <a:srgbClr val="2563EB"/>
                </a:solidFill>
                <a:latin typeface="Arial"/>
              </a:rPr>
              <a:t>S</a:t>
            </a:r>
          </a:p>
        </p:txBody>
      </p:sp>
      <p:sp>
        <p:nvSpPr>
          <p:cNvPr id="16" name="Text 15"/>
          <p:cNvSpPr txBox="1"/>
          <p:nvPr/>
        </p:nvSpPr>
        <p:spPr>
          <a:xfrm>
            <a:off x="1536192" y="2148840"/>
            <a:ext cx="3977639" cy="256032"/>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2563EB"/>
                </a:solidFill>
                <a:latin typeface="Arial"/>
              </a:rPr>
              <a:t>STUDENTS</a:t>
            </a:r>
          </a:p>
        </p:txBody>
      </p:sp>
      <p:sp>
        <p:nvSpPr>
          <p:cNvPr id="17" name="Text 16"/>
          <p:cNvSpPr txBox="1"/>
          <p:nvPr/>
        </p:nvSpPr>
        <p:spPr>
          <a:xfrm>
            <a:off x="1536192" y="2523744"/>
            <a:ext cx="4041648" cy="274320"/>
          </a:xfrm>
          <a:prstGeom prst="rect">
            <a:avLst/>
          </a:prstGeom>
          <a:noFill/>
        </p:spPr>
        <p:txBody>
          <a:bodyPr wrap="square" lIns="0" rIns="0" tIns="0" bIns="0" anchor="ctr">
            <a:noAutofit/>
          </a:bodyPr>
          <a:lstStyle/>
          <a:p>
            <a:pPr algn="l">
              <a:lnSpc>
                <a:spcPct val="108000"/>
              </a:lnSpc>
              <a:spcBef>
                <a:spcPts val="0"/>
              </a:spcBef>
              <a:spcAft>
                <a:spcPts val="0"/>
              </a:spcAft>
            </a:pPr>
            <a:r>
              <a:rPr sz="1500" b="1">
                <a:solidFill>
                  <a:srgbClr val="0B1733"/>
                </a:solidFill>
                <a:latin typeface="Arial"/>
              </a:rPr>
              <a:t>Find support for a learning goal</a:t>
            </a:r>
          </a:p>
        </p:txBody>
      </p:sp>
      <p:sp>
        <p:nvSpPr>
          <p:cNvPr id="18" name="Text 17"/>
          <p:cNvSpPr txBox="1"/>
          <p:nvPr/>
        </p:nvSpPr>
        <p:spPr>
          <a:xfrm>
            <a:off x="1536192" y="2916936"/>
            <a:ext cx="4069080" cy="493776"/>
          </a:xfrm>
          <a:prstGeom prst="rect">
            <a:avLst/>
          </a:prstGeom>
          <a:noFill/>
        </p:spPr>
        <p:txBody>
          <a:bodyPr wrap="square" lIns="0" rIns="0" tIns="0" bIns="0" anchor="ctr">
            <a:noAutofit/>
          </a:bodyPr>
          <a:lstStyle/>
          <a:p>
            <a:pPr algn="l">
              <a:lnSpc>
                <a:spcPct val="108000"/>
              </a:lnSpc>
              <a:spcBef>
                <a:spcPts val="0"/>
              </a:spcBef>
              <a:spcAft>
                <a:spcPts val="0"/>
              </a:spcAft>
            </a:pPr>
            <a:r>
              <a:rPr sz="1100" b="0">
                <a:solidFill>
                  <a:srgbClr val="63718A"/>
                </a:solidFill>
                <a:latin typeface="Arial"/>
              </a:rPr>
              <a:t>Search profiles, send a booking request and track its status.</a:t>
            </a:r>
          </a:p>
        </p:txBody>
      </p:sp>
      <p:sp>
        <p:nvSpPr>
          <p:cNvPr id="19" name="Shape 18"/>
          <p:cNvSpPr/>
          <p:nvPr/>
        </p:nvSpPr>
        <p:spPr>
          <a:xfrm>
            <a:off x="6332220" y="1952244"/>
            <a:ext cx="5212080" cy="1801368"/>
          </a:xfrm>
          <a:prstGeom prst="roundRect">
            <a:avLst>
              <a:gd name="adj" fmla="val 812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pe 19"/>
          <p:cNvSpPr/>
          <p:nvPr/>
        </p:nvSpPr>
        <p:spPr>
          <a:xfrm>
            <a:off x="6291072" y="1901952"/>
            <a:ext cx="5212080" cy="1801368"/>
          </a:xfrm>
          <a:prstGeom prst="roundRect">
            <a:avLst>
              <a:gd name="adj" fmla="val 812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pe 20"/>
          <p:cNvSpPr/>
          <p:nvPr/>
        </p:nvSpPr>
        <p:spPr>
          <a:xfrm>
            <a:off x="6291072" y="1901952"/>
            <a:ext cx="82296" cy="1801368"/>
          </a:xfrm>
          <a:prstGeom prst="roundRect">
            <a:avLst>
              <a:gd name="adj" fmla="val 28000"/>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ircle 21"/>
          <p:cNvSpPr/>
          <p:nvPr/>
        </p:nvSpPr>
        <p:spPr>
          <a:xfrm>
            <a:off x="6565392" y="2157984"/>
            <a:ext cx="420624" cy="420624"/>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6565392" y="2167128"/>
            <a:ext cx="420624" cy="384048"/>
          </a:xfrm>
          <a:prstGeom prst="rect">
            <a:avLst/>
          </a:prstGeom>
          <a:noFill/>
        </p:spPr>
        <p:txBody>
          <a:bodyPr wrap="none" lIns="0" rIns="0" tIns="0" bIns="0" anchor="ctr">
            <a:noAutofit/>
          </a:bodyPr>
          <a:lstStyle/>
          <a:p>
            <a:pPr algn="ctr">
              <a:lnSpc>
                <a:spcPct val="108000"/>
              </a:lnSpc>
              <a:spcBef>
                <a:spcPts val="0"/>
              </a:spcBef>
              <a:spcAft>
                <a:spcPts val="0"/>
              </a:spcAft>
            </a:pPr>
            <a:r>
              <a:rPr sz="1300" b="1">
                <a:solidFill>
                  <a:srgbClr val="1F8A83"/>
                </a:solidFill>
                <a:latin typeface="Arial"/>
              </a:rPr>
              <a:t>P</a:t>
            </a:r>
          </a:p>
        </p:txBody>
      </p:sp>
      <p:sp>
        <p:nvSpPr>
          <p:cNvPr id="24" name="Text 23"/>
          <p:cNvSpPr txBox="1"/>
          <p:nvPr/>
        </p:nvSpPr>
        <p:spPr>
          <a:xfrm>
            <a:off x="7150608" y="2148840"/>
            <a:ext cx="3977639" cy="256032"/>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1F8A83"/>
                </a:solidFill>
                <a:latin typeface="Arial"/>
              </a:rPr>
              <a:t>PARENTS</a:t>
            </a:r>
          </a:p>
        </p:txBody>
      </p:sp>
      <p:sp>
        <p:nvSpPr>
          <p:cNvPr id="25" name="Text 24"/>
          <p:cNvSpPr txBox="1"/>
          <p:nvPr/>
        </p:nvSpPr>
        <p:spPr>
          <a:xfrm>
            <a:off x="7150608" y="2523744"/>
            <a:ext cx="4041648" cy="274320"/>
          </a:xfrm>
          <a:prstGeom prst="rect">
            <a:avLst/>
          </a:prstGeom>
          <a:noFill/>
        </p:spPr>
        <p:txBody>
          <a:bodyPr wrap="square" lIns="0" rIns="0" tIns="0" bIns="0" anchor="ctr">
            <a:noAutofit/>
          </a:bodyPr>
          <a:lstStyle/>
          <a:p>
            <a:pPr algn="l">
              <a:lnSpc>
                <a:spcPct val="108000"/>
              </a:lnSpc>
              <a:spcBef>
                <a:spcPts val="0"/>
              </a:spcBef>
              <a:spcAft>
                <a:spcPts val="0"/>
              </a:spcAft>
            </a:pPr>
            <a:r>
              <a:rPr sz="1500" b="1">
                <a:solidFill>
                  <a:srgbClr val="0B1733"/>
                </a:solidFill>
                <a:latin typeface="Arial"/>
              </a:rPr>
              <a:t>Coordinate a child's learning</a:t>
            </a:r>
          </a:p>
        </p:txBody>
      </p:sp>
      <p:sp>
        <p:nvSpPr>
          <p:cNvPr id="26" name="Text 25"/>
          <p:cNvSpPr txBox="1"/>
          <p:nvPr/>
        </p:nvSpPr>
        <p:spPr>
          <a:xfrm>
            <a:off x="7150608" y="2916936"/>
            <a:ext cx="4069080" cy="493776"/>
          </a:xfrm>
          <a:prstGeom prst="rect">
            <a:avLst/>
          </a:prstGeom>
          <a:noFill/>
        </p:spPr>
        <p:txBody>
          <a:bodyPr wrap="square" lIns="0" rIns="0" tIns="0" bIns="0" anchor="ctr">
            <a:noAutofit/>
          </a:bodyPr>
          <a:lstStyle/>
          <a:p>
            <a:pPr algn="l">
              <a:lnSpc>
                <a:spcPct val="108000"/>
              </a:lnSpc>
              <a:spcBef>
                <a:spcPts val="0"/>
              </a:spcBef>
              <a:spcAft>
                <a:spcPts val="0"/>
              </a:spcAft>
            </a:pPr>
            <a:r>
              <a:rPr sz="1100" b="0">
                <a:solidFill>
                  <a:srgbClr val="63718A"/>
                </a:solidFill>
                <a:latin typeface="Arial"/>
              </a:rPr>
              <a:t>Share learner context and manage requests in the parent dashboard.</a:t>
            </a:r>
          </a:p>
        </p:txBody>
      </p:sp>
      <p:sp>
        <p:nvSpPr>
          <p:cNvPr id="27" name="Shape 26"/>
          <p:cNvSpPr/>
          <p:nvPr/>
        </p:nvSpPr>
        <p:spPr>
          <a:xfrm>
            <a:off x="717804" y="4046220"/>
            <a:ext cx="5212080" cy="1801368"/>
          </a:xfrm>
          <a:prstGeom prst="roundRect">
            <a:avLst>
              <a:gd name="adj" fmla="val 812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hape 27"/>
          <p:cNvSpPr/>
          <p:nvPr/>
        </p:nvSpPr>
        <p:spPr>
          <a:xfrm>
            <a:off x="676656" y="3995928"/>
            <a:ext cx="5212080" cy="1801368"/>
          </a:xfrm>
          <a:prstGeom prst="roundRect">
            <a:avLst>
              <a:gd name="adj" fmla="val 812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hape 28"/>
          <p:cNvSpPr/>
          <p:nvPr/>
        </p:nvSpPr>
        <p:spPr>
          <a:xfrm>
            <a:off x="676656" y="3995928"/>
            <a:ext cx="82296" cy="1801368"/>
          </a:xfrm>
          <a:prstGeom prst="roundRect">
            <a:avLst>
              <a:gd name="adj" fmla="val 28000"/>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ircle 29"/>
          <p:cNvSpPr/>
          <p:nvPr/>
        </p:nvSpPr>
        <p:spPr>
          <a:xfrm>
            <a:off x="950976" y="4251960"/>
            <a:ext cx="420624" cy="420624"/>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30"/>
          <p:cNvSpPr txBox="1"/>
          <p:nvPr/>
        </p:nvSpPr>
        <p:spPr>
          <a:xfrm>
            <a:off x="950976" y="4261104"/>
            <a:ext cx="420624" cy="384048"/>
          </a:xfrm>
          <a:prstGeom prst="rect">
            <a:avLst/>
          </a:prstGeom>
          <a:noFill/>
        </p:spPr>
        <p:txBody>
          <a:bodyPr wrap="none" lIns="0" rIns="0" tIns="0" bIns="0" anchor="ctr">
            <a:noAutofit/>
          </a:bodyPr>
          <a:lstStyle/>
          <a:p>
            <a:pPr algn="ctr">
              <a:lnSpc>
                <a:spcPct val="108000"/>
              </a:lnSpc>
              <a:spcBef>
                <a:spcPts val="0"/>
              </a:spcBef>
              <a:spcAft>
                <a:spcPts val="0"/>
              </a:spcAft>
            </a:pPr>
            <a:r>
              <a:rPr sz="1300" b="1">
                <a:solidFill>
                  <a:srgbClr val="087A58"/>
                </a:solidFill>
                <a:latin typeface="Arial"/>
              </a:rPr>
              <a:t>T</a:t>
            </a:r>
          </a:p>
        </p:txBody>
      </p:sp>
      <p:sp>
        <p:nvSpPr>
          <p:cNvPr id="32" name="Text 31"/>
          <p:cNvSpPr txBox="1"/>
          <p:nvPr/>
        </p:nvSpPr>
        <p:spPr>
          <a:xfrm>
            <a:off x="1536192" y="4242816"/>
            <a:ext cx="3977639" cy="256032"/>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087A58"/>
                </a:solidFill>
                <a:latin typeface="Arial"/>
              </a:rPr>
              <a:t>TUTORS</a:t>
            </a:r>
          </a:p>
        </p:txBody>
      </p:sp>
      <p:sp>
        <p:nvSpPr>
          <p:cNvPr id="33" name="Text 32"/>
          <p:cNvSpPr txBox="1"/>
          <p:nvPr/>
        </p:nvSpPr>
        <p:spPr>
          <a:xfrm>
            <a:off x="1536192" y="4617720"/>
            <a:ext cx="4041648" cy="274320"/>
          </a:xfrm>
          <a:prstGeom prst="rect">
            <a:avLst/>
          </a:prstGeom>
          <a:noFill/>
        </p:spPr>
        <p:txBody>
          <a:bodyPr wrap="square" lIns="0" rIns="0" tIns="0" bIns="0" anchor="ctr">
            <a:noAutofit/>
          </a:bodyPr>
          <a:lstStyle/>
          <a:p>
            <a:pPr algn="l">
              <a:lnSpc>
                <a:spcPct val="108000"/>
              </a:lnSpc>
              <a:spcBef>
                <a:spcPts val="0"/>
              </a:spcBef>
              <a:spcAft>
                <a:spcPts val="0"/>
              </a:spcAft>
            </a:pPr>
            <a:r>
              <a:rPr sz="1500" b="1">
                <a:solidFill>
                  <a:srgbClr val="0B1733"/>
                </a:solidFill>
                <a:latin typeface="Arial"/>
              </a:rPr>
              <a:t>Present a teaching profile</a:t>
            </a:r>
          </a:p>
        </p:txBody>
      </p:sp>
      <p:sp>
        <p:nvSpPr>
          <p:cNvPr id="34" name="Text 33"/>
          <p:cNvSpPr txBox="1"/>
          <p:nvPr/>
        </p:nvSpPr>
        <p:spPr>
          <a:xfrm>
            <a:off x="1536192" y="5010912"/>
            <a:ext cx="4069080" cy="493776"/>
          </a:xfrm>
          <a:prstGeom prst="rect">
            <a:avLst/>
          </a:prstGeom>
          <a:noFill/>
        </p:spPr>
        <p:txBody>
          <a:bodyPr wrap="square" lIns="0" rIns="0" tIns="0" bIns="0" anchor="ctr">
            <a:noAutofit/>
          </a:bodyPr>
          <a:lstStyle/>
          <a:p>
            <a:pPr algn="l">
              <a:lnSpc>
                <a:spcPct val="108000"/>
              </a:lnSpc>
              <a:spcBef>
                <a:spcPts val="0"/>
              </a:spcBef>
              <a:spcAft>
                <a:spcPts val="0"/>
              </a:spcAft>
            </a:pPr>
            <a:r>
              <a:rPr sz="1100" b="0">
                <a:solidFill>
                  <a:srgbClr val="63718A"/>
                </a:solidFill>
                <a:latin typeface="Arial"/>
              </a:rPr>
              <a:t>Set subjects and availability; respond to lesson requests.</a:t>
            </a:r>
          </a:p>
        </p:txBody>
      </p:sp>
      <p:sp>
        <p:nvSpPr>
          <p:cNvPr id="35" name="Shape 34"/>
          <p:cNvSpPr/>
          <p:nvPr/>
        </p:nvSpPr>
        <p:spPr>
          <a:xfrm>
            <a:off x="6332220" y="4046220"/>
            <a:ext cx="5212080" cy="1801368"/>
          </a:xfrm>
          <a:prstGeom prst="roundRect">
            <a:avLst>
              <a:gd name="adj" fmla="val 812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hape 35"/>
          <p:cNvSpPr/>
          <p:nvPr/>
        </p:nvSpPr>
        <p:spPr>
          <a:xfrm>
            <a:off x="6291072" y="3995928"/>
            <a:ext cx="5212080" cy="1801368"/>
          </a:xfrm>
          <a:prstGeom prst="roundRect">
            <a:avLst>
              <a:gd name="adj" fmla="val 812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hape 36"/>
          <p:cNvSpPr/>
          <p:nvPr/>
        </p:nvSpPr>
        <p:spPr>
          <a:xfrm>
            <a:off x="6291072" y="3995928"/>
            <a:ext cx="82296" cy="1801368"/>
          </a:xfrm>
          <a:prstGeom prst="roundRect">
            <a:avLst>
              <a:gd name="adj" fmla="val 28000"/>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ircle 37"/>
          <p:cNvSpPr/>
          <p:nvPr/>
        </p:nvSpPr>
        <p:spPr>
          <a:xfrm>
            <a:off x="6565392" y="4251960"/>
            <a:ext cx="420624" cy="420624"/>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38"/>
          <p:cNvSpPr txBox="1"/>
          <p:nvPr/>
        </p:nvSpPr>
        <p:spPr>
          <a:xfrm>
            <a:off x="6565392" y="4261104"/>
            <a:ext cx="420624" cy="384048"/>
          </a:xfrm>
          <a:prstGeom prst="rect">
            <a:avLst/>
          </a:prstGeom>
          <a:noFill/>
        </p:spPr>
        <p:txBody>
          <a:bodyPr wrap="none" lIns="0" rIns="0" tIns="0" bIns="0" anchor="ctr">
            <a:noAutofit/>
          </a:bodyPr>
          <a:lstStyle/>
          <a:p>
            <a:pPr algn="ctr">
              <a:lnSpc>
                <a:spcPct val="108000"/>
              </a:lnSpc>
              <a:spcBef>
                <a:spcPts val="0"/>
              </a:spcBef>
              <a:spcAft>
                <a:spcPts val="0"/>
              </a:spcAft>
            </a:pPr>
            <a:r>
              <a:rPr sz="1300" b="1">
                <a:solidFill>
                  <a:srgbClr val="F4B740"/>
                </a:solidFill>
                <a:latin typeface="Arial"/>
              </a:rPr>
              <a:t>A</a:t>
            </a:r>
          </a:p>
        </p:txBody>
      </p:sp>
      <p:sp>
        <p:nvSpPr>
          <p:cNvPr id="40" name="Text 39"/>
          <p:cNvSpPr txBox="1"/>
          <p:nvPr/>
        </p:nvSpPr>
        <p:spPr>
          <a:xfrm>
            <a:off x="7150608" y="4242816"/>
            <a:ext cx="3977639" cy="256032"/>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F4B740"/>
                </a:solidFill>
                <a:latin typeface="Arial"/>
              </a:rPr>
              <a:t>ADMINISTRATORS</a:t>
            </a:r>
          </a:p>
        </p:txBody>
      </p:sp>
      <p:sp>
        <p:nvSpPr>
          <p:cNvPr id="41" name="Text 40"/>
          <p:cNvSpPr txBox="1"/>
          <p:nvPr/>
        </p:nvSpPr>
        <p:spPr>
          <a:xfrm>
            <a:off x="7150608" y="4617720"/>
            <a:ext cx="4041648" cy="274320"/>
          </a:xfrm>
          <a:prstGeom prst="rect">
            <a:avLst/>
          </a:prstGeom>
          <a:noFill/>
        </p:spPr>
        <p:txBody>
          <a:bodyPr wrap="square" lIns="0" rIns="0" tIns="0" bIns="0" anchor="ctr">
            <a:noAutofit/>
          </a:bodyPr>
          <a:lstStyle/>
          <a:p>
            <a:pPr algn="l">
              <a:lnSpc>
                <a:spcPct val="108000"/>
              </a:lnSpc>
              <a:spcBef>
                <a:spcPts val="0"/>
              </a:spcBef>
              <a:spcAft>
                <a:spcPts val="0"/>
              </a:spcAft>
            </a:pPr>
            <a:r>
              <a:rPr sz="1500" b="1">
                <a:solidFill>
                  <a:srgbClr val="0B1733"/>
                </a:solidFill>
                <a:latin typeface="Arial"/>
              </a:rPr>
              <a:t>Review and oversee</a:t>
            </a:r>
          </a:p>
        </p:txBody>
      </p:sp>
      <p:sp>
        <p:nvSpPr>
          <p:cNvPr id="42" name="Text 41"/>
          <p:cNvSpPr txBox="1"/>
          <p:nvPr/>
        </p:nvSpPr>
        <p:spPr>
          <a:xfrm>
            <a:off x="7150608" y="5010912"/>
            <a:ext cx="4069080" cy="493776"/>
          </a:xfrm>
          <a:prstGeom prst="rect">
            <a:avLst/>
          </a:prstGeom>
          <a:noFill/>
        </p:spPr>
        <p:txBody>
          <a:bodyPr wrap="square" lIns="0" rIns="0" tIns="0" bIns="0" anchor="ctr">
            <a:noAutofit/>
          </a:bodyPr>
          <a:lstStyle/>
          <a:p>
            <a:pPr algn="l">
              <a:lnSpc>
                <a:spcPct val="108000"/>
              </a:lnSpc>
              <a:spcBef>
                <a:spcPts val="0"/>
              </a:spcBef>
              <a:spcAft>
                <a:spcPts val="0"/>
              </a:spcAft>
            </a:pPr>
            <a:r>
              <a:rPr sz="1100" b="0">
                <a:solidFill>
                  <a:srgbClr val="63718A"/>
                </a:solidFill>
                <a:latin typeface="Arial"/>
              </a:rPr>
              <a:t>Manage account status and examine tutor credential submissions.</a:t>
            </a:r>
          </a:p>
        </p:txBody>
      </p:sp>
      <p:sp>
        <p:nvSpPr>
          <p:cNvPr id="43" name="Text 42"/>
          <p:cNvSpPr txBox="1"/>
          <p:nvPr/>
        </p:nvSpPr>
        <p:spPr>
          <a:xfrm>
            <a:off x="731520" y="6016752"/>
            <a:ext cx="10789920" cy="182880"/>
          </a:xfrm>
          <a:prstGeom prst="rect">
            <a:avLst/>
          </a:prstGeom>
          <a:noFill/>
        </p:spPr>
        <p:txBody>
          <a:bodyPr wrap="none" lIns="0" rIns="0" tIns="0" bIns="0" anchor="t">
            <a:noAutofit/>
          </a:bodyPr>
          <a:lstStyle/>
          <a:p>
            <a:pPr algn="l">
              <a:lnSpc>
                <a:spcPct val="108000"/>
              </a:lnSpc>
              <a:spcBef>
                <a:spcPts val="0"/>
              </a:spcBef>
              <a:spcAft>
                <a:spcPts val="0"/>
              </a:spcAft>
            </a:pPr>
            <a:r>
              <a:rPr sz="930" b="0">
                <a:solidFill>
                  <a:srgbClr val="63718A"/>
                </a:solidFill>
                <a:latin typeface="Arial"/>
              </a:rPr>
              <a:t>Dashboards are provided for learner/parent, tutor and admin workflows; production access controls remain a roadmap item.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02  /  FRONTEND &amp; USER EXPERIENCE</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Chioma Helen Ezeufonna</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A clear interface guides the learning journey</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homepage, subject pathways, tutor cards and reusable components share one visual language.</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05  /  15</a:t>
            </a:r>
          </a:p>
        </p:txBody>
      </p:sp>
      <p:sp>
        <p:nvSpPr>
          <p:cNvPr id="11" name="Shape 10"/>
          <p:cNvSpPr/>
          <p:nvPr/>
        </p:nvSpPr>
        <p:spPr>
          <a:xfrm>
            <a:off x="699516" y="1924812"/>
            <a:ext cx="5010912" cy="4242816"/>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1874519"/>
            <a:ext cx="5010912" cy="4242816"/>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923544" y="2130552"/>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923544" y="2139696"/>
            <a:ext cx="347472" cy="329184"/>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01</a:t>
            </a:r>
          </a:p>
        </p:txBody>
      </p:sp>
      <p:sp>
        <p:nvSpPr>
          <p:cNvPr id="15" name="Text 14"/>
          <p:cNvSpPr txBox="1"/>
          <p:nvPr/>
        </p:nvSpPr>
        <p:spPr>
          <a:xfrm>
            <a:off x="1417320" y="2112264"/>
            <a:ext cx="3822191" cy="228600"/>
          </a:xfrm>
          <a:prstGeom prst="rect">
            <a:avLst/>
          </a:prstGeom>
          <a:noFill/>
        </p:spPr>
        <p:txBody>
          <a:bodyPr wrap="none" lIns="0" rIns="0" tIns="0" bIns="0" anchor="ctr">
            <a:noAutofit/>
          </a:bodyPr>
          <a:lstStyle/>
          <a:p>
            <a:pPr algn="l">
              <a:lnSpc>
                <a:spcPct val="108000"/>
              </a:lnSpc>
              <a:spcBef>
                <a:spcPts val="0"/>
              </a:spcBef>
              <a:spcAft>
                <a:spcPts val="0"/>
              </a:spcAft>
            </a:pPr>
            <a:r>
              <a:rPr sz="1400" b="1">
                <a:solidFill>
                  <a:srgbClr val="0B1733"/>
                </a:solidFill>
                <a:latin typeface="Arial"/>
              </a:rPr>
              <a:t>Homepage &amp; navigation</a:t>
            </a:r>
          </a:p>
        </p:txBody>
      </p:sp>
      <p:sp>
        <p:nvSpPr>
          <p:cNvPr id="16" name="Text 15"/>
          <p:cNvSpPr txBox="1"/>
          <p:nvPr/>
        </p:nvSpPr>
        <p:spPr>
          <a:xfrm>
            <a:off x="1417320" y="2395728"/>
            <a:ext cx="3849624" cy="310896"/>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A hero area introduces the learner and tutor paths.</a:t>
            </a:r>
          </a:p>
        </p:txBody>
      </p:sp>
      <p:cxnSp>
        <p:nvCxnSpPr>
          <p:cNvPr id="17" name="Connector 16"/>
          <p:cNvCxnSpPr/>
          <p:nvPr/>
        </p:nvCxnSpPr>
        <p:spPr>
          <a:xfrm>
            <a:off x="1417320" y="2752344"/>
            <a:ext cx="3822192"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18" name="Circle 17"/>
          <p:cNvSpPr/>
          <p:nvPr/>
        </p:nvSpPr>
        <p:spPr>
          <a:xfrm>
            <a:off x="923544" y="2889504"/>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923544" y="2898648"/>
            <a:ext cx="347472" cy="329184"/>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02</a:t>
            </a:r>
          </a:p>
        </p:txBody>
      </p:sp>
      <p:sp>
        <p:nvSpPr>
          <p:cNvPr id="20" name="Text 19"/>
          <p:cNvSpPr txBox="1"/>
          <p:nvPr/>
        </p:nvSpPr>
        <p:spPr>
          <a:xfrm>
            <a:off x="1417320" y="2871216"/>
            <a:ext cx="3822191" cy="228600"/>
          </a:xfrm>
          <a:prstGeom prst="rect">
            <a:avLst/>
          </a:prstGeom>
          <a:noFill/>
        </p:spPr>
        <p:txBody>
          <a:bodyPr wrap="none" lIns="0" rIns="0" tIns="0" bIns="0" anchor="ctr">
            <a:noAutofit/>
          </a:bodyPr>
          <a:lstStyle/>
          <a:p>
            <a:pPr algn="l">
              <a:lnSpc>
                <a:spcPct val="108000"/>
              </a:lnSpc>
              <a:spcBef>
                <a:spcPts val="0"/>
              </a:spcBef>
              <a:spcAft>
                <a:spcPts val="0"/>
              </a:spcAft>
            </a:pPr>
            <a:r>
              <a:rPr sz="1400" b="1">
                <a:solidFill>
                  <a:srgbClr val="0B1733"/>
                </a:solidFill>
                <a:latin typeface="Arial"/>
              </a:rPr>
              <a:t>Subject pathways</a:t>
            </a:r>
          </a:p>
        </p:txBody>
      </p:sp>
      <p:sp>
        <p:nvSpPr>
          <p:cNvPr id="21" name="Text 20"/>
          <p:cNvSpPr txBox="1"/>
          <p:nvPr/>
        </p:nvSpPr>
        <p:spPr>
          <a:xfrm>
            <a:off x="1417320" y="3154680"/>
            <a:ext cx="3849624" cy="310896"/>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A subject grid helps visitors start browsing by interest.</a:t>
            </a:r>
          </a:p>
        </p:txBody>
      </p:sp>
      <p:cxnSp>
        <p:nvCxnSpPr>
          <p:cNvPr id="22" name="Connector 21"/>
          <p:cNvCxnSpPr/>
          <p:nvPr/>
        </p:nvCxnSpPr>
        <p:spPr>
          <a:xfrm>
            <a:off x="1417320" y="3511296"/>
            <a:ext cx="3822192"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23" name="Circle 22"/>
          <p:cNvSpPr/>
          <p:nvPr/>
        </p:nvSpPr>
        <p:spPr>
          <a:xfrm>
            <a:off x="923544" y="3648456"/>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23"/>
          <p:cNvSpPr txBox="1"/>
          <p:nvPr/>
        </p:nvSpPr>
        <p:spPr>
          <a:xfrm>
            <a:off x="923544" y="3657599"/>
            <a:ext cx="347472" cy="329184"/>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03</a:t>
            </a:r>
          </a:p>
        </p:txBody>
      </p:sp>
      <p:sp>
        <p:nvSpPr>
          <p:cNvPr id="25" name="Text 24"/>
          <p:cNvSpPr txBox="1"/>
          <p:nvPr/>
        </p:nvSpPr>
        <p:spPr>
          <a:xfrm>
            <a:off x="1417320" y="3630168"/>
            <a:ext cx="3822191" cy="228600"/>
          </a:xfrm>
          <a:prstGeom prst="rect">
            <a:avLst/>
          </a:prstGeom>
          <a:noFill/>
        </p:spPr>
        <p:txBody>
          <a:bodyPr wrap="none" lIns="0" rIns="0" tIns="0" bIns="0" anchor="ctr">
            <a:noAutofit/>
          </a:bodyPr>
          <a:lstStyle/>
          <a:p>
            <a:pPr algn="l">
              <a:lnSpc>
                <a:spcPct val="108000"/>
              </a:lnSpc>
              <a:spcBef>
                <a:spcPts val="0"/>
              </a:spcBef>
              <a:spcAft>
                <a:spcPts val="0"/>
              </a:spcAft>
            </a:pPr>
            <a:r>
              <a:rPr sz="1400" b="1">
                <a:solidFill>
                  <a:srgbClr val="0B1733"/>
                </a:solidFill>
                <a:latin typeface="Arial"/>
              </a:rPr>
              <a:t>Tutor cards</a:t>
            </a:r>
          </a:p>
        </p:txBody>
      </p:sp>
      <p:sp>
        <p:nvSpPr>
          <p:cNvPr id="26" name="Text 25"/>
          <p:cNvSpPr txBox="1"/>
          <p:nvPr/>
        </p:nvSpPr>
        <p:spPr>
          <a:xfrm>
            <a:off x="1417320" y="3913631"/>
            <a:ext cx="3849624" cy="310896"/>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Reusable cards surface key profile details and actions.</a:t>
            </a:r>
          </a:p>
        </p:txBody>
      </p:sp>
      <p:cxnSp>
        <p:nvCxnSpPr>
          <p:cNvPr id="27" name="Connector 26"/>
          <p:cNvCxnSpPr/>
          <p:nvPr/>
        </p:nvCxnSpPr>
        <p:spPr>
          <a:xfrm>
            <a:off x="1417320" y="4270248"/>
            <a:ext cx="3822192"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28" name="Circle 27"/>
          <p:cNvSpPr/>
          <p:nvPr/>
        </p:nvSpPr>
        <p:spPr>
          <a:xfrm>
            <a:off x="923544" y="4407407"/>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28"/>
          <p:cNvSpPr txBox="1"/>
          <p:nvPr/>
        </p:nvSpPr>
        <p:spPr>
          <a:xfrm>
            <a:off x="923544" y="4416551"/>
            <a:ext cx="347472" cy="329184"/>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04</a:t>
            </a:r>
          </a:p>
        </p:txBody>
      </p:sp>
      <p:sp>
        <p:nvSpPr>
          <p:cNvPr id="30" name="Text 29"/>
          <p:cNvSpPr txBox="1"/>
          <p:nvPr/>
        </p:nvSpPr>
        <p:spPr>
          <a:xfrm>
            <a:off x="1417320" y="4389120"/>
            <a:ext cx="3822191" cy="228600"/>
          </a:xfrm>
          <a:prstGeom prst="rect">
            <a:avLst/>
          </a:prstGeom>
          <a:noFill/>
        </p:spPr>
        <p:txBody>
          <a:bodyPr wrap="none" lIns="0" rIns="0" tIns="0" bIns="0" anchor="ctr">
            <a:noAutofit/>
          </a:bodyPr>
          <a:lstStyle/>
          <a:p>
            <a:pPr algn="l">
              <a:lnSpc>
                <a:spcPct val="108000"/>
              </a:lnSpc>
              <a:spcBef>
                <a:spcPts val="0"/>
              </a:spcBef>
              <a:spcAft>
                <a:spcPts val="0"/>
              </a:spcAft>
            </a:pPr>
            <a:r>
              <a:rPr sz="1400" b="1">
                <a:solidFill>
                  <a:srgbClr val="0B1733"/>
                </a:solidFill>
                <a:latin typeface="Arial"/>
              </a:rPr>
              <a:t>Shared components</a:t>
            </a:r>
          </a:p>
        </p:txBody>
      </p:sp>
      <p:sp>
        <p:nvSpPr>
          <p:cNvPr id="31" name="Text 30"/>
          <p:cNvSpPr txBox="1"/>
          <p:nvPr/>
        </p:nvSpPr>
        <p:spPr>
          <a:xfrm>
            <a:off x="1417320" y="4672583"/>
            <a:ext cx="3849624" cy="310896"/>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Navigation, calendars, dialogs and dashboards keep patterns consistent.</a:t>
            </a:r>
          </a:p>
        </p:txBody>
      </p:sp>
      <p:sp>
        <p:nvSpPr>
          <p:cNvPr id="32" name="Text 31"/>
          <p:cNvSpPr txBox="1"/>
          <p:nvPr/>
        </p:nvSpPr>
        <p:spPr>
          <a:xfrm>
            <a:off x="932688" y="5212080"/>
            <a:ext cx="4480560" cy="182880"/>
          </a:xfrm>
          <a:prstGeom prst="rect">
            <a:avLst/>
          </a:prstGeom>
          <a:noFill/>
        </p:spPr>
        <p:txBody>
          <a:bodyPr wrap="none" lIns="0" rIns="0" tIns="0" bIns="0" anchor="t">
            <a:noAutofit/>
          </a:bodyPr>
          <a:lstStyle/>
          <a:p>
            <a:pPr algn="l">
              <a:lnSpc>
                <a:spcPct val="108000"/>
              </a:lnSpc>
              <a:spcBef>
                <a:spcPts val="0"/>
              </a:spcBef>
              <a:spcAft>
                <a:spcPts val="0"/>
              </a:spcAft>
            </a:pPr>
            <a:r>
              <a:rPr sz="910" b="1">
                <a:solidFill>
                  <a:srgbClr val="1E3A8A"/>
                </a:solidFill>
                <a:latin typeface="Arial"/>
              </a:rPr>
              <a:t>FRONTEND STACK</a:t>
            </a:r>
          </a:p>
        </p:txBody>
      </p:sp>
      <p:sp>
        <p:nvSpPr>
          <p:cNvPr id="33" name="Shape 32"/>
          <p:cNvSpPr/>
          <p:nvPr/>
        </p:nvSpPr>
        <p:spPr>
          <a:xfrm>
            <a:off x="932688" y="5468112"/>
            <a:ext cx="841248"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33"/>
          <p:cNvSpPr txBox="1"/>
          <p:nvPr/>
        </p:nvSpPr>
        <p:spPr>
          <a:xfrm>
            <a:off x="996696" y="5486400"/>
            <a:ext cx="713232"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Next.js</a:t>
            </a:r>
          </a:p>
        </p:txBody>
      </p:sp>
      <p:sp>
        <p:nvSpPr>
          <p:cNvPr id="35" name="Shape 34"/>
          <p:cNvSpPr/>
          <p:nvPr/>
        </p:nvSpPr>
        <p:spPr>
          <a:xfrm>
            <a:off x="1856231" y="5468112"/>
            <a:ext cx="731520"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35"/>
          <p:cNvSpPr txBox="1"/>
          <p:nvPr/>
        </p:nvSpPr>
        <p:spPr>
          <a:xfrm>
            <a:off x="1920239" y="5486400"/>
            <a:ext cx="603504"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React</a:t>
            </a:r>
          </a:p>
        </p:txBody>
      </p:sp>
      <p:sp>
        <p:nvSpPr>
          <p:cNvPr id="37" name="Shape 36"/>
          <p:cNvSpPr/>
          <p:nvPr/>
        </p:nvSpPr>
        <p:spPr>
          <a:xfrm>
            <a:off x="2670048" y="5468112"/>
            <a:ext cx="1042415"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2734056" y="5486400"/>
            <a:ext cx="914399"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TypeScript</a:t>
            </a:r>
          </a:p>
        </p:txBody>
      </p:sp>
      <p:sp>
        <p:nvSpPr>
          <p:cNvPr id="39" name="Shape 38"/>
          <p:cNvSpPr/>
          <p:nvPr/>
        </p:nvSpPr>
        <p:spPr>
          <a:xfrm>
            <a:off x="3794760" y="5468112"/>
            <a:ext cx="1161288"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39"/>
          <p:cNvSpPr txBox="1"/>
          <p:nvPr/>
        </p:nvSpPr>
        <p:spPr>
          <a:xfrm>
            <a:off x="3858768" y="5486400"/>
            <a:ext cx="1033271"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Tailwind CSS</a:t>
            </a:r>
          </a:p>
        </p:txBody>
      </p:sp>
      <p:sp>
        <p:nvSpPr>
          <p:cNvPr id="41" name="Shape 40"/>
          <p:cNvSpPr/>
          <p:nvPr/>
        </p:nvSpPr>
        <p:spPr>
          <a:xfrm>
            <a:off x="932688" y="5797296"/>
            <a:ext cx="1399032" cy="292608"/>
          </a:xfrm>
          <a:prstGeom prst="roundRect">
            <a:avLst>
              <a:gd name="adj" fmla="val 28000"/>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41"/>
          <p:cNvSpPr txBox="1"/>
          <p:nvPr/>
        </p:nvSpPr>
        <p:spPr>
          <a:xfrm>
            <a:off x="996696" y="5815583"/>
            <a:ext cx="1271016"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087A58"/>
                </a:solidFill>
                <a:latin typeface="Arial"/>
              </a:rPr>
              <a:t>Framer Motion</a:t>
            </a:r>
          </a:p>
        </p:txBody>
      </p:sp>
      <p:sp>
        <p:nvSpPr>
          <p:cNvPr id="43" name="Shape 42"/>
          <p:cNvSpPr/>
          <p:nvPr/>
        </p:nvSpPr>
        <p:spPr>
          <a:xfrm>
            <a:off x="2468880" y="5797296"/>
            <a:ext cx="1143000"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2532888" y="5815583"/>
            <a:ext cx="1014983" cy="256032"/>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Lucide React</a:t>
            </a:r>
          </a:p>
        </p:txBody>
      </p:sp>
      <p:sp>
        <p:nvSpPr>
          <p:cNvPr id="45" name="Shape 44"/>
          <p:cNvSpPr/>
          <p:nvPr/>
        </p:nvSpPr>
        <p:spPr>
          <a:xfrm>
            <a:off x="5925312" y="1874519"/>
            <a:ext cx="5596128" cy="4242816"/>
          </a:xfrm>
          <a:prstGeom prst="roundRect">
            <a:avLst>
              <a:gd name="adj" fmla="val 60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Embedded visual: hero-student" descr="image.png"/>
          <p:cNvPicPr>
            <a:picLocks noChangeAspect="1"/>
          </p:cNvPicPr>
          <p:nvPr/>
        </p:nvPicPr>
        <p:blipFill>
          <a:blip r:embed="rId2"/>
          <a:stretch>
            <a:fillRect/>
          </a:stretch>
        </p:blipFill>
        <p:spPr>
          <a:xfrm>
            <a:off x="6089904" y="2039112"/>
            <a:ext cx="3108960" cy="3840480"/>
          </a:xfrm>
          <a:prstGeom prst="rect">
            <a:avLst/>
          </a:prstGeom>
        </p:spPr>
      </p:pic>
      <p:sp>
        <p:nvSpPr>
          <p:cNvPr id="47" name="Text 46"/>
          <p:cNvSpPr txBox="1"/>
          <p:nvPr/>
        </p:nvSpPr>
        <p:spPr>
          <a:xfrm>
            <a:off x="9400032" y="2167128"/>
            <a:ext cx="1874519" cy="219456"/>
          </a:xfrm>
          <a:prstGeom prst="rect">
            <a:avLst/>
          </a:prstGeom>
          <a:noFill/>
        </p:spPr>
        <p:txBody>
          <a:bodyPr wrap="square" lIns="0" rIns="0" tIns="0" bIns="0" anchor="ctr">
            <a:noAutofit/>
          </a:bodyPr>
          <a:lstStyle/>
          <a:p>
            <a:pPr algn="l">
              <a:lnSpc>
                <a:spcPct val="108000"/>
              </a:lnSpc>
              <a:spcBef>
                <a:spcPts val="0"/>
              </a:spcBef>
              <a:spcAft>
                <a:spcPts val="0"/>
              </a:spcAft>
            </a:pPr>
            <a:r>
              <a:rPr sz="850" b="1">
                <a:solidFill>
                  <a:srgbClr val="B9C9E2"/>
                </a:solidFill>
                <a:latin typeface="Arial"/>
              </a:rPr>
              <a:t>RESPONSIVE BY DESIGN</a:t>
            </a:r>
          </a:p>
        </p:txBody>
      </p:sp>
      <p:sp>
        <p:nvSpPr>
          <p:cNvPr id="48" name="Shape 47"/>
          <p:cNvSpPr/>
          <p:nvPr/>
        </p:nvSpPr>
        <p:spPr>
          <a:xfrm>
            <a:off x="9427464" y="2633472"/>
            <a:ext cx="1691640" cy="1078992"/>
          </a:xfrm>
          <a:prstGeom prst="roundRect">
            <a:avLst>
              <a:gd name="adj" fmla="val 10169"/>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hape 48"/>
          <p:cNvSpPr/>
          <p:nvPr/>
        </p:nvSpPr>
        <p:spPr>
          <a:xfrm>
            <a:off x="9573768" y="2779776"/>
            <a:ext cx="1399032" cy="173736"/>
          </a:xfrm>
          <a:prstGeom prst="roundRect">
            <a:avLst>
              <a:gd name="adj" fmla="val 21052"/>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Shape 49"/>
          <p:cNvSpPr/>
          <p:nvPr/>
        </p:nvSpPr>
        <p:spPr>
          <a:xfrm>
            <a:off x="9573768" y="3054096"/>
            <a:ext cx="594360" cy="484632"/>
          </a:xfrm>
          <a:prstGeom prst="roundRect">
            <a:avLst>
              <a:gd name="adj" fmla="val 15094"/>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hape 50"/>
          <p:cNvSpPr/>
          <p:nvPr/>
        </p:nvSpPr>
        <p:spPr>
          <a:xfrm>
            <a:off x="10277856" y="3054096"/>
            <a:ext cx="694944" cy="109728"/>
          </a:xfrm>
          <a:prstGeom prst="roundRect">
            <a:avLst>
              <a:gd name="adj" fmla="val 28000"/>
            </a:avLst>
          </a:prstGeom>
          <a:solidFill>
            <a:srgbClr val="DCE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Shape 51"/>
          <p:cNvSpPr/>
          <p:nvPr/>
        </p:nvSpPr>
        <p:spPr>
          <a:xfrm>
            <a:off x="10277856" y="3255264"/>
            <a:ext cx="539496" cy="91440"/>
          </a:xfrm>
          <a:prstGeom prst="roundRect">
            <a:avLst>
              <a:gd name="adj" fmla="val 28000"/>
            </a:avLst>
          </a:prstGeom>
          <a:solidFill>
            <a:srgbClr val="DCE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hape 52"/>
          <p:cNvSpPr/>
          <p:nvPr/>
        </p:nvSpPr>
        <p:spPr>
          <a:xfrm>
            <a:off x="9573768" y="3858768"/>
            <a:ext cx="1399032" cy="685800"/>
          </a:xfrm>
          <a:prstGeom prst="roundRect">
            <a:avLst>
              <a:gd name="adj" fmla="val 16000"/>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hape 53"/>
          <p:cNvSpPr/>
          <p:nvPr/>
        </p:nvSpPr>
        <p:spPr>
          <a:xfrm>
            <a:off x="9692640" y="4005072"/>
            <a:ext cx="1161288" cy="146304"/>
          </a:xfrm>
          <a:prstGeom prst="roundRect">
            <a:avLst>
              <a:gd name="adj" fmla="val 25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Shape 54"/>
          <p:cNvSpPr/>
          <p:nvPr/>
        </p:nvSpPr>
        <p:spPr>
          <a:xfrm>
            <a:off x="9692640" y="4251960"/>
            <a:ext cx="932688" cy="82296"/>
          </a:xfrm>
          <a:prstGeom prst="roundRect">
            <a:avLst>
              <a:gd name="adj" fmla="val 28000"/>
            </a:avLst>
          </a:prstGeom>
          <a:solidFill>
            <a:srgbClr val="DCE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9409176" y="4736592"/>
            <a:ext cx="1920240" cy="512064"/>
          </a:xfrm>
          <a:prstGeom prst="rect">
            <a:avLst/>
          </a:prstGeom>
          <a:noFill/>
        </p:spPr>
        <p:txBody>
          <a:bodyPr wrap="square" lIns="0" rIns="0" tIns="0" bIns="0" anchor="ctr">
            <a:noAutofit/>
          </a:bodyPr>
          <a:lstStyle/>
          <a:p>
            <a:pPr algn="ctr">
              <a:lnSpc>
                <a:spcPct val="108000"/>
              </a:lnSpc>
              <a:spcBef>
                <a:spcPts val="0"/>
              </a:spcBef>
              <a:spcAft>
                <a:spcPts val="0"/>
              </a:spcAft>
            </a:pPr>
            <a:r>
              <a:rPr sz="900" b="0">
                <a:solidFill>
                  <a:srgbClr val="D8E2F1"/>
                </a:solidFill>
                <a:latin typeface="Arial"/>
              </a:rPr>
              <a:t>Illustrative layout map</a:t>
            </a:r>
          </a:p>
          <a:p>
            <a:pPr algn="ctr">
              <a:lnSpc>
                <a:spcPct val="108000"/>
              </a:lnSpc>
              <a:spcBef>
                <a:spcPts val="0"/>
              </a:spcBef>
              <a:spcAft>
                <a:spcPts val="0"/>
              </a:spcAft>
            </a:pPr>
            <a:r>
              <a:rPr sz="900" b="0">
                <a:solidFill>
                  <a:srgbClr val="D8E2F1"/>
                </a:solidFill>
                <a:latin typeface="Arial"/>
              </a:rPr>
              <a:t>—not an app screenshot</a:t>
            </a:r>
          </a:p>
        </p:txBody>
      </p:sp>
      <p:sp>
        <p:nvSpPr>
          <p:cNvPr id="57" name="Shape 56"/>
          <p:cNvSpPr/>
          <p:nvPr/>
        </p:nvSpPr>
        <p:spPr>
          <a:xfrm>
            <a:off x="9390888" y="5486400"/>
            <a:ext cx="1938528" cy="256032"/>
          </a:xfrm>
          <a:prstGeom prst="roundRect">
            <a:avLst>
              <a:gd name="adj" fmla="val 28000"/>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 57"/>
          <p:cNvSpPr txBox="1"/>
          <p:nvPr/>
        </p:nvSpPr>
        <p:spPr>
          <a:xfrm>
            <a:off x="9454896" y="5504688"/>
            <a:ext cx="1810512" cy="219456"/>
          </a:xfrm>
          <a:prstGeom prst="rect">
            <a:avLst/>
          </a:prstGeom>
          <a:noFill/>
        </p:spPr>
        <p:txBody>
          <a:bodyPr wrap="none" lIns="0" rIns="0" tIns="0" bIns="0" anchor="ctr">
            <a:noAutofit/>
          </a:bodyPr>
          <a:lstStyle/>
          <a:p>
            <a:pPr algn="ctr">
              <a:lnSpc>
                <a:spcPct val="108000"/>
              </a:lnSpc>
              <a:spcBef>
                <a:spcPts val="0"/>
              </a:spcBef>
              <a:spcAft>
                <a:spcPts val="0"/>
              </a:spcAft>
            </a:pPr>
            <a:r>
              <a:rPr sz="810" b="1">
                <a:solidFill>
                  <a:srgbClr val="D8E2F1"/>
                </a:solidFill>
                <a:latin typeface="Arial"/>
              </a:rPr>
              <a:t>PROJECT IMAGE ASSET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03  /  TUTOR DISCOVERY &amp; PROFILES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Uzochukwu Mary Cynthia Enyemakachukwu</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Tutor discovery makes the shortlist more relevant</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Search filters and profile signals help families compare options before they send a request.</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06  /  15</a:t>
            </a:r>
          </a:p>
        </p:txBody>
      </p:sp>
      <p:sp>
        <p:nvSpPr>
          <p:cNvPr id="11" name="Shape 10"/>
          <p:cNvSpPr/>
          <p:nvPr/>
        </p:nvSpPr>
        <p:spPr>
          <a:xfrm>
            <a:off x="699516" y="1924812"/>
            <a:ext cx="5358384" cy="4224528"/>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1874519"/>
            <a:ext cx="5358384" cy="4224528"/>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941832" y="2139696"/>
            <a:ext cx="4709160" cy="228600"/>
          </a:xfrm>
          <a:prstGeom prst="rect">
            <a:avLst/>
          </a:prstGeom>
          <a:noFill/>
        </p:spPr>
        <p:txBody>
          <a:bodyPr wrap="none" lIns="0" rIns="0" tIns="0" bIns="0" anchor="t">
            <a:noAutofit/>
          </a:bodyPr>
          <a:lstStyle/>
          <a:p>
            <a:pPr algn="l">
              <a:lnSpc>
                <a:spcPct val="108000"/>
              </a:lnSpc>
              <a:spcBef>
                <a:spcPts val="0"/>
              </a:spcBef>
              <a:spcAft>
                <a:spcPts val="0"/>
              </a:spcAft>
            </a:pPr>
            <a:r>
              <a:rPr sz="940" b="1">
                <a:solidFill>
                  <a:srgbClr val="1E3A8A"/>
                </a:solidFill>
                <a:latin typeface="Arial"/>
              </a:rPr>
              <a:t>FILTER THE DIRECTORY</a:t>
            </a:r>
          </a:p>
        </p:txBody>
      </p:sp>
      <p:sp>
        <p:nvSpPr>
          <p:cNvPr id="14" name="Shape 13"/>
          <p:cNvSpPr/>
          <p:nvPr/>
        </p:nvSpPr>
        <p:spPr>
          <a:xfrm>
            <a:off x="941832" y="2542032"/>
            <a:ext cx="4754880" cy="484632"/>
          </a:xfrm>
          <a:prstGeom prst="roundRect">
            <a:avLst>
              <a:gd name="adj" fmla="val 22641"/>
            </a:avLst>
          </a:prstGeom>
          <a:solidFill>
            <a:srgbClr val="F6F8FC"/>
          </a:solidFill>
          <a:ln w="10160">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ircle 14"/>
          <p:cNvSpPr/>
          <p:nvPr/>
        </p:nvSpPr>
        <p:spPr>
          <a:xfrm>
            <a:off x="1124712" y="2688336"/>
            <a:ext cx="146304" cy="146304"/>
          </a:xfrm>
          <a:prstGeom prst="ellipse">
            <a:avLst/>
          </a:prstGeom>
          <a:solidFill>
            <a:srgbClr val="FFFFFF"/>
          </a:solidFill>
          <a:ln w="15240">
            <a:solidFill>
              <a:srgbClr val="6371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1252728" y="2816352"/>
            <a:ext cx="73152" cy="73152"/>
          </a:xfrm>
          <a:prstGeom prst="line">
            <a:avLst/>
          </a:prstGeom>
          <a:ln w="13970">
            <a:solidFill>
              <a:srgbClr val="63718A"/>
            </a:solidFill>
          </a:ln>
        </p:spPr>
        <p:style>
          <a:lnRef idx="2">
            <a:schemeClr val="accent1"/>
          </a:lnRef>
          <a:fillRef idx="0">
            <a:schemeClr val="accent1"/>
          </a:fillRef>
          <a:effectRef idx="1">
            <a:schemeClr val="accent1"/>
          </a:effectRef>
          <a:fontRef idx="minor">
            <a:schemeClr val="tx1"/>
          </a:fontRef>
        </p:style>
      </p:cxnSp>
      <p:sp>
        <p:nvSpPr>
          <p:cNvPr id="17" name="Text 16"/>
          <p:cNvSpPr txBox="1"/>
          <p:nvPr/>
        </p:nvSpPr>
        <p:spPr>
          <a:xfrm>
            <a:off x="1463040" y="2642616"/>
            <a:ext cx="3995928" cy="246888"/>
          </a:xfrm>
          <a:prstGeom prst="rect">
            <a:avLst/>
          </a:prstGeom>
          <a:noFill/>
        </p:spPr>
        <p:txBody>
          <a:bodyPr wrap="none" lIns="0" rIns="0" tIns="0" bIns="0" anchor="ctr">
            <a:noAutofit/>
          </a:bodyPr>
          <a:lstStyle/>
          <a:p>
            <a:pPr algn="l">
              <a:lnSpc>
                <a:spcPct val="108000"/>
              </a:lnSpc>
              <a:spcBef>
                <a:spcPts val="0"/>
              </a:spcBef>
              <a:spcAft>
                <a:spcPts val="0"/>
              </a:spcAft>
            </a:pPr>
            <a:r>
              <a:rPr sz="1040" b="0">
                <a:solidFill>
                  <a:srgbClr val="63718A"/>
                </a:solidFill>
                <a:latin typeface="Arial"/>
              </a:rPr>
              <a:t>Search by subject or tutor focus</a:t>
            </a:r>
          </a:p>
        </p:txBody>
      </p:sp>
      <p:sp>
        <p:nvSpPr>
          <p:cNvPr id="18" name="Shape 17"/>
          <p:cNvSpPr/>
          <p:nvPr/>
        </p:nvSpPr>
        <p:spPr>
          <a:xfrm>
            <a:off x="932688" y="3310128"/>
            <a:ext cx="1024128"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996696" y="3328416"/>
            <a:ext cx="896112"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1E3A8A"/>
                </a:solidFill>
                <a:latin typeface="Arial"/>
              </a:rPr>
              <a:t>Subject</a:t>
            </a:r>
          </a:p>
        </p:txBody>
      </p:sp>
      <p:sp>
        <p:nvSpPr>
          <p:cNvPr id="20" name="Shape 19"/>
          <p:cNvSpPr/>
          <p:nvPr/>
        </p:nvSpPr>
        <p:spPr>
          <a:xfrm>
            <a:off x="2084831" y="3310128"/>
            <a:ext cx="1371600"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2148839" y="3328416"/>
            <a:ext cx="1243584"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1E3A8A"/>
                </a:solidFill>
                <a:latin typeface="Arial"/>
              </a:rPr>
              <a:t>State / online</a:t>
            </a:r>
          </a:p>
        </p:txBody>
      </p:sp>
      <p:sp>
        <p:nvSpPr>
          <p:cNvPr id="22" name="Shape 21"/>
          <p:cNvSpPr/>
          <p:nvPr/>
        </p:nvSpPr>
        <p:spPr>
          <a:xfrm>
            <a:off x="3584448" y="3310128"/>
            <a:ext cx="1234440"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3648456" y="3328416"/>
            <a:ext cx="1106424"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1E3A8A"/>
                </a:solidFill>
                <a:latin typeface="Arial"/>
              </a:rPr>
              <a:t>Budget · ₦</a:t>
            </a:r>
          </a:p>
        </p:txBody>
      </p:sp>
      <p:sp>
        <p:nvSpPr>
          <p:cNvPr id="24" name="Shape 23"/>
          <p:cNvSpPr/>
          <p:nvPr/>
        </p:nvSpPr>
        <p:spPr>
          <a:xfrm>
            <a:off x="932688" y="3675887"/>
            <a:ext cx="1709928"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24"/>
          <p:cNvSpPr txBox="1"/>
          <p:nvPr/>
        </p:nvSpPr>
        <p:spPr>
          <a:xfrm>
            <a:off x="996696" y="3694175"/>
            <a:ext cx="1581912"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1E3A8A"/>
                </a:solidFill>
                <a:latin typeface="Arial"/>
              </a:rPr>
              <a:t>Weekday / weekend</a:t>
            </a:r>
          </a:p>
        </p:txBody>
      </p:sp>
      <p:sp>
        <p:nvSpPr>
          <p:cNvPr id="26" name="Shape 25"/>
          <p:cNvSpPr/>
          <p:nvPr/>
        </p:nvSpPr>
        <p:spPr>
          <a:xfrm>
            <a:off x="2788920" y="3675887"/>
            <a:ext cx="1225296" cy="292608"/>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6"/>
          <p:cNvSpPr txBox="1"/>
          <p:nvPr/>
        </p:nvSpPr>
        <p:spPr>
          <a:xfrm>
            <a:off x="2852927" y="3694175"/>
            <a:ext cx="1097280"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1E3A8A"/>
                </a:solidFill>
                <a:latin typeface="Arial"/>
              </a:rPr>
              <a:t>Curriculum</a:t>
            </a:r>
          </a:p>
        </p:txBody>
      </p:sp>
      <p:sp>
        <p:nvSpPr>
          <p:cNvPr id="28" name="Shape 27"/>
          <p:cNvSpPr/>
          <p:nvPr/>
        </p:nvSpPr>
        <p:spPr>
          <a:xfrm>
            <a:off x="4160520" y="3675887"/>
            <a:ext cx="978408" cy="292608"/>
          </a:xfrm>
          <a:prstGeom prst="roundRect">
            <a:avLst>
              <a:gd name="adj" fmla="val 28000"/>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28"/>
          <p:cNvSpPr txBox="1"/>
          <p:nvPr/>
        </p:nvSpPr>
        <p:spPr>
          <a:xfrm>
            <a:off x="4224528" y="3694175"/>
            <a:ext cx="850392" cy="256032"/>
          </a:xfrm>
          <a:prstGeom prst="rect">
            <a:avLst/>
          </a:prstGeom>
          <a:noFill/>
        </p:spPr>
        <p:txBody>
          <a:bodyPr wrap="none" lIns="0" rIns="0" tIns="0" bIns="0" anchor="ctr">
            <a:noAutofit/>
          </a:bodyPr>
          <a:lstStyle/>
          <a:p>
            <a:pPr algn="ctr">
              <a:lnSpc>
                <a:spcPct val="108000"/>
              </a:lnSpc>
              <a:spcBef>
                <a:spcPts val="0"/>
              </a:spcBef>
              <a:spcAft>
                <a:spcPts val="0"/>
              </a:spcAft>
            </a:pPr>
            <a:r>
              <a:rPr sz="840" b="1">
                <a:solidFill>
                  <a:srgbClr val="087A58"/>
                </a:solidFill>
                <a:latin typeface="Arial"/>
              </a:rPr>
              <a:t>Verified</a:t>
            </a:r>
          </a:p>
        </p:txBody>
      </p:sp>
      <p:sp>
        <p:nvSpPr>
          <p:cNvPr id="30" name="Text 29"/>
          <p:cNvSpPr txBox="1"/>
          <p:nvPr/>
        </p:nvSpPr>
        <p:spPr>
          <a:xfrm>
            <a:off x="950976" y="4123944"/>
            <a:ext cx="4526280" cy="219456"/>
          </a:xfrm>
          <a:prstGeom prst="rect">
            <a:avLst/>
          </a:prstGeom>
          <a:noFill/>
        </p:spPr>
        <p:txBody>
          <a:bodyPr wrap="none" lIns="0" rIns="0" tIns="0" bIns="0" anchor="t">
            <a:noAutofit/>
          </a:bodyPr>
          <a:lstStyle/>
          <a:p>
            <a:pPr algn="l">
              <a:lnSpc>
                <a:spcPct val="108000"/>
              </a:lnSpc>
              <a:spcBef>
                <a:spcPts val="0"/>
              </a:spcBef>
              <a:spcAft>
                <a:spcPts val="0"/>
              </a:spcAft>
            </a:pPr>
            <a:r>
              <a:rPr sz="940" b="1">
                <a:solidFill>
                  <a:srgbClr val="1E3A8A"/>
                </a:solidFill>
                <a:latin typeface="Arial"/>
              </a:rPr>
              <a:t>PROFILE DETAILS TO COMPARE</a:t>
            </a:r>
          </a:p>
        </p:txBody>
      </p:sp>
      <p:sp>
        <p:nvSpPr>
          <p:cNvPr id="31" name="Circle 30"/>
          <p:cNvSpPr/>
          <p:nvPr/>
        </p:nvSpPr>
        <p:spPr>
          <a:xfrm>
            <a:off x="969264" y="448970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1"/>
          <p:cNvSpPr txBox="1"/>
          <p:nvPr/>
        </p:nvSpPr>
        <p:spPr>
          <a:xfrm>
            <a:off x="1207008" y="4425696"/>
            <a:ext cx="4480560" cy="228600"/>
          </a:xfrm>
          <a:prstGeom prst="rect">
            <a:avLst/>
          </a:prstGeom>
          <a:noFill/>
        </p:spPr>
        <p:txBody>
          <a:bodyPr wrap="square" lIns="0" rIns="0" tIns="0" bIns="0" anchor="ctr">
            <a:noAutofit/>
          </a:bodyPr>
          <a:lstStyle/>
          <a:p>
            <a:pPr algn="l">
              <a:lnSpc>
                <a:spcPct val="108000"/>
              </a:lnSpc>
              <a:spcBef>
                <a:spcPts val="0"/>
              </a:spcBef>
              <a:spcAft>
                <a:spcPts val="0"/>
              </a:spcAft>
            </a:pPr>
            <a:r>
              <a:rPr sz="1120" b="0">
                <a:solidFill>
                  <a:srgbClr val="17233A"/>
                </a:solidFill>
                <a:latin typeface="Arial"/>
              </a:rPr>
              <a:t>Subjects &amp; curriculum</a:t>
            </a:r>
          </a:p>
        </p:txBody>
      </p:sp>
      <p:sp>
        <p:nvSpPr>
          <p:cNvPr id="33" name="Circle 32"/>
          <p:cNvSpPr/>
          <p:nvPr/>
        </p:nvSpPr>
        <p:spPr>
          <a:xfrm>
            <a:off x="969264" y="480060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33"/>
          <p:cNvSpPr txBox="1"/>
          <p:nvPr/>
        </p:nvSpPr>
        <p:spPr>
          <a:xfrm>
            <a:off x="1207008" y="4736592"/>
            <a:ext cx="4480560" cy="228600"/>
          </a:xfrm>
          <a:prstGeom prst="rect">
            <a:avLst/>
          </a:prstGeom>
          <a:noFill/>
        </p:spPr>
        <p:txBody>
          <a:bodyPr wrap="square" lIns="0" rIns="0" tIns="0" bIns="0" anchor="ctr">
            <a:noAutofit/>
          </a:bodyPr>
          <a:lstStyle/>
          <a:p>
            <a:pPr algn="l">
              <a:lnSpc>
                <a:spcPct val="108000"/>
              </a:lnSpc>
              <a:spcBef>
                <a:spcPts val="0"/>
              </a:spcBef>
              <a:spcAft>
                <a:spcPts val="0"/>
              </a:spcAft>
            </a:pPr>
            <a:r>
              <a:rPr sz="1120" b="0">
                <a:solidFill>
                  <a:srgbClr val="17233A"/>
                </a:solidFill>
                <a:latin typeface="Arial"/>
              </a:rPr>
              <a:t>Experience and credential signals</a:t>
            </a:r>
          </a:p>
        </p:txBody>
      </p:sp>
      <p:sp>
        <p:nvSpPr>
          <p:cNvPr id="35" name="Circle 34"/>
          <p:cNvSpPr/>
          <p:nvPr/>
        </p:nvSpPr>
        <p:spPr>
          <a:xfrm>
            <a:off x="969264" y="5111496"/>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35"/>
          <p:cNvSpPr txBox="1"/>
          <p:nvPr/>
        </p:nvSpPr>
        <p:spPr>
          <a:xfrm>
            <a:off x="1207008" y="5047488"/>
            <a:ext cx="4480560" cy="228600"/>
          </a:xfrm>
          <a:prstGeom prst="rect">
            <a:avLst/>
          </a:prstGeom>
          <a:noFill/>
        </p:spPr>
        <p:txBody>
          <a:bodyPr wrap="square" lIns="0" rIns="0" tIns="0" bIns="0" anchor="ctr">
            <a:noAutofit/>
          </a:bodyPr>
          <a:lstStyle/>
          <a:p>
            <a:pPr algn="l">
              <a:lnSpc>
                <a:spcPct val="108000"/>
              </a:lnSpc>
              <a:spcBef>
                <a:spcPts val="0"/>
              </a:spcBef>
              <a:spcAft>
                <a:spcPts val="0"/>
              </a:spcAft>
            </a:pPr>
            <a:r>
              <a:rPr sz="1120" b="0">
                <a:solidFill>
                  <a:srgbClr val="17233A"/>
                </a:solidFill>
                <a:latin typeface="Arial"/>
              </a:rPr>
              <a:t>Hourly rate and location / online mode</a:t>
            </a:r>
          </a:p>
        </p:txBody>
      </p:sp>
      <p:sp>
        <p:nvSpPr>
          <p:cNvPr id="37" name="Circle 36"/>
          <p:cNvSpPr/>
          <p:nvPr/>
        </p:nvSpPr>
        <p:spPr>
          <a:xfrm>
            <a:off x="969264" y="5422392"/>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1207008" y="5358383"/>
            <a:ext cx="4480560" cy="228600"/>
          </a:xfrm>
          <a:prstGeom prst="rect">
            <a:avLst/>
          </a:prstGeom>
          <a:noFill/>
        </p:spPr>
        <p:txBody>
          <a:bodyPr wrap="square" lIns="0" rIns="0" tIns="0" bIns="0" anchor="ctr">
            <a:noAutofit/>
          </a:bodyPr>
          <a:lstStyle/>
          <a:p>
            <a:pPr algn="l">
              <a:lnSpc>
                <a:spcPct val="108000"/>
              </a:lnSpc>
              <a:spcBef>
                <a:spcPts val="0"/>
              </a:spcBef>
              <a:spcAft>
                <a:spcPts val="0"/>
              </a:spcAft>
            </a:pPr>
            <a:r>
              <a:rPr sz="1120" b="0">
                <a:solidFill>
                  <a:srgbClr val="17233A"/>
                </a:solidFill>
                <a:latin typeface="Arial"/>
              </a:rPr>
              <a:t>Weekly availability, ratings and reviews</a:t>
            </a:r>
          </a:p>
        </p:txBody>
      </p:sp>
      <p:sp>
        <p:nvSpPr>
          <p:cNvPr id="39" name="Text 38"/>
          <p:cNvSpPr txBox="1"/>
          <p:nvPr/>
        </p:nvSpPr>
        <p:spPr>
          <a:xfrm>
            <a:off x="950976" y="5751576"/>
            <a:ext cx="4590288" cy="182880"/>
          </a:xfrm>
          <a:prstGeom prst="rect">
            <a:avLst/>
          </a:prstGeom>
          <a:noFill/>
        </p:spPr>
        <p:txBody>
          <a:bodyPr wrap="none" lIns="0" rIns="0" tIns="0" bIns="0" anchor="t">
            <a:noAutofit/>
          </a:bodyPr>
          <a:lstStyle/>
          <a:p>
            <a:pPr algn="l">
              <a:lnSpc>
                <a:spcPct val="108000"/>
              </a:lnSpc>
              <a:spcBef>
                <a:spcPts val="0"/>
              </a:spcBef>
              <a:spcAft>
                <a:spcPts val="0"/>
              </a:spcAft>
            </a:pPr>
            <a:r>
              <a:rPr sz="890" b="0">
                <a:solidFill>
                  <a:srgbClr val="63718A"/>
                </a:solidFill>
                <a:latin typeface="Arial"/>
              </a:rPr>
              <a:t>Public listings use tutor profiles marked verified in the database.</a:t>
            </a:r>
          </a:p>
        </p:txBody>
      </p:sp>
      <p:sp>
        <p:nvSpPr>
          <p:cNvPr id="40" name="Shape 39"/>
          <p:cNvSpPr/>
          <p:nvPr/>
        </p:nvSpPr>
        <p:spPr>
          <a:xfrm>
            <a:off x="6263640" y="1874519"/>
            <a:ext cx="5257800" cy="4224528"/>
          </a:xfrm>
          <a:prstGeom prst="roundRect">
            <a:avLst>
              <a:gd name="adj" fmla="val 60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Embedded visual: tutor-01" descr="image.png"/>
          <p:cNvPicPr>
            <a:picLocks noChangeAspect="1"/>
          </p:cNvPicPr>
          <p:nvPr/>
        </p:nvPicPr>
        <p:blipFill>
          <a:blip r:embed="rId2"/>
          <a:stretch>
            <a:fillRect/>
          </a:stretch>
        </p:blipFill>
        <p:spPr>
          <a:xfrm>
            <a:off x="6455664" y="2075688"/>
            <a:ext cx="2039112" cy="3602736"/>
          </a:xfrm>
          <a:prstGeom prst="rect">
            <a:avLst/>
          </a:prstGeom>
        </p:spPr>
      </p:pic>
      <p:sp>
        <p:nvSpPr>
          <p:cNvPr id="42" name="Text 41"/>
          <p:cNvSpPr txBox="1"/>
          <p:nvPr/>
        </p:nvSpPr>
        <p:spPr>
          <a:xfrm>
            <a:off x="8778240" y="2176272"/>
            <a:ext cx="2267712" cy="201168"/>
          </a:xfrm>
          <a:prstGeom prst="rect">
            <a:avLst/>
          </a:prstGeom>
          <a:noFill/>
        </p:spPr>
        <p:txBody>
          <a:bodyPr wrap="none" lIns="0" rIns="0" tIns="0" bIns="0" anchor="t">
            <a:noAutofit/>
          </a:bodyPr>
          <a:lstStyle/>
          <a:p>
            <a:pPr algn="l">
              <a:lnSpc>
                <a:spcPct val="108000"/>
              </a:lnSpc>
              <a:spcBef>
                <a:spcPts val="0"/>
              </a:spcBef>
              <a:spcAft>
                <a:spcPts val="0"/>
              </a:spcAft>
            </a:pPr>
            <a:r>
              <a:rPr sz="919" b="1">
                <a:solidFill>
                  <a:srgbClr val="B9C9E2"/>
                </a:solidFill>
                <a:latin typeface="Arial"/>
              </a:rPr>
              <a:t>PROFILE SIGNALS</a:t>
            </a:r>
          </a:p>
        </p:txBody>
      </p:sp>
      <p:sp>
        <p:nvSpPr>
          <p:cNvPr id="43" name="Circle 42"/>
          <p:cNvSpPr/>
          <p:nvPr/>
        </p:nvSpPr>
        <p:spPr>
          <a:xfrm>
            <a:off x="8778240" y="2596896"/>
            <a:ext cx="283464" cy="283464"/>
          </a:xfrm>
          <a:prstGeom prst="ellipse">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8778240" y="2587751"/>
            <a:ext cx="283464" cy="274320"/>
          </a:xfrm>
          <a:prstGeom prst="rect">
            <a:avLst/>
          </a:prstGeom>
          <a:noFill/>
        </p:spPr>
        <p:txBody>
          <a:bodyPr wrap="none" lIns="0" rIns="0" tIns="0" bIns="0" anchor="ctr">
            <a:noAutofit/>
          </a:bodyPr>
          <a:lstStyle/>
          <a:p>
            <a:pPr algn="ctr">
              <a:lnSpc>
                <a:spcPct val="108000"/>
              </a:lnSpc>
              <a:spcBef>
                <a:spcPts val="0"/>
              </a:spcBef>
              <a:spcAft>
                <a:spcPts val="0"/>
              </a:spcAft>
            </a:pPr>
            <a:r>
              <a:rPr sz="790" b="1">
                <a:solidFill>
                  <a:srgbClr val="10B981"/>
                </a:solidFill>
                <a:latin typeface="Arial"/>
              </a:rPr>
              <a:t>01</a:t>
            </a:r>
          </a:p>
        </p:txBody>
      </p:sp>
      <p:sp>
        <p:nvSpPr>
          <p:cNvPr id="45" name="Text 44"/>
          <p:cNvSpPr txBox="1"/>
          <p:nvPr/>
        </p:nvSpPr>
        <p:spPr>
          <a:xfrm>
            <a:off x="9171432" y="2578608"/>
            <a:ext cx="1920240" cy="210312"/>
          </a:xfrm>
          <a:prstGeom prst="rect">
            <a:avLst/>
          </a:prstGeom>
          <a:noFill/>
        </p:spPr>
        <p:txBody>
          <a:bodyPr wrap="none" lIns="0" rIns="0" tIns="0" bIns="0" anchor="ctr">
            <a:noAutofit/>
          </a:bodyPr>
          <a:lstStyle/>
          <a:p>
            <a:pPr algn="l">
              <a:lnSpc>
                <a:spcPct val="108000"/>
              </a:lnSpc>
              <a:spcBef>
                <a:spcPts val="0"/>
              </a:spcBef>
              <a:spcAft>
                <a:spcPts val="0"/>
              </a:spcAft>
            </a:pPr>
            <a:r>
              <a:rPr sz="1130" b="1">
                <a:solidFill>
                  <a:srgbClr val="FFFFFF"/>
                </a:solidFill>
                <a:latin typeface="Arial"/>
              </a:rPr>
              <a:t>Subjects</a:t>
            </a:r>
          </a:p>
        </p:txBody>
      </p:sp>
      <p:sp>
        <p:nvSpPr>
          <p:cNvPr id="46" name="Text 45"/>
          <p:cNvSpPr txBox="1"/>
          <p:nvPr/>
        </p:nvSpPr>
        <p:spPr>
          <a:xfrm>
            <a:off x="9171432" y="2807208"/>
            <a:ext cx="2011680" cy="320040"/>
          </a:xfrm>
          <a:prstGeom prst="rect">
            <a:avLst/>
          </a:prstGeom>
          <a:noFill/>
        </p:spPr>
        <p:txBody>
          <a:bodyPr wrap="square" lIns="0" rIns="0" tIns="0" bIns="0" anchor="ctr">
            <a:noAutofit/>
          </a:bodyPr>
          <a:lstStyle/>
          <a:p>
            <a:pPr algn="l">
              <a:lnSpc>
                <a:spcPct val="108000"/>
              </a:lnSpc>
              <a:spcBef>
                <a:spcPts val="0"/>
              </a:spcBef>
              <a:spcAft>
                <a:spcPts val="0"/>
              </a:spcAft>
            </a:pPr>
            <a:r>
              <a:rPr sz="890" b="0">
                <a:solidFill>
                  <a:srgbClr val="D5DFF0"/>
                </a:solidFill>
                <a:latin typeface="Arial"/>
              </a:rPr>
              <a:t>What the tutor teaches</a:t>
            </a:r>
          </a:p>
        </p:txBody>
      </p:sp>
      <p:sp>
        <p:nvSpPr>
          <p:cNvPr id="47" name="Circle 46"/>
          <p:cNvSpPr/>
          <p:nvPr/>
        </p:nvSpPr>
        <p:spPr>
          <a:xfrm>
            <a:off x="8778240" y="3300984"/>
            <a:ext cx="283464" cy="283464"/>
          </a:xfrm>
          <a:prstGeom prst="ellipse">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 47"/>
          <p:cNvSpPr txBox="1"/>
          <p:nvPr/>
        </p:nvSpPr>
        <p:spPr>
          <a:xfrm>
            <a:off x="8778240" y="3291839"/>
            <a:ext cx="283464" cy="274320"/>
          </a:xfrm>
          <a:prstGeom prst="rect">
            <a:avLst/>
          </a:prstGeom>
          <a:noFill/>
        </p:spPr>
        <p:txBody>
          <a:bodyPr wrap="none" lIns="0" rIns="0" tIns="0" bIns="0" anchor="ctr">
            <a:noAutofit/>
          </a:bodyPr>
          <a:lstStyle/>
          <a:p>
            <a:pPr algn="ctr">
              <a:lnSpc>
                <a:spcPct val="108000"/>
              </a:lnSpc>
              <a:spcBef>
                <a:spcPts val="0"/>
              </a:spcBef>
              <a:spcAft>
                <a:spcPts val="0"/>
              </a:spcAft>
            </a:pPr>
            <a:r>
              <a:rPr sz="790" b="1">
                <a:solidFill>
                  <a:srgbClr val="10B981"/>
                </a:solidFill>
                <a:latin typeface="Arial"/>
              </a:rPr>
              <a:t>02</a:t>
            </a:r>
          </a:p>
        </p:txBody>
      </p:sp>
      <p:sp>
        <p:nvSpPr>
          <p:cNvPr id="49" name="Text 48"/>
          <p:cNvSpPr txBox="1"/>
          <p:nvPr/>
        </p:nvSpPr>
        <p:spPr>
          <a:xfrm>
            <a:off x="9171432" y="3282696"/>
            <a:ext cx="1920240" cy="210312"/>
          </a:xfrm>
          <a:prstGeom prst="rect">
            <a:avLst/>
          </a:prstGeom>
          <a:noFill/>
        </p:spPr>
        <p:txBody>
          <a:bodyPr wrap="none" lIns="0" rIns="0" tIns="0" bIns="0" anchor="ctr">
            <a:noAutofit/>
          </a:bodyPr>
          <a:lstStyle/>
          <a:p>
            <a:pPr algn="l">
              <a:lnSpc>
                <a:spcPct val="108000"/>
              </a:lnSpc>
              <a:spcBef>
                <a:spcPts val="0"/>
              </a:spcBef>
              <a:spcAft>
                <a:spcPts val="0"/>
              </a:spcAft>
            </a:pPr>
            <a:r>
              <a:rPr sz="1130" b="1">
                <a:solidFill>
                  <a:srgbClr val="FFFFFF"/>
                </a:solidFill>
                <a:latin typeface="Arial"/>
              </a:rPr>
              <a:t>Qualifications</a:t>
            </a:r>
          </a:p>
        </p:txBody>
      </p:sp>
      <p:sp>
        <p:nvSpPr>
          <p:cNvPr id="50" name="Text 49"/>
          <p:cNvSpPr txBox="1"/>
          <p:nvPr/>
        </p:nvSpPr>
        <p:spPr>
          <a:xfrm>
            <a:off x="9171432" y="3511296"/>
            <a:ext cx="2011680" cy="320040"/>
          </a:xfrm>
          <a:prstGeom prst="rect">
            <a:avLst/>
          </a:prstGeom>
          <a:noFill/>
        </p:spPr>
        <p:txBody>
          <a:bodyPr wrap="square" lIns="0" rIns="0" tIns="0" bIns="0" anchor="ctr">
            <a:noAutofit/>
          </a:bodyPr>
          <a:lstStyle/>
          <a:p>
            <a:pPr algn="l">
              <a:lnSpc>
                <a:spcPct val="108000"/>
              </a:lnSpc>
              <a:spcBef>
                <a:spcPts val="0"/>
              </a:spcBef>
              <a:spcAft>
                <a:spcPts val="0"/>
              </a:spcAft>
            </a:pPr>
            <a:r>
              <a:rPr sz="890" b="0">
                <a:solidFill>
                  <a:srgbClr val="D5DFF0"/>
                </a:solidFill>
                <a:latin typeface="Arial"/>
              </a:rPr>
              <a:t>Documents and experience</a:t>
            </a:r>
          </a:p>
        </p:txBody>
      </p:sp>
      <p:sp>
        <p:nvSpPr>
          <p:cNvPr id="51" name="Circle 50"/>
          <p:cNvSpPr/>
          <p:nvPr/>
        </p:nvSpPr>
        <p:spPr>
          <a:xfrm>
            <a:off x="8778240" y="4005071"/>
            <a:ext cx="283464" cy="283464"/>
          </a:xfrm>
          <a:prstGeom prst="ellipse">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 51"/>
          <p:cNvSpPr txBox="1"/>
          <p:nvPr/>
        </p:nvSpPr>
        <p:spPr>
          <a:xfrm>
            <a:off x="8778240" y="3995927"/>
            <a:ext cx="283464" cy="274320"/>
          </a:xfrm>
          <a:prstGeom prst="rect">
            <a:avLst/>
          </a:prstGeom>
          <a:noFill/>
        </p:spPr>
        <p:txBody>
          <a:bodyPr wrap="none" lIns="0" rIns="0" tIns="0" bIns="0" anchor="ctr">
            <a:noAutofit/>
          </a:bodyPr>
          <a:lstStyle/>
          <a:p>
            <a:pPr algn="ctr">
              <a:lnSpc>
                <a:spcPct val="108000"/>
              </a:lnSpc>
              <a:spcBef>
                <a:spcPts val="0"/>
              </a:spcBef>
              <a:spcAft>
                <a:spcPts val="0"/>
              </a:spcAft>
            </a:pPr>
            <a:r>
              <a:rPr sz="790" b="1">
                <a:solidFill>
                  <a:srgbClr val="10B981"/>
                </a:solidFill>
                <a:latin typeface="Arial"/>
              </a:rPr>
              <a:t>03</a:t>
            </a:r>
          </a:p>
        </p:txBody>
      </p:sp>
      <p:sp>
        <p:nvSpPr>
          <p:cNvPr id="53" name="Text 52"/>
          <p:cNvSpPr txBox="1"/>
          <p:nvPr/>
        </p:nvSpPr>
        <p:spPr>
          <a:xfrm>
            <a:off x="9171432" y="3986783"/>
            <a:ext cx="1920240" cy="210312"/>
          </a:xfrm>
          <a:prstGeom prst="rect">
            <a:avLst/>
          </a:prstGeom>
          <a:noFill/>
        </p:spPr>
        <p:txBody>
          <a:bodyPr wrap="none" lIns="0" rIns="0" tIns="0" bIns="0" anchor="ctr">
            <a:noAutofit/>
          </a:bodyPr>
          <a:lstStyle/>
          <a:p>
            <a:pPr algn="l">
              <a:lnSpc>
                <a:spcPct val="108000"/>
              </a:lnSpc>
              <a:spcBef>
                <a:spcPts val="0"/>
              </a:spcBef>
              <a:spcAft>
                <a:spcPts val="0"/>
              </a:spcAft>
            </a:pPr>
            <a:r>
              <a:rPr sz="1130" b="1">
                <a:solidFill>
                  <a:srgbClr val="FFFFFF"/>
                </a:solidFill>
                <a:latin typeface="Arial"/>
              </a:rPr>
              <a:t>Rate &amp; schedule</a:t>
            </a:r>
          </a:p>
        </p:txBody>
      </p:sp>
      <p:sp>
        <p:nvSpPr>
          <p:cNvPr id="54" name="Text 53"/>
          <p:cNvSpPr txBox="1"/>
          <p:nvPr/>
        </p:nvSpPr>
        <p:spPr>
          <a:xfrm>
            <a:off x="9171432" y="4215383"/>
            <a:ext cx="2011680" cy="320040"/>
          </a:xfrm>
          <a:prstGeom prst="rect">
            <a:avLst/>
          </a:prstGeom>
          <a:noFill/>
        </p:spPr>
        <p:txBody>
          <a:bodyPr wrap="square" lIns="0" rIns="0" tIns="0" bIns="0" anchor="ctr">
            <a:noAutofit/>
          </a:bodyPr>
          <a:lstStyle/>
          <a:p>
            <a:pPr algn="l">
              <a:lnSpc>
                <a:spcPct val="108000"/>
              </a:lnSpc>
              <a:spcBef>
                <a:spcPts val="0"/>
              </a:spcBef>
              <a:spcAft>
                <a:spcPts val="0"/>
              </a:spcAft>
            </a:pPr>
            <a:r>
              <a:rPr sz="890" b="0">
                <a:solidFill>
                  <a:srgbClr val="D5DFF0"/>
                </a:solidFill>
                <a:latin typeface="Arial"/>
              </a:rPr>
              <a:t>Price and listed time slots</a:t>
            </a:r>
          </a:p>
        </p:txBody>
      </p:sp>
      <p:sp>
        <p:nvSpPr>
          <p:cNvPr id="55" name="Circle 54"/>
          <p:cNvSpPr/>
          <p:nvPr/>
        </p:nvSpPr>
        <p:spPr>
          <a:xfrm>
            <a:off x="8778240" y="4709159"/>
            <a:ext cx="283464" cy="283464"/>
          </a:xfrm>
          <a:prstGeom prst="ellipse">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8778240" y="4700016"/>
            <a:ext cx="283464" cy="274320"/>
          </a:xfrm>
          <a:prstGeom prst="rect">
            <a:avLst/>
          </a:prstGeom>
          <a:noFill/>
        </p:spPr>
        <p:txBody>
          <a:bodyPr wrap="none" lIns="0" rIns="0" tIns="0" bIns="0" anchor="ctr">
            <a:noAutofit/>
          </a:bodyPr>
          <a:lstStyle/>
          <a:p>
            <a:pPr algn="ctr">
              <a:lnSpc>
                <a:spcPct val="108000"/>
              </a:lnSpc>
              <a:spcBef>
                <a:spcPts val="0"/>
              </a:spcBef>
              <a:spcAft>
                <a:spcPts val="0"/>
              </a:spcAft>
            </a:pPr>
            <a:r>
              <a:rPr sz="790" b="1">
                <a:solidFill>
                  <a:srgbClr val="10B981"/>
                </a:solidFill>
                <a:latin typeface="Arial"/>
              </a:rPr>
              <a:t>04</a:t>
            </a:r>
          </a:p>
        </p:txBody>
      </p:sp>
      <p:sp>
        <p:nvSpPr>
          <p:cNvPr id="57" name="Text 56"/>
          <p:cNvSpPr txBox="1"/>
          <p:nvPr/>
        </p:nvSpPr>
        <p:spPr>
          <a:xfrm>
            <a:off x="9171432" y="4690872"/>
            <a:ext cx="1920240" cy="210312"/>
          </a:xfrm>
          <a:prstGeom prst="rect">
            <a:avLst/>
          </a:prstGeom>
          <a:noFill/>
        </p:spPr>
        <p:txBody>
          <a:bodyPr wrap="none" lIns="0" rIns="0" tIns="0" bIns="0" anchor="ctr">
            <a:noAutofit/>
          </a:bodyPr>
          <a:lstStyle/>
          <a:p>
            <a:pPr algn="l">
              <a:lnSpc>
                <a:spcPct val="108000"/>
              </a:lnSpc>
              <a:spcBef>
                <a:spcPts val="0"/>
              </a:spcBef>
              <a:spcAft>
                <a:spcPts val="0"/>
              </a:spcAft>
            </a:pPr>
            <a:r>
              <a:rPr sz="1130" b="1">
                <a:solidFill>
                  <a:srgbClr val="FFFFFF"/>
                </a:solidFill>
                <a:latin typeface="Arial"/>
              </a:rPr>
              <a:t>Reviews</a:t>
            </a:r>
          </a:p>
        </p:txBody>
      </p:sp>
      <p:sp>
        <p:nvSpPr>
          <p:cNvPr id="58" name="Text 57"/>
          <p:cNvSpPr txBox="1"/>
          <p:nvPr/>
        </p:nvSpPr>
        <p:spPr>
          <a:xfrm>
            <a:off x="9171432" y="4919472"/>
            <a:ext cx="2011680" cy="320040"/>
          </a:xfrm>
          <a:prstGeom prst="rect">
            <a:avLst/>
          </a:prstGeom>
          <a:noFill/>
        </p:spPr>
        <p:txBody>
          <a:bodyPr wrap="square" lIns="0" rIns="0" tIns="0" bIns="0" anchor="ctr">
            <a:noAutofit/>
          </a:bodyPr>
          <a:lstStyle/>
          <a:p>
            <a:pPr algn="l">
              <a:lnSpc>
                <a:spcPct val="108000"/>
              </a:lnSpc>
              <a:spcBef>
                <a:spcPts val="0"/>
              </a:spcBef>
              <a:spcAft>
                <a:spcPts val="0"/>
              </a:spcAft>
            </a:pPr>
            <a:r>
              <a:rPr sz="890" b="0">
                <a:solidFill>
                  <a:srgbClr val="D5DFF0"/>
                </a:solidFill>
                <a:latin typeface="Arial"/>
              </a:rPr>
              <a:t>Ratings and written feedback</a:t>
            </a:r>
          </a:p>
        </p:txBody>
      </p:sp>
      <p:sp>
        <p:nvSpPr>
          <p:cNvPr id="59" name="Text 58"/>
          <p:cNvSpPr txBox="1"/>
          <p:nvPr/>
        </p:nvSpPr>
        <p:spPr>
          <a:xfrm>
            <a:off x="6446520" y="5788152"/>
            <a:ext cx="4663440" cy="155448"/>
          </a:xfrm>
          <a:prstGeom prst="rect">
            <a:avLst/>
          </a:prstGeom>
          <a:noFill/>
        </p:spPr>
        <p:txBody>
          <a:bodyPr wrap="none" lIns="0" rIns="0" tIns="0" bIns="0" anchor="t">
            <a:noAutofit/>
          </a:bodyPr>
          <a:lstStyle/>
          <a:p>
            <a:pPr algn="l">
              <a:lnSpc>
                <a:spcPct val="108000"/>
              </a:lnSpc>
              <a:spcBef>
                <a:spcPts val="0"/>
              </a:spcBef>
              <a:spcAft>
                <a:spcPts val="0"/>
              </a:spcAft>
            </a:pPr>
            <a:r>
              <a:rPr sz="800" b="0">
                <a:solidFill>
                  <a:srgbClr val="D5DFF0"/>
                </a:solidFill>
                <a:latin typeface="Arial"/>
              </a:rPr>
              <a:t>Project image asset · illustrative; no sample tutor or rating data shown.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03  /  BOOKING WORKFLOW</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Uzochukwu Mary Cynthia Enyemakachukwu</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Booking requests are trackable, not payments</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workflow captures the lesson details, estimates a price and records a request status.</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07  /  15</a:t>
            </a:r>
          </a:p>
        </p:txBody>
      </p:sp>
      <p:sp>
        <p:nvSpPr>
          <p:cNvPr id="11" name="Shape 10"/>
          <p:cNvSpPr/>
          <p:nvPr/>
        </p:nvSpPr>
        <p:spPr>
          <a:xfrm>
            <a:off x="726948" y="1952244"/>
            <a:ext cx="3264408" cy="1344168"/>
          </a:xfrm>
          <a:prstGeom prst="roundRect">
            <a:avLst>
              <a:gd name="adj" fmla="val 1088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85800" y="1901952"/>
            <a:ext cx="3264408" cy="1344168"/>
          </a:xfrm>
          <a:prstGeom prst="roundRect">
            <a:avLst>
              <a:gd name="adj" fmla="val 1088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896112" y="213969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896112" y="2148839"/>
            <a:ext cx="384048" cy="365759"/>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01</a:t>
            </a:r>
          </a:p>
        </p:txBody>
      </p:sp>
      <p:sp>
        <p:nvSpPr>
          <p:cNvPr id="15" name="Text 14"/>
          <p:cNvSpPr txBox="1"/>
          <p:nvPr/>
        </p:nvSpPr>
        <p:spPr>
          <a:xfrm>
            <a:off x="1435607" y="2093976"/>
            <a:ext cx="2240280" cy="274320"/>
          </a:xfrm>
          <a:prstGeom prst="rect">
            <a:avLst/>
          </a:prstGeom>
          <a:noFill/>
        </p:spPr>
        <p:txBody>
          <a:bodyPr wrap="none" lIns="0" rIns="0" tIns="0" bIns="0" anchor="ctr">
            <a:noAutofit/>
          </a:bodyPr>
          <a:lstStyle/>
          <a:p>
            <a:pPr algn="l">
              <a:lnSpc>
                <a:spcPct val="108000"/>
              </a:lnSpc>
              <a:spcBef>
                <a:spcPts val="0"/>
              </a:spcBef>
              <a:spcAft>
                <a:spcPts val="0"/>
              </a:spcAft>
            </a:pPr>
            <a:r>
              <a:rPr sz="1440" b="1">
                <a:solidFill>
                  <a:srgbClr val="0B1733"/>
                </a:solidFill>
                <a:latin typeface="Arial"/>
              </a:rPr>
              <a:t>Choose a tutor</a:t>
            </a:r>
          </a:p>
        </p:txBody>
      </p:sp>
      <p:sp>
        <p:nvSpPr>
          <p:cNvPr id="16" name="Text 15"/>
          <p:cNvSpPr txBox="1"/>
          <p:nvPr/>
        </p:nvSpPr>
        <p:spPr>
          <a:xfrm>
            <a:off x="1435607" y="2468880"/>
            <a:ext cx="2240280" cy="493776"/>
          </a:xfrm>
          <a:prstGeom prst="rect">
            <a:avLst/>
          </a:prstGeom>
          <a:noFill/>
        </p:spPr>
        <p:txBody>
          <a:bodyPr wrap="square" lIns="0" rIns="0" tIns="0" bIns="0" anchor="ctr">
            <a:noAutofit/>
          </a:bodyPr>
          <a:lstStyle/>
          <a:p>
            <a:pPr algn="l">
              <a:lnSpc>
                <a:spcPct val="108000"/>
              </a:lnSpc>
              <a:spcBef>
                <a:spcPts val="0"/>
              </a:spcBef>
              <a:spcAft>
                <a:spcPts val="0"/>
              </a:spcAft>
            </a:pPr>
            <a:r>
              <a:rPr sz="1030" b="0">
                <a:solidFill>
                  <a:srgbClr val="63718A"/>
                </a:solidFill>
                <a:latin typeface="Arial"/>
              </a:rPr>
              <a:t>Review profile, subjects</a:t>
            </a:r>
          </a:p>
          <a:p>
            <a:pPr algn="l">
              <a:lnSpc>
                <a:spcPct val="108000"/>
              </a:lnSpc>
              <a:spcBef>
                <a:spcPts val="0"/>
              </a:spcBef>
              <a:spcAft>
                <a:spcPts val="0"/>
              </a:spcAft>
            </a:pPr>
            <a:r>
              <a:rPr sz="1030" b="0">
                <a:solidFill>
                  <a:srgbClr val="63718A"/>
                </a:solidFill>
                <a:latin typeface="Arial"/>
              </a:rPr>
              <a:t>and available time slots.</a:t>
            </a:r>
          </a:p>
        </p:txBody>
      </p:sp>
      <p:sp>
        <p:nvSpPr>
          <p:cNvPr id="17" name="Shape 16"/>
          <p:cNvSpPr/>
          <p:nvPr/>
        </p:nvSpPr>
        <p:spPr>
          <a:xfrm>
            <a:off x="4475988" y="1952244"/>
            <a:ext cx="3264408" cy="1344168"/>
          </a:xfrm>
          <a:prstGeom prst="roundRect">
            <a:avLst>
              <a:gd name="adj" fmla="val 1088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hape 17"/>
          <p:cNvSpPr/>
          <p:nvPr/>
        </p:nvSpPr>
        <p:spPr>
          <a:xfrm>
            <a:off x="4434840" y="1901952"/>
            <a:ext cx="3264408" cy="1344168"/>
          </a:xfrm>
          <a:prstGeom prst="roundRect">
            <a:avLst>
              <a:gd name="adj" fmla="val 1088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ircle 18"/>
          <p:cNvSpPr/>
          <p:nvPr/>
        </p:nvSpPr>
        <p:spPr>
          <a:xfrm>
            <a:off x="4645152" y="213969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4645152" y="2148839"/>
            <a:ext cx="384048" cy="365759"/>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02</a:t>
            </a:r>
          </a:p>
        </p:txBody>
      </p:sp>
      <p:sp>
        <p:nvSpPr>
          <p:cNvPr id="21" name="Text 20"/>
          <p:cNvSpPr txBox="1"/>
          <p:nvPr/>
        </p:nvSpPr>
        <p:spPr>
          <a:xfrm>
            <a:off x="5184648" y="2093976"/>
            <a:ext cx="2240280" cy="274320"/>
          </a:xfrm>
          <a:prstGeom prst="rect">
            <a:avLst/>
          </a:prstGeom>
          <a:noFill/>
        </p:spPr>
        <p:txBody>
          <a:bodyPr wrap="none" lIns="0" rIns="0" tIns="0" bIns="0" anchor="ctr">
            <a:noAutofit/>
          </a:bodyPr>
          <a:lstStyle/>
          <a:p>
            <a:pPr algn="l">
              <a:lnSpc>
                <a:spcPct val="108000"/>
              </a:lnSpc>
              <a:spcBef>
                <a:spcPts val="0"/>
              </a:spcBef>
              <a:spcAft>
                <a:spcPts val="0"/>
              </a:spcAft>
            </a:pPr>
            <a:r>
              <a:rPr sz="1440" b="1">
                <a:solidFill>
                  <a:srgbClr val="0B1733"/>
                </a:solidFill>
                <a:latin typeface="Arial"/>
              </a:rPr>
              <a:t>Send the request</a:t>
            </a:r>
          </a:p>
        </p:txBody>
      </p:sp>
      <p:sp>
        <p:nvSpPr>
          <p:cNvPr id="22" name="Text 21"/>
          <p:cNvSpPr txBox="1"/>
          <p:nvPr/>
        </p:nvSpPr>
        <p:spPr>
          <a:xfrm>
            <a:off x="5184648" y="2468880"/>
            <a:ext cx="2240280" cy="493776"/>
          </a:xfrm>
          <a:prstGeom prst="rect">
            <a:avLst/>
          </a:prstGeom>
          <a:noFill/>
        </p:spPr>
        <p:txBody>
          <a:bodyPr wrap="square" lIns="0" rIns="0" tIns="0" bIns="0" anchor="ctr">
            <a:noAutofit/>
          </a:bodyPr>
          <a:lstStyle/>
          <a:p>
            <a:pPr algn="l">
              <a:lnSpc>
                <a:spcPct val="108000"/>
              </a:lnSpc>
              <a:spcBef>
                <a:spcPts val="0"/>
              </a:spcBef>
              <a:spcAft>
                <a:spcPts val="0"/>
              </a:spcAft>
            </a:pPr>
            <a:r>
              <a:rPr sz="1030" b="0">
                <a:solidFill>
                  <a:srgbClr val="63718A"/>
                </a:solidFill>
                <a:latin typeface="Arial"/>
              </a:rPr>
              <a:t>Share the learner's needs</a:t>
            </a:r>
          </a:p>
          <a:p>
            <a:pPr algn="l">
              <a:lnSpc>
                <a:spcPct val="108000"/>
              </a:lnSpc>
              <a:spcBef>
                <a:spcPts val="0"/>
              </a:spcBef>
              <a:spcAft>
                <a:spcPts val="0"/>
              </a:spcAft>
            </a:pPr>
            <a:r>
              <a:rPr sz="1030" b="0">
                <a:solidFill>
                  <a:srgbClr val="63718A"/>
                </a:solidFill>
                <a:latin typeface="Arial"/>
              </a:rPr>
              <a:t>and preferred lesson details.</a:t>
            </a:r>
          </a:p>
        </p:txBody>
      </p:sp>
      <p:sp>
        <p:nvSpPr>
          <p:cNvPr id="23" name="Shape 22"/>
          <p:cNvSpPr/>
          <p:nvPr/>
        </p:nvSpPr>
        <p:spPr>
          <a:xfrm>
            <a:off x="8225027" y="1952244"/>
            <a:ext cx="3264408" cy="1344168"/>
          </a:xfrm>
          <a:prstGeom prst="roundRect">
            <a:avLst>
              <a:gd name="adj" fmla="val 10884"/>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pe 23"/>
          <p:cNvSpPr/>
          <p:nvPr/>
        </p:nvSpPr>
        <p:spPr>
          <a:xfrm>
            <a:off x="8183879" y="1901952"/>
            <a:ext cx="3264408" cy="1344168"/>
          </a:xfrm>
          <a:prstGeom prst="roundRect">
            <a:avLst>
              <a:gd name="adj" fmla="val 10884"/>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ircle 24"/>
          <p:cNvSpPr/>
          <p:nvPr/>
        </p:nvSpPr>
        <p:spPr>
          <a:xfrm>
            <a:off x="8394192" y="2139696"/>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5"/>
          <p:cNvSpPr txBox="1"/>
          <p:nvPr/>
        </p:nvSpPr>
        <p:spPr>
          <a:xfrm>
            <a:off x="8394192" y="2148839"/>
            <a:ext cx="384048" cy="365759"/>
          </a:xfrm>
          <a:prstGeom prst="rect">
            <a:avLst/>
          </a:prstGeom>
          <a:noFill/>
        </p:spPr>
        <p:txBody>
          <a:bodyPr wrap="none" lIns="0" rIns="0" tIns="0" bIns="0" anchor="ctr">
            <a:noAutofit/>
          </a:bodyPr>
          <a:lstStyle/>
          <a:p>
            <a:pPr algn="ctr">
              <a:lnSpc>
                <a:spcPct val="108000"/>
              </a:lnSpc>
              <a:spcBef>
                <a:spcPts val="0"/>
              </a:spcBef>
              <a:spcAft>
                <a:spcPts val="0"/>
              </a:spcAft>
            </a:pPr>
            <a:r>
              <a:rPr sz="1100" b="1">
                <a:solidFill>
                  <a:srgbClr val="FFFFFF"/>
                </a:solidFill>
                <a:latin typeface="Arial"/>
              </a:rPr>
              <a:t>03</a:t>
            </a:r>
          </a:p>
        </p:txBody>
      </p:sp>
      <p:sp>
        <p:nvSpPr>
          <p:cNvPr id="27" name="Text 26"/>
          <p:cNvSpPr txBox="1"/>
          <p:nvPr/>
        </p:nvSpPr>
        <p:spPr>
          <a:xfrm>
            <a:off x="8933688" y="2093976"/>
            <a:ext cx="2240280" cy="274320"/>
          </a:xfrm>
          <a:prstGeom prst="rect">
            <a:avLst/>
          </a:prstGeom>
          <a:noFill/>
        </p:spPr>
        <p:txBody>
          <a:bodyPr wrap="none" lIns="0" rIns="0" tIns="0" bIns="0" anchor="ctr">
            <a:noAutofit/>
          </a:bodyPr>
          <a:lstStyle/>
          <a:p>
            <a:pPr algn="l">
              <a:lnSpc>
                <a:spcPct val="108000"/>
              </a:lnSpc>
              <a:spcBef>
                <a:spcPts val="0"/>
              </a:spcBef>
              <a:spcAft>
                <a:spcPts val="0"/>
              </a:spcAft>
            </a:pPr>
            <a:r>
              <a:rPr sz="1440" b="1">
                <a:solidFill>
                  <a:srgbClr val="0B1733"/>
                </a:solidFill>
                <a:latin typeface="Arial"/>
              </a:rPr>
              <a:t>Manage the status</a:t>
            </a:r>
          </a:p>
        </p:txBody>
      </p:sp>
      <p:sp>
        <p:nvSpPr>
          <p:cNvPr id="28" name="Text 27"/>
          <p:cNvSpPr txBox="1"/>
          <p:nvPr/>
        </p:nvSpPr>
        <p:spPr>
          <a:xfrm>
            <a:off x="8933688" y="2468880"/>
            <a:ext cx="2240280" cy="493776"/>
          </a:xfrm>
          <a:prstGeom prst="rect">
            <a:avLst/>
          </a:prstGeom>
          <a:noFill/>
        </p:spPr>
        <p:txBody>
          <a:bodyPr wrap="square" lIns="0" rIns="0" tIns="0" bIns="0" anchor="ctr">
            <a:noAutofit/>
          </a:bodyPr>
          <a:lstStyle/>
          <a:p>
            <a:pPr algn="l">
              <a:lnSpc>
                <a:spcPct val="108000"/>
              </a:lnSpc>
              <a:spcBef>
                <a:spcPts val="0"/>
              </a:spcBef>
              <a:spcAft>
                <a:spcPts val="0"/>
              </a:spcAft>
            </a:pPr>
            <a:r>
              <a:rPr sz="1030" b="0">
                <a:solidFill>
                  <a:srgbClr val="63718A"/>
                </a:solidFill>
                <a:latin typeface="Arial"/>
              </a:rPr>
              <a:t>Learner and tutor dashboards</a:t>
            </a:r>
          </a:p>
          <a:p>
            <a:pPr algn="l">
              <a:lnSpc>
                <a:spcPct val="108000"/>
              </a:lnSpc>
              <a:spcBef>
                <a:spcPts val="0"/>
              </a:spcBef>
              <a:spcAft>
                <a:spcPts val="0"/>
              </a:spcAft>
            </a:pPr>
            <a:r>
              <a:rPr sz="1030" b="0">
                <a:solidFill>
                  <a:srgbClr val="63718A"/>
                </a:solidFill>
                <a:latin typeface="Arial"/>
              </a:rPr>
              <a:t>show the request lifecycle.</a:t>
            </a:r>
          </a:p>
        </p:txBody>
      </p:sp>
      <p:sp>
        <p:nvSpPr>
          <p:cNvPr id="29" name="Text 28"/>
          <p:cNvSpPr txBox="1"/>
          <p:nvPr/>
        </p:nvSpPr>
        <p:spPr>
          <a:xfrm>
            <a:off x="4069080" y="2404872"/>
            <a:ext cx="283464" cy="320040"/>
          </a:xfrm>
          <a:prstGeom prst="rect">
            <a:avLst/>
          </a:prstGeom>
          <a:noFill/>
        </p:spPr>
        <p:txBody>
          <a:bodyPr wrap="none" lIns="0" rIns="0" tIns="0" bIns="0" anchor="ctr">
            <a:noAutofit/>
          </a:bodyPr>
          <a:lstStyle/>
          <a:p>
            <a:pPr algn="ctr">
              <a:lnSpc>
                <a:spcPct val="108000"/>
              </a:lnSpc>
              <a:spcBef>
                <a:spcPts val="0"/>
              </a:spcBef>
              <a:spcAft>
                <a:spcPts val="0"/>
              </a:spcAft>
            </a:pPr>
            <a:r>
              <a:rPr sz="2000" b="1">
                <a:solidFill>
                  <a:srgbClr val="10B981"/>
                </a:solidFill>
                <a:latin typeface="Arial"/>
              </a:rPr>
              <a:t>→</a:t>
            </a:r>
          </a:p>
        </p:txBody>
      </p:sp>
      <p:sp>
        <p:nvSpPr>
          <p:cNvPr id="30" name="Text 29"/>
          <p:cNvSpPr txBox="1"/>
          <p:nvPr/>
        </p:nvSpPr>
        <p:spPr>
          <a:xfrm>
            <a:off x="7818120" y="2404872"/>
            <a:ext cx="283464" cy="320040"/>
          </a:xfrm>
          <a:prstGeom prst="rect">
            <a:avLst/>
          </a:prstGeom>
          <a:noFill/>
        </p:spPr>
        <p:txBody>
          <a:bodyPr wrap="none" lIns="0" rIns="0" tIns="0" bIns="0" anchor="ctr">
            <a:noAutofit/>
          </a:bodyPr>
          <a:lstStyle/>
          <a:p>
            <a:pPr algn="ctr">
              <a:lnSpc>
                <a:spcPct val="108000"/>
              </a:lnSpc>
              <a:spcBef>
                <a:spcPts val="0"/>
              </a:spcBef>
              <a:spcAft>
                <a:spcPts val="0"/>
              </a:spcAft>
            </a:pPr>
            <a:r>
              <a:rPr sz="2000" b="1">
                <a:solidFill>
                  <a:srgbClr val="10B981"/>
                </a:solidFill>
                <a:latin typeface="Arial"/>
              </a:rPr>
              <a:t>→</a:t>
            </a:r>
          </a:p>
        </p:txBody>
      </p:sp>
      <p:sp>
        <p:nvSpPr>
          <p:cNvPr id="31" name="Shape 30"/>
          <p:cNvSpPr/>
          <p:nvPr/>
        </p:nvSpPr>
        <p:spPr>
          <a:xfrm>
            <a:off x="726948" y="3598164"/>
            <a:ext cx="6876288" cy="2432304"/>
          </a:xfrm>
          <a:prstGeom prst="roundRect">
            <a:avLst>
              <a:gd name="adj" fmla="val 6015"/>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hape 31"/>
          <p:cNvSpPr/>
          <p:nvPr/>
        </p:nvSpPr>
        <p:spPr>
          <a:xfrm>
            <a:off x="685800" y="3547872"/>
            <a:ext cx="6876288" cy="2432304"/>
          </a:xfrm>
          <a:prstGeom prst="roundRect">
            <a:avLst>
              <a:gd name="adj" fmla="val 6015"/>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32"/>
          <p:cNvSpPr txBox="1"/>
          <p:nvPr/>
        </p:nvSpPr>
        <p:spPr>
          <a:xfrm>
            <a:off x="969264" y="3794760"/>
            <a:ext cx="6217920" cy="228600"/>
          </a:xfrm>
          <a:prstGeom prst="rect">
            <a:avLst/>
          </a:prstGeom>
          <a:noFill/>
        </p:spPr>
        <p:txBody>
          <a:bodyPr wrap="none" lIns="0" rIns="0" tIns="0" bIns="0" anchor="t">
            <a:noAutofit/>
          </a:bodyPr>
          <a:lstStyle/>
          <a:p>
            <a:pPr algn="l">
              <a:lnSpc>
                <a:spcPct val="108000"/>
              </a:lnSpc>
              <a:spcBef>
                <a:spcPts val="0"/>
              </a:spcBef>
              <a:spcAft>
                <a:spcPts val="0"/>
              </a:spcAft>
            </a:pPr>
            <a:r>
              <a:rPr sz="940" b="1">
                <a:solidFill>
                  <a:srgbClr val="1E3A8A"/>
                </a:solidFill>
                <a:latin typeface="Arial"/>
              </a:rPr>
              <a:t>WHAT THE REQUEST RECORDS</a:t>
            </a:r>
          </a:p>
        </p:txBody>
      </p:sp>
      <p:sp>
        <p:nvSpPr>
          <p:cNvPr id="34" name="Circle 33"/>
          <p:cNvSpPr/>
          <p:nvPr/>
        </p:nvSpPr>
        <p:spPr>
          <a:xfrm>
            <a:off x="987552" y="426110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34"/>
          <p:cNvSpPr txBox="1"/>
          <p:nvPr/>
        </p:nvSpPr>
        <p:spPr>
          <a:xfrm>
            <a:off x="1188720" y="4224528"/>
            <a:ext cx="2395728" cy="201168"/>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0B1733"/>
                </a:solidFill>
                <a:latin typeface="Arial"/>
              </a:rPr>
              <a:t>Learning</a:t>
            </a:r>
          </a:p>
        </p:txBody>
      </p:sp>
      <p:sp>
        <p:nvSpPr>
          <p:cNvPr id="36" name="Text 35"/>
          <p:cNvSpPr txBox="1"/>
          <p:nvPr/>
        </p:nvSpPr>
        <p:spPr>
          <a:xfrm>
            <a:off x="1188720" y="4453128"/>
            <a:ext cx="2468880" cy="274320"/>
          </a:xfrm>
          <a:prstGeom prst="rect">
            <a:avLst/>
          </a:prstGeom>
          <a:noFill/>
        </p:spPr>
        <p:txBody>
          <a:bodyPr wrap="square" lIns="0" rIns="0" tIns="0" bIns="0" anchor="ctr">
            <a:noAutofit/>
          </a:bodyPr>
          <a:lstStyle/>
          <a:p>
            <a:pPr algn="l">
              <a:lnSpc>
                <a:spcPct val="108000"/>
              </a:lnSpc>
              <a:spcBef>
                <a:spcPts val="0"/>
              </a:spcBef>
              <a:spcAft>
                <a:spcPts val="0"/>
              </a:spcAft>
            </a:pPr>
            <a:r>
              <a:rPr sz="1000" b="0">
                <a:solidFill>
                  <a:srgbClr val="63718A"/>
                </a:solidFill>
                <a:latin typeface="Arial"/>
              </a:rPr>
              <a:t>Subject · grade level</a:t>
            </a:r>
          </a:p>
        </p:txBody>
      </p:sp>
      <p:sp>
        <p:nvSpPr>
          <p:cNvPr id="37" name="Circle 36"/>
          <p:cNvSpPr/>
          <p:nvPr/>
        </p:nvSpPr>
        <p:spPr>
          <a:xfrm>
            <a:off x="3986783" y="4261104"/>
            <a:ext cx="109728" cy="10972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4187951" y="4224528"/>
            <a:ext cx="2395728" cy="201168"/>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0B1733"/>
                </a:solidFill>
                <a:latin typeface="Arial"/>
              </a:rPr>
              <a:t>When</a:t>
            </a:r>
          </a:p>
        </p:txBody>
      </p:sp>
      <p:sp>
        <p:nvSpPr>
          <p:cNvPr id="39" name="Text 38"/>
          <p:cNvSpPr txBox="1"/>
          <p:nvPr/>
        </p:nvSpPr>
        <p:spPr>
          <a:xfrm>
            <a:off x="4187951" y="4453128"/>
            <a:ext cx="2468880" cy="274320"/>
          </a:xfrm>
          <a:prstGeom prst="rect">
            <a:avLst/>
          </a:prstGeom>
          <a:noFill/>
        </p:spPr>
        <p:txBody>
          <a:bodyPr wrap="square" lIns="0" rIns="0" tIns="0" bIns="0" anchor="ctr">
            <a:noAutofit/>
          </a:bodyPr>
          <a:lstStyle/>
          <a:p>
            <a:pPr algn="l">
              <a:lnSpc>
                <a:spcPct val="108000"/>
              </a:lnSpc>
              <a:spcBef>
                <a:spcPts val="0"/>
              </a:spcBef>
              <a:spcAft>
                <a:spcPts val="0"/>
              </a:spcAft>
            </a:pPr>
            <a:r>
              <a:rPr sz="1000" b="0">
                <a:solidFill>
                  <a:srgbClr val="63718A"/>
                </a:solidFill>
                <a:latin typeface="Arial"/>
              </a:rPr>
              <a:t>Date · time slot</a:t>
            </a:r>
          </a:p>
        </p:txBody>
      </p:sp>
      <p:sp>
        <p:nvSpPr>
          <p:cNvPr id="40" name="Circle 39"/>
          <p:cNvSpPr/>
          <p:nvPr/>
        </p:nvSpPr>
        <p:spPr>
          <a:xfrm>
            <a:off x="987552" y="4910328"/>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40"/>
          <p:cNvSpPr txBox="1"/>
          <p:nvPr/>
        </p:nvSpPr>
        <p:spPr>
          <a:xfrm>
            <a:off x="1188720" y="4873752"/>
            <a:ext cx="2395728" cy="201168"/>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0B1733"/>
                </a:solidFill>
                <a:latin typeface="Arial"/>
              </a:rPr>
              <a:t>How</a:t>
            </a:r>
          </a:p>
        </p:txBody>
      </p:sp>
      <p:sp>
        <p:nvSpPr>
          <p:cNvPr id="42" name="Text 41"/>
          <p:cNvSpPr txBox="1"/>
          <p:nvPr/>
        </p:nvSpPr>
        <p:spPr>
          <a:xfrm>
            <a:off x="1188720" y="5102352"/>
            <a:ext cx="2468880" cy="274320"/>
          </a:xfrm>
          <a:prstGeom prst="rect">
            <a:avLst/>
          </a:prstGeom>
          <a:noFill/>
        </p:spPr>
        <p:txBody>
          <a:bodyPr wrap="square" lIns="0" rIns="0" tIns="0" bIns="0" anchor="ctr">
            <a:noAutofit/>
          </a:bodyPr>
          <a:lstStyle/>
          <a:p>
            <a:pPr algn="l">
              <a:lnSpc>
                <a:spcPct val="108000"/>
              </a:lnSpc>
              <a:spcBef>
                <a:spcPts val="0"/>
              </a:spcBef>
              <a:spcAft>
                <a:spcPts val="0"/>
              </a:spcAft>
            </a:pPr>
            <a:r>
              <a:rPr sz="1000" b="0">
                <a:solidFill>
                  <a:srgbClr val="63718A"/>
                </a:solidFill>
                <a:latin typeface="Arial"/>
              </a:rPr>
              <a:t>Online or in-person</a:t>
            </a:r>
          </a:p>
        </p:txBody>
      </p:sp>
      <p:sp>
        <p:nvSpPr>
          <p:cNvPr id="43" name="Circle 42"/>
          <p:cNvSpPr/>
          <p:nvPr/>
        </p:nvSpPr>
        <p:spPr>
          <a:xfrm>
            <a:off x="3986783" y="4910328"/>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4187951" y="4873752"/>
            <a:ext cx="2395728" cy="201168"/>
          </a:xfrm>
          <a:prstGeom prst="rect">
            <a:avLst/>
          </a:prstGeom>
          <a:noFill/>
        </p:spPr>
        <p:txBody>
          <a:bodyPr wrap="none" lIns="0" rIns="0" tIns="0" bIns="0" anchor="ctr">
            <a:noAutofit/>
          </a:bodyPr>
          <a:lstStyle/>
          <a:p>
            <a:pPr algn="l">
              <a:lnSpc>
                <a:spcPct val="108000"/>
              </a:lnSpc>
              <a:spcBef>
                <a:spcPts val="0"/>
              </a:spcBef>
              <a:spcAft>
                <a:spcPts val="0"/>
              </a:spcAft>
            </a:pPr>
            <a:r>
              <a:rPr sz="1040" b="1">
                <a:solidFill>
                  <a:srgbClr val="0B1733"/>
                </a:solidFill>
                <a:latin typeface="Arial"/>
              </a:rPr>
              <a:t>Context</a:t>
            </a:r>
          </a:p>
        </p:txBody>
      </p:sp>
      <p:sp>
        <p:nvSpPr>
          <p:cNvPr id="45" name="Text 44"/>
          <p:cNvSpPr txBox="1"/>
          <p:nvPr/>
        </p:nvSpPr>
        <p:spPr>
          <a:xfrm>
            <a:off x="4187951" y="5102352"/>
            <a:ext cx="2468880" cy="274320"/>
          </a:xfrm>
          <a:prstGeom prst="rect">
            <a:avLst/>
          </a:prstGeom>
          <a:noFill/>
        </p:spPr>
        <p:txBody>
          <a:bodyPr wrap="square" lIns="0" rIns="0" tIns="0" bIns="0" anchor="ctr">
            <a:noAutofit/>
          </a:bodyPr>
          <a:lstStyle/>
          <a:p>
            <a:pPr algn="l">
              <a:lnSpc>
                <a:spcPct val="108000"/>
              </a:lnSpc>
              <a:spcBef>
                <a:spcPts val="0"/>
              </a:spcBef>
              <a:spcAft>
                <a:spcPts val="0"/>
              </a:spcAft>
            </a:pPr>
            <a:r>
              <a:rPr sz="1000" b="0">
                <a:solidFill>
                  <a:srgbClr val="63718A"/>
                </a:solidFill>
                <a:latin typeface="Arial"/>
              </a:rPr>
              <a:t>Notes for the tutor</a:t>
            </a:r>
          </a:p>
        </p:txBody>
      </p:sp>
      <p:sp>
        <p:nvSpPr>
          <p:cNvPr id="46" name="Shape 45"/>
          <p:cNvSpPr/>
          <p:nvPr/>
        </p:nvSpPr>
        <p:spPr>
          <a:xfrm>
            <a:off x="7827264" y="3547872"/>
            <a:ext cx="3694176" cy="2432304"/>
          </a:xfrm>
          <a:prstGeom prst="roundRect">
            <a:avLst>
              <a:gd name="adj" fmla="val 6015"/>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46"/>
          <p:cNvSpPr txBox="1"/>
          <p:nvPr/>
        </p:nvSpPr>
        <p:spPr>
          <a:xfrm>
            <a:off x="8119872" y="3803904"/>
            <a:ext cx="3108960" cy="210312"/>
          </a:xfrm>
          <a:prstGeom prst="rect">
            <a:avLst/>
          </a:prstGeom>
          <a:noFill/>
        </p:spPr>
        <p:txBody>
          <a:bodyPr wrap="none" lIns="0" rIns="0" tIns="0" bIns="0" anchor="t">
            <a:noAutofit/>
          </a:bodyPr>
          <a:lstStyle/>
          <a:p>
            <a:pPr algn="l">
              <a:lnSpc>
                <a:spcPct val="108000"/>
              </a:lnSpc>
              <a:spcBef>
                <a:spcPts val="0"/>
              </a:spcBef>
              <a:spcAft>
                <a:spcPts val="0"/>
              </a:spcAft>
            </a:pPr>
            <a:r>
              <a:rPr sz="919" b="1">
                <a:solidFill>
                  <a:srgbClr val="B9C9E2"/>
                </a:solidFill>
                <a:latin typeface="Arial"/>
              </a:rPr>
              <a:t>REQUEST STATUS</a:t>
            </a:r>
          </a:p>
        </p:txBody>
      </p:sp>
      <p:sp>
        <p:nvSpPr>
          <p:cNvPr id="48" name="Text 47"/>
          <p:cNvSpPr txBox="1"/>
          <p:nvPr/>
        </p:nvSpPr>
        <p:spPr>
          <a:xfrm>
            <a:off x="8138160" y="4197096"/>
            <a:ext cx="3035808" cy="310896"/>
          </a:xfrm>
          <a:prstGeom prst="rect">
            <a:avLst/>
          </a:prstGeom>
          <a:noFill/>
        </p:spPr>
        <p:txBody>
          <a:bodyPr wrap="square" lIns="0" rIns="0" tIns="0" bIns="0" anchor="ctr">
            <a:noAutofit/>
          </a:bodyPr>
          <a:lstStyle/>
          <a:p>
            <a:pPr algn="l">
              <a:lnSpc>
                <a:spcPct val="108000"/>
              </a:lnSpc>
              <a:spcBef>
                <a:spcPts val="0"/>
              </a:spcBef>
              <a:spcAft>
                <a:spcPts val="0"/>
              </a:spcAft>
            </a:pPr>
            <a:r>
              <a:rPr sz="1210" b="1">
                <a:solidFill>
                  <a:srgbClr val="FFFFFF"/>
                </a:solidFill>
                <a:latin typeface="Arial"/>
              </a:rPr>
              <a:t>Pending  →  Accepted / Rejected</a:t>
            </a:r>
          </a:p>
        </p:txBody>
      </p:sp>
      <p:sp>
        <p:nvSpPr>
          <p:cNvPr id="49" name="Text 48"/>
          <p:cNvSpPr txBox="1"/>
          <p:nvPr/>
        </p:nvSpPr>
        <p:spPr>
          <a:xfrm>
            <a:off x="8138160" y="4599432"/>
            <a:ext cx="3035808" cy="274320"/>
          </a:xfrm>
          <a:prstGeom prst="rect">
            <a:avLst/>
          </a:prstGeom>
          <a:noFill/>
        </p:spPr>
        <p:txBody>
          <a:bodyPr wrap="square" lIns="0" rIns="0" tIns="0" bIns="0" anchor="ctr">
            <a:noAutofit/>
          </a:bodyPr>
          <a:lstStyle/>
          <a:p>
            <a:pPr algn="l">
              <a:lnSpc>
                <a:spcPct val="108000"/>
              </a:lnSpc>
              <a:spcBef>
                <a:spcPts val="0"/>
              </a:spcBef>
              <a:spcAft>
                <a:spcPts val="0"/>
              </a:spcAft>
            </a:pPr>
            <a:r>
              <a:rPr sz="1070" b="0">
                <a:solidFill>
                  <a:srgbClr val="D5DFF0"/>
                </a:solidFill>
                <a:latin typeface="Arial"/>
              </a:rPr>
              <a:t>Then: Completed or Cancelled</a:t>
            </a:r>
          </a:p>
        </p:txBody>
      </p:sp>
      <p:sp>
        <p:nvSpPr>
          <p:cNvPr id="50" name="Shape 49"/>
          <p:cNvSpPr/>
          <p:nvPr/>
        </p:nvSpPr>
        <p:spPr>
          <a:xfrm>
            <a:off x="8129016" y="5074920"/>
            <a:ext cx="3044952" cy="557784"/>
          </a:xfrm>
          <a:prstGeom prst="roundRect">
            <a:avLst>
              <a:gd name="adj" fmla="val 16393"/>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 50"/>
          <p:cNvSpPr txBox="1"/>
          <p:nvPr/>
        </p:nvSpPr>
        <p:spPr>
          <a:xfrm>
            <a:off x="8275320" y="5193792"/>
            <a:ext cx="2770632" cy="283464"/>
          </a:xfrm>
          <a:prstGeom prst="rect">
            <a:avLst/>
          </a:prstGeom>
          <a:noFill/>
        </p:spPr>
        <p:txBody>
          <a:bodyPr wrap="none" lIns="0" rIns="0" tIns="0" bIns="0" anchor="ctr">
            <a:noAutofit/>
          </a:bodyPr>
          <a:lstStyle/>
          <a:p>
            <a:pPr algn="ctr">
              <a:lnSpc>
                <a:spcPct val="108000"/>
              </a:lnSpc>
              <a:spcBef>
                <a:spcPts val="0"/>
              </a:spcBef>
              <a:spcAft>
                <a:spcPts val="0"/>
              </a:spcAft>
            </a:pPr>
            <a:r>
              <a:rPr sz="1010" b="1">
                <a:solidFill>
                  <a:srgbClr val="FFE2A1"/>
                </a:solidFill>
                <a:latin typeface="Arial"/>
              </a:rPr>
              <a:t>₦ estimate  ·  not an online payment</a:t>
            </a:r>
          </a:p>
        </p:txBody>
      </p:sp>
      <p:sp>
        <p:nvSpPr>
          <p:cNvPr id="52" name="Text 51"/>
          <p:cNvSpPr txBox="1"/>
          <p:nvPr/>
        </p:nvSpPr>
        <p:spPr>
          <a:xfrm>
            <a:off x="713232" y="6126480"/>
            <a:ext cx="10698480" cy="155448"/>
          </a:xfrm>
          <a:prstGeom prst="rect">
            <a:avLst/>
          </a:prstGeom>
          <a:noFill/>
        </p:spPr>
        <p:txBody>
          <a:bodyPr wrap="none" lIns="0" rIns="0" tIns="0" bIns="0" anchor="t">
            <a:noAutofit/>
          </a:bodyPr>
          <a:lstStyle/>
          <a:p>
            <a:pPr algn="l">
              <a:lnSpc>
                <a:spcPct val="108000"/>
              </a:lnSpc>
              <a:spcBef>
                <a:spcPts val="0"/>
              </a:spcBef>
              <a:spcAft>
                <a:spcPts val="0"/>
              </a:spcAft>
            </a:pPr>
            <a:r>
              <a:rPr sz="910" b="0">
                <a:solidFill>
                  <a:srgbClr val="63718A"/>
                </a:solidFill>
                <a:latin typeface="Arial"/>
              </a:rPr>
              <a:t>The estimate is calculated from the tutor's rate and selected duration; no payment gateway is represented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04  /  BACKEND &amp; API INTEGRATION</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Bodman Ebuka Precous</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Backend routes connect interface and data</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API layer receives actions, checks request data and routes them to the relevant service.</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08  /  15</a:t>
            </a:r>
          </a:p>
        </p:txBody>
      </p:sp>
      <p:sp>
        <p:nvSpPr>
          <p:cNvPr id="11" name="Shape 10"/>
          <p:cNvSpPr/>
          <p:nvPr/>
        </p:nvSpPr>
        <p:spPr>
          <a:xfrm>
            <a:off x="708660" y="2061972"/>
            <a:ext cx="2286000" cy="3054096"/>
          </a:xfrm>
          <a:prstGeom prst="roundRect">
            <a:avLst>
              <a:gd name="adj" fmla="val 64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67512" y="2011680"/>
            <a:ext cx="2286000" cy="3054096"/>
          </a:xfrm>
          <a:prstGeom prst="roundRect">
            <a:avLst>
              <a:gd name="adj" fmla="val 64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1453896" y="2313432"/>
            <a:ext cx="685800" cy="685800"/>
          </a:xfrm>
          <a:prstGeom prst="ellipse">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1453896" y="2331720"/>
            <a:ext cx="685800" cy="630936"/>
          </a:xfrm>
          <a:prstGeom prst="rect">
            <a:avLst/>
          </a:prstGeom>
          <a:noFill/>
        </p:spPr>
        <p:txBody>
          <a:bodyPr wrap="none" lIns="0" rIns="0" tIns="0" bIns="0" anchor="ctr">
            <a:noAutofit/>
          </a:bodyPr>
          <a:lstStyle/>
          <a:p>
            <a:pPr algn="ctr">
              <a:lnSpc>
                <a:spcPct val="108000"/>
              </a:lnSpc>
              <a:spcBef>
                <a:spcPts val="0"/>
              </a:spcBef>
              <a:spcAft>
                <a:spcPts val="0"/>
              </a:spcAft>
            </a:pPr>
            <a:r>
              <a:rPr sz="1800" b="1">
                <a:solidFill>
                  <a:srgbClr val="1E3A8A"/>
                </a:solidFill>
                <a:latin typeface="Arial"/>
              </a:rPr>
              <a:t>UI</a:t>
            </a:r>
          </a:p>
        </p:txBody>
      </p:sp>
      <p:sp>
        <p:nvSpPr>
          <p:cNvPr id="15" name="Text 14"/>
          <p:cNvSpPr txBox="1"/>
          <p:nvPr/>
        </p:nvSpPr>
        <p:spPr>
          <a:xfrm>
            <a:off x="941832" y="3172968"/>
            <a:ext cx="1755648" cy="274320"/>
          </a:xfrm>
          <a:prstGeom prst="rect">
            <a:avLst/>
          </a:prstGeom>
          <a:noFill/>
        </p:spPr>
        <p:txBody>
          <a:bodyPr wrap="none" lIns="0" rIns="0" tIns="0" bIns="0" anchor="ctr">
            <a:noAutofit/>
          </a:bodyPr>
          <a:lstStyle/>
          <a:p>
            <a:pPr algn="ctr">
              <a:lnSpc>
                <a:spcPct val="108000"/>
              </a:lnSpc>
              <a:spcBef>
                <a:spcPts val="0"/>
              </a:spcBef>
              <a:spcAft>
                <a:spcPts val="0"/>
              </a:spcAft>
            </a:pPr>
            <a:r>
              <a:rPr sz="1420" b="1">
                <a:solidFill>
                  <a:srgbClr val="0B1733"/>
                </a:solidFill>
                <a:latin typeface="Arial"/>
              </a:rPr>
              <a:t>Next.js frontend</a:t>
            </a:r>
          </a:p>
        </p:txBody>
      </p:sp>
      <p:sp>
        <p:nvSpPr>
          <p:cNvPr id="16" name="Text 15"/>
          <p:cNvSpPr txBox="1"/>
          <p:nvPr/>
        </p:nvSpPr>
        <p:spPr>
          <a:xfrm>
            <a:off x="923544" y="3584448"/>
            <a:ext cx="1792224" cy="777240"/>
          </a:xfrm>
          <a:prstGeom prst="rect">
            <a:avLst/>
          </a:prstGeom>
          <a:noFill/>
        </p:spPr>
        <p:txBody>
          <a:bodyPr wrap="square" lIns="0" rIns="0" tIns="0" bIns="0" anchor="ctr">
            <a:noAutofit/>
          </a:bodyPr>
          <a:lstStyle/>
          <a:p>
            <a:pPr algn="ctr">
              <a:lnSpc>
                <a:spcPct val="113000"/>
              </a:lnSpc>
              <a:spcBef>
                <a:spcPts val="0"/>
              </a:spcBef>
              <a:spcAft>
                <a:spcPts val="0"/>
              </a:spcAft>
            </a:pPr>
            <a:r>
              <a:rPr sz="1060" b="0">
                <a:solidFill>
                  <a:srgbClr val="63718A"/>
                </a:solidFill>
                <a:latin typeface="Arial"/>
              </a:rPr>
              <a:t>Students · parents</a:t>
            </a:r>
          </a:p>
          <a:p>
            <a:pPr algn="ctr">
              <a:lnSpc>
                <a:spcPct val="113000"/>
              </a:lnSpc>
              <a:spcBef>
                <a:spcPts val="0"/>
              </a:spcBef>
              <a:spcAft>
                <a:spcPts val="0"/>
              </a:spcAft>
            </a:pPr>
            <a:r>
              <a:rPr sz="1060" b="0">
                <a:solidFill>
                  <a:srgbClr val="63718A"/>
                </a:solidFill>
                <a:latin typeface="Arial"/>
              </a:rPr>
              <a:t>Tutors · admins</a:t>
            </a:r>
          </a:p>
          <a:p>
            <a:pPr algn="ctr">
              <a:lnSpc>
                <a:spcPct val="113000"/>
              </a:lnSpc>
              <a:spcBef>
                <a:spcPts val="0"/>
              </a:spcBef>
              <a:spcAft>
                <a:spcPts val="0"/>
              </a:spcAft>
            </a:pPr>
            <a:r>
              <a:rPr sz="1060" b="0">
                <a:solidFill>
                  <a:srgbClr val="63718A"/>
                </a:solidFill>
                <a:latin typeface="Arial"/>
              </a:rPr>
              <a:t>Browser interactions</a:t>
            </a:r>
          </a:p>
        </p:txBody>
      </p:sp>
      <p:sp>
        <p:nvSpPr>
          <p:cNvPr id="17" name="Shape 16"/>
          <p:cNvSpPr/>
          <p:nvPr/>
        </p:nvSpPr>
        <p:spPr>
          <a:xfrm>
            <a:off x="1042415" y="4617720"/>
            <a:ext cx="1554480" cy="256032"/>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1106424" y="4636007"/>
            <a:ext cx="1426464" cy="219456"/>
          </a:xfrm>
          <a:prstGeom prst="rect">
            <a:avLst/>
          </a:prstGeom>
          <a:noFill/>
        </p:spPr>
        <p:txBody>
          <a:bodyPr wrap="none" lIns="0" rIns="0" tIns="0" bIns="0" anchor="ctr">
            <a:noAutofit/>
          </a:bodyPr>
          <a:lstStyle/>
          <a:p>
            <a:pPr algn="ctr">
              <a:lnSpc>
                <a:spcPct val="108000"/>
              </a:lnSpc>
              <a:spcBef>
                <a:spcPts val="0"/>
              </a:spcBef>
              <a:spcAft>
                <a:spcPts val="0"/>
              </a:spcAft>
            </a:pPr>
            <a:r>
              <a:rPr sz="819" b="1">
                <a:solidFill>
                  <a:srgbClr val="1E3A8A"/>
                </a:solidFill>
                <a:latin typeface="Arial"/>
              </a:rPr>
              <a:t>REQUEST / RESPONSE</a:t>
            </a:r>
          </a:p>
        </p:txBody>
      </p:sp>
      <p:sp>
        <p:nvSpPr>
          <p:cNvPr id="19" name="Shape 18"/>
          <p:cNvSpPr/>
          <p:nvPr/>
        </p:nvSpPr>
        <p:spPr>
          <a:xfrm>
            <a:off x="3456432" y="1865376"/>
            <a:ext cx="4855464" cy="3383280"/>
          </a:xfrm>
          <a:prstGeom prst="roundRect">
            <a:avLst>
              <a:gd name="adj" fmla="val 60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3749039" y="2112264"/>
            <a:ext cx="4242816" cy="237744"/>
          </a:xfrm>
          <a:prstGeom prst="rect">
            <a:avLst/>
          </a:prstGeom>
          <a:noFill/>
        </p:spPr>
        <p:txBody>
          <a:bodyPr wrap="none" lIns="0" rIns="0" tIns="0" bIns="0" anchor="t">
            <a:noAutofit/>
          </a:bodyPr>
          <a:lstStyle/>
          <a:p>
            <a:pPr algn="l">
              <a:lnSpc>
                <a:spcPct val="108000"/>
              </a:lnSpc>
              <a:spcBef>
                <a:spcPts val="0"/>
              </a:spcBef>
              <a:spcAft>
                <a:spcPts val="0"/>
              </a:spcAft>
            </a:pPr>
            <a:r>
              <a:rPr sz="940" b="1">
                <a:solidFill>
                  <a:srgbClr val="B9C9E2"/>
                </a:solidFill>
                <a:latin typeface="Arial"/>
              </a:rPr>
              <a:t>NEXT.JS SERVER-SIDE API ROUTES</a:t>
            </a:r>
          </a:p>
        </p:txBody>
      </p:sp>
      <p:sp>
        <p:nvSpPr>
          <p:cNvPr id="21" name="Shape 20"/>
          <p:cNvSpPr/>
          <p:nvPr/>
        </p:nvSpPr>
        <p:spPr>
          <a:xfrm>
            <a:off x="3739896" y="2532888"/>
            <a:ext cx="1609344" cy="310896"/>
          </a:xfrm>
          <a:prstGeom prst="roundRect">
            <a:avLst>
              <a:gd name="adj" fmla="val 23529"/>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3822191" y="2551176"/>
            <a:ext cx="1444752" cy="246888"/>
          </a:xfrm>
          <a:prstGeom prst="rect">
            <a:avLst/>
          </a:prstGeom>
          <a:noFill/>
        </p:spPr>
        <p:txBody>
          <a:bodyPr wrap="none" lIns="0" rIns="0" tIns="0" bIns="0" anchor="ctr">
            <a:noAutofit/>
          </a:bodyPr>
          <a:lstStyle/>
          <a:p>
            <a:pPr algn="l">
              <a:lnSpc>
                <a:spcPct val="108000"/>
              </a:lnSpc>
              <a:spcBef>
                <a:spcPts val="0"/>
              </a:spcBef>
              <a:spcAft>
                <a:spcPts val="0"/>
              </a:spcAft>
            </a:pPr>
            <a:r>
              <a:rPr sz="900" b="1">
                <a:solidFill>
                  <a:srgbClr val="E5EEFA"/>
                </a:solidFill>
                <a:latin typeface="Arial"/>
              </a:rPr>
              <a:t>/api/auth</a:t>
            </a:r>
          </a:p>
        </p:txBody>
      </p:sp>
      <p:sp>
        <p:nvSpPr>
          <p:cNvPr id="23" name="Text 22"/>
          <p:cNvSpPr txBox="1"/>
          <p:nvPr/>
        </p:nvSpPr>
        <p:spPr>
          <a:xfrm>
            <a:off x="5513832" y="2551176"/>
            <a:ext cx="2395728" cy="256032"/>
          </a:xfrm>
          <a:prstGeom prst="rect">
            <a:avLst/>
          </a:prstGeom>
          <a:noFill/>
        </p:spPr>
        <p:txBody>
          <a:bodyPr wrap="none" lIns="0" rIns="0" tIns="0" bIns="0" anchor="ctr">
            <a:noAutofit/>
          </a:bodyPr>
          <a:lstStyle/>
          <a:p>
            <a:pPr algn="l">
              <a:lnSpc>
                <a:spcPct val="108000"/>
              </a:lnSpc>
              <a:spcBef>
                <a:spcPts val="0"/>
              </a:spcBef>
              <a:spcAft>
                <a:spcPts val="0"/>
              </a:spcAft>
            </a:pPr>
            <a:r>
              <a:rPr sz="1019" b="0">
                <a:solidFill>
                  <a:srgbClr val="FFFFFF"/>
                </a:solidFill>
                <a:latin typeface="Arial"/>
              </a:rPr>
              <a:t>Register &amp; login</a:t>
            </a:r>
          </a:p>
        </p:txBody>
      </p:sp>
      <p:cxnSp>
        <p:nvCxnSpPr>
          <p:cNvPr id="24" name="Connector 23"/>
          <p:cNvCxnSpPr/>
          <p:nvPr/>
        </p:nvCxnSpPr>
        <p:spPr>
          <a:xfrm>
            <a:off x="3749039" y="2907792"/>
            <a:ext cx="4242817" cy="0"/>
          </a:xfrm>
          <a:prstGeom prst="line">
            <a:avLst/>
          </a:prstGeom>
          <a:ln w="8255">
            <a:solidFill>
              <a:srgbClr val="30466A"/>
            </a:solidFill>
          </a:ln>
        </p:spPr>
        <p:style>
          <a:lnRef idx="2">
            <a:schemeClr val="accent1"/>
          </a:lnRef>
          <a:fillRef idx="0">
            <a:schemeClr val="accent1"/>
          </a:fillRef>
          <a:effectRef idx="1">
            <a:schemeClr val="accent1"/>
          </a:effectRef>
          <a:fontRef idx="minor">
            <a:schemeClr val="tx1"/>
          </a:fontRef>
        </p:style>
      </p:cxnSp>
      <p:sp>
        <p:nvSpPr>
          <p:cNvPr id="25" name="Shape 24"/>
          <p:cNvSpPr/>
          <p:nvPr/>
        </p:nvSpPr>
        <p:spPr>
          <a:xfrm>
            <a:off x="3739896" y="2971800"/>
            <a:ext cx="1609344" cy="310896"/>
          </a:xfrm>
          <a:prstGeom prst="roundRect">
            <a:avLst>
              <a:gd name="adj" fmla="val 23529"/>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5"/>
          <p:cNvSpPr txBox="1"/>
          <p:nvPr/>
        </p:nvSpPr>
        <p:spPr>
          <a:xfrm>
            <a:off x="3822191" y="2990088"/>
            <a:ext cx="1444752" cy="246888"/>
          </a:xfrm>
          <a:prstGeom prst="rect">
            <a:avLst/>
          </a:prstGeom>
          <a:noFill/>
        </p:spPr>
        <p:txBody>
          <a:bodyPr wrap="none" lIns="0" rIns="0" tIns="0" bIns="0" anchor="ctr">
            <a:noAutofit/>
          </a:bodyPr>
          <a:lstStyle/>
          <a:p>
            <a:pPr algn="l">
              <a:lnSpc>
                <a:spcPct val="108000"/>
              </a:lnSpc>
              <a:spcBef>
                <a:spcPts val="0"/>
              </a:spcBef>
              <a:spcAft>
                <a:spcPts val="0"/>
              </a:spcAft>
            </a:pPr>
            <a:r>
              <a:rPr sz="900" b="1">
                <a:solidFill>
                  <a:srgbClr val="E5EEFA"/>
                </a:solidFill>
                <a:latin typeface="Arial"/>
              </a:rPr>
              <a:t>/api/tutors</a:t>
            </a:r>
          </a:p>
        </p:txBody>
      </p:sp>
      <p:sp>
        <p:nvSpPr>
          <p:cNvPr id="27" name="Text 26"/>
          <p:cNvSpPr txBox="1"/>
          <p:nvPr/>
        </p:nvSpPr>
        <p:spPr>
          <a:xfrm>
            <a:off x="5513832" y="2990088"/>
            <a:ext cx="2395728" cy="256032"/>
          </a:xfrm>
          <a:prstGeom prst="rect">
            <a:avLst/>
          </a:prstGeom>
          <a:noFill/>
        </p:spPr>
        <p:txBody>
          <a:bodyPr wrap="none" lIns="0" rIns="0" tIns="0" bIns="0" anchor="ctr">
            <a:noAutofit/>
          </a:bodyPr>
          <a:lstStyle/>
          <a:p>
            <a:pPr algn="l">
              <a:lnSpc>
                <a:spcPct val="108000"/>
              </a:lnSpc>
              <a:spcBef>
                <a:spcPts val="0"/>
              </a:spcBef>
              <a:spcAft>
                <a:spcPts val="0"/>
              </a:spcAft>
            </a:pPr>
            <a:r>
              <a:rPr sz="1019" b="0">
                <a:solidFill>
                  <a:srgbClr val="FFFFFF"/>
                </a:solidFill>
                <a:latin typeface="Arial"/>
              </a:rPr>
              <a:t>Search &amp; profiles</a:t>
            </a:r>
          </a:p>
        </p:txBody>
      </p:sp>
      <p:cxnSp>
        <p:nvCxnSpPr>
          <p:cNvPr id="28" name="Connector 27"/>
          <p:cNvCxnSpPr/>
          <p:nvPr/>
        </p:nvCxnSpPr>
        <p:spPr>
          <a:xfrm>
            <a:off x="3749039" y="3346704"/>
            <a:ext cx="4242817" cy="0"/>
          </a:xfrm>
          <a:prstGeom prst="line">
            <a:avLst/>
          </a:prstGeom>
          <a:ln w="8255">
            <a:solidFill>
              <a:srgbClr val="30466A"/>
            </a:solidFill>
          </a:ln>
        </p:spPr>
        <p:style>
          <a:lnRef idx="2">
            <a:schemeClr val="accent1"/>
          </a:lnRef>
          <a:fillRef idx="0">
            <a:schemeClr val="accent1"/>
          </a:fillRef>
          <a:effectRef idx="1">
            <a:schemeClr val="accent1"/>
          </a:effectRef>
          <a:fontRef idx="minor">
            <a:schemeClr val="tx1"/>
          </a:fontRef>
        </p:style>
      </p:cxnSp>
      <p:sp>
        <p:nvSpPr>
          <p:cNvPr id="29" name="Shape 28"/>
          <p:cNvSpPr/>
          <p:nvPr/>
        </p:nvSpPr>
        <p:spPr>
          <a:xfrm>
            <a:off x="3739896" y="3410712"/>
            <a:ext cx="1609344" cy="310896"/>
          </a:xfrm>
          <a:prstGeom prst="roundRect">
            <a:avLst>
              <a:gd name="adj" fmla="val 23529"/>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29"/>
          <p:cNvSpPr txBox="1"/>
          <p:nvPr/>
        </p:nvSpPr>
        <p:spPr>
          <a:xfrm>
            <a:off x="3822191" y="3429000"/>
            <a:ext cx="1444752" cy="246888"/>
          </a:xfrm>
          <a:prstGeom prst="rect">
            <a:avLst/>
          </a:prstGeom>
          <a:noFill/>
        </p:spPr>
        <p:txBody>
          <a:bodyPr wrap="none" lIns="0" rIns="0" tIns="0" bIns="0" anchor="ctr">
            <a:noAutofit/>
          </a:bodyPr>
          <a:lstStyle/>
          <a:p>
            <a:pPr algn="l">
              <a:lnSpc>
                <a:spcPct val="108000"/>
              </a:lnSpc>
              <a:spcBef>
                <a:spcPts val="0"/>
              </a:spcBef>
              <a:spcAft>
                <a:spcPts val="0"/>
              </a:spcAft>
            </a:pPr>
            <a:r>
              <a:rPr sz="900" b="1">
                <a:solidFill>
                  <a:srgbClr val="E5EEFA"/>
                </a:solidFill>
                <a:latin typeface="Arial"/>
              </a:rPr>
              <a:t>/api/bookings</a:t>
            </a:r>
          </a:p>
        </p:txBody>
      </p:sp>
      <p:sp>
        <p:nvSpPr>
          <p:cNvPr id="31" name="Text 30"/>
          <p:cNvSpPr txBox="1"/>
          <p:nvPr/>
        </p:nvSpPr>
        <p:spPr>
          <a:xfrm>
            <a:off x="5513832" y="3429000"/>
            <a:ext cx="2395728" cy="256032"/>
          </a:xfrm>
          <a:prstGeom prst="rect">
            <a:avLst/>
          </a:prstGeom>
          <a:noFill/>
        </p:spPr>
        <p:txBody>
          <a:bodyPr wrap="none" lIns="0" rIns="0" tIns="0" bIns="0" anchor="ctr">
            <a:noAutofit/>
          </a:bodyPr>
          <a:lstStyle/>
          <a:p>
            <a:pPr algn="l">
              <a:lnSpc>
                <a:spcPct val="108000"/>
              </a:lnSpc>
              <a:spcBef>
                <a:spcPts val="0"/>
              </a:spcBef>
              <a:spcAft>
                <a:spcPts val="0"/>
              </a:spcAft>
            </a:pPr>
            <a:r>
              <a:rPr sz="1019" b="0">
                <a:solidFill>
                  <a:srgbClr val="FFFFFF"/>
                </a:solidFill>
                <a:latin typeface="Arial"/>
              </a:rPr>
              <a:t>Create &amp; update requests</a:t>
            </a:r>
          </a:p>
        </p:txBody>
      </p:sp>
      <p:cxnSp>
        <p:nvCxnSpPr>
          <p:cNvPr id="32" name="Connector 31"/>
          <p:cNvCxnSpPr/>
          <p:nvPr/>
        </p:nvCxnSpPr>
        <p:spPr>
          <a:xfrm>
            <a:off x="3749039" y="3785615"/>
            <a:ext cx="4242817" cy="0"/>
          </a:xfrm>
          <a:prstGeom prst="line">
            <a:avLst/>
          </a:prstGeom>
          <a:ln w="8255">
            <a:solidFill>
              <a:srgbClr val="30466A"/>
            </a:solidFill>
          </a:ln>
        </p:spPr>
        <p:style>
          <a:lnRef idx="2">
            <a:schemeClr val="accent1"/>
          </a:lnRef>
          <a:fillRef idx="0">
            <a:schemeClr val="accent1"/>
          </a:fillRef>
          <a:effectRef idx="1">
            <a:schemeClr val="accent1"/>
          </a:effectRef>
          <a:fontRef idx="minor">
            <a:schemeClr val="tx1"/>
          </a:fontRef>
        </p:style>
      </p:cxnSp>
      <p:sp>
        <p:nvSpPr>
          <p:cNvPr id="33" name="Shape 32"/>
          <p:cNvSpPr/>
          <p:nvPr/>
        </p:nvSpPr>
        <p:spPr>
          <a:xfrm>
            <a:off x="3739896" y="3849624"/>
            <a:ext cx="1609344" cy="310896"/>
          </a:xfrm>
          <a:prstGeom prst="roundRect">
            <a:avLst>
              <a:gd name="adj" fmla="val 23529"/>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33"/>
          <p:cNvSpPr txBox="1"/>
          <p:nvPr/>
        </p:nvSpPr>
        <p:spPr>
          <a:xfrm>
            <a:off x="3822191" y="3867911"/>
            <a:ext cx="1444752" cy="246888"/>
          </a:xfrm>
          <a:prstGeom prst="rect">
            <a:avLst/>
          </a:prstGeom>
          <a:noFill/>
        </p:spPr>
        <p:txBody>
          <a:bodyPr wrap="none" lIns="0" rIns="0" tIns="0" bIns="0" anchor="ctr">
            <a:noAutofit/>
          </a:bodyPr>
          <a:lstStyle/>
          <a:p>
            <a:pPr algn="l">
              <a:lnSpc>
                <a:spcPct val="108000"/>
              </a:lnSpc>
              <a:spcBef>
                <a:spcPts val="0"/>
              </a:spcBef>
              <a:spcAft>
                <a:spcPts val="0"/>
              </a:spcAft>
            </a:pPr>
            <a:r>
              <a:rPr sz="900" b="1">
                <a:solidFill>
                  <a:srgbClr val="E5EEFA"/>
                </a:solidFill>
                <a:latin typeface="Arial"/>
              </a:rPr>
              <a:t>/api/reviews</a:t>
            </a:r>
          </a:p>
        </p:txBody>
      </p:sp>
      <p:sp>
        <p:nvSpPr>
          <p:cNvPr id="35" name="Text 34"/>
          <p:cNvSpPr txBox="1"/>
          <p:nvPr/>
        </p:nvSpPr>
        <p:spPr>
          <a:xfrm>
            <a:off x="5513832" y="3867911"/>
            <a:ext cx="2395728" cy="256032"/>
          </a:xfrm>
          <a:prstGeom prst="rect">
            <a:avLst/>
          </a:prstGeom>
          <a:noFill/>
        </p:spPr>
        <p:txBody>
          <a:bodyPr wrap="none" lIns="0" rIns="0" tIns="0" bIns="0" anchor="ctr">
            <a:noAutofit/>
          </a:bodyPr>
          <a:lstStyle/>
          <a:p>
            <a:pPr algn="l">
              <a:lnSpc>
                <a:spcPct val="108000"/>
              </a:lnSpc>
              <a:spcBef>
                <a:spcPts val="0"/>
              </a:spcBef>
              <a:spcAft>
                <a:spcPts val="0"/>
              </a:spcAft>
            </a:pPr>
            <a:r>
              <a:rPr sz="1019" b="0">
                <a:solidFill>
                  <a:srgbClr val="FFFFFF"/>
                </a:solidFill>
                <a:latin typeface="Arial"/>
              </a:rPr>
              <a:t>Ratings &amp; feedback</a:t>
            </a:r>
          </a:p>
        </p:txBody>
      </p:sp>
      <p:cxnSp>
        <p:nvCxnSpPr>
          <p:cNvPr id="36" name="Connector 35"/>
          <p:cNvCxnSpPr/>
          <p:nvPr/>
        </p:nvCxnSpPr>
        <p:spPr>
          <a:xfrm>
            <a:off x="3749039" y="4224528"/>
            <a:ext cx="4242817" cy="0"/>
          </a:xfrm>
          <a:prstGeom prst="line">
            <a:avLst/>
          </a:prstGeom>
          <a:ln w="8255">
            <a:solidFill>
              <a:srgbClr val="30466A"/>
            </a:solidFill>
          </a:ln>
        </p:spPr>
        <p:style>
          <a:lnRef idx="2">
            <a:schemeClr val="accent1"/>
          </a:lnRef>
          <a:fillRef idx="0">
            <a:schemeClr val="accent1"/>
          </a:fillRef>
          <a:effectRef idx="1">
            <a:schemeClr val="accent1"/>
          </a:effectRef>
          <a:fontRef idx="minor">
            <a:schemeClr val="tx1"/>
          </a:fontRef>
        </p:style>
      </p:cxnSp>
      <p:sp>
        <p:nvSpPr>
          <p:cNvPr id="37" name="Shape 36"/>
          <p:cNvSpPr/>
          <p:nvPr/>
        </p:nvSpPr>
        <p:spPr>
          <a:xfrm>
            <a:off x="3739896" y="4288536"/>
            <a:ext cx="1609344" cy="310896"/>
          </a:xfrm>
          <a:prstGeom prst="roundRect">
            <a:avLst>
              <a:gd name="adj" fmla="val 23529"/>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3822191" y="4306823"/>
            <a:ext cx="1444752" cy="246888"/>
          </a:xfrm>
          <a:prstGeom prst="rect">
            <a:avLst/>
          </a:prstGeom>
          <a:noFill/>
        </p:spPr>
        <p:txBody>
          <a:bodyPr wrap="none" lIns="0" rIns="0" tIns="0" bIns="0" anchor="ctr">
            <a:noAutofit/>
          </a:bodyPr>
          <a:lstStyle/>
          <a:p>
            <a:pPr algn="l">
              <a:lnSpc>
                <a:spcPct val="108000"/>
              </a:lnSpc>
              <a:spcBef>
                <a:spcPts val="0"/>
              </a:spcBef>
              <a:spcAft>
                <a:spcPts val="0"/>
              </a:spcAft>
            </a:pPr>
            <a:r>
              <a:rPr sz="900" b="1">
                <a:solidFill>
                  <a:srgbClr val="E5EEFA"/>
                </a:solidFill>
                <a:latin typeface="Arial"/>
              </a:rPr>
              <a:t>/api/messages</a:t>
            </a:r>
          </a:p>
        </p:txBody>
      </p:sp>
      <p:sp>
        <p:nvSpPr>
          <p:cNvPr id="39" name="Text 38"/>
          <p:cNvSpPr txBox="1"/>
          <p:nvPr/>
        </p:nvSpPr>
        <p:spPr>
          <a:xfrm>
            <a:off x="5513832" y="4306823"/>
            <a:ext cx="2395728" cy="256032"/>
          </a:xfrm>
          <a:prstGeom prst="rect">
            <a:avLst/>
          </a:prstGeom>
          <a:noFill/>
        </p:spPr>
        <p:txBody>
          <a:bodyPr wrap="none" lIns="0" rIns="0" tIns="0" bIns="0" anchor="ctr">
            <a:noAutofit/>
          </a:bodyPr>
          <a:lstStyle/>
          <a:p>
            <a:pPr algn="l">
              <a:lnSpc>
                <a:spcPct val="108000"/>
              </a:lnSpc>
              <a:spcBef>
                <a:spcPts val="0"/>
              </a:spcBef>
              <a:spcAft>
                <a:spcPts val="0"/>
              </a:spcAft>
            </a:pPr>
            <a:r>
              <a:rPr sz="1019" b="0">
                <a:solidFill>
                  <a:srgbClr val="FFFFFF"/>
                </a:solidFill>
                <a:latin typeface="Arial"/>
              </a:rPr>
              <a:t>Private conversations</a:t>
            </a:r>
          </a:p>
        </p:txBody>
      </p:sp>
      <p:sp>
        <p:nvSpPr>
          <p:cNvPr id="40" name="Shape 39"/>
          <p:cNvSpPr/>
          <p:nvPr/>
        </p:nvSpPr>
        <p:spPr>
          <a:xfrm>
            <a:off x="4599432" y="4800600"/>
            <a:ext cx="2578608" cy="274320"/>
          </a:xfrm>
          <a:prstGeom prst="roundRect">
            <a:avLst>
              <a:gd name="adj" fmla="val 28000"/>
            </a:avLst>
          </a:prstGeom>
          <a:solidFill>
            <a:srgbClr val="173861"/>
          </a:solidFill>
          <a:ln w="8890">
            <a:solidFill>
              <a:srgbClr val="2C53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40"/>
          <p:cNvSpPr txBox="1"/>
          <p:nvPr/>
        </p:nvSpPr>
        <p:spPr>
          <a:xfrm>
            <a:off x="4663440" y="4818888"/>
            <a:ext cx="2450591" cy="237744"/>
          </a:xfrm>
          <a:prstGeom prst="rect">
            <a:avLst/>
          </a:prstGeom>
          <a:noFill/>
        </p:spPr>
        <p:txBody>
          <a:bodyPr wrap="none" lIns="0" rIns="0" tIns="0" bIns="0" anchor="ctr">
            <a:noAutofit/>
          </a:bodyPr>
          <a:lstStyle/>
          <a:p>
            <a:pPr algn="ctr">
              <a:lnSpc>
                <a:spcPct val="108000"/>
              </a:lnSpc>
              <a:spcBef>
                <a:spcPts val="0"/>
              </a:spcBef>
              <a:spcAft>
                <a:spcPts val="0"/>
              </a:spcAft>
            </a:pPr>
            <a:r>
              <a:rPr sz="800" b="1">
                <a:solidFill>
                  <a:srgbClr val="A8F2D5"/>
                </a:solidFill>
                <a:latin typeface="Arial"/>
              </a:rPr>
              <a:t>AUTHENTICATE  ·  VALIDATE  ·  ROUTE</a:t>
            </a:r>
          </a:p>
        </p:txBody>
      </p:sp>
      <p:sp>
        <p:nvSpPr>
          <p:cNvPr id="42" name="Shape 41"/>
          <p:cNvSpPr/>
          <p:nvPr/>
        </p:nvSpPr>
        <p:spPr>
          <a:xfrm>
            <a:off x="8865108" y="2061972"/>
            <a:ext cx="2679192" cy="3054096"/>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hape 42"/>
          <p:cNvSpPr/>
          <p:nvPr/>
        </p:nvSpPr>
        <p:spPr>
          <a:xfrm>
            <a:off x="8823960" y="2011680"/>
            <a:ext cx="2679192" cy="3054096"/>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ircle 43"/>
          <p:cNvSpPr/>
          <p:nvPr/>
        </p:nvSpPr>
        <p:spPr>
          <a:xfrm>
            <a:off x="9692640" y="2313432"/>
            <a:ext cx="822960" cy="822960"/>
          </a:xfrm>
          <a:prstGeom prst="ellipse">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44"/>
          <p:cNvSpPr txBox="1"/>
          <p:nvPr/>
        </p:nvSpPr>
        <p:spPr>
          <a:xfrm>
            <a:off x="9692640" y="2331720"/>
            <a:ext cx="822960" cy="758952"/>
          </a:xfrm>
          <a:prstGeom prst="rect">
            <a:avLst/>
          </a:prstGeom>
          <a:noFill/>
        </p:spPr>
        <p:txBody>
          <a:bodyPr wrap="none" lIns="0" rIns="0" tIns="0" bIns="0" anchor="ctr">
            <a:noAutofit/>
          </a:bodyPr>
          <a:lstStyle/>
          <a:p>
            <a:pPr algn="ctr">
              <a:lnSpc>
                <a:spcPct val="108000"/>
              </a:lnSpc>
              <a:spcBef>
                <a:spcPts val="0"/>
              </a:spcBef>
              <a:spcAft>
                <a:spcPts val="0"/>
              </a:spcAft>
            </a:pPr>
            <a:r>
              <a:rPr sz="1800" b="1">
                <a:solidFill>
                  <a:srgbClr val="087A58"/>
                </a:solidFill>
                <a:latin typeface="Arial"/>
              </a:rPr>
              <a:t>DB</a:t>
            </a:r>
          </a:p>
        </p:txBody>
      </p:sp>
      <p:sp>
        <p:nvSpPr>
          <p:cNvPr id="46" name="Text 45"/>
          <p:cNvSpPr txBox="1"/>
          <p:nvPr/>
        </p:nvSpPr>
        <p:spPr>
          <a:xfrm>
            <a:off x="9226296" y="3282696"/>
            <a:ext cx="1847088" cy="274320"/>
          </a:xfrm>
          <a:prstGeom prst="rect">
            <a:avLst/>
          </a:prstGeom>
          <a:noFill/>
        </p:spPr>
        <p:txBody>
          <a:bodyPr wrap="none" lIns="0" rIns="0" tIns="0" bIns="0" anchor="ctr">
            <a:noAutofit/>
          </a:bodyPr>
          <a:lstStyle/>
          <a:p>
            <a:pPr algn="ctr">
              <a:lnSpc>
                <a:spcPct val="108000"/>
              </a:lnSpc>
              <a:spcBef>
                <a:spcPts val="0"/>
              </a:spcBef>
              <a:spcAft>
                <a:spcPts val="0"/>
              </a:spcAft>
            </a:pPr>
            <a:r>
              <a:rPr sz="1380" b="1">
                <a:solidFill>
                  <a:srgbClr val="0B1733"/>
                </a:solidFill>
                <a:latin typeface="Arial"/>
              </a:rPr>
              <a:t>Neon PostgreSQL</a:t>
            </a:r>
          </a:p>
        </p:txBody>
      </p:sp>
      <p:sp>
        <p:nvSpPr>
          <p:cNvPr id="47" name="Text 46"/>
          <p:cNvSpPr txBox="1"/>
          <p:nvPr/>
        </p:nvSpPr>
        <p:spPr>
          <a:xfrm>
            <a:off x="9125712" y="3712463"/>
            <a:ext cx="2048256" cy="612648"/>
          </a:xfrm>
          <a:prstGeom prst="rect">
            <a:avLst/>
          </a:prstGeom>
          <a:noFill/>
        </p:spPr>
        <p:txBody>
          <a:bodyPr wrap="square" lIns="0" rIns="0" tIns="0" bIns="0" anchor="ctr">
            <a:noAutofit/>
          </a:bodyPr>
          <a:lstStyle/>
          <a:p>
            <a:pPr algn="ctr">
              <a:lnSpc>
                <a:spcPct val="108000"/>
              </a:lnSpc>
              <a:spcBef>
                <a:spcPts val="0"/>
              </a:spcBef>
              <a:spcAft>
                <a:spcPts val="0"/>
              </a:spcAft>
            </a:pPr>
            <a:r>
              <a:rPr sz="1050" b="0">
                <a:solidFill>
                  <a:srgbClr val="63718A"/>
                </a:solidFill>
                <a:latin typeface="Arial"/>
              </a:rPr>
              <a:t>Persistent storage</a:t>
            </a:r>
          </a:p>
          <a:p>
            <a:pPr algn="ctr">
              <a:lnSpc>
                <a:spcPct val="108000"/>
              </a:lnSpc>
              <a:spcBef>
                <a:spcPts val="0"/>
              </a:spcBef>
              <a:spcAft>
                <a:spcPts val="0"/>
              </a:spcAft>
            </a:pPr>
            <a:r>
              <a:rPr sz="1050" b="0">
                <a:solidFill>
                  <a:srgbClr val="63718A"/>
                </a:solidFill>
                <a:latin typeface="Arial"/>
              </a:rPr>
              <a:t>when configured</a:t>
            </a:r>
          </a:p>
        </p:txBody>
      </p:sp>
      <p:sp>
        <p:nvSpPr>
          <p:cNvPr id="48" name="Shape 47"/>
          <p:cNvSpPr/>
          <p:nvPr/>
        </p:nvSpPr>
        <p:spPr>
          <a:xfrm>
            <a:off x="9262872" y="4617720"/>
            <a:ext cx="1828800" cy="256032"/>
          </a:xfrm>
          <a:prstGeom prst="roundRect">
            <a:avLst>
              <a:gd name="adj" fmla="val 28000"/>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48"/>
          <p:cNvSpPr txBox="1"/>
          <p:nvPr/>
        </p:nvSpPr>
        <p:spPr>
          <a:xfrm>
            <a:off x="9326880" y="4636007"/>
            <a:ext cx="1700784" cy="219456"/>
          </a:xfrm>
          <a:prstGeom prst="rect">
            <a:avLst/>
          </a:prstGeom>
          <a:noFill/>
        </p:spPr>
        <p:txBody>
          <a:bodyPr wrap="none" lIns="0" rIns="0" tIns="0" bIns="0" anchor="ctr">
            <a:noAutofit/>
          </a:bodyPr>
          <a:lstStyle/>
          <a:p>
            <a:pPr algn="ctr">
              <a:lnSpc>
                <a:spcPct val="108000"/>
              </a:lnSpc>
              <a:spcBef>
                <a:spcPts val="0"/>
              </a:spcBef>
              <a:spcAft>
                <a:spcPts val="0"/>
              </a:spcAft>
            </a:pPr>
            <a:r>
              <a:rPr sz="810" b="1">
                <a:solidFill>
                  <a:srgbClr val="087A58"/>
                </a:solidFill>
                <a:latin typeface="Arial"/>
              </a:rPr>
              <a:t>DATABASE-BACKED</a:t>
            </a:r>
          </a:p>
        </p:txBody>
      </p:sp>
      <p:cxnSp>
        <p:nvCxnSpPr>
          <p:cNvPr id="50" name="Connector 49"/>
          <p:cNvCxnSpPr/>
          <p:nvPr/>
        </p:nvCxnSpPr>
        <p:spPr>
          <a:xfrm>
            <a:off x="3008376" y="3538728"/>
            <a:ext cx="374904" cy="0"/>
          </a:xfrm>
          <a:prstGeom prst="line">
            <a:avLst/>
          </a:prstGeom>
          <a:ln w="25400">
            <a:solidFill>
              <a:srgbClr val="2563EB"/>
            </a:solidFill>
          </a:ln>
        </p:spPr>
        <p:style>
          <a:lnRef idx="2">
            <a:schemeClr val="accent1"/>
          </a:lnRef>
          <a:fillRef idx="0">
            <a:schemeClr val="accent1"/>
          </a:fillRef>
          <a:effectRef idx="1">
            <a:schemeClr val="accent1"/>
          </a:effectRef>
          <a:fontRef idx="minor">
            <a:schemeClr val="tx1"/>
          </a:fontRef>
        </p:style>
      </p:cxnSp>
      <p:sp>
        <p:nvSpPr>
          <p:cNvPr id="51" name="Text 50"/>
          <p:cNvSpPr txBox="1"/>
          <p:nvPr/>
        </p:nvSpPr>
        <p:spPr>
          <a:xfrm>
            <a:off x="3229660" y="3357676"/>
            <a:ext cx="241401" cy="362102"/>
          </a:xfrm>
          <a:prstGeom prst="rect">
            <a:avLst/>
          </a:prstGeom>
          <a:noFill/>
        </p:spPr>
        <p:txBody>
          <a:bodyPr wrap="none" lIns="0" rIns="0" tIns="0" bIns="0" anchor="ctr">
            <a:noAutofit/>
          </a:bodyPr>
          <a:lstStyle/>
          <a:p>
            <a:pPr algn="ctr">
              <a:lnSpc>
                <a:spcPct val="108000"/>
              </a:lnSpc>
              <a:spcBef>
                <a:spcPts val="0"/>
              </a:spcBef>
              <a:spcAft>
                <a:spcPts val="0"/>
              </a:spcAft>
            </a:pPr>
            <a:r>
              <a:rPr sz="1500" b="1">
                <a:solidFill>
                  <a:srgbClr val="2563EB"/>
                </a:solidFill>
                <a:latin typeface="Arial"/>
              </a:rPr>
              <a:t>›</a:t>
            </a:r>
          </a:p>
        </p:txBody>
      </p:sp>
      <p:cxnSp>
        <p:nvCxnSpPr>
          <p:cNvPr id="52" name="Connector 51"/>
          <p:cNvCxnSpPr/>
          <p:nvPr/>
        </p:nvCxnSpPr>
        <p:spPr>
          <a:xfrm>
            <a:off x="8375904" y="3538728"/>
            <a:ext cx="356616"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53" name="Text 52"/>
          <p:cNvSpPr txBox="1"/>
          <p:nvPr/>
        </p:nvSpPr>
        <p:spPr>
          <a:xfrm>
            <a:off x="8578900" y="3357676"/>
            <a:ext cx="241401" cy="362102"/>
          </a:xfrm>
          <a:prstGeom prst="rect">
            <a:avLst/>
          </a:prstGeom>
          <a:noFill/>
        </p:spPr>
        <p:txBody>
          <a:bodyPr wrap="none" lIns="0" rIns="0" tIns="0" bIns="0" anchor="ctr">
            <a:noAutofit/>
          </a:bodyPr>
          <a:lstStyle/>
          <a:p>
            <a:pPr algn="ctr">
              <a:lnSpc>
                <a:spcPct val="108000"/>
              </a:lnSpc>
              <a:spcBef>
                <a:spcPts val="0"/>
              </a:spcBef>
              <a:spcAft>
                <a:spcPts val="0"/>
              </a:spcAft>
            </a:pPr>
            <a:r>
              <a:rPr sz="1500" b="1">
                <a:solidFill>
                  <a:srgbClr val="10B981"/>
                </a:solidFill>
                <a:latin typeface="Arial"/>
              </a:rPr>
              <a:t>›</a:t>
            </a:r>
          </a:p>
        </p:txBody>
      </p:sp>
      <p:sp>
        <p:nvSpPr>
          <p:cNvPr id="54" name="Shape 53"/>
          <p:cNvSpPr/>
          <p:nvPr/>
        </p:nvSpPr>
        <p:spPr>
          <a:xfrm>
            <a:off x="694944" y="5422392"/>
            <a:ext cx="10817352" cy="548640"/>
          </a:xfrm>
          <a:prstGeom prst="roundRect">
            <a:avLst>
              <a:gd name="adj" fmla="val 20000"/>
            </a:avLst>
          </a:prstGeom>
          <a:solidFill>
            <a:srgbClr val="EAF1FF"/>
          </a:solidFill>
          <a:ln w="9525">
            <a:solidFill>
              <a:srgbClr val="D8E5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 54"/>
          <p:cNvSpPr txBox="1"/>
          <p:nvPr/>
        </p:nvSpPr>
        <p:spPr>
          <a:xfrm>
            <a:off x="932688" y="5541264"/>
            <a:ext cx="10296144" cy="283464"/>
          </a:xfrm>
          <a:prstGeom prst="rect">
            <a:avLst/>
          </a:prstGeom>
          <a:noFill/>
        </p:spPr>
        <p:txBody>
          <a:bodyPr wrap="square" lIns="0" rIns="0" tIns="0" bIns="0" anchor="ctr">
            <a:noAutofit/>
          </a:bodyPr>
          <a:lstStyle/>
          <a:p>
            <a:pPr algn="ctr">
              <a:lnSpc>
                <a:spcPct val="108000"/>
              </a:lnSpc>
              <a:spcBef>
                <a:spcPts val="0"/>
              </a:spcBef>
              <a:spcAft>
                <a:spcPts val="0"/>
              </a:spcAft>
            </a:pPr>
            <a:r>
              <a:rPr sz="1000" b="1">
                <a:solidFill>
                  <a:srgbClr val="1E3A8A"/>
                </a:solidFill>
                <a:latin typeface="Arial"/>
              </a:rPr>
              <a:t>Auth uses bcryptjs password hashes and signed JWTs. Some demo flows can fall back to memory; reviews and messaging need Neon.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05  /  DATABASE &amp; DATA RELATIONSHIPS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Pius Kaosisochukwu Aminie</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700" b="1">
                <a:solidFill>
                  <a:srgbClr val="0B1733"/>
                </a:solidFill>
                <a:latin typeface="Arial"/>
              </a:rPr>
              <a:t>A relational model connects profiles and requests</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Neon Serverless PostgreSQL stores persistent records when database configuration is present.</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09  /  15</a:t>
            </a:r>
          </a:p>
        </p:txBody>
      </p:sp>
      <p:cxnSp>
        <p:nvCxnSpPr>
          <p:cNvPr id="11" name="Connector 10"/>
          <p:cNvCxnSpPr/>
          <p:nvPr/>
        </p:nvCxnSpPr>
        <p:spPr>
          <a:xfrm>
            <a:off x="2852928" y="2679192"/>
            <a:ext cx="822959"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12" name="Text 11"/>
          <p:cNvSpPr txBox="1"/>
          <p:nvPr/>
        </p:nvSpPr>
        <p:spPr>
          <a:xfrm>
            <a:off x="2898648" y="2441448"/>
            <a:ext cx="731520" cy="182880"/>
          </a:xfrm>
          <a:prstGeom prst="rect">
            <a:avLst/>
          </a:prstGeom>
          <a:noFill/>
        </p:spPr>
        <p:txBody>
          <a:bodyPr wrap="none" lIns="0" rIns="0" tIns="0" bIns="0" anchor="ctr">
            <a:noAutofit/>
          </a:bodyPr>
          <a:lstStyle/>
          <a:p>
            <a:pPr algn="ctr">
              <a:lnSpc>
                <a:spcPct val="108000"/>
              </a:lnSpc>
              <a:spcBef>
                <a:spcPts val="0"/>
              </a:spcBef>
              <a:spcAft>
                <a:spcPts val="0"/>
              </a:spcAft>
            </a:pPr>
            <a:r>
              <a:rPr sz="860" b="1">
                <a:solidFill>
                  <a:srgbClr val="1E3A8A"/>
                </a:solidFill>
                <a:latin typeface="Arial"/>
              </a:rPr>
              <a:t>1 : 1</a:t>
            </a:r>
          </a:p>
        </p:txBody>
      </p:sp>
      <p:cxnSp>
        <p:nvCxnSpPr>
          <p:cNvPr id="13" name="Connector 12"/>
          <p:cNvCxnSpPr/>
          <p:nvPr/>
        </p:nvCxnSpPr>
        <p:spPr>
          <a:xfrm>
            <a:off x="1755648" y="3236976"/>
            <a:ext cx="0" cy="841248"/>
          </a:xfrm>
          <a:prstGeom prst="line">
            <a:avLst/>
          </a:prstGeom>
          <a:ln w="17780">
            <a:solidFill>
              <a:srgbClr val="1F8A83"/>
            </a:solidFill>
          </a:ln>
        </p:spPr>
        <p:style>
          <a:lnRef idx="2">
            <a:schemeClr val="accent1"/>
          </a:lnRef>
          <a:fillRef idx="0">
            <a:schemeClr val="accent1"/>
          </a:fillRef>
          <a:effectRef idx="1">
            <a:schemeClr val="accent1"/>
          </a:effectRef>
          <a:fontRef idx="minor">
            <a:schemeClr val="tx1"/>
          </a:fontRef>
        </p:style>
      </p:cxnSp>
      <p:sp>
        <p:nvSpPr>
          <p:cNvPr id="14" name="Text 13"/>
          <p:cNvSpPr txBox="1"/>
          <p:nvPr/>
        </p:nvSpPr>
        <p:spPr>
          <a:xfrm>
            <a:off x="1856231" y="3511296"/>
            <a:ext cx="731520" cy="201168"/>
          </a:xfrm>
          <a:prstGeom prst="rect">
            <a:avLst/>
          </a:prstGeom>
          <a:noFill/>
        </p:spPr>
        <p:txBody>
          <a:bodyPr wrap="none" lIns="0" rIns="0" tIns="0" bIns="0" anchor="ctr">
            <a:noAutofit/>
          </a:bodyPr>
          <a:lstStyle/>
          <a:p>
            <a:pPr algn="l">
              <a:lnSpc>
                <a:spcPct val="108000"/>
              </a:lnSpc>
              <a:spcBef>
                <a:spcPts val="0"/>
              </a:spcBef>
              <a:spcAft>
                <a:spcPts val="0"/>
              </a:spcAft>
            </a:pPr>
            <a:r>
              <a:rPr sz="830" b="1">
                <a:solidFill>
                  <a:srgbClr val="1F8A83"/>
                </a:solidFill>
                <a:latin typeface="Arial"/>
              </a:rPr>
              <a:t>parent</a:t>
            </a:r>
          </a:p>
        </p:txBody>
      </p:sp>
      <p:cxnSp>
        <p:nvCxnSpPr>
          <p:cNvPr id="15" name="Connector 14"/>
          <p:cNvCxnSpPr/>
          <p:nvPr/>
        </p:nvCxnSpPr>
        <p:spPr>
          <a:xfrm flipV="1">
            <a:off x="6272784" y="2423160"/>
            <a:ext cx="841248" cy="246888"/>
          </a:xfrm>
          <a:prstGeom prst="line">
            <a:avLst/>
          </a:prstGeom>
          <a:ln w="190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272784" y="2999232"/>
            <a:ext cx="841248" cy="283464"/>
          </a:xfrm>
          <a:prstGeom prst="line">
            <a:avLst/>
          </a:prstGeom>
          <a:ln w="190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983480" y="3246120"/>
            <a:ext cx="0" cy="82296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4654296"/>
            <a:ext cx="557783" cy="0"/>
          </a:xfrm>
          <a:prstGeom prst="line">
            <a:avLst/>
          </a:prstGeom>
          <a:ln w="20320">
            <a:solidFill>
              <a:srgbClr val="F4B740"/>
            </a:solidFill>
          </a:ln>
        </p:spPr>
        <p:style>
          <a:lnRef idx="2">
            <a:schemeClr val="accent1"/>
          </a:lnRef>
          <a:fillRef idx="0">
            <a:schemeClr val="accent1"/>
          </a:fillRef>
          <a:effectRef idx="1">
            <a:schemeClr val="accent1"/>
          </a:effectRef>
          <a:fontRef idx="minor">
            <a:schemeClr val="tx1"/>
          </a:fontRef>
        </p:style>
      </p:cxnSp>
      <p:sp>
        <p:nvSpPr>
          <p:cNvPr id="19" name="Shape 18"/>
          <p:cNvSpPr/>
          <p:nvPr/>
        </p:nvSpPr>
        <p:spPr>
          <a:xfrm>
            <a:off x="699516" y="2199132"/>
            <a:ext cx="2221992" cy="1097280"/>
          </a:xfrm>
          <a:prstGeom prst="roundRect">
            <a:avLst>
              <a:gd name="adj" fmla="val 13333"/>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pe 19"/>
          <p:cNvSpPr/>
          <p:nvPr/>
        </p:nvSpPr>
        <p:spPr>
          <a:xfrm>
            <a:off x="658368" y="2148840"/>
            <a:ext cx="2221992" cy="1097280"/>
          </a:xfrm>
          <a:prstGeom prst="roundRect">
            <a:avLst>
              <a:gd name="adj" fmla="val 13333"/>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hape 20"/>
          <p:cNvSpPr/>
          <p:nvPr/>
        </p:nvSpPr>
        <p:spPr>
          <a:xfrm>
            <a:off x="832104" y="2304288"/>
            <a:ext cx="749808" cy="228600"/>
          </a:xfrm>
          <a:prstGeom prst="roundRect">
            <a:avLst>
              <a:gd name="adj" fmla="val 28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896112" y="2322576"/>
            <a:ext cx="621792" cy="192024"/>
          </a:xfrm>
          <a:prstGeom prst="rect">
            <a:avLst/>
          </a:prstGeom>
          <a:noFill/>
        </p:spPr>
        <p:txBody>
          <a:bodyPr wrap="none" lIns="0" rIns="0" tIns="0" bIns="0" anchor="ctr">
            <a:noAutofit/>
          </a:bodyPr>
          <a:lstStyle/>
          <a:p>
            <a:pPr algn="ctr">
              <a:lnSpc>
                <a:spcPct val="108000"/>
              </a:lnSpc>
              <a:spcBef>
                <a:spcPts val="0"/>
              </a:spcBef>
              <a:spcAft>
                <a:spcPts val="0"/>
              </a:spcAft>
            </a:pPr>
            <a:r>
              <a:rPr sz="819" b="1">
                <a:solidFill>
                  <a:srgbClr val="1E3A8A"/>
                </a:solidFill>
                <a:latin typeface="Arial"/>
              </a:rPr>
              <a:t>CORE</a:t>
            </a:r>
          </a:p>
        </p:txBody>
      </p:sp>
      <p:sp>
        <p:nvSpPr>
          <p:cNvPr id="23" name="Text 22"/>
          <p:cNvSpPr txBox="1"/>
          <p:nvPr/>
        </p:nvSpPr>
        <p:spPr>
          <a:xfrm>
            <a:off x="832104" y="2606040"/>
            <a:ext cx="1847088" cy="265176"/>
          </a:xfrm>
          <a:prstGeom prst="rect">
            <a:avLst/>
          </a:prstGeom>
          <a:noFill/>
        </p:spPr>
        <p:txBody>
          <a:bodyPr wrap="none" lIns="0" rIns="0" tIns="0" bIns="0" anchor="ctr">
            <a:noAutofit/>
          </a:bodyPr>
          <a:lstStyle/>
          <a:p>
            <a:pPr algn="l">
              <a:lnSpc>
                <a:spcPct val="108000"/>
              </a:lnSpc>
              <a:spcBef>
                <a:spcPts val="0"/>
              </a:spcBef>
              <a:spcAft>
                <a:spcPts val="0"/>
              </a:spcAft>
            </a:pPr>
            <a:r>
              <a:rPr sz="1650" b="1">
                <a:solidFill>
                  <a:srgbClr val="0B1733"/>
                </a:solidFill>
                <a:latin typeface="Arial"/>
              </a:rPr>
              <a:t>users</a:t>
            </a:r>
          </a:p>
        </p:txBody>
      </p:sp>
      <p:sp>
        <p:nvSpPr>
          <p:cNvPr id="24" name="Text 23"/>
          <p:cNvSpPr txBox="1"/>
          <p:nvPr/>
        </p:nvSpPr>
        <p:spPr>
          <a:xfrm>
            <a:off x="832104" y="2898648"/>
            <a:ext cx="1847088" cy="201168"/>
          </a:xfrm>
          <a:prstGeom prst="rect">
            <a:avLst/>
          </a:prstGeom>
          <a:noFill/>
        </p:spPr>
        <p:txBody>
          <a:bodyPr wrap="none" lIns="0" rIns="0" tIns="0" bIns="0" anchor="ctr">
            <a:noAutofit/>
          </a:bodyPr>
          <a:lstStyle/>
          <a:p>
            <a:pPr algn="l">
              <a:lnSpc>
                <a:spcPct val="108000"/>
              </a:lnSpc>
              <a:spcBef>
                <a:spcPts val="0"/>
              </a:spcBef>
              <a:spcAft>
                <a:spcPts val="0"/>
              </a:spcAft>
            </a:pPr>
            <a:r>
              <a:rPr sz="869" b="0">
                <a:solidFill>
                  <a:srgbClr val="63718A"/>
                </a:solidFill>
                <a:latin typeface="Arial"/>
              </a:rPr>
              <a:t>accounts · role · location</a:t>
            </a:r>
          </a:p>
        </p:txBody>
      </p:sp>
      <p:sp>
        <p:nvSpPr>
          <p:cNvPr id="25" name="Shape 24"/>
          <p:cNvSpPr/>
          <p:nvPr/>
        </p:nvSpPr>
        <p:spPr>
          <a:xfrm>
            <a:off x="3744468" y="2199132"/>
            <a:ext cx="2587752" cy="1097280"/>
          </a:xfrm>
          <a:prstGeom prst="roundRect">
            <a:avLst>
              <a:gd name="adj" fmla="val 13333"/>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hape 25"/>
          <p:cNvSpPr/>
          <p:nvPr/>
        </p:nvSpPr>
        <p:spPr>
          <a:xfrm>
            <a:off x="3703320" y="2148840"/>
            <a:ext cx="2587752" cy="1097280"/>
          </a:xfrm>
          <a:prstGeom prst="roundRect">
            <a:avLst>
              <a:gd name="adj" fmla="val 13333"/>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hape 26"/>
          <p:cNvSpPr/>
          <p:nvPr/>
        </p:nvSpPr>
        <p:spPr>
          <a:xfrm>
            <a:off x="3904487" y="2304288"/>
            <a:ext cx="1051560" cy="228600"/>
          </a:xfrm>
          <a:prstGeom prst="roundRect">
            <a:avLst>
              <a:gd name="adj" fmla="val 28000"/>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27"/>
          <p:cNvSpPr txBox="1"/>
          <p:nvPr/>
        </p:nvSpPr>
        <p:spPr>
          <a:xfrm>
            <a:off x="3968496" y="2322576"/>
            <a:ext cx="923543" cy="192024"/>
          </a:xfrm>
          <a:prstGeom prst="rect">
            <a:avLst/>
          </a:prstGeom>
          <a:noFill/>
        </p:spPr>
        <p:txBody>
          <a:bodyPr wrap="none" lIns="0" rIns="0" tIns="0" bIns="0" anchor="ctr">
            <a:noAutofit/>
          </a:bodyPr>
          <a:lstStyle/>
          <a:p>
            <a:pPr algn="ctr">
              <a:lnSpc>
                <a:spcPct val="108000"/>
              </a:lnSpc>
              <a:spcBef>
                <a:spcPts val="0"/>
              </a:spcBef>
              <a:spcAft>
                <a:spcPts val="0"/>
              </a:spcAft>
            </a:pPr>
            <a:r>
              <a:rPr sz="819" b="1">
                <a:solidFill>
                  <a:srgbClr val="087A58"/>
                </a:solidFill>
                <a:latin typeface="Arial"/>
              </a:rPr>
              <a:t>1 : 1 USER</a:t>
            </a:r>
          </a:p>
        </p:txBody>
      </p:sp>
      <p:sp>
        <p:nvSpPr>
          <p:cNvPr id="29" name="Text 28"/>
          <p:cNvSpPr txBox="1"/>
          <p:nvPr/>
        </p:nvSpPr>
        <p:spPr>
          <a:xfrm>
            <a:off x="3904487" y="2606040"/>
            <a:ext cx="2157984" cy="265176"/>
          </a:xfrm>
          <a:prstGeom prst="rect">
            <a:avLst/>
          </a:prstGeom>
          <a:noFill/>
        </p:spPr>
        <p:txBody>
          <a:bodyPr wrap="none" lIns="0" rIns="0" tIns="0" bIns="0" anchor="ctr">
            <a:noAutofit/>
          </a:bodyPr>
          <a:lstStyle/>
          <a:p>
            <a:pPr algn="l">
              <a:lnSpc>
                <a:spcPct val="108000"/>
              </a:lnSpc>
              <a:spcBef>
                <a:spcPts val="0"/>
              </a:spcBef>
              <a:spcAft>
                <a:spcPts val="0"/>
              </a:spcAft>
            </a:pPr>
            <a:r>
              <a:rPr sz="1530" b="1">
                <a:solidFill>
                  <a:srgbClr val="0B1733"/>
                </a:solidFill>
                <a:latin typeface="Arial"/>
              </a:rPr>
              <a:t>tutor_profiles</a:t>
            </a:r>
          </a:p>
        </p:txBody>
      </p:sp>
      <p:sp>
        <p:nvSpPr>
          <p:cNvPr id="30" name="Text 29"/>
          <p:cNvSpPr txBox="1"/>
          <p:nvPr/>
        </p:nvSpPr>
        <p:spPr>
          <a:xfrm>
            <a:off x="3904487" y="2898648"/>
            <a:ext cx="2157984" cy="201168"/>
          </a:xfrm>
          <a:prstGeom prst="rect">
            <a:avLst/>
          </a:prstGeom>
          <a:noFill/>
        </p:spPr>
        <p:txBody>
          <a:bodyPr wrap="none" lIns="0" rIns="0" tIns="0" bIns="0" anchor="ctr">
            <a:noAutofit/>
          </a:bodyPr>
          <a:lstStyle/>
          <a:p>
            <a:pPr algn="l">
              <a:lnSpc>
                <a:spcPct val="108000"/>
              </a:lnSpc>
              <a:spcBef>
                <a:spcPts val="0"/>
              </a:spcBef>
              <a:spcAft>
                <a:spcPts val="0"/>
              </a:spcAft>
            </a:pPr>
            <a:r>
              <a:rPr sz="869" b="0">
                <a:solidFill>
                  <a:srgbClr val="63718A"/>
                </a:solidFill>
                <a:latin typeface="Arial"/>
              </a:rPr>
              <a:t>rate · curriculum · rating</a:t>
            </a:r>
          </a:p>
        </p:txBody>
      </p:sp>
      <p:sp>
        <p:nvSpPr>
          <p:cNvPr id="31" name="Shape 30"/>
          <p:cNvSpPr/>
          <p:nvPr/>
        </p:nvSpPr>
        <p:spPr>
          <a:xfrm>
            <a:off x="7228332" y="1897380"/>
            <a:ext cx="4325112" cy="1152144"/>
          </a:xfrm>
          <a:prstGeom prst="roundRect">
            <a:avLst>
              <a:gd name="adj" fmla="val 12698"/>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hape 31"/>
          <p:cNvSpPr/>
          <p:nvPr/>
        </p:nvSpPr>
        <p:spPr>
          <a:xfrm>
            <a:off x="7187184" y="1847088"/>
            <a:ext cx="4325112" cy="1152144"/>
          </a:xfrm>
          <a:prstGeom prst="roundRect">
            <a:avLst>
              <a:gd name="adj" fmla="val 12698"/>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32"/>
          <p:cNvSpPr txBox="1"/>
          <p:nvPr/>
        </p:nvSpPr>
        <p:spPr>
          <a:xfrm>
            <a:off x="7452360" y="2011680"/>
            <a:ext cx="3749039" cy="246888"/>
          </a:xfrm>
          <a:prstGeom prst="rect">
            <a:avLst/>
          </a:prstGeom>
          <a:noFill/>
        </p:spPr>
        <p:txBody>
          <a:bodyPr wrap="none" lIns="0" rIns="0" tIns="0" bIns="0" anchor="t">
            <a:noAutofit/>
          </a:bodyPr>
          <a:lstStyle/>
          <a:p>
            <a:pPr algn="l">
              <a:lnSpc>
                <a:spcPct val="108000"/>
              </a:lnSpc>
              <a:spcBef>
                <a:spcPts val="0"/>
              </a:spcBef>
              <a:spcAft>
                <a:spcPts val="0"/>
              </a:spcAft>
            </a:pPr>
            <a:r>
              <a:rPr sz="919" b="1">
                <a:solidFill>
                  <a:srgbClr val="087A58"/>
                </a:solidFill>
                <a:latin typeface="Arial"/>
              </a:rPr>
              <a:t>TUTOR PROFILE RECORDS</a:t>
            </a:r>
          </a:p>
        </p:txBody>
      </p:sp>
      <p:sp>
        <p:nvSpPr>
          <p:cNvPr id="34" name="Text 33"/>
          <p:cNvSpPr txBox="1"/>
          <p:nvPr/>
        </p:nvSpPr>
        <p:spPr>
          <a:xfrm>
            <a:off x="7452360" y="2359152"/>
            <a:ext cx="3767328" cy="438912"/>
          </a:xfrm>
          <a:prstGeom prst="rect">
            <a:avLst/>
          </a:prstGeom>
          <a:noFill/>
        </p:spPr>
        <p:txBody>
          <a:bodyPr wrap="square" lIns="0" rIns="0" tIns="0" bIns="0" anchor="t">
            <a:noAutofit/>
          </a:bodyPr>
          <a:lstStyle/>
          <a:p>
            <a:pPr algn="l">
              <a:lnSpc>
                <a:spcPct val="120000"/>
              </a:lnSpc>
              <a:spcBef>
                <a:spcPts val="0"/>
              </a:spcBef>
              <a:spcAft>
                <a:spcPts val="0"/>
              </a:spcAft>
            </a:pPr>
            <a:r>
              <a:rPr sz="1010" b="1">
                <a:solidFill>
                  <a:srgbClr val="17233A"/>
                </a:solidFill>
                <a:latin typeface="Arial"/>
              </a:rPr>
              <a:t>tutor_subjects  ·  tutor_availability</a:t>
            </a:r>
          </a:p>
          <a:p>
            <a:pPr algn="l">
              <a:lnSpc>
                <a:spcPct val="120000"/>
              </a:lnSpc>
              <a:spcBef>
                <a:spcPts val="0"/>
              </a:spcBef>
              <a:spcAft>
                <a:spcPts val="0"/>
              </a:spcAft>
            </a:pPr>
            <a:r>
              <a:rPr sz="1010" b="1">
                <a:solidFill>
                  <a:srgbClr val="17233A"/>
                </a:solidFill>
                <a:latin typeface="Arial"/>
              </a:rPr>
              <a:t>tutor_documents  ·  tutor_verifications</a:t>
            </a:r>
          </a:p>
        </p:txBody>
      </p:sp>
      <p:sp>
        <p:nvSpPr>
          <p:cNvPr id="35" name="Shape 34"/>
          <p:cNvSpPr/>
          <p:nvPr/>
        </p:nvSpPr>
        <p:spPr>
          <a:xfrm>
            <a:off x="699516" y="4128515"/>
            <a:ext cx="2221992" cy="832104"/>
          </a:xfrm>
          <a:prstGeom prst="roundRect">
            <a:avLst>
              <a:gd name="adj" fmla="val 17582"/>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hape 35"/>
          <p:cNvSpPr/>
          <p:nvPr/>
        </p:nvSpPr>
        <p:spPr>
          <a:xfrm>
            <a:off x="658368" y="4078224"/>
            <a:ext cx="2221992" cy="832104"/>
          </a:xfrm>
          <a:prstGeom prst="roundRect">
            <a:avLst>
              <a:gd name="adj" fmla="val 17582"/>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36"/>
          <p:cNvSpPr txBox="1"/>
          <p:nvPr/>
        </p:nvSpPr>
        <p:spPr>
          <a:xfrm>
            <a:off x="859536" y="4224528"/>
            <a:ext cx="1792224" cy="228600"/>
          </a:xfrm>
          <a:prstGeom prst="rect">
            <a:avLst/>
          </a:prstGeom>
          <a:noFill/>
        </p:spPr>
        <p:txBody>
          <a:bodyPr wrap="none" lIns="0" rIns="0" tIns="0" bIns="0" anchor="ctr">
            <a:noAutofit/>
          </a:bodyPr>
          <a:lstStyle/>
          <a:p>
            <a:pPr algn="l">
              <a:lnSpc>
                <a:spcPct val="108000"/>
              </a:lnSpc>
              <a:spcBef>
                <a:spcPts val="0"/>
              </a:spcBef>
              <a:spcAft>
                <a:spcPts val="0"/>
              </a:spcAft>
            </a:pPr>
            <a:r>
              <a:rPr sz="1300" b="1">
                <a:solidFill>
                  <a:srgbClr val="0B1733"/>
                </a:solidFill>
                <a:latin typeface="Arial"/>
              </a:rPr>
              <a:t>parent_profiles</a:t>
            </a:r>
          </a:p>
        </p:txBody>
      </p:sp>
      <p:sp>
        <p:nvSpPr>
          <p:cNvPr id="38" name="Text 37"/>
          <p:cNvSpPr txBox="1"/>
          <p:nvPr/>
        </p:nvSpPr>
        <p:spPr>
          <a:xfrm>
            <a:off x="859536" y="4517136"/>
            <a:ext cx="1792224" cy="182880"/>
          </a:xfrm>
          <a:prstGeom prst="rect">
            <a:avLst/>
          </a:prstGeom>
          <a:noFill/>
        </p:spPr>
        <p:txBody>
          <a:bodyPr wrap="none" lIns="0" rIns="0" tIns="0" bIns="0" anchor="ctr">
            <a:noAutofit/>
          </a:bodyPr>
          <a:lstStyle/>
          <a:p>
            <a:pPr algn="l">
              <a:lnSpc>
                <a:spcPct val="108000"/>
              </a:lnSpc>
              <a:spcBef>
                <a:spcPts val="0"/>
              </a:spcBef>
              <a:spcAft>
                <a:spcPts val="0"/>
              </a:spcAft>
            </a:pPr>
            <a:r>
              <a:rPr sz="890" b="0">
                <a:solidFill>
                  <a:srgbClr val="63718A"/>
                </a:solidFill>
                <a:latin typeface="Arial"/>
              </a:rPr>
              <a:t>child &amp; learning context</a:t>
            </a:r>
          </a:p>
        </p:txBody>
      </p:sp>
      <p:sp>
        <p:nvSpPr>
          <p:cNvPr id="39" name="Shape 38"/>
          <p:cNvSpPr/>
          <p:nvPr/>
        </p:nvSpPr>
        <p:spPr>
          <a:xfrm>
            <a:off x="3744468" y="4128515"/>
            <a:ext cx="3182112" cy="1170432"/>
          </a:xfrm>
          <a:prstGeom prst="roundRect">
            <a:avLst>
              <a:gd name="adj" fmla="val 125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hape 39"/>
          <p:cNvSpPr/>
          <p:nvPr/>
        </p:nvSpPr>
        <p:spPr>
          <a:xfrm>
            <a:off x="3703320" y="4078224"/>
            <a:ext cx="3182112" cy="1170432"/>
          </a:xfrm>
          <a:prstGeom prst="roundRect">
            <a:avLst>
              <a:gd name="adj" fmla="val 125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40"/>
          <p:cNvSpPr txBox="1"/>
          <p:nvPr/>
        </p:nvSpPr>
        <p:spPr>
          <a:xfrm>
            <a:off x="3959352" y="4261104"/>
            <a:ext cx="2651760" cy="256032"/>
          </a:xfrm>
          <a:prstGeom prst="rect">
            <a:avLst/>
          </a:prstGeom>
          <a:noFill/>
        </p:spPr>
        <p:txBody>
          <a:bodyPr wrap="none" lIns="0" rIns="0" tIns="0" bIns="0" anchor="ctr">
            <a:noAutofit/>
          </a:bodyPr>
          <a:lstStyle/>
          <a:p>
            <a:pPr algn="l">
              <a:lnSpc>
                <a:spcPct val="108000"/>
              </a:lnSpc>
              <a:spcBef>
                <a:spcPts val="0"/>
              </a:spcBef>
              <a:spcAft>
                <a:spcPts val="0"/>
              </a:spcAft>
            </a:pPr>
            <a:r>
              <a:rPr sz="1600" b="1">
                <a:solidFill>
                  <a:srgbClr val="0B1733"/>
                </a:solidFill>
                <a:latin typeface="Arial"/>
              </a:rPr>
              <a:t>bookings</a:t>
            </a:r>
          </a:p>
        </p:txBody>
      </p:sp>
      <p:sp>
        <p:nvSpPr>
          <p:cNvPr id="42" name="Text 41"/>
          <p:cNvSpPr txBox="1"/>
          <p:nvPr/>
        </p:nvSpPr>
        <p:spPr>
          <a:xfrm>
            <a:off x="3959352" y="4599432"/>
            <a:ext cx="2706624" cy="438912"/>
          </a:xfrm>
          <a:prstGeom prst="rect">
            <a:avLst/>
          </a:prstGeom>
          <a:noFill/>
        </p:spPr>
        <p:txBody>
          <a:bodyPr wrap="square" lIns="0" rIns="0" tIns="0" bIns="0" anchor="t">
            <a:noAutofit/>
          </a:bodyPr>
          <a:lstStyle/>
          <a:p>
            <a:pPr algn="l">
              <a:lnSpc>
                <a:spcPct val="115000"/>
              </a:lnSpc>
              <a:spcBef>
                <a:spcPts val="0"/>
              </a:spcBef>
              <a:spcAft>
                <a:spcPts val="0"/>
              </a:spcAft>
            </a:pPr>
            <a:r>
              <a:rPr sz="940" b="0">
                <a:solidFill>
                  <a:srgbClr val="63718A"/>
                </a:solidFill>
                <a:latin typeface="Arial"/>
              </a:rPr>
              <a:t>learner user + tutor profile</a:t>
            </a:r>
          </a:p>
          <a:p>
            <a:pPr algn="l">
              <a:lnSpc>
                <a:spcPct val="115000"/>
              </a:lnSpc>
              <a:spcBef>
                <a:spcPts val="0"/>
              </a:spcBef>
              <a:spcAft>
                <a:spcPts val="0"/>
              </a:spcAft>
            </a:pPr>
            <a:r>
              <a:rPr sz="940" b="0">
                <a:solidFill>
                  <a:srgbClr val="63718A"/>
                </a:solidFill>
                <a:latin typeface="Arial"/>
              </a:rPr>
              <a:t>date · time · mode · status · price</a:t>
            </a:r>
          </a:p>
        </p:txBody>
      </p:sp>
      <p:sp>
        <p:nvSpPr>
          <p:cNvPr id="43" name="Shape 42"/>
          <p:cNvSpPr/>
          <p:nvPr/>
        </p:nvSpPr>
        <p:spPr>
          <a:xfrm>
            <a:off x="7484364" y="4128515"/>
            <a:ext cx="2377440" cy="1170432"/>
          </a:xfrm>
          <a:prstGeom prst="roundRect">
            <a:avLst>
              <a:gd name="adj" fmla="val 125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hape 43"/>
          <p:cNvSpPr/>
          <p:nvPr/>
        </p:nvSpPr>
        <p:spPr>
          <a:xfrm>
            <a:off x="7443216" y="4078224"/>
            <a:ext cx="2377440" cy="1170432"/>
          </a:xfrm>
          <a:prstGeom prst="roundRect">
            <a:avLst>
              <a:gd name="adj" fmla="val 125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44"/>
          <p:cNvSpPr txBox="1"/>
          <p:nvPr/>
        </p:nvSpPr>
        <p:spPr>
          <a:xfrm>
            <a:off x="7671816" y="4261104"/>
            <a:ext cx="1920240" cy="256032"/>
          </a:xfrm>
          <a:prstGeom prst="rect">
            <a:avLst/>
          </a:prstGeom>
          <a:noFill/>
        </p:spPr>
        <p:txBody>
          <a:bodyPr wrap="none" lIns="0" rIns="0" tIns="0" bIns="0" anchor="ctr">
            <a:noAutofit/>
          </a:bodyPr>
          <a:lstStyle/>
          <a:p>
            <a:pPr algn="l">
              <a:lnSpc>
                <a:spcPct val="108000"/>
              </a:lnSpc>
              <a:spcBef>
                <a:spcPts val="0"/>
              </a:spcBef>
              <a:spcAft>
                <a:spcPts val="0"/>
              </a:spcAft>
            </a:pPr>
            <a:r>
              <a:rPr sz="1500" b="1">
                <a:solidFill>
                  <a:srgbClr val="0B1733"/>
                </a:solidFill>
                <a:latin typeface="Arial"/>
              </a:rPr>
              <a:t>reviews</a:t>
            </a:r>
          </a:p>
        </p:txBody>
      </p:sp>
      <p:sp>
        <p:nvSpPr>
          <p:cNvPr id="46" name="Text 45"/>
          <p:cNvSpPr txBox="1"/>
          <p:nvPr/>
        </p:nvSpPr>
        <p:spPr>
          <a:xfrm>
            <a:off x="7671816" y="4599432"/>
            <a:ext cx="1901952" cy="438912"/>
          </a:xfrm>
          <a:prstGeom prst="rect">
            <a:avLst/>
          </a:prstGeom>
          <a:noFill/>
        </p:spPr>
        <p:txBody>
          <a:bodyPr wrap="square" lIns="0" rIns="0" tIns="0" bIns="0" anchor="t">
            <a:noAutofit/>
          </a:bodyPr>
          <a:lstStyle/>
          <a:p>
            <a:pPr algn="l">
              <a:lnSpc>
                <a:spcPct val="115000"/>
              </a:lnSpc>
              <a:spcBef>
                <a:spcPts val="0"/>
              </a:spcBef>
              <a:spcAft>
                <a:spcPts val="0"/>
              </a:spcAft>
            </a:pPr>
            <a:r>
              <a:rPr sz="919" b="0">
                <a:solidFill>
                  <a:srgbClr val="63718A"/>
                </a:solidFill>
                <a:latin typeface="Arial"/>
              </a:rPr>
              <a:t>rating · comment</a:t>
            </a:r>
          </a:p>
          <a:p>
            <a:pPr algn="l">
              <a:lnSpc>
                <a:spcPct val="115000"/>
              </a:lnSpc>
              <a:spcBef>
                <a:spcPts val="0"/>
              </a:spcBef>
              <a:spcAft>
                <a:spcPts val="0"/>
              </a:spcAft>
            </a:pPr>
            <a:r>
              <a:rPr sz="919" b="0">
                <a:solidFill>
                  <a:srgbClr val="63718A"/>
                </a:solidFill>
                <a:latin typeface="Arial"/>
              </a:rPr>
              <a:t>optional booking link</a:t>
            </a:r>
          </a:p>
        </p:txBody>
      </p:sp>
      <p:sp>
        <p:nvSpPr>
          <p:cNvPr id="47" name="Shape 46"/>
          <p:cNvSpPr/>
          <p:nvPr/>
        </p:nvSpPr>
        <p:spPr>
          <a:xfrm>
            <a:off x="10168128" y="4078224"/>
            <a:ext cx="1353312" cy="1170432"/>
          </a:xfrm>
          <a:prstGeom prst="roundRect">
            <a:avLst>
              <a:gd name="adj" fmla="val 125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 47"/>
          <p:cNvSpPr txBox="1"/>
          <p:nvPr/>
        </p:nvSpPr>
        <p:spPr>
          <a:xfrm>
            <a:off x="10296144" y="4261104"/>
            <a:ext cx="1097280" cy="256032"/>
          </a:xfrm>
          <a:prstGeom prst="rect">
            <a:avLst/>
          </a:prstGeom>
          <a:noFill/>
        </p:spPr>
        <p:txBody>
          <a:bodyPr wrap="none" lIns="0" rIns="0" tIns="0" bIns="0" anchor="ctr">
            <a:noAutofit/>
          </a:bodyPr>
          <a:lstStyle/>
          <a:p>
            <a:pPr algn="ctr">
              <a:lnSpc>
                <a:spcPct val="108000"/>
              </a:lnSpc>
              <a:spcBef>
                <a:spcPts val="0"/>
              </a:spcBef>
              <a:spcAft>
                <a:spcPts val="0"/>
              </a:spcAft>
            </a:pPr>
            <a:r>
              <a:rPr sz="1120" b="1">
                <a:solidFill>
                  <a:srgbClr val="FFFFFF"/>
                </a:solidFill>
                <a:latin typeface="Arial"/>
              </a:rPr>
              <a:t>messages</a:t>
            </a:r>
          </a:p>
        </p:txBody>
      </p:sp>
      <p:sp>
        <p:nvSpPr>
          <p:cNvPr id="49" name="Text 48"/>
          <p:cNvSpPr txBox="1"/>
          <p:nvPr/>
        </p:nvSpPr>
        <p:spPr>
          <a:xfrm>
            <a:off x="10287000" y="4590288"/>
            <a:ext cx="1115568" cy="438912"/>
          </a:xfrm>
          <a:prstGeom prst="rect">
            <a:avLst/>
          </a:prstGeom>
          <a:noFill/>
        </p:spPr>
        <p:txBody>
          <a:bodyPr wrap="square" lIns="0" rIns="0" tIns="0" bIns="0" anchor="ctr">
            <a:noAutofit/>
          </a:bodyPr>
          <a:lstStyle/>
          <a:p>
            <a:pPr algn="ctr">
              <a:lnSpc>
                <a:spcPct val="110000"/>
              </a:lnSpc>
              <a:spcBef>
                <a:spcPts val="0"/>
              </a:spcBef>
              <a:spcAft>
                <a:spcPts val="0"/>
              </a:spcAft>
            </a:pPr>
            <a:r>
              <a:rPr sz="880" b="0">
                <a:solidFill>
                  <a:srgbClr val="D5DFF0"/>
                </a:solidFill>
                <a:latin typeface="Arial"/>
              </a:rPr>
              <a:t>sender ↔</a:t>
            </a:r>
          </a:p>
          <a:p>
            <a:pPr algn="ctr">
              <a:lnSpc>
                <a:spcPct val="110000"/>
              </a:lnSpc>
              <a:spcBef>
                <a:spcPts val="0"/>
              </a:spcBef>
              <a:spcAft>
                <a:spcPts val="0"/>
              </a:spcAft>
            </a:pPr>
            <a:r>
              <a:rPr sz="880" b="0">
                <a:solidFill>
                  <a:srgbClr val="D5DFF0"/>
                </a:solidFill>
                <a:latin typeface="Arial"/>
              </a:rPr>
              <a:t>recipient</a:t>
            </a:r>
          </a:p>
        </p:txBody>
      </p:sp>
      <p:sp>
        <p:nvSpPr>
          <p:cNvPr id="50" name="Text 49"/>
          <p:cNvSpPr txBox="1"/>
          <p:nvPr/>
        </p:nvSpPr>
        <p:spPr>
          <a:xfrm>
            <a:off x="7114032" y="3063240"/>
            <a:ext cx="4160520" cy="274320"/>
          </a:xfrm>
          <a:prstGeom prst="rect">
            <a:avLst/>
          </a:prstGeom>
          <a:noFill/>
        </p:spPr>
        <p:txBody>
          <a:bodyPr wrap="square" lIns="0" rIns="0" tIns="0" bIns="0" anchor="ctr">
            <a:noAutofit/>
          </a:bodyPr>
          <a:lstStyle/>
          <a:p>
            <a:pPr algn="l">
              <a:lnSpc>
                <a:spcPct val="108000"/>
              </a:lnSpc>
              <a:spcBef>
                <a:spcPts val="0"/>
              </a:spcBef>
              <a:spcAft>
                <a:spcPts val="0"/>
              </a:spcAft>
            </a:pPr>
            <a:r>
              <a:rPr sz="900" b="1">
                <a:solidFill>
                  <a:srgbClr val="63718A"/>
                </a:solidFill>
                <a:latin typeface="Arial"/>
              </a:rPr>
              <a:t>1 tutor  →  many subjects, slots and credential records</a:t>
            </a:r>
          </a:p>
        </p:txBody>
      </p:sp>
      <p:sp>
        <p:nvSpPr>
          <p:cNvPr id="51" name="Text 50"/>
          <p:cNvSpPr txBox="1"/>
          <p:nvPr/>
        </p:nvSpPr>
        <p:spPr>
          <a:xfrm>
            <a:off x="7123176" y="5394960"/>
            <a:ext cx="4242816" cy="384048"/>
          </a:xfrm>
          <a:prstGeom prst="rect">
            <a:avLst/>
          </a:prstGeom>
          <a:noFill/>
        </p:spPr>
        <p:txBody>
          <a:bodyPr wrap="square" lIns="0" rIns="0" tIns="0" bIns="0" anchor="ctr">
            <a:noAutofit/>
          </a:bodyPr>
          <a:lstStyle/>
          <a:p>
            <a:pPr algn="l">
              <a:lnSpc>
                <a:spcPct val="108000"/>
              </a:lnSpc>
              <a:spcBef>
                <a:spcPts val="0"/>
              </a:spcBef>
              <a:spcAft>
                <a:spcPts val="0"/>
              </a:spcAft>
            </a:pPr>
            <a:r>
              <a:rPr sz="940" b="1">
                <a:solidFill>
                  <a:srgbClr val="1E3A8A"/>
                </a:solidFill>
                <a:latin typeface="Arial"/>
              </a:rPr>
              <a:t>A review can follow a completed booking. A database trigger refreshes each tutor's average rating and review count.</a:t>
            </a:r>
          </a:p>
        </p:txBody>
      </p:sp>
      <p:sp>
        <p:nvSpPr>
          <p:cNvPr id="52" name="Text 51"/>
          <p:cNvSpPr txBox="1"/>
          <p:nvPr/>
        </p:nvSpPr>
        <p:spPr>
          <a:xfrm>
            <a:off x="722376" y="5669280"/>
            <a:ext cx="6355080" cy="292608"/>
          </a:xfrm>
          <a:prstGeom prst="rect">
            <a:avLst/>
          </a:prstGeom>
          <a:noFill/>
        </p:spPr>
        <p:txBody>
          <a:bodyPr wrap="square" lIns="0" rIns="0" tIns="0" bIns="0" anchor="ctr">
            <a:noAutofit/>
          </a:bodyPr>
          <a:lstStyle/>
          <a:p>
            <a:pPr algn="l">
              <a:lnSpc>
                <a:spcPct val="108000"/>
              </a:lnSpc>
              <a:spcBef>
                <a:spcPts val="0"/>
              </a:spcBef>
              <a:spcAft>
                <a:spcPts val="0"/>
              </a:spcAft>
            </a:pPr>
            <a:r>
              <a:rPr sz="910" b="0">
                <a:solidFill>
                  <a:srgbClr val="63718A"/>
                </a:solidFill>
                <a:latin typeface="Arial"/>
              </a:rPr>
              <a:t>Each table stores one kind of information; keys connect the records that belong together.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05  /  TRUST, REVIEWS &amp; MESSAGING</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Pius Kaosisochukwu Aminie</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Trust and communication follow clear workflows</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Document review, learner feedback and private messages each have a defined place in the product.</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10  /  15</a:t>
            </a:r>
          </a:p>
        </p:txBody>
      </p:sp>
      <p:sp>
        <p:nvSpPr>
          <p:cNvPr id="11" name="Shape 10"/>
          <p:cNvSpPr/>
          <p:nvPr/>
        </p:nvSpPr>
        <p:spPr>
          <a:xfrm>
            <a:off x="699516" y="2089404"/>
            <a:ext cx="2542032" cy="3127248"/>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2039112"/>
            <a:ext cx="2542032" cy="3127248"/>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868680" y="2276856"/>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868680" y="2295144"/>
            <a:ext cx="457200" cy="411480"/>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01</a:t>
            </a:r>
          </a:p>
        </p:txBody>
      </p:sp>
      <p:sp>
        <p:nvSpPr>
          <p:cNvPr id="15" name="Text 14"/>
          <p:cNvSpPr txBox="1"/>
          <p:nvPr/>
        </p:nvSpPr>
        <p:spPr>
          <a:xfrm>
            <a:off x="868680" y="2971800"/>
            <a:ext cx="2121408" cy="502920"/>
          </a:xfrm>
          <a:prstGeom prst="rect">
            <a:avLst/>
          </a:prstGeom>
          <a:noFill/>
        </p:spPr>
        <p:txBody>
          <a:bodyPr wrap="square" lIns="0" rIns="0" tIns="0" bIns="0" anchor="ctr">
            <a:noAutofit/>
          </a:bodyPr>
          <a:lstStyle/>
          <a:p>
            <a:pPr algn="l">
              <a:lnSpc>
                <a:spcPct val="108000"/>
              </a:lnSpc>
              <a:spcBef>
                <a:spcPts val="0"/>
              </a:spcBef>
              <a:spcAft>
                <a:spcPts val="0"/>
              </a:spcAft>
            </a:pPr>
            <a:r>
              <a:rPr sz="1510" b="1">
                <a:solidFill>
                  <a:srgbClr val="0B1733"/>
                </a:solidFill>
                <a:latin typeface="Arial"/>
              </a:rPr>
              <a:t>Submit credentials</a:t>
            </a:r>
          </a:p>
        </p:txBody>
      </p:sp>
      <p:sp>
        <p:nvSpPr>
          <p:cNvPr id="16" name="Text 15"/>
          <p:cNvSpPr txBox="1"/>
          <p:nvPr/>
        </p:nvSpPr>
        <p:spPr>
          <a:xfrm>
            <a:off x="868680" y="3657600"/>
            <a:ext cx="2121408" cy="1024128"/>
          </a:xfrm>
          <a:prstGeom prst="rect">
            <a:avLst/>
          </a:prstGeom>
          <a:noFill/>
        </p:spPr>
        <p:txBody>
          <a:bodyPr wrap="square" lIns="0" rIns="0" tIns="0" bIns="0" anchor="t">
            <a:noAutofit/>
          </a:bodyPr>
          <a:lstStyle/>
          <a:p>
            <a:pPr algn="l">
              <a:lnSpc>
                <a:spcPct val="114000"/>
              </a:lnSpc>
              <a:spcBef>
                <a:spcPts val="0"/>
              </a:spcBef>
              <a:spcAft>
                <a:spcPts val="0"/>
              </a:spcAft>
            </a:pPr>
            <a:r>
              <a:rPr sz="1050" b="0">
                <a:solidFill>
                  <a:srgbClr val="63718A"/>
                </a:solidFill>
                <a:latin typeface="Arial"/>
              </a:rPr>
              <a:t>Tutors can provide identity and academic documents for review.</a:t>
            </a:r>
          </a:p>
        </p:txBody>
      </p:sp>
      <p:cxnSp>
        <p:nvCxnSpPr>
          <p:cNvPr id="17" name="Connector 16"/>
          <p:cNvCxnSpPr/>
          <p:nvPr/>
        </p:nvCxnSpPr>
        <p:spPr>
          <a:xfrm>
            <a:off x="868680" y="4800600"/>
            <a:ext cx="2075688"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18" name="Text 17"/>
          <p:cNvSpPr txBox="1"/>
          <p:nvPr/>
        </p:nvSpPr>
        <p:spPr>
          <a:xfrm>
            <a:off x="868680" y="4892040"/>
            <a:ext cx="2130552" cy="182880"/>
          </a:xfrm>
          <a:prstGeom prst="rect">
            <a:avLst/>
          </a:prstGeom>
          <a:noFill/>
        </p:spPr>
        <p:txBody>
          <a:bodyPr wrap="none" lIns="0" rIns="0" tIns="0" bIns="0" anchor="ctr">
            <a:noAutofit/>
          </a:bodyPr>
          <a:lstStyle/>
          <a:p>
            <a:pPr algn="l">
              <a:lnSpc>
                <a:spcPct val="108000"/>
              </a:lnSpc>
              <a:spcBef>
                <a:spcPts val="0"/>
              </a:spcBef>
              <a:spcAft>
                <a:spcPts val="0"/>
              </a:spcAft>
            </a:pPr>
            <a:r>
              <a:rPr sz="819" b="1">
                <a:solidFill>
                  <a:srgbClr val="2563EB"/>
                </a:solidFill>
                <a:latin typeface="Arial"/>
              </a:rPr>
              <a:t>tutor_documents</a:t>
            </a:r>
          </a:p>
        </p:txBody>
      </p:sp>
      <p:sp>
        <p:nvSpPr>
          <p:cNvPr id="19" name="Shape 18"/>
          <p:cNvSpPr/>
          <p:nvPr/>
        </p:nvSpPr>
        <p:spPr>
          <a:xfrm>
            <a:off x="3479291" y="2089404"/>
            <a:ext cx="2542032" cy="3127248"/>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hape 19"/>
          <p:cNvSpPr/>
          <p:nvPr/>
        </p:nvSpPr>
        <p:spPr>
          <a:xfrm>
            <a:off x="3438144" y="2039112"/>
            <a:ext cx="2542032" cy="3127248"/>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ircle 20"/>
          <p:cNvSpPr/>
          <p:nvPr/>
        </p:nvSpPr>
        <p:spPr>
          <a:xfrm>
            <a:off x="3648456" y="2276856"/>
            <a:ext cx="457200" cy="457200"/>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21"/>
          <p:cNvSpPr txBox="1"/>
          <p:nvPr/>
        </p:nvSpPr>
        <p:spPr>
          <a:xfrm>
            <a:off x="3648456" y="2295144"/>
            <a:ext cx="457200" cy="411480"/>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02</a:t>
            </a:r>
          </a:p>
        </p:txBody>
      </p:sp>
      <p:sp>
        <p:nvSpPr>
          <p:cNvPr id="23" name="Text 22"/>
          <p:cNvSpPr txBox="1"/>
          <p:nvPr/>
        </p:nvSpPr>
        <p:spPr>
          <a:xfrm>
            <a:off x="3648456" y="2971800"/>
            <a:ext cx="2121408" cy="502920"/>
          </a:xfrm>
          <a:prstGeom prst="rect">
            <a:avLst/>
          </a:prstGeom>
          <a:noFill/>
        </p:spPr>
        <p:txBody>
          <a:bodyPr wrap="square" lIns="0" rIns="0" tIns="0" bIns="0" anchor="ctr">
            <a:noAutofit/>
          </a:bodyPr>
          <a:lstStyle/>
          <a:p>
            <a:pPr algn="l">
              <a:lnSpc>
                <a:spcPct val="108000"/>
              </a:lnSpc>
              <a:spcBef>
                <a:spcPts val="0"/>
              </a:spcBef>
              <a:spcAft>
                <a:spcPts val="0"/>
              </a:spcAft>
            </a:pPr>
            <a:r>
              <a:rPr sz="1510" b="1">
                <a:solidFill>
                  <a:srgbClr val="0B1733"/>
                </a:solidFill>
                <a:latin typeface="Arial"/>
              </a:rPr>
              <a:t>Admin review</a:t>
            </a:r>
          </a:p>
        </p:txBody>
      </p:sp>
      <p:sp>
        <p:nvSpPr>
          <p:cNvPr id="24" name="Text 23"/>
          <p:cNvSpPr txBox="1"/>
          <p:nvPr/>
        </p:nvSpPr>
        <p:spPr>
          <a:xfrm>
            <a:off x="3648456" y="3657600"/>
            <a:ext cx="2121408" cy="1024128"/>
          </a:xfrm>
          <a:prstGeom prst="rect">
            <a:avLst/>
          </a:prstGeom>
          <a:noFill/>
        </p:spPr>
        <p:txBody>
          <a:bodyPr wrap="square" lIns="0" rIns="0" tIns="0" bIns="0" anchor="t">
            <a:noAutofit/>
          </a:bodyPr>
          <a:lstStyle/>
          <a:p>
            <a:pPr algn="l">
              <a:lnSpc>
                <a:spcPct val="114000"/>
              </a:lnSpc>
              <a:spcBef>
                <a:spcPts val="0"/>
              </a:spcBef>
              <a:spcAft>
                <a:spcPts val="0"/>
              </a:spcAft>
            </a:pPr>
            <a:r>
              <a:rPr sz="1050" b="0">
                <a:solidFill>
                  <a:srgbClr val="63718A"/>
                </a:solidFill>
                <a:latin typeface="Arial"/>
              </a:rPr>
              <a:t>An administrator records a verification decision; the public listing uses the verified flag.</a:t>
            </a:r>
          </a:p>
        </p:txBody>
      </p:sp>
      <p:cxnSp>
        <p:nvCxnSpPr>
          <p:cNvPr id="25" name="Connector 24"/>
          <p:cNvCxnSpPr/>
          <p:nvPr/>
        </p:nvCxnSpPr>
        <p:spPr>
          <a:xfrm>
            <a:off x="3648456" y="4800600"/>
            <a:ext cx="2075688"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26" name="Text 25"/>
          <p:cNvSpPr txBox="1"/>
          <p:nvPr/>
        </p:nvSpPr>
        <p:spPr>
          <a:xfrm>
            <a:off x="3648456" y="4892040"/>
            <a:ext cx="2130552" cy="182880"/>
          </a:xfrm>
          <a:prstGeom prst="rect">
            <a:avLst/>
          </a:prstGeom>
          <a:noFill/>
        </p:spPr>
        <p:txBody>
          <a:bodyPr wrap="none" lIns="0" rIns="0" tIns="0" bIns="0" anchor="ctr">
            <a:noAutofit/>
          </a:bodyPr>
          <a:lstStyle/>
          <a:p>
            <a:pPr algn="l">
              <a:lnSpc>
                <a:spcPct val="108000"/>
              </a:lnSpc>
              <a:spcBef>
                <a:spcPts val="0"/>
              </a:spcBef>
              <a:spcAft>
                <a:spcPts val="0"/>
              </a:spcAft>
            </a:pPr>
            <a:r>
              <a:rPr sz="819" b="1">
                <a:solidFill>
                  <a:srgbClr val="087A58"/>
                </a:solidFill>
                <a:latin typeface="Arial"/>
              </a:rPr>
              <a:t>tutor_verifications</a:t>
            </a:r>
          </a:p>
        </p:txBody>
      </p:sp>
      <p:sp>
        <p:nvSpPr>
          <p:cNvPr id="27" name="Shape 26"/>
          <p:cNvSpPr/>
          <p:nvPr/>
        </p:nvSpPr>
        <p:spPr>
          <a:xfrm>
            <a:off x="6259068" y="2089404"/>
            <a:ext cx="2542032" cy="3127248"/>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hape 27"/>
          <p:cNvSpPr/>
          <p:nvPr/>
        </p:nvSpPr>
        <p:spPr>
          <a:xfrm>
            <a:off x="6217920" y="2039112"/>
            <a:ext cx="2542032" cy="3127248"/>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ircle 28"/>
          <p:cNvSpPr/>
          <p:nvPr/>
        </p:nvSpPr>
        <p:spPr>
          <a:xfrm>
            <a:off x="6428232" y="2276856"/>
            <a:ext cx="457200" cy="457200"/>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29"/>
          <p:cNvSpPr txBox="1"/>
          <p:nvPr/>
        </p:nvSpPr>
        <p:spPr>
          <a:xfrm>
            <a:off x="6428232" y="2295144"/>
            <a:ext cx="457200" cy="411480"/>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03</a:t>
            </a:r>
          </a:p>
        </p:txBody>
      </p:sp>
      <p:sp>
        <p:nvSpPr>
          <p:cNvPr id="31" name="Text 30"/>
          <p:cNvSpPr txBox="1"/>
          <p:nvPr/>
        </p:nvSpPr>
        <p:spPr>
          <a:xfrm>
            <a:off x="6428232" y="2971800"/>
            <a:ext cx="2121408" cy="502920"/>
          </a:xfrm>
          <a:prstGeom prst="rect">
            <a:avLst/>
          </a:prstGeom>
          <a:noFill/>
        </p:spPr>
        <p:txBody>
          <a:bodyPr wrap="square" lIns="0" rIns="0" tIns="0" bIns="0" anchor="ctr">
            <a:noAutofit/>
          </a:bodyPr>
          <a:lstStyle/>
          <a:p>
            <a:pPr algn="l">
              <a:lnSpc>
                <a:spcPct val="108000"/>
              </a:lnSpc>
              <a:spcBef>
                <a:spcPts val="0"/>
              </a:spcBef>
              <a:spcAft>
                <a:spcPts val="0"/>
              </a:spcAft>
            </a:pPr>
            <a:r>
              <a:rPr sz="1510" b="1">
                <a:solidFill>
                  <a:srgbClr val="0B1733"/>
                </a:solidFill>
                <a:latin typeface="Arial"/>
              </a:rPr>
              <a:t>Review learning</a:t>
            </a:r>
          </a:p>
        </p:txBody>
      </p:sp>
      <p:sp>
        <p:nvSpPr>
          <p:cNvPr id="32" name="Text 31"/>
          <p:cNvSpPr txBox="1"/>
          <p:nvPr/>
        </p:nvSpPr>
        <p:spPr>
          <a:xfrm>
            <a:off x="6428232" y="3657600"/>
            <a:ext cx="2121408" cy="1024128"/>
          </a:xfrm>
          <a:prstGeom prst="rect">
            <a:avLst/>
          </a:prstGeom>
          <a:noFill/>
        </p:spPr>
        <p:txBody>
          <a:bodyPr wrap="square" lIns="0" rIns="0" tIns="0" bIns="0" anchor="t">
            <a:noAutofit/>
          </a:bodyPr>
          <a:lstStyle/>
          <a:p>
            <a:pPr algn="l">
              <a:lnSpc>
                <a:spcPct val="114000"/>
              </a:lnSpc>
              <a:spcBef>
                <a:spcPts val="0"/>
              </a:spcBef>
              <a:spcAft>
                <a:spcPts val="0"/>
              </a:spcAft>
            </a:pPr>
            <a:r>
              <a:rPr sz="1050" b="0">
                <a:solidFill>
                  <a:srgbClr val="63718A"/>
                </a:solidFill>
                <a:latin typeface="Arial"/>
              </a:rPr>
              <a:t>Learners can rate a completed booking; the database keeps rating summaries in sync.</a:t>
            </a:r>
          </a:p>
        </p:txBody>
      </p:sp>
      <p:cxnSp>
        <p:nvCxnSpPr>
          <p:cNvPr id="33" name="Connector 32"/>
          <p:cNvCxnSpPr/>
          <p:nvPr/>
        </p:nvCxnSpPr>
        <p:spPr>
          <a:xfrm>
            <a:off x="6428232" y="4800600"/>
            <a:ext cx="2075688"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34" name="Text 33"/>
          <p:cNvSpPr txBox="1"/>
          <p:nvPr/>
        </p:nvSpPr>
        <p:spPr>
          <a:xfrm>
            <a:off x="6428232" y="4892040"/>
            <a:ext cx="2130552" cy="182880"/>
          </a:xfrm>
          <a:prstGeom prst="rect">
            <a:avLst/>
          </a:prstGeom>
          <a:noFill/>
        </p:spPr>
        <p:txBody>
          <a:bodyPr wrap="none" lIns="0" rIns="0" tIns="0" bIns="0" anchor="ctr">
            <a:noAutofit/>
          </a:bodyPr>
          <a:lstStyle/>
          <a:p>
            <a:pPr algn="l">
              <a:lnSpc>
                <a:spcPct val="108000"/>
              </a:lnSpc>
              <a:spcBef>
                <a:spcPts val="0"/>
              </a:spcBef>
              <a:spcAft>
                <a:spcPts val="0"/>
              </a:spcAft>
            </a:pPr>
            <a:r>
              <a:rPr sz="819" b="1">
                <a:solidFill>
                  <a:srgbClr val="F4B740"/>
                </a:solidFill>
                <a:latin typeface="Arial"/>
              </a:rPr>
              <a:t>reviews + rating trigger</a:t>
            </a:r>
          </a:p>
        </p:txBody>
      </p:sp>
      <p:sp>
        <p:nvSpPr>
          <p:cNvPr id="35" name="Shape 34"/>
          <p:cNvSpPr/>
          <p:nvPr/>
        </p:nvSpPr>
        <p:spPr>
          <a:xfrm>
            <a:off x="9038844" y="2089404"/>
            <a:ext cx="2542032" cy="3127248"/>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hape 35"/>
          <p:cNvSpPr/>
          <p:nvPr/>
        </p:nvSpPr>
        <p:spPr>
          <a:xfrm>
            <a:off x="8997696" y="2039112"/>
            <a:ext cx="2542032" cy="3127248"/>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ircle 36"/>
          <p:cNvSpPr/>
          <p:nvPr/>
        </p:nvSpPr>
        <p:spPr>
          <a:xfrm>
            <a:off x="9208008" y="2276856"/>
            <a:ext cx="457200" cy="457200"/>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9208008" y="2295144"/>
            <a:ext cx="457200" cy="411480"/>
          </a:xfrm>
          <a:prstGeom prst="rect">
            <a:avLst/>
          </a:prstGeom>
          <a:noFill/>
        </p:spPr>
        <p:txBody>
          <a:bodyPr wrap="none" lIns="0" rIns="0" tIns="0" bIns="0" anchor="ctr">
            <a:noAutofit/>
          </a:bodyPr>
          <a:lstStyle/>
          <a:p>
            <a:pPr algn="ctr">
              <a:lnSpc>
                <a:spcPct val="108000"/>
              </a:lnSpc>
              <a:spcBef>
                <a:spcPts val="0"/>
              </a:spcBef>
              <a:spcAft>
                <a:spcPts val="0"/>
              </a:spcAft>
            </a:pPr>
            <a:r>
              <a:rPr sz="1000" b="1">
                <a:solidFill>
                  <a:srgbClr val="FFFFFF"/>
                </a:solidFill>
                <a:latin typeface="Arial"/>
              </a:rPr>
              <a:t>04</a:t>
            </a:r>
          </a:p>
        </p:txBody>
      </p:sp>
      <p:sp>
        <p:nvSpPr>
          <p:cNvPr id="39" name="Text 38"/>
          <p:cNvSpPr txBox="1"/>
          <p:nvPr/>
        </p:nvSpPr>
        <p:spPr>
          <a:xfrm>
            <a:off x="9208008" y="2971800"/>
            <a:ext cx="2121408" cy="502920"/>
          </a:xfrm>
          <a:prstGeom prst="rect">
            <a:avLst/>
          </a:prstGeom>
          <a:noFill/>
        </p:spPr>
        <p:txBody>
          <a:bodyPr wrap="square" lIns="0" rIns="0" tIns="0" bIns="0" anchor="ctr">
            <a:noAutofit/>
          </a:bodyPr>
          <a:lstStyle/>
          <a:p>
            <a:pPr algn="l">
              <a:lnSpc>
                <a:spcPct val="108000"/>
              </a:lnSpc>
              <a:spcBef>
                <a:spcPts val="0"/>
              </a:spcBef>
              <a:spcAft>
                <a:spcPts val="0"/>
              </a:spcAft>
            </a:pPr>
            <a:r>
              <a:rPr sz="1510" b="1">
                <a:solidFill>
                  <a:srgbClr val="0B1733"/>
                </a:solidFill>
                <a:latin typeface="Arial"/>
              </a:rPr>
              <a:t>Message privately</a:t>
            </a:r>
          </a:p>
        </p:txBody>
      </p:sp>
      <p:sp>
        <p:nvSpPr>
          <p:cNvPr id="40" name="Text 39"/>
          <p:cNvSpPr txBox="1"/>
          <p:nvPr/>
        </p:nvSpPr>
        <p:spPr>
          <a:xfrm>
            <a:off x="9208008" y="3657600"/>
            <a:ext cx="2121408" cy="1024128"/>
          </a:xfrm>
          <a:prstGeom prst="rect">
            <a:avLst/>
          </a:prstGeom>
          <a:noFill/>
        </p:spPr>
        <p:txBody>
          <a:bodyPr wrap="square" lIns="0" rIns="0" tIns="0" bIns="0" anchor="t">
            <a:noAutofit/>
          </a:bodyPr>
          <a:lstStyle/>
          <a:p>
            <a:pPr algn="l">
              <a:lnSpc>
                <a:spcPct val="114000"/>
              </a:lnSpc>
              <a:spcBef>
                <a:spcPts val="0"/>
              </a:spcBef>
              <a:spcAft>
                <a:spcPts val="0"/>
              </a:spcAft>
            </a:pPr>
            <a:r>
              <a:rPr sz="1050" b="0">
                <a:solidFill>
                  <a:srgbClr val="63718A"/>
                </a:solidFill>
                <a:latin typeface="Arial"/>
              </a:rPr>
              <a:t>Authenticated users can exchange one-to-one messages when Neon is configured.</a:t>
            </a:r>
          </a:p>
        </p:txBody>
      </p:sp>
      <p:cxnSp>
        <p:nvCxnSpPr>
          <p:cNvPr id="41" name="Connector 40"/>
          <p:cNvCxnSpPr/>
          <p:nvPr/>
        </p:nvCxnSpPr>
        <p:spPr>
          <a:xfrm>
            <a:off x="9208008" y="4800600"/>
            <a:ext cx="2075688" cy="0"/>
          </a:xfrm>
          <a:prstGeom prst="line">
            <a:avLst/>
          </a:prstGeom>
          <a:ln w="8890">
            <a:solidFill>
              <a:srgbClr val="DDE4EF"/>
            </a:solidFill>
          </a:ln>
        </p:spPr>
        <p:style>
          <a:lnRef idx="2">
            <a:schemeClr val="accent1"/>
          </a:lnRef>
          <a:fillRef idx="0">
            <a:schemeClr val="accent1"/>
          </a:fillRef>
          <a:effectRef idx="1">
            <a:schemeClr val="accent1"/>
          </a:effectRef>
          <a:fontRef idx="minor">
            <a:schemeClr val="tx1"/>
          </a:fontRef>
        </p:style>
      </p:cxnSp>
      <p:sp>
        <p:nvSpPr>
          <p:cNvPr id="42" name="Text 41"/>
          <p:cNvSpPr txBox="1"/>
          <p:nvPr/>
        </p:nvSpPr>
        <p:spPr>
          <a:xfrm>
            <a:off x="9208008" y="4892040"/>
            <a:ext cx="2130552" cy="182880"/>
          </a:xfrm>
          <a:prstGeom prst="rect">
            <a:avLst/>
          </a:prstGeom>
          <a:noFill/>
        </p:spPr>
        <p:txBody>
          <a:bodyPr wrap="none" lIns="0" rIns="0" tIns="0" bIns="0" anchor="ctr">
            <a:noAutofit/>
          </a:bodyPr>
          <a:lstStyle/>
          <a:p>
            <a:pPr algn="l">
              <a:lnSpc>
                <a:spcPct val="108000"/>
              </a:lnSpc>
              <a:spcBef>
                <a:spcPts val="0"/>
              </a:spcBef>
              <a:spcAft>
                <a:spcPts val="0"/>
              </a:spcAft>
            </a:pPr>
            <a:r>
              <a:rPr sz="819" b="1">
                <a:solidFill>
                  <a:srgbClr val="1F8A83"/>
                </a:solidFill>
                <a:latin typeface="Arial"/>
              </a:rPr>
              <a:t>messages table</a:t>
            </a:r>
          </a:p>
        </p:txBody>
      </p:sp>
      <p:sp>
        <p:nvSpPr>
          <p:cNvPr id="43" name="Shape 42"/>
          <p:cNvSpPr/>
          <p:nvPr/>
        </p:nvSpPr>
        <p:spPr>
          <a:xfrm>
            <a:off x="685800" y="5431536"/>
            <a:ext cx="10808208" cy="530352"/>
          </a:xfrm>
          <a:prstGeom prst="roundRect">
            <a:avLst>
              <a:gd name="adj" fmla="val 20689"/>
            </a:avLst>
          </a:prstGeom>
          <a:solidFill>
            <a:srgbClr val="FFF4D9"/>
          </a:solidFill>
          <a:ln w="9525">
            <a:solidFill>
              <a:srgbClr val="F2D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914400" y="5550408"/>
            <a:ext cx="10332720" cy="274320"/>
          </a:xfrm>
          <a:prstGeom prst="rect">
            <a:avLst/>
          </a:prstGeom>
          <a:noFill/>
        </p:spPr>
        <p:txBody>
          <a:bodyPr wrap="square" lIns="0" rIns="0" tIns="0" bIns="0" anchor="ctr">
            <a:noAutofit/>
          </a:bodyPr>
          <a:lstStyle/>
          <a:p>
            <a:pPr algn="ctr">
              <a:lnSpc>
                <a:spcPct val="108000"/>
              </a:lnSpc>
              <a:spcBef>
                <a:spcPts val="0"/>
              </a:spcBef>
              <a:spcAft>
                <a:spcPts val="0"/>
              </a:spcAft>
            </a:pPr>
            <a:r>
              <a:rPr sz="1019" b="1">
                <a:solidFill>
                  <a:srgbClr val="6B501B"/>
                </a:solidFill>
                <a:latin typeface="Arial"/>
              </a:rPr>
              <a:t>A verification badge signals that documents were reviewed; it does not guarantee a tutor's teaching quality.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05  /  TECHNOLOGY STACK &amp; DEPLOYMENT</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Pius Kaosisochukwu Aminie</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A full-stack Next.js build with a serverless data layer</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stack is organized into the interface, application routes, persistent storage and hosting target.</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11  /  15</a:t>
            </a:r>
          </a:p>
        </p:txBody>
      </p:sp>
      <p:sp>
        <p:nvSpPr>
          <p:cNvPr id="11" name="Shape 10"/>
          <p:cNvSpPr/>
          <p:nvPr/>
        </p:nvSpPr>
        <p:spPr>
          <a:xfrm>
            <a:off x="699516" y="2098548"/>
            <a:ext cx="2487168" cy="3090672"/>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58368" y="2048256"/>
            <a:ext cx="2487168" cy="3090672"/>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877824" y="2286000"/>
            <a:ext cx="393192" cy="393192"/>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877824" y="2295144"/>
            <a:ext cx="393192" cy="365760"/>
          </a:xfrm>
          <a:prstGeom prst="rect">
            <a:avLst/>
          </a:prstGeom>
          <a:noFill/>
        </p:spPr>
        <p:txBody>
          <a:bodyPr wrap="none" lIns="0" rIns="0" tIns="0" bIns="0" anchor="ctr">
            <a:noAutofit/>
          </a:bodyPr>
          <a:lstStyle/>
          <a:p>
            <a:pPr algn="ctr">
              <a:lnSpc>
                <a:spcPct val="108000"/>
              </a:lnSpc>
              <a:spcBef>
                <a:spcPts val="0"/>
              </a:spcBef>
              <a:spcAft>
                <a:spcPts val="0"/>
              </a:spcAft>
            </a:pPr>
            <a:r>
              <a:rPr sz="919" b="1">
                <a:solidFill>
                  <a:srgbClr val="2563EB"/>
                </a:solidFill>
                <a:latin typeface="Arial"/>
              </a:rPr>
              <a:t>01</a:t>
            </a:r>
          </a:p>
        </p:txBody>
      </p:sp>
      <p:sp>
        <p:nvSpPr>
          <p:cNvPr id="15" name="Text 14"/>
          <p:cNvSpPr txBox="1"/>
          <p:nvPr/>
        </p:nvSpPr>
        <p:spPr>
          <a:xfrm>
            <a:off x="1389888" y="2322576"/>
            <a:ext cx="1517904" cy="256032"/>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2563EB"/>
                </a:solidFill>
                <a:latin typeface="Arial"/>
              </a:rPr>
              <a:t>FRONTEND</a:t>
            </a:r>
          </a:p>
        </p:txBody>
      </p:sp>
      <p:sp>
        <p:nvSpPr>
          <p:cNvPr id="16" name="Circle 15"/>
          <p:cNvSpPr/>
          <p:nvPr/>
        </p:nvSpPr>
        <p:spPr>
          <a:xfrm>
            <a:off x="905256" y="3026664"/>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1088136" y="2953512"/>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1">
                <a:solidFill>
                  <a:srgbClr val="17233A"/>
                </a:solidFill>
                <a:latin typeface="Arial"/>
              </a:rPr>
              <a:t>Next.js App Router</a:t>
            </a:r>
          </a:p>
        </p:txBody>
      </p:sp>
      <p:sp>
        <p:nvSpPr>
          <p:cNvPr id="18" name="Circle 17"/>
          <p:cNvSpPr/>
          <p:nvPr/>
        </p:nvSpPr>
        <p:spPr>
          <a:xfrm>
            <a:off x="905256" y="3447288"/>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1088136" y="3374136"/>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React 19 · TypeScript</a:t>
            </a:r>
          </a:p>
        </p:txBody>
      </p:sp>
      <p:sp>
        <p:nvSpPr>
          <p:cNvPr id="20" name="Circle 19"/>
          <p:cNvSpPr/>
          <p:nvPr/>
        </p:nvSpPr>
        <p:spPr>
          <a:xfrm>
            <a:off x="905256" y="3867912"/>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1088136" y="3794760"/>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Tailwind CSS v4</a:t>
            </a:r>
          </a:p>
        </p:txBody>
      </p:sp>
      <p:sp>
        <p:nvSpPr>
          <p:cNvPr id="22" name="Circle 21"/>
          <p:cNvSpPr/>
          <p:nvPr/>
        </p:nvSpPr>
        <p:spPr>
          <a:xfrm>
            <a:off x="905256" y="4288536"/>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1088136" y="4215384"/>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Framer Motion · Lucide React</a:t>
            </a:r>
          </a:p>
        </p:txBody>
      </p:sp>
      <p:sp>
        <p:nvSpPr>
          <p:cNvPr id="24" name="Shape 23"/>
          <p:cNvSpPr/>
          <p:nvPr/>
        </p:nvSpPr>
        <p:spPr>
          <a:xfrm>
            <a:off x="3497579" y="2098548"/>
            <a:ext cx="2487168" cy="3090672"/>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hape 24"/>
          <p:cNvSpPr/>
          <p:nvPr/>
        </p:nvSpPr>
        <p:spPr>
          <a:xfrm>
            <a:off x="3456432" y="2048256"/>
            <a:ext cx="2487168" cy="3090672"/>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ircle 25"/>
          <p:cNvSpPr/>
          <p:nvPr/>
        </p:nvSpPr>
        <p:spPr>
          <a:xfrm>
            <a:off x="3675887" y="2286000"/>
            <a:ext cx="393192" cy="393192"/>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6"/>
          <p:cNvSpPr txBox="1"/>
          <p:nvPr/>
        </p:nvSpPr>
        <p:spPr>
          <a:xfrm>
            <a:off x="3675887" y="2295144"/>
            <a:ext cx="393192" cy="365760"/>
          </a:xfrm>
          <a:prstGeom prst="rect">
            <a:avLst/>
          </a:prstGeom>
          <a:noFill/>
        </p:spPr>
        <p:txBody>
          <a:bodyPr wrap="none" lIns="0" rIns="0" tIns="0" bIns="0" anchor="ctr">
            <a:noAutofit/>
          </a:bodyPr>
          <a:lstStyle/>
          <a:p>
            <a:pPr algn="ctr">
              <a:lnSpc>
                <a:spcPct val="108000"/>
              </a:lnSpc>
              <a:spcBef>
                <a:spcPts val="0"/>
              </a:spcBef>
              <a:spcAft>
                <a:spcPts val="0"/>
              </a:spcAft>
            </a:pPr>
            <a:r>
              <a:rPr sz="919" b="1">
                <a:solidFill>
                  <a:srgbClr val="087A58"/>
                </a:solidFill>
                <a:latin typeface="Arial"/>
              </a:rPr>
              <a:t>02</a:t>
            </a:r>
          </a:p>
        </p:txBody>
      </p:sp>
      <p:sp>
        <p:nvSpPr>
          <p:cNvPr id="28" name="Text 27"/>
          <p:cNvSpPr txBox="1"/>
          <p:nvPr/>
        </p:nvSpPr>
        <p:spPr>
          <a:xfrm>
            <a:off x="4187952" y="2322576"/>
            <a:ext cx="1517904" cy="256032"/>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087A58"/>
                </a:solidFill>
                <a:latin typeface="Arial"/>
              </a:rPr>
              <a:t>BACKEND</a:t>
            </a:r>
          </a:p>
        </p:txBody>
      </p:sp>
      <p:sp>
        <p:nvSpPr>
          <p:cNvPr id="29" name="Circle 28"/>
          <p:cNvSpPr/>
          <p:nvPr/>
        </p:nvSpPr>
        <p:spPr>
          <a:xfrm>
            <a:off x="3703320" y="3026664"/>
            <a:ext cx="82296" cy="82296"/>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29"/>
          <p:cNvSpPr txBox="1"/>
          <p:nvPr/>
        </p:nvSpPr>
        <p:spPr>
          <a:xfrm>
            <a:off x="3886200" y="2953512"/>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1">
                <a:solidFill>
                  <a:srgbClr val="17233A"/>
                </a:solidFill>
                <a:latin typeface="Arial"/>
              </a:rPr>
              <a:t>Next.js API routes</a:t>
            </a:r>
          </a:p>
        </p:txBody>
      </p:sp>
      <p:sp>
        <p:nvSpPr>
          <p:cNvPr id="31" name="Circle 30"/>
          <p:cNvSpPr/>
          <p:nvPr/>
        </p:nvSpPr>
        <p:spPr>
          <a:xfrm>
            <a:off x="3703320" y="3447288"/>
            <a:ext cx="82296" cy="82296"/>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1"/>
          <p:cNvSpPr txBox="1"/>
          <p:nvPr/>
        </p:nvSpPr>
        <p:spPr>
          <a:xfrm>
            <a:off x="3886200" y="3374136"/>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Node.js runtime</a:t>
            </a:r>
          </a:p>
        </p:txBody>
      </p:sp>
      <p:sp>
        <p:nvSpPr>
          <p:cNvPr id="33" name="Circle 32"/>
          <p:cNvSpPr/>
          <p:nvPr/>
        </p:nvSpPr>
        <p:spPr>
          <a:xfrm>
            <a:off x="3703320" y="3867912"/>
            <a:ext cx="82296" cy="82296"/>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33"/>
          <p:cNvSpPr txBox="1"/>
          <p:nvPr/>
        </p:nvSpPr>
        <p:spPr>
          <a:xfrm>
            <a:off x="3886200" y="3794760"/>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bcryptjs password hashing</a:t>
            </a:r>
          </a:p>
        </p:txBody>
      </p:sp>
      <p:sp>
        <p:nvSpPr>
          <p:cNvPr id="35" name="Circle 34"/>
          <p:cNvSpPr/>
          <p:nvPr/>
        </p:nvSpPr>
        <p:spPr>
          <a:xfrm>
            <a:off x="3703320" y="4288536"/>
            <a:ext cx="82296" cy="82296"/>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35"/>
          <p:cNvSpPr txBox="1"/>
          <p:nvPr/>
        </p:nvSpPr>
        <p:spPr>
          <a:xfrm>
            <a:off x="3886200" y="4215384"/>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JWT-based authentication</a:t>
            </a:r>
          </a:p>
        </p:txBody>
      </p:sp>
      <p:sp>
        <p:nvSpPr>
          <p:cNvPr id="37" name="Shape 36"/>
          <p:cNvSpPr/>
          <p:nvPr/>
        </p:nvSpPr>
        <p:spPr>
          <a:xfrm>
            <a:off x="6295644" y="2098548"/>
            <a:ext cx="2487168" cy="3090672"/>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hape 37"/>
          <p:cNvSpPr/>
          <p:nvPr/>
        </p:nvSpPr>
        <p:spPr>
          <a:xfrm>
            <a:off x="6254496" y="2048256"/>
            <a:ext cx="2487168" cy="3090672"/>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ircle 38"/>
          <p:cNvSpPr/>
          <p:nvPr/>
        </p:nvSpPr>
        <p:spPr>
          <a:xfrm>
            <a:off x="6473952" y="2286000"/>
            <a:ext cx="393192" cy="393192"/>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39"/>
          <p:cNvSpPr txBox="1"/>
          <p:nvPr/>
        </p:nvSpPr>
        <p:spPr>
          <a:xfrm>
            <a:off x="6473952" y="2295144"/>
            <a:ext cx="393192" cy="365760"/>
          </a:xfrm>
          <a:prstGeom prst="rect">
            <a:avLst/>
          </a:prstGeom>
          <a:noFill/>
        </p:spPr>
        <p:txBody>
          <a:bodyPr wrap="none" lIns="0" rIns="0" tIns="0" bIns="0" anchor="ctr">
            <a:noAutofit/>
          </a:bodyPr>
          <a:lstStyle/>
          <a:p>
            <a:pPr algn="ctr">
              <a:lnSpc>
                <a:spcPct val="108000"/>
              </a:lnSpc>
              <a:spcBef>
                <a:spcPts val="0"/>
              </a:spcBef>
              <a:spcAft>
                <a:spcPts val="0"/>
              </a:spcAft>
            </a:pPr>
            <a:r>
              <a:rPr sz="919" b="1">
                <a:solidFill>
                  <a:srgbClr val="1F8A83"/>
                </a:solidFill>
                <a:latin typeface="Arial"/>
              </a:rPr>
              <a:t>03</a:t>
            </a:r>
          </a:p>
        </p:txBody>
      </p:sp>
      <p:sp>
        <p:nvSpPr>
          <p:cNvPr id="41" name="Text 40"/>
          <p:cNvSpPr txBox="1"/>
          <p:nvPr/>
        </p:nvSpPr>
        <p:spPr>
          <a:xfrm>
            <a:off x="6986016" y="2322576"/>
            <a:ext cx="1517904" cy="256032"/>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1F8A83"/>
                </a:solidFill>
                <a:latin typeface="Arial"/>
              </a:rPr>
              <a:t>DATABASE</a:t>
            </a:r>
          </a:p>
        </p:txBody>
      </p:sp>
      <p:sp>
        <p:nvSpPr>
          <p:cNvPr id="42" name="Circle 41"/>
          <p:cNvSpPr/>
          <p:nvPr/>
        </p:nvSpPr>
        <p:spPr>
          <a:xfrm>
            <a:off x="6501383" y="3026664"/>
            <a:ext cx="82296" cy="82296"/>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42"/>
          <p:cNvSpPr txBox="1"/>
          <p:nvPr/>
        </p:nvSpPr>
        <p:spPr>
          <a:xfrm>
            <a:off x="6684264" y="2953512"/>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1">
                <a:solidFill>
                  <a:srgbClr val="17233A"/>
                </a:solidFill>
                <a:latin typeface="Arial"/>
              </a:rPr>
              <a:t>Neon Serverless PostgreSQL</a:t>
            </a:r>
          </a:p>
        </p:txBody>
      </p:sp>
      <p:sp>
        <p:nvSpPr>
          <p:cNvPr id="44" name="Circle 43"/>
          <p:cNvSpPr/>
          <p:nvPr/>
        </p:nvSpPr>
        <p:spPr>
          <a:xfrm>
            <a:off x="6501383" y="3447288"/>
            <a:ext cx="82296" cy="82296"/>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44"/>
          <p:cNvSpPr txBox="1"/>
          <p:nvPr/>
        </p:nvSpPr>
        <p:spPr>
          <a:xfrm>
            <a:off x="6684264" y="3374136"/>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Relational tables &amp; constraints</a:t>
            </a:r>
          </a:p>
        </p:txBody>
      </p:sp>
      <p:sp>
        <p:nvSpPr>
          <p:cNvPr id="46" name="Circle 45"/>
          <p:cNvSpPr/>
          <p:nvPr/>
        </p:nvSpPr>
        <p:spPr>
          <a:xfrm>
            <a:off x="6501383" y="3867912"/>
            <a:ext cx="82296" cy="82296"/>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46"/>
          <p:cNvSpPr txBox="1"/>
          <p:nvPr/>
        </p:nvSpPr>
        <p:spPr>
          <a:xfrm>
            <a:off x="6684264" y="3794760"/>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Rating summary trigger</a:t>
            </a:r>
          </a:p>
        </p:txBody>
      </p:sp>
      <p:sp>
        <p:nvSpPr>
          <p:cNvPr id="48" name="Circle 47"/>
          <p:cNvSpPr/>
          <p:nvPr/>
        </p:nvSpPr>
        <p:spPr>
          <a:xfrm>
            <a:off x="6501383" y="4288536"/>
            <a:ext cx="82296" cy="82296"/>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48"/>
          <p:cNvSpPr txBox="1"/>
          <p:nvPr/>
        </p:nvSpPr>
        <p:spPr>
          <a:xfrm>
            <a:off x="6684264" y="4215384"/>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Persistent when configured</a:t>
            </a:r>
          </a:p>
        </p:txBody>
      </p:sp>
      <p:sp>
        <p:nvSpPr>
          <p:cNvPr id="50" name="Shape 49"/>
          <p:cNvSpPr/>
          <p:nvPr/>
        </p:nvSpPr>
        <p:spPr>
          <a:xfrm>
            <a:off x="9093708" y="2098548"/>
            <a:ext cx="2487168" cy="3090672"/>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hape 50"/>
          <p:cNvSpPr/>
          <p:nvPr/>
        </p:nvSpPr>
        <p:spPr>
          <a:xfrm>
            <a:off x="9052560" y="2048256"/>
            <a:ext cx="2487168" cy="3090672"/>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ircle 51"/>
          <p:cNvSpPr/>
          <p:nvPr/>
        </p:nvSpPr>
        <p:spPr>
          <a:xfrm>
            <a:off x="9272016" y="2286000"/>
            <a:ext cx="393192" cy="393192"/>
          </a:xfrm>
          <a:prstGeom prst="ellipse">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 52"/>
          <p:cNvSpPr txBox="1"/>
          <p:nvPr/>
        </p:nvSpPr>
        <p:spPr>
          <a:xfrm>
            <a:off x="9272016" y="2295144"/>
            <a:ext cx="393192" cy="365760"/>
          </a:xfrm>
          <a:prstGeom prst="rect">
            <a:avLst/>
          </a:prstGeom>
          <a:noFill/>
        </p:spPr>
        <p:txBody>
          <a:bodyPr wrap="none" lIns="0" rIns="0" tIns="0" bIns="0" anchor="ctr">
            <a:noAutofit/>
          </a:bodyPr>
          <a:lstStyle/>
          <a:p>
            <a:pPr algn="ctr">
              <a:lnSpc>
                <a:spcPct val="108000"/>
              </a:lnSpc>
              <a:spcBef>
                <a:spcPts val="0"/>
              </a:spcBef>
              <a:spcAft>
                <a:spcPts val="0"/>
              </a:spcAft>
            </a:pPr>
            <a:r>
              <a:rPr sz="919" b="1">
                <a:solidFill>
                  <a:srgbClr val="F4B740"/>
                </a:solidFill>
                <a:latin typeface="Arial"/>
              </a:rPr>
              <a:t>04</a:t>
            </a:r>
          </a:p>
        </p:txBody>
      </p:sp>
      <p:sp>
        <p:nvSpPr>
          <p:cNvPr id="54" name="Text 53"/>
          <p:cNvSpPr txBox="1"/>
          <p:nvPr/>
        </p:nvSpPr>
        <p:spPr>
          <a:xfrm>
            <a:off x="9784080" y="2322576"/>
            <a:ext cx="1517904" cy="256032"/>
          </a:xfrm>
          <a:prstGeom prst="rect">
            <a:avLst/>
          </a:prstGeom>
          <a:noFill/>
        </p:spPr>
        <p:txBody>
          <a:bodyPr wrap="none" lIns="0" rIns="0" tIns="0" bIns="0" anchor="ctr">
            <a:noAutofit/>
          </a:bodyPr>
          <a:lstStyle/>
          <a:p>
            <a:pPr algn="l">
              <a:lnSpc>
                <a:spcPct val="108000"/>
              </a:lnSpc>
              <a:spcBef>
                <a:spcPts val="0"/>
              </a:spcBef>
              <a:spcAft>
                <a:spcPts val="0"/>
              </a:spcAft>
            </a:pPr>
            <a:r>
              <a:rPr sz="1000" b="1">
                <a:solidFill>
                  <a:srgbClr val="F4B740"/>
                </a:solidFill>
                <a:latin typeface="Arial"/>
              </a:rPr>
              <a:t>HOSTING TARGET</a:t>
            </a:r>
          </a:p>
        </p:txBody>
      </p:sp>
      <p:sp>
        <p:nvSpPr>
          <p:cNvPr id="55" name="Circle 54"/>
          <p:cNvSpPr/>
          <p:nvPr/>
        </p:nvSpPr>
        <p:spPr>
          <a:xfrm>
            <a:off x="9299448" y="3026664"/>
            <a:ext cx="82296" cy="8229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 55"/>
          <p:cNvSpPr txBox="1"/>
          <p:nvPr/>
        </p:nvSpPr>
        <p:spPr>
          <a:xfrm>
            <a:off x="9482328" y="2953512"/>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1">
                <a:solidFill>
                  <a:srgbClr val="17233A"/>
                </a:solidFill>
                <a:latin typeface="Arial"/>
              </a:rPr>
              <a:t>Vercel</a:t>
            </a:r>
          </a:p>
        </p:txBody>
      </p:sp>
      <p:sp>
        <p:nvSpPr>
          <p:cNvPr id="57" name="Circle 56"/>
          <p:cNvSpPr/>
          <p:nvPr/>
        </p:nvSpPr>
        <p:spPr>
          <a:xfrm>
            <a:off x="9299448" y="3447288"/>
            <a:ext cx="82296" cy="8229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 57"/>
          <p:cNvSpPr txBox="1"/>
          <p:nvPr/>
        </p:nvSpPr>
        <p:spPr>
          <a:xfrm>
            <a:off x="9482328" y="3374136"/>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Next.js deployment target</a:t>
            </a:r>
          </a:p>
        </p:txBody>
      </p:sp>
      <p:sp>
        <p:nvSpPr>
          <p:cNvPr id="59" name="Circle 58"/>
          <p:cNvSpPr/>
          <p:nvPr/>
        </p:nvSpPr>
        <p:spPr>
          <a:xfrm>
            <a:off x="9299448" y="3867912"/>
            <a:ext cx="82296" cy="8229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 59"/>
          <p:cNvSpPr txBox="1"/>
          <p:nvPr/>
        </p:nvSpPr>
        <p:spPr>
          <a:xfrm>
            <a:off x="9482328" y="3794760"/>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Serverless / Node routes</a:t>
            </a:r>
          </a:p>
        </p:txBody>
      </p:sp>
      <p:sp>
        <p:nvSpPr>
          <p:cNvPr id="61" name="Circle 60"/>
          <p:cNvSpPr/>
          <p:nvPr/>
        </p:nvSpPr>
        <p:spPr>
          <a:xfrm>
            <a:off x="9299448" y="4288536"/>
            <a:ext cx="82296" cy="8229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 61"/>
          <p:cNvSpPr txBox="1"/>
          <p:nvPr/>
        </p:nvSpPr>
        <p:spPr>
          <a:xfrm>
            <a:off x="9482328" y="4215384"/>
            <a:ext cx="1847088" cy="310896"/>
          </a:xfrm>
          <a:prstGeom prst="rect">
            <a:avLst/>
          </a:prstGeom>
          <a:noFill/>
        </p:spPr>
        <p:txBody>
          <a:bodyPr wrap="square" lIns="0" rIns="0" tIns="0" bIns="0" anchor="ctr">
            <a:noAutofit/>
          </a:bodyPr>
          <a:lstStyle/>
          <a:p>
            <a:pPr algn="l">
              <a:lnSpc>
                <a:spcPct val="108000"/>
              </a:lnSpc>
              <a:spcBef>
                <a:spcPts val="0"/>
              </a:spcBef>
              <a:spcAft>
                <a:spcPts val="0"/>
              </a:spcAft>
            </a:pPr>
            <a:r>
              <a:rPr sz="960" b="0">
                <a:solidFill>
                  <a:srgbClr val="17233A"/>
                </a:solidFill>
                <a:latin typeface="Arial"/>
              </a:rPr>
              <a:t>Not a claim of live deployment</a:t>
            </a:r>
          </a:p>
        </p:txBody>
      </p:sp>
      <p:sp>
        <p:nvSpPr>
          <p:cNvPr id="63" name="Text 62"/>
          <p:cNvSpPr txBox="1"/>
          <p:nvPr/>
        </p:nvSpPr>
        <p:spPr>
          <a:xfrm>
            <a:off x="3200400" y="3374136"/>
            <a:ext cx="228600" cy="329184"/>
          </a:xfrm>
          <a:prstGeom prst="rect">
            <a:avLst/>
          </a:prstGeom>
          <a:noFill/>
        </p:spPr>
        <p:txBody>
          <a:bodyPr wrap="none" lIns="0" rIns="0" tIns="0" bIns="0" anchor="ctr">
            <a:noAutofit/>
          </a:bodyPr>
          <a:lstStyle/>
          <a:p>
            <a:pPr algn="ctr">
              <a:lnSpc>
                <a:spcPct val="108000"/>
              </a:lnSpc>
              <a:spcBef>
                <a:spcPts val="0"/>
              </a:spcBef>
              <a:spcAft>
                <a:spcPts val="0"/>
              </a:spcAft>
            </a:pPr>
            <a:r>
              <a:rPr sz="1900" b="1">
                <a:solidFill>
                  <a:srgbClr val="10B981"/>
                </a:solidFill>
                <a:latin typeface="Arial"/>
              </a:rPr>
              <a:t>→</a:t>
            </a:r>
          </a:p>
        </p:txBody>
      </p:sp>
      <p:sp>
        <p:nvSpPr>
          <p:cNvPr id="64" name="Text 63"/>
          <p:cNvSpPr txBox="1"/>
          <p:nvPr/>
        </p:nvSpPr>
        <p:spPr>
          <a:xfrm>
            <a:off x="5998464" y="3374136"/>
            <a:ext cx="228600" cy="329184"/>
          </a:xfrm>
          <a:prstGeom prst="rect">
            <a:avLst/>
          </a:prstGeom>
          <a:noFill/>
        </p:spPr>
        <p:txBody>
          <a:bodyPr wrap="none" lIns="0" rIns="0" tIns="0" bIns="0" anchor="ctr">
            <a:noAutofit/>
          </a:bodyPr>
          <a:lstStyle/>
          <a:p>
            <a:pPr algn="ctr">
              <a:lnSpc>
                <a:spcPct val="108000"/>
              </a:lnSpc>
              <a:spcBef>
                <a:spcPts val="0"/>
              </a:spcBef>
              <a:spcAft>
                <a:spcPts val="0"/>
              </a:spcAft>
            </a:pPr>
            <a:r>
              <a:rPr sz="1900" b="1">
                <a:solidFill>
                  <a:srgbClr val="10B981"/>
                </a:solidFill>
                <a:latin typeface="Arial"/>
              </a:rPr>
              <a:t>→</a:t>
            </a:r>
          </a:p>
        </p:txBody>
      </p:sp>
      <p:sp>
        <p:nvSpPr>
          <p:cNvPr id="65" name="Text 64"/>
          <p:cNvSpPr txBox="1"/>
          <p:nvPr/>
        </p:nvSpPr>
        <p:spPr>
          <a:xfrm>
            <a:off x="8796528" y="3374136"/>
            <a:ext cx="228600" cy="329184"/>
          </a:xfrm>
          <a:prstGeom prst="rect">
            <a:avLst/>
          </a:prstGeom>
          <a:noFill/>
        </p:spPr>
        <p:txBody>
          <a:bodyPr wrap="none" lIns="0" rIns="0" tIns="0" bIns="0" anchor="ctr">
            <a:noAutofit/>
          </a:bodyPr>
          <a:lstStyle/>
          <a:p>
            <a:pPr algn="ctr">
              <a:lnSpc>
                <a:spcPct val="108000"/>
              </a:lnSpc>
              <a:spcBef>
                <a:spcPts val="0"/>
              </a:spcBef>
              <a:spcAft>
                <a:spcPts val="0"/>
              </a:spcAft>
            </a:pPr>
            <a:r>
              <a:rPr sz="1900" b="1">
                <a:solidFill>
                  <a:srgbClr val="10B981"/>
                </a:solidFill>
                <a:latin typeface="Arial"/>
              </a:rPr>
              <a:t>→</a:t>
            </a:r>
          </a:p>
        </p:txBody>
      </p:sp>
      <p:sp>
        <p:nvSpPr>
          <p:cNvPr id="66" name="Shape 65"/>
          <p:cNvSpPr/>
          <p:nvPr/>
        </p:nvSpPr>
        <p:spPr>
          <a:xfrm>
            <a:off x="685800" y="5449824"/>
            <a:ext cx="10789920" cy="530352"/>
          </a:xfrm>
          <a:prstGeom prst="roundRect">
            <a:avLst>
              <a:gd name="adj" fmla="val 20689"/>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 66"/>
          <p:cNvSpPr txBox="1"/>
          <p:nvPr/>
        </p:nvSpPr>
        <p:spPr>
          <a:xfrm>
            <a:off x="905256" y="5559552"/>
            <a:ext cx="10314432" cy="283464"/>
          </a:xfrm>
          <a:prstGeom prst="rect">
            <a:avLst/>
          </a:prstGeom>
          <a:noFill/>
        </p:spPr>
        <p:txBody>
          <a:bodyPr wrap="square" lIns="0" rIns="0" tIns="0" bIns="0" anchor="ctr">
            <a:noAutofit/>
          </a:bodyPr>
          <a:lstStyle/>
          <a:p>
            <a:pPr algn="ctr">
              <a:lnSpc>
                <a:spcPct val="108000"/>
              </a:lnSpc>
              <a:spcBef>
                <a:spcPts val="0"/>
              </a:spcBef>
              <a:spcAft>
                <a:spcPts val="0"/>
              </a:spcAft>
            </a:pPr>
            <a:r>
              <a:rPr sz="1010" b="1">
                <a:solidFill>
                  <a:srgbClr val="FFFFFF"/>
                </a:solidFill>
                <a:latin typeface="Arial"/>
              </a:rPr>
              <a:t>One framework supports the UI and APIs; Neon provides relational persistence; Vercel is the intended hosting destination.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05  /  LIMITATIONS &amp; FUTURE IMPROVEMENTS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Pius Kaosisochukwu Aminie</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700" b="1">
                <a:solidFill>
                  <a:srgbClr val="0B1733"/>
                </a:solidFill>
                <a:latin typeface="Arial"/>
              </a:rPr>
              <a:t>A practical roadmap for production readiness</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next steps focus on access control, testing, reliable persistence and payments.</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12  /  15</a:t>
            </a:r>
          </a:p>
        </p:txBody>
      </p:sp>
      <p:sp>
        <p:nvSpPr>
          <p:cNvPr id="11" name="Shape 10"/>
          <p:cNvSpPr/>
          <p:nvPr/>
        </p:nvSpPr>
        <p:spPr>
          <a:xfrm>
            <a:off x="658368" y="1920240"/>
            <a:ext cx="3456432" cy="4160520"/>
          </a:xfrm>
          <a:prstGeom prst="roundRect">
            <a:avLst>
              <a:gd name="adj" fmla="val 6000"/>
            </a:avLst>
          </a:prstGeom>
          <a:solidFill>
            <a:srgbClr val="13264B"/>
          </a:solidFill>
          <a:ln w="9525">
            <a:solidFill>
              <a:srgbClr val="1326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932688" y="2176272"/>
            <a:ext cx="1993392" cy="283464"/>
          </a:xfrm>
          <a:prstGeom prst="roundRect">
            <a:avLst>
              <a:gd name="adj" fmla="val 28000"/>
            </a:avLst>
          </a:prstGeom>
          <a:solidFill>
            <a:srgbClr val="254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996696" y="2194560"/>
            <a:ext cx="1865376" cy="246888"/>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D8E5F1"/>
                </a:solidFill>
                <a:latin typeface="Arial"/>
              </a:rPr>
              <a:t>CURRENT CONSIDERATIONS</a:t>
            </a:r>
          </a:p>
        </p:txBody>
      </p:sp>
      <p:sp>
        <p:nvSpPr>
          <p:cNvPr id="14" name="Text 13"/>
          <p:cNvSpPr txBox="1"/>
          <p:nvPr/>
        </p:nvSpPr>
        <p:spPr>
          <a:xfrm>
            <a:off x="941832" y="2660904"/>
            <a:ext cx="2761488" cy="630936"/>
          </a:xfrm>
          <a:prstGeom prst="rect">
            <a:avLst/>
          </a:prstGeom>
          <a:noFill/>
        </p:spPr>
        <p:txBody>
          <a:bodyPr wrap="square" lIns="0" rIns="0" tIns="0" bIns="0" anchor="t">
            <a:noAutofit/>
          </a:bodyPr>
          <a:lstStyle/>
          <a:p>
            <a:pPr algn="l">
              <a:lnSpc>
                <a:spcPct val="102000"/>
              </a:lnSpc>
              <a:spcBef>
                <a:spcPts val="0"/>
              </a:spcBef>
              <a:spcAft>
                <a:spcPts val="0"/>
              </a:spcAft>
            </a:pPr>
            <a:r>
              <a:rPr sz="1900" b="1">
                <a:solidFill>
                  <a:srgbClr val="FFFFFF"/>
                </a:solidFill>
                <a:latin typeface="Arial"/>
              </a:rPr>
              <a:t>Next: harden for</a:t>
            </a:r>
          </a:p>
          <a:p>
            <a:pPr algn="l">
              <a:lnSpc>
                <a:spcPct val="102000"/>
              </a:lnSpc>
              <a:spcBef>
                <a:spcPts val="0"/>
              </a:spcBef>
              <a:spcAft>
                <a:spcPts val="0"/>
              </a:spcAft>
            </a:pPr>
            <a:r>
              <a:rPr sz="1900" b="1">
                <a:solidFill>
                  <a:srgbClr val="FFFFFF"/>
                </a:solidFill>
                <a:latin typeface="Arial"/>
              </a:rPr>
              <a:t>production</a:t>
            </a:r>
          </a:p>
        </p:txBody>
      </p:sp>
      <p:sp>
        <p:nvSpPr>
          <p:cNvPr id="15" name="Circle 14"/>
          <p:cNvSpPr/>
          <p:nvPr/>
        </p:nvSpPr>
        <p:spPr>
          <a:xfrm>
            <a:off x="960120" y="3675887"/>
            <a:ext cx="109728" cy="109728"/>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15"/>
          <p:cNvSpPr txBox="1"/>
          <p:nvPr/>
        </p:nvSpPr>
        <p:spPr>
          <a:xfrm>
            <a:off x="1197864" y="3602736"/>
            <a:ext cx="2587752" cy="548640"/>
          </a:xfrm>
          <a:prstGeom prst="rect">
            <a:avLst/>
          </a:prstGeom>
          <a:noFill/>
        </p:spPr>
        <p:txBody>
          <a:bodyPr wrap="square" lIns="0" rIns="0" tIns="0" bIns="0" anchor="ctr">
            <a:noAutofit/>
          </a:bodyPr>
          <a:lstStyle/>
          <a:p>
            <a:pPr algn="l">
              <a:lnSpc>
                <a:spcPct val="108000"/>
              </a:lnSpc>
              <a:spcBef>
                <a:spcPts val="0"/>
              </a:spcBef>
              <a:spcAft>
                <a:spcPts val="0"/>
              </a:spcAft>
            </a:pPr>
            <a:r>
              <a:rPr sz="1010" b="0">
                <a:solidFill>
                  <a:srgbClr val="D9E5F5"/>
                </a:solidFill>
                <a:latin typeface="Arial"/>
              </a:rPr>
              <a:t>Dashboard pages are not gated by middleware in this build.</a:t>
            </a:r>
          </a:p>
        </p:txBody>
      </p:sp>
      <p:sp>
        <p:nvSpPr>
          <p:cNvPr id="17" name="Circle 16"/>
          <p:cNvSpPr/>
          <p:nvPr/>
        </p:nvSpPr>
        <p:spPr>
          <a:xfrm>
            <a:off x="960120" y="4370832"/>
            <a:ext cx="109728" cy="109728"/>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17"/>
          <p:cNvSpPr txBox="1"/>
          <p:nvPr/>
        </p:nvSpPr>
        <p:spPr>
          <a:xfrm>
            <a:off x="1197864" y="4297680"/>
            <a:ext cx="2587752" cy="548640"/>
          </a:xfrm>
          <a:prstGeom prst="rect">
            <a:avLst/>
          </a:prstGeom>
          <a:noFill/>
        </p:spPr>
        <p:txBody>
          <a:bodyPr wrap="square" lIns="0" rIns="0" tIns="0" bIns="0" anchor="ctr">
            <a:noAutofit/>
          </a:bodyPr>
          <a:lstStyle/>
          <a:p>
            <a:pPr algn="l">
              <a:lnSpc>
                <a:spcPct val="108000"/>
              </a:lnSpc>
              <a:spcBef>
                <a:spcPts val="0"/>
              </a:spcBef>
              <a:spcAft>
                <a:spcPts val="0"/>
              </a:spcAft>
            </a:pPr>
            <a:r>
              <a:rPr sz="1010" b="0">
                <a:solidFill>
                  <a:srgbClr val="D9E5F5"/>
                </a:solidFill>
                <a:latin typeface="Arial"/>
              </a:rPr>
              <a:t>Persistent records require Neon configuration.</a:t>
            </a:r>
          </a:p>
        </p:txBody>
      </p:sp>
      <p:sp>
        <p:nvSpPr>
          <p:cNvPr id="19" name="Circle 18"/>
          <p:cNvSpPr/>
          <p:nvPr/>
        </p:nvSpPr>
        <p:spPr>
          <a:xfrm>
            <a:off x="960120" y="5065776"/>
            <a:ext cx="109728" cy="109728"/>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1197864" y="4992624"/>
            <a:ext cx="2587752" cy="548640"/>
          </a:xfrm>
          <a:prstGeom prst="rect">
            <a:avLst/>
          </a:prstGeom>
          <a:noFill/>
        </p:spPr>
        <p:txBody>
          <a:bodyPr wrap="square" lIns="0" rIns="0" tIns="0" bIns="0" anchor="ctr">
            <a:noAutofit/>
          </a:bodyPr>
          <a:lstStyle/>
          <a:p>
            <a:pPr algn="l">
              <a:lnSpc>
                <a:spcPct val="108000"/>
              </a:lnSpc>
              <a:spcBef>
                <a:spcPts val="0"/>
              </a:spcBef>
              <a:spcAft>
                <a:spcPts val="0"/>
              </a:spcAft>
            </a:pPr>
            <a:r>
              <a:rPr sz="1010" b="0">
                <a:solidFill>
                  <a:srgbClr val="D9E5F5"/>
                </a:solidFill>
                <a:latin typeface="Arial"/>
              </a:rPr>
              <a:t>Some no-database demo flows use temporary memory; messages and reviews require the database.</a:t>
            </a:r>
          </a:p>
        </p:txBody>
      </p:sp>
      <p:sp>
        <p:nvSpPr>
          <p:cNvPr id="21" name="Text 20"/>
          <p:cNvSpPr txBox="1"/>
          <p:nvPr/>
        </p:nvSpPr>
        <p:spPr>
          <a:xfrm>
            <a:off x="932688" y="5760720"/>
            <a:ext cx="2770632" cy="182880"/>
          </a:xfrm>
          <a:prstGeom prst="rect">
            <a:avLst/>
          </a:prstGeom>
          <a:noFill/>
        </p:spPr>
        <p:txBody>
          <a:bodyPr wrap="none" lIns="0" rIns="0" tIns="0" bIns="0" anchor="t">
            <a:noAutofit/>
          </a:bodyPr>
          <a:lstStyle/>
          <a:p>
            <a:pPr algn="l">
              <a:lnSpc>
                <a:spcPct val="108000"/>
              </a:lnSpc>
              <a:spcBef>
                <a:spcPts val="0"/>
              </a:spcBef>
              <a:spcAft>
                <a:spcPts val="0"/>
              </a:spcAft>
            </a:pPr>
            <a:r>
              <a:rPr sz="900" b="1">
                <a:solidFill>
                  <a:srgbClr val="AFC0D9"/>
                </a:solidFill>
                <a:latin typeface="Arial"/>
              </a:rPr>
              <a:t>Clear constraints → actionable next steps</a:t>
            </a:r>
          </a:p>
        </p:txBody>
      </p:sp>
      <p:sp>
        <p:nvSpPr>
          <p:cNvPr id="22" name="Text 21"/>
          <p:cNvSpPr txBox="1"/>
          <p:nvPr/>
        </p:nvSpPr>
        <p:spPr>
          <a:xfrm>
            <a:off x="4526280" y="2057400"/>
            <a:ext cx="6766560" cy="228600"/>
          </a:xfrm>
          <a:prstGeom prst="rect">
            <a:avLst/>
          </a:prstGeom>
          <a:noFill/>
        </p:spPr>
        <p:txBody>
          <a:bodyPr wrap="none" lIns="0" rIns="0" tIns="0" bIns="0" anchor="t">
            <a:noAutofit/>
          </a:bodyPr>
          <a:lstStyle/>
          <a:p>
            <a:pPr algn="l">
              <a:lnSpc>
                <a:spcPct val="108000"/>
              </a:lnSpc>
              <a:spcBef>
                <a:spcPts val="0"/>
              </a:spcBef>
              <a:spcAft>
                <a:spcPts val="0"/>
              </a:spcAft>
            </a:pPr>
            <a:r>
              <a:rPr sz="950" b="1">
                <a:solidFill>
                  <a:srgbClr val="1E3A8A"/>
                </a:solidFill>
                <a:latin typeface="Arial"/>
              </a:rPr>
              <a:t>ROADMAP PRIORITIES</a:t>
            </a:r>
          </a:p>
        </p:txBody>
      </p:sp>
      <p:sp>
        <p:nvSpPr>
          <p:cNvPr id="23" name="Shape 22"/>
          <p:cNvSpPr/>
          <p:nvPr/>
        </p:nvSpPr>
        <p:spPr>
          <a:xfrm>
            <a:off x="4539996" y="2491740"/>
            <a:ext cx="6986016" cy="685800"/>
          </a:xfrm>
          <a:prstGeom prst="roundRect">
            <a:avLst>
              <a:gd name="adj" fmla="val 1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hape 23"/>
          <p:cNvSpPr/>
          <p:nvPr/>
        </p:nvSpPr>
        <p:spPr>
          <a:xfrm>
            <a:off x="4498848" y="2441448"/>
            <a:ext cx="6986016" cy="685800"/>
          </a:xfrm>
          <a:prstGeom prst="roundRect">
            <a:avLst>
              <a:gd name="adj" fmla="val 1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ircle 24"/>
          <p:cNvSpPr/>
          <p:nvPr/>
        </p:nvSpPr>
        <p:spPr>
          <a:xfrm>
            <a:off x="4681728" y="2596896"/>
            <a:ext cx="347472" cy="347472"/>
          </a:xfrm>
          <a:prstGeom prst="ellipse">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25"/>
          <p:cNvSpPr txBox="1"/>
          <p:nvPr/>
        </p:nvSpPr>
        <p:spPr>
          <a:xfrm>
            <a:off x="4681728" y="2606040"/>
            <a:ext cx="347472" cy="310896"/>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1E3A8A"/>
                </a:solidFill>
                <a:latin typeface="Arial"/>
              </a:rPr>
              <a:t>01</a:t>
            </a:r>
          </a:p>
        </p:txBody>
      </p:sp>
      <p:sp>
        <p:nvSpPr>
          <p:cNvPr id="27" name="Text 26"/>
          <p:cNvSpPr txBox="1"/>
          <p:nvPr/>
        </p:nvSpPr>
        <p:spPr>
          <a:xfrm>
            <a:off x="5212080" y="2532888"/>
            <a:ext cx="1956816" cy="228600"/>
          </a:xfrm>
          <a:prstGeom prst="rect">
            <a:avLst/>
          </a:prstGeom>
          <a:noFill/>
        </p:spPr>
        <p:txBody>
          <a:bodyPr wrap="none" lIns="0" rIns="0" tIns="0" bIns="0" anchor="ctr">
            <a:noAutofit/>
          </a:bodyPr>
          <a:lstStyle/>
          <a:p>
            <a:pPr algn="l">
              <a:lnSpc>
                <a:spcPct val="108000"/>
              </a:lnSpc>
              <a:spcBef>
                <a:spcPts val="0"/>
              </a:spcBef>
              <a:spcAft>
                <a:spcPts val="0"/>
              </a:spcAft>
            </a:pPr>
            <a:r>
              <a:rPr sz="1140" b="1">
                <a:solidFill>
                  <a:srgbClr val="0B1733"/>
                </a:solidFill>
                <a:latin typeface="Arial"/>
              </a:rPr>
              <a:t>Access control</a:t>
            </a:r>
          </a:p>
        </p:txBody>
      </p:sp>
      <p:sp>
        <p:nvSpPr>
          <p:cNvPr id="28" name="Text 27"/>
          <p:cNvSpPr txBox="1"/>
          <p:nvPr/>
        </p:nvSpPr>
        <p:spPr>
          <a:xfrm>
            <a:off x="7205472" y="2514600"/>
            <a:ext cx="3968496" cy="502920"/>
          </a:xfrm>
          <a:prstGeom prst="rect">
            <a:avLst/>
          </a:prstGeom>
          <a:noFill/>
        </p:spPr>
        <p:txBody>
          <a:bodyPr wrap="square" lIns="0" rIns="0" tIns="0" bIns="0" anchor="ctr">
            <a:noAutofit/>
          </a:bodyPr>
          <a:lstStyle/>
          <a:p>
            <a:pPr algn="l">
              <a:lnSpc>
                <a:spcPct val="108000"/>
              </a:lnSpc>
              <a:spcBef>
                <a:spcPts val="0"/>
              </a:spcBef>
              <a:spcAft>
                <a:spcPts val="0"/>
              </a:spcAft>
            </a:pPr>
            <a:r>
              <a:rPr sz="919" b="0">
                <a:solidFill>
                  <a:srgbClr val="63718A"/>
                </a:solidFill>
                <a:latin typeface="Arial"/>
              </a:rPr>
              <a:t>Protect pages and enforce role + record ownership in production.</a:t>
            </a:r>
          </a:p>
        </p:txBody>
      </p:sp>
      <p:sp>
        <p:nvSpPr>
          <p:cNvPr id="29" name="Shape 28"/>
          <p:cNvSpPr/>
          <p:nvPr/>
        </p:nvSpPr>
        <p:spPr>
          <a:xfrm>
            <a:off x="4539996" y="3323844"/>
            <a:ext cx="6986016" cy="685800"/>
          </a:xfrm>
          <a:prstGeom prst="roundRect">
            <a:avLst>
              <a:gd name="adj" fmla="val 1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hape 29"/>
          <p:cNvSpPr/>
          <p:nvPr/>
        </p:nvSpPr>
        <p:spPr>
          <a:xfrm>
            <a:off x="4498848" y="3273552"/>
            <a:ext cx="6986016" cy="685800"/>
          </a:xfrm>
          <a:prstGeom prst="roundRect">
            <a:avLst>
              <a:gd name="adj" fmla="val 1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ircle 30"/>
          <p:cNvSpPr/>
          <p:nvPr/>
        </p:nvSpPr>
        <p:spPr>
          <a:xfrm>
            <a:off x="4681728" y="3429000"/>
            <a:ext cx="347472" cy="347472"/>
          </a:xfrm>
          <a:prstGeom prst="ellipse">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31"/>
          <p:cNvSpPr txBox="1"/>
          <p:nvPr/>
        </p:nvSpPr>
        <p:spPr>
          <a:xfrm>
            <a:off x="4681728" y="3438144"/>
            <a:ext cx="347472" cy="310896"/>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1E3A8A"/>
                </a:solidFill>
                <a:latin typeface="Arial"/>
              </a:rPr>
              <a:t>02</a:t>
            </a:r>
          </a:p>
        </p:txBody>
      </p:sp>
      <p:sp>
        <p:nvSpPr>
          <p:cNvPr id="33" name="Text 32"/>
          <p:cNvSpPr txBox="1"/>
          <p:nvPr/>
        </p:nvSpPr>
        <p:spPr>
          <a:xfrm>
            <a:off x="5212080" y="3364992"/>
            <a:ext cx="1956816" cy="228600"/>
          </a:xfrm>
          <a:prstGeom prst="rect">
            <a:avLst/>
          </a:prstGeom>
          <a:noFill/>
        </p:spPr>
        <p:txBody>
          <a:bodyPr wrap="none" lIns="0" rIns="0" tIns="0" bIns="0" anchor="ctr">
            <a:noAutofit/>
          </a:bodyPr>
          <a:lstStyle/>
          <a:p>
            <a:pPr algn="l">
              <a:lnSpc>
                <a:spcPct val="108000"/>
              </a:lnSpc>
              <a:spcBef>
                <a:spcPts val="0"/>
              </a:spcBef>
              <a:spcAft>
                <a:spcPts val="0"/>
              </a:spcAft>
            </a:pPr>
            <a:r>
              <a:rPr sz="1140" b="1">
                <a:solidFill>
                  <a:srgbClr val="0B1733"/>
                </a:solidFill>
                <a:latin typeface="Arial"/>
              </a:rPr>
              <a:t>End-to-end testing</a:t>
            </a:r>
          </a:p>
        </p:txBody>
      </p:sp>
      <p:sp>
        <p:nvSpPr>
          <p:cNvPr id="34" name="Text 33"/>
          <p:cNvSpPr txBox="1"/>
          <p:nvPr/>
        </p:nvSpPr>
        <p:spPr>
          <a:xfrm>
            <a:off x="7205472" y="3346704"/>
            <a:ext cx="3968496" cy="502920"/>
          </a:xfrm>
          <a:prstGeom prst="rect">
            <a:avLst/>
          </a:prstGeom>
          <a:noFill/>
        </p:spPr>
        <p:txBody>
          <a:bodyPr wrap="square" lIns="0" rIns="0" tIns="0" bIns="0" anchor="ctr">
            <a:noAutofit/>
          </a:bodyPr>
          <a:lstStyle/>
          <a:p>
            <a:pPr algn="l">
              <a:lnSpc>
                <a:spcPct val="108000"/>
              </a:lnSpc>
              <a:spcBef>
                <a:spcPts val="0"/>
              </a:spcBef>
              <a:spcAft>
                <a:spcPts val="0"/>
              </a:spcAft>
            </a:pPr>
            <a:r>
              <a:rPr sz="919" b="0">
                <a:solidFill>
                  <a:srgbClr val="63718A"/>
                </a:solidFill>
                <a:latin typeface="Arial"/>
              </a:rPr>
              <a:t>Exercise student, parent, tutor and admin journeys across the app.</a:t>
            </a:r>
          </a:p>
        </p:txBody>
      </p:sp>
      <p:sp>
        <p:nvSpPr>
          <p:cNvPr id="35" name="Shape 34"/>
          <p:cNvSpPr/>
          <p:nvPr/>
        </p:nvSpPr>
        <p:spPr>
          <a:xfrm>
            <a:off x="4539996" y="4155948"/>
            <a:ext cx="6986016" cy="685800"/>
          </a:xfrm>
          <a:prstGeom prst="roundRect">
            <a:avLst>
              <a:gd name="adj" fmla="val 1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hape 35"/>
          <p:cNvSpPr/>
          <p:nvPr/>
        </p:nvSpPr>
        <p:spPr>
          <a:xfrm>
            <a:off x="4498848" y="4105656"/>
            <a:ext cx="6986016" cy="685800"/>
          </a:xfrm>
          <a:prstGeom prst="roundRect">
            <a:avLst>
              <a:gd name="adj" fmla="val 1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ircle 36"/>
          <p:cNvSpPr/>
          <p:nvPr/>
        </p:nvSpPr>
        <p:spPr>
          <a:xfrm>
            <a:off x="4681728" y="4261104"/>
            <a:ext cx="347472" cy="347472"/>
          </a:xfrm>
          <a:prstGeom prst="ellipse">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37"/>
          <p:cNvSpPr txBox="1"/>
          <p:nvPr/>
        </p:nvSpPr>
        <p:spPr>
          <a:xfrm>
            <a:off x="4681728" y="4270248"/>
            <a:ext cx="347472" cy="310896"/>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087A58"/>
                </a:solidFill>
                <a:latin typeface="Arial"/>
              </a:rPr>
              <a:t>03</a:t>
            </a:r>
          </a:p>
        </p:txBody>
      </p:sp>
      <p:sp>
        <p:nvSpPr>
          <p:cNvPr id="39" name="Text 38"/>
          <p:cNvSpPr txBox="1"/>
          <p:nvPr/>
        </p:nvSpPr>
        <p:spPr>
          <a:xfrm>
            <a:off x="5212080" y="4197096"/>
            <a:ext cx="1956816" cy="228600"/>
          </a:xfrm>
          <a:prstGeom prst="rect">
            <a:avLst/>
          </a:prstGeom>
          <a:noFill/>
        </p:spPr>
        <p:txBody>
          <a:bodyPr wrap="none" lIns="0" rIns="0" tIns="0" bIns="0" anchor="ctr">
            <a:noAutofit/>
          </a:bodyPr>
          <a:lstStyle/>
          <a:p>
            <a:pPr algn="l">
              <a:lnSpc>
                <a:spcPct val="108000"/>
              </a:lnSpc>
              <a:spcBef>
                <a:spcPts val="0"/>
              </a:spcBef>
              <a:spcAft>
                <a:spcPts val="0"/>
              </a:spcAft>
            </a:pPr>
            <a:r>
              <a:rPr sz="1140" b="1">
                <a:solidFill>
                  <a:srgbClr val="0B1733"/>
                </a:solidFill>
                <a:latin typeface="Arial"/>
              </a:rPr>
              <a:t>Payments</a:t>
            </a:r>
          </a:p>
        </p:txBody>
      </p:sp>
      <p:sp>
        <p:nvSpPr>
          <p:cNvPr id="40" name="Text 39"/>
          <p:cNvSpPr txBox="1"/>
          <p:nvPr/>
        </p:nvSpPr>
        <p:spPr>
          <a:xfrm>
            <a:off x="7205472" y="4178808"/>
            <a:ext cx="3968496" cy="502920"/>
          </a:xfrm>
          <a:prstGeom prst="rect">
            <a:avLst/>
          </a:prstGeom>
          <a:noFill/>
        </p:spPr>
        <p:txBody>
          <a:bodyPr wrap="square" lIns="0" rIns="0" tIns="0" bIns="0" anchor="ctr">
            <a:noAutofit/>
          </a:bodyPr>
          <a:lstStyle/>
          <a:p>
            <a:pPr algn="l">
              <a:lnSpc>
                <a:spcPct val="108000"/>
              </a:lnSpc>
              <a:spcBef>
                <a:spcPts val="0"/>
              </a:spcBef>
              <a:spcAft>
                <a:spcPts val="0"/>
              </a:spcAft>
            </a:pPr>
            <a:r>
              <a:rPr sz="919" b="0">
                <a:solidFill>
                  <a:srgbClr val="63718A"/>
                </a:solidFill>
                <a:latin typeface="Arial"/>
              </a:rPr>
              <a:t>Add a secure provider only after payment, refund and reconciliation rules are designed.</a:t>
            </a:r>
          </a:p>
        </p:txBody>
      </p:sp>
      <p:sp>
        <p:nvSpPr>
          <p:cNvPr id="41" name="Shape 40"/>
          <p:cNvSpPr/>
          <p:nvPr/>
        </p:nvSpPr>
        <p:spPr>
          <a:xfrm>
            <a:off x="4539996" y="4988052"/>
            <a:ext cx="6986016" cy="685800"/>
          </a:xfrm>
          <a:prstGeom prst="roundRect">
            <a:avLst>
              <a:gd name="adj" fmla="val 1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hape 41"/>
          <p:cNvSpPr/>
          <p:nvPr/>
        </p:nvSpPr>
        <p:spPr>
          <a:xfrm>
            <a:off x="4498848" y="4937760"/>
            <a:ext cx="6986016" cy="685800"/>
          </a:xfrm>
          <a:prstGeom prst="roundRect">
            <a:avLst>
              <a:gd name="adj" fmla="val 1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ircle 42"/>
          <p:cNvSpPr/>
          <p:nvPr/>
        </p:nvSpPr>
        <p:spPr>
          <a:xfrm>
            <a:off x="4681728" y="5093208"/>
            <a:ext cx="347472" cy="347472"/>
          </a:xfrm>
          <a:prstGeom prst="ellipse">
            <a:avLst/>
          </a:prstGeom>
          <a:solidFill>
            <a:srgbClr val="E7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43"/>
          <p:cNvSpPr txBox="1"/>
          <p:nvPr/>
        </p:nvSpPr>
        <p:spPr>
          <a:xfrm>
            <a:off x="4681728" y="5102352"/>
            <a:ext cx="347472" cy="310896"/>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087A58"/>
                </a:solidFill>
                <a:latin typeface="Arial"/>
              </a:rPr>
              <a:t>04</a:t>
            </a:r>
          </a:p>
        </p:txBody>
      </p:sp>
      <p:sp>
        <p:nvSpPr>
          <p:cNvPr id="45" name="Text 44"/>
          <p:cNvSpPr txBox="1"/>
          <p:nvPr/>
        </p:nvSpPr>
        <p:spPr>
          <a:xfrm>
            <a:off x="5212080" y="5029200"/>
            <a:ext cx="1956816" cy="228600"/>
          </a:xfrm>
          <a:prstGeom prst="rect">
            <a:avLst/>
          </a:prstGeom>
          <a:noFill/>
        </p:spPr>
        <p:txBody>
          <a:bodyPr wrap="none" lIns="0" rIns="0" tIns="0" bIns="0" anchor="ctr">
            <a:noAutofit/>
          </a:bodyPr>
          <a:lstStyle/>
          <a:p>
            <a:pPr algn="l">
              <a:lnSpc>
                <a:spcPct val="108000"/>
              </a:lnSpc>
              <a:spcBef>
                <a:spcPts val="0"/>
              </a:spcBef>
              <a:spcAft>
                <a:spcPts val="0"/>
              </a:spcAft>
            </a:pPr>
            <a:r>
              <a:rPr sz="1140" b="1">
                <a:solidFill>
                  <a:srgbClr val="0B1733"/>
                </a:solidFill>
                <a:latin typeface="Arial"/>
              </a:rPr>
              <a:t>Operational readiness</a:t>
            </a:r>
          </a:p>
        </p:txBody>
      </p:sp>
      <p:sp>
        <p:nvSpPr>
          <p:cNvPr id="46" name="Text 45"/>
          <p:cNvSpPr txBox="1"/>
          <p:nvPr/>
        </p:nvSpPr>
        <p:spPr>
          <a:xfrm>
            <a:off x="7205472" y="5010912"/>
            <a:ext cx="3968496" cy="502920"/>
          </a:xfrm>
          <a:prstGeom prst="rect">
            <a:avLst/>
          </a:prstGeom>
          <a:noFill/>
        </p:spPr>
        <p:txBody>
          <a:bodyPr wrap="square" lIns="0" rIns="0" tIns="0" bIns="0" anchor="ctr">
            <a:noAutofit/>
          </a:bodyPr>
          <a:lstStyle/>
          <a:p>
            <a:pPr algn="l">
              <a:lnSpc>
                <a:spcPct val="108000"/>
              </a:lnSpc>
              <a:spcBef>
                <a:spcPts val="0"/>
              </a:spcBef>
              <a:spcAft>
                <a:spcPts val="0"/>
              </a:spcAft>
            </a:pPr>
            <a:r>
              <a:rPr sz="919" b="0">
                <a:solidFill>
                  <a:srgbClr val="63718A"/>
                </a:solidFill>
                <a:latin typeface="Arial"/>
              </a:rPr>
              <a:t>Confirm database setup, persistence, monitoring and recovery processes.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05  /  PROPOSED REVENUE MODEL</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Pius Kaosisochukwu Aminie</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Future commission on completed sessions</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This is a proposal for later implementation — not a current payment or commission feature.</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13  /  15</a:t>
            </a:r>
          </a:p>
        </p:txBody>
      </p:sp>
      <p:sp>
        <p:nvSpPr>
          <p:cNvPr id="11" name="Shape 10"/>
          <p:cNvSpPr/>
          <p:nvPr/>
        </p:nvSpPr>
        <p:spPr>
          <a:xfrm>
            <a:off x="740664" y="1901952"/>
            <a:ext cx="3977639" cy="310896"/>
          </a:xfrm>
          <a:prstGeom prst="roundRect">
            <a:avLst>
              <a:gd name="adj" fmla="val 28000"/>
            </a:avLst>
          </a:prstGeom>
          <a:solidFill>
            <a:srgbClr val="FFF4D9"/>
          </a:solidFill>
          <a:ln w="8890">
            <a:solidFill>
              <a:srgbClr val="EFD9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1"/>
          <p:cNvSpPr txBox="1"/>
          <p:nvPr/>
        </p:nvSpPr>
        <p:spPr>
          <a:xfrm>
            <a:off x="804672" y="1920240"/>
            <a:ext cx="3849624" cy="274320"/>
          </a:xfrm>
          <a:prstGeom prst="rect">
            <a:avLst/>
          </a:prstGeom>
          <a:noFill/>
        </p:spPr>
        <p:txBody>
          <a:bodyPr wrap="none" lIns="0" rIns="0" tIns="0" bIns="0" anchor="ctr">
            <a:noAutofit/>
          </a:bodyPr>
          <a:lstStyle/>
          <a:p>
            <a:pPr algn="ctr">
              <a:lnSpc>
                <a:spcPct val="108000"/>
              </a:lnSpc>
              <a:spcBef>
                <a:spcPts val="0"/>
              </a:spcBef>
              <a:spcAft>
                <a:spcPts val="0"/>
              </a:spcAft>
            </a:pPr>
            <a:r>
              <a:rPr sz="910" b="1">
                <a:solidFill>
                  <a:srgbClr val="765617"/>
                </a:solidFill>
                <a:latin typeface="Arial"/>
              </a:rPr>
              <a:t>PROPOSED REVENUE MODEL  ·  FUTURE IMPLEMENTATION</a:t>
            </a:r>
          </a:p>
        </p:txBody>
      </p:sp>
      <p:sp>
        <p:nvSpPr>
          <p:cNvPr id="13" name="Text 12"/>
          <p:cNvSpPr txBox="1"/>
          <p:nvPr/>
        </p:nvSpPr>
        <p:spPr>
          <a:xfrm>
            <a:off x="768096" y="2441448"/>
            <a:ext cx="4800600" cy="749808"/>
          </a:xfrm>
          <a:prstGeom prst="rect">
            <a:avLst/>
          </a:prstGeom>
          <a:noFill/>
        </p:spPr>
        <p:txBody>
          <a:bodyPr wrap="square" lIns="0" rIns="0" tIns="0" bIns="0" anchor="t">
            <a:noAutofit/>
          </a:bodyPr>
          <a:lstStyle/>
          <a:p>
            <a:pPr algn="l">
              <a:lnSpc>
                <a:spcPct val="102000"/>
              </a:lnSpc>
              <a:spcBef>
                <a:spcPts val="0"/>
              </a:spcBef>
              <a:spcAft>
                <a:spcPts val="0"/>
              </a:spcAft>
            </a:pPr>
            <a:r>
              <a:rPr sz="2400" b="1">
                <a:solidFill>
                  <a:srgbClr val="0B1733"/>
                </a:solidFill>
                <a:latin typeface="Arial"/>
              </a:rPr>
              <a:t>Commission on a</a:t>
            </a:r>
          </a:p>
          <a:p>
            <a:pPr algn="l">
              <a:lnSpc>
                <a:spcPct val="102000"/>
              </a:lnSpc>
              <a:spcBef>
                <a:spcPts val="0"/>
              </a:spcBef>
              <a:spcAft>
                <a:spcPts val="0"/>
              </a:spcAft>
            </a:pPr>
            <a:r>
              <a:rPr sz="2400" b="1">
                <a:solidFill>
                  <a:srgbClr val="0B1733"/>
                </a:solidFill>
                <a:latin typeface="Arial"/>
              </a:rPr>
              <a:t>completed paid session</a:t>
            </a:r>
          </a:p>
        </p:txBody>
      </p:sp>
      <p:sp>
        <p:nvSpPr>
          <p:cNvPr id="14" name="Text 13"/>
          <p:cNvSpPr txBox="1"/>
          <p:nvPr/>
        </p:nvSpPr>
        <p:spPr>
          <a:xfrm>
            <a:off x="786384" y="3410712"/>
            <a:ext cx="4544568" cy="658368"/>
          </a:xfrm>
          <a:prstGeom prst="rect">
            <a:avLst/>
          </a:prstGeom>
          <a:noFill/>
        </p:spPr>
        <p:txBody>
          <a:bodyPr wrap="square" lIns="0" rIns="0" tIns="0" bIns="0" anchor="t">
            <a:noAutofit/>
          </a:bodyPr>
          <a:lstStyle/>
          <a:p>
            <a:pPr algn="l">
              <a:lnSpc>
                <a:spcPct val="114000"/>
              </a:lnSpc>
              <a:spcBef>
                <a:spcPts val="0"/>
              </a:spcBef>
              <a:spcAft>
                <a:spcPts val="0"/>
              </a:spcAft>
            </a:pPr>
            <a:r>
              <a:rPr sz="1300" b="0">
                <a:solidFill>
                  <a:srgbClr val="63718A"/>
                </a:solidFill>
                <a:latin typeface="Arial"/>
              </a:rPr>
              <a:t>After a paid tutoring session has been completed, the platform could receive an agreed commission.</a:t>
            </a:r>
          </a:p>
        </p:txBody>
      </p:sp>
      <p:sp>
        <p:nvSpPr>
          <p:cNvPr id="15" name="Text 14"/>
          <p:cNvSpPr txBox="1"/>
          <p:nvPr/>
        </p:nvSpPr>
        <p:spPr>
          <a:xfrm>
            <a:off x="786384" y="4645152"/>
            <a:ext cx="4553712" cy="502920"/>
          </a:xfrm>
          <a:prstGeom prst="rect">
            <a:avLst/>
          </a:prstGeom>
          <a:noFill/>
        </p:spPr>
        <p:txBody>
          <a:bodyPr wrap="square" lIns="0" rIns="0" tIns="0" bIns="0" anchor="t">
            <a:noAutofit/>
          </a:bodyPr>
          <a:lstStyle/>
          <a:p>
            <a:pPr algn="l">
              <a:lnSpc>
                <a:spcPct val="112000"/>
              </a:lnSpc>
              <a:spcBef>
                <a:spcPts val="0"/>
              </a:spcBef>
              <a:spcAft>
                <a:spcPts val="0"/>
              </a:spcAft>
            </a:pPr>
            <a:r>
              <a:rPr sz="1040" b="1">
                <a:solidFill>
                  <a:srgbClr val="087A58"/>
                </a:solidFill>
                <a:latin typeface="Arial"/>
              </a:rPr>
              <a:t>No percentage, payment provider, forecast or live commission processing is assumed.</a:t>
            </a:r>
          </a:p>
        </p:txBody>
      </p:sp>
      <p:sp>
        <p:nvSpPr>
          <p:cNvPr id="16" name="Shape 15"/>
          <p:cNvSpPr/>
          <p:nvPr/>
        </p:nvSpPr>
        <p:spPr>
          <a:xfrm>
            <a:off x="5737860" y="2080260"/>
            <a:ext cx="5806440" cy="3749039"/>
          </a:xfrm>
          <a:prstGeom prst="roundRect">
            <a:avLst>
              <a:gd name="adj" fmla="val 6000"/>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hape 16"/>
          <p:cNvSpPr/>
          <p:nvPr/>
        </p:nvSpPr>
        <p:spPr>
          <a:xfrm>
            <a:off x="5696712" y="2029968"/>
            <a:ext cx="5806440" cy="3749039"/>
          </a:xfrm>
          <a:prstGeom prst="roundRect">
            <a:avLst>
              <a:gd name="adj" fmla="val 6000"/>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ircle 17"/>
          <p:cNvSpPr/>
          <p:nvPr/>
        </p:nvSpPr>
        <p:spPr>
          <a:xfrm>
            <a:off x="6373368" y="2532888"/>
            <a:ext cx="493776" cy="49377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18"/>
          <p:cNvSpPr txBox="1"/>
          <p:nvPr/>
        </p:nvSpPr>
        <p:spPr>
          <a:xfrm>
            <a:off x="6373368" y="2560320"/>
            <a:ext cx="493776" cy="429768"/>
          </a:xfrm>
          <a:prstGeom prst="rect">
            <a:avLst/>
          </a:prstGeom>
          <a:noFill/>
        </p:spPr>
        <p:txBody>
          <a:bodyPr wrap="none" lIns="0" rIns="0" tIns="0" bIns="0" anchor="ctr">
            <a:noAutofit/>
          </a:bodyPr>
          <a:lstStyle/>
          <a:p>
            <a:pPr algn="ctr">
              <a:lnSpc>
                <a:spcPct val="108000"/>
              </a:lnSpc>
              <a:spcBef>
                <a:spcPts val="0"/>
              </a:spcBef>
              <a:spcAft>
                <a:spcPts val="0"/>
              </a:spcAft>
            </a:pPr>
            <a:r>
              <a:rPr sz="1019" b="1">
                <a:solidFill>
                  <a:srgbClr val="FFFFFF"/>
                </a:solidFill>
                <a:latin typeface="Arial"/>
              </a:rPr>
              <a:t>01</a:t>
            </a:r>
          </a:p>
        </p:txBody>
      </p:sp>
      <p:sp>
        <p:nvSpPr>
          <p:cNvPr id="20" name="Text 19"/>
          <p:cNvSpPr txBox="1"/>
          <p:nvPr/>
        </p:nvSpPr>
        <p:spPr>
          <a:xfrm>
            <a:off x="6053328" y="3255264"/>
            <a:ext cx="1207008" cy="566928"/>
          </a:xfrm>
          <a:prstGeom prst="rect">
            <a:avLst/>
          </a:prstGeom>
          <a:noFill/>
        </p:spPr>
        <p:txBody>
          <a:bodyPr wrap="square" lIns="0" rIns="0" tIns="0" bIns="0" anchor="ctr">
            <a:noAutofit/>
          </a:bodyPr>
          <a:lstStyle/>
          <a:p>
            <a:pPr algn="ctr">
              <a:lnSpc>
                <a:spcPct val="108000"/>
              </a:lnSpc>
              <a:spcBef>
                <a:spcPts val="0"/>
              </a:spcBef>
              <a:spcAft>
                <a:spcPts val="0"/>
              </a:spcAft>
            </a:pPr>
            <a:r>
              <a:rPr sz="1230" b="1">
                <a:solidFill>
                  <a:srgbClr val="0B1733"/>
                </a:solidFill>
                <a:latin typeface="Arial"/>
              </a:rPr>
              <a:t>Session completed</a:t>
            </a:r>
          </a:p>
        </p:txBody>
      </p:sp>
      <p:sp>
        <p:nvSpPr>
          <p:cNvPr id="21" name="Text 20"/>
          <p:cNvSpPr txBox="1"/>
          <p:nvPr/>
        </p:nvSpPr>
        <p:spPr>
          <a:xfrm>
            <a:off x="6016752" y="3959352"/>
            <a:ext cx="1307592" cy="713232"/>
          </a:xfrm>
          <a:prstGeom prst="rect">
            <a:avLst/>
          </a:prstGeom>
          <a:noFill/>
        </p:spPr>
        <p:txBody>
          <a:bodyPr wrap="square" lIns="0" rIns="0" tIns="0" bIns="0" anchor="ctr">
            <a:noAutofit/>
          </a:bodyPr>
          <a:lstStyle/>
          <a:p>
            <a:pPr algn="ctr">
              <a:lnSpc>
                <a:spcPct val="108000"/>
              </a:lnSpc>
              <a:spcBef>
                <a:spcPts val="0"/>
              </a:spcBef>
              <a:spcAft>
                <a:spcPts val="0"/>
              </a:spcAft>
            </a:pPr>
            <a:r>
              <a:rPr sz="969" b="0">
                <a:solidFill>
                  <a:srgbClr val="63718A"/>
                </a:solidFill>
                <a:latin typeface="Arial"/>
              </a:rPr>
              <a:t>A tutoring session is delivered.</a:t>
            </a:r>
          </a:p>
        </p:txBody>
      </p:sp>
      <p:sp>
        <p:nvSpPr>
          <p:cNvPr id="22" name="Circle 21"/>
          <p:cNvSpPr/>
          <p:nvPr/>
        </p:nvSpPr>
        <p:spPr>
          <a:xfrm>
            <a:off x="8247888" y="2532888"/>
            <a:ext cx="493776" cy="493776"/>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22"/>
          <p:cNvSpPr txBox="1"/>
          <p:nvPr/>
        </p:nvSpPr>
        <p:spPr>
          <a:xfrm>
            <a:off x="8247888" y="2560320"/>
            <a:ext cx="493776" cy="429768"/>
          </a:xfrm>
          <a:prstGeom prst="rect">
            <a:avLst/>
          </a:prstGeom>
          <a:noFill/>
        </p:spPr>
        <p:txBody>
          <a:bodyPr wrap="none" lIns="0" rIns="0" tIns="0" bIns="0" anchor="ctr">
            <a:noAutofit/>
          </a:bodyPr>
          <a:lstStyle/>
          <a:p>
            <a:pPr algn="ctr">
              <a:lnSpc>
                <a:spcPct val="108000"/>
              </a:lnSpc>
              <a:spcBef>
                <a:spcPts val="0"/>
              </a:spcBef>
              <a:spcAft>
                <a:spcPts val="0"/>
              </a:spcAft>
            </a:pPr>
            <a:r>
              <a:rPr sz="1019" b="1">
                <a:solidFill>
                  <a:srgbClr val="FFFFFF"/>
                </a:solidFill>
                <a:latin typeface="Arial"/>
              </a:rPr>
              <a:t>02</a:t>
            </a:r>
          </a:p>
        </p:txBody>
      </p:sp>
      <p:sp>
        <p:nvSpPr>
          <p:cNvPr id="24" name="Text 23"/>
          <p:cNvSpPr txBox="1"/>
          <p:nvPr/>
        </p:nvSpPr>
        <p:spPr>
          <a:xfrm>
            <a:off x="7927848" y="3255264"/>
            <a:ext cx="1207008" cy="566928"/>
          </a:xfrm>
          <a:prstGeom prst="rect">
            <a:avLst/>
          </a:prstGeom>
          <a:noFill/>
        </p:spPr>
        <p:txBody>
          <a:bodyPr wrap="square" lIns="0" rIns="0" tIns="0" bIns="0" anchor="ctr">
            <a:noAutofit/>
          </a:bodyPr>
          <a:lstStyle/>
          <a:p>
            <a:pPr algn="ctr">
              <a:lnSpc>
                <a:spcPct val="108000"/>
              </a:lnSpc>
              <a:spcBef>
                <a:spcPts val="0"/>
              </a:spcBef>
              <a:spcAft>
                <a:spcPts val="0"/>
              </a:spcAft>
            </a:pPr>
            <a:r>
              <a:rPr sz="1230" b="1">
                <a:solidFill>
                  <a:srgbClr val="0B1733"/>
                </a:solidFill>
                <a:latin typeface="Arial"/>
              </a:rPr>
              <a:t>Agreement applied</a:t>
            </a:r>
          </a:p>
        </p:txBody>
      </p:sp>
      <p:sp>
        <p:nvSpPr>
          <p:cNvPr id="25" name="Text 24"/>
          <p:cNvSpPr txBox="1"/>
          <p:nvPr/>
        </p:nvSpPr>
        <p:spPr>
          <a:xfrm>
            <a:off x="7891272" y="3959352"/>
            <a:ext cx="1307592" cy="713232"/>
          </a:xfrm>
          <a:prstGeom prst="rect">
            <a:avLst/>
          </a:prstGeom>
          <a:noFill/>
        </p:spPr>
        <p:txBody>
          <a:bodyPr wrap="square" lIns="0" rIns="0" tIns="0" bIns="0" anchor="ctr">
            <a:noAutofit/>
          </a:bodyPr>
          <a:lstStyle/>
          <a:p>
            <a:pPr algn="ctr">
              <a:lnSpc>
                <a:spcPct val="108000"/>
              </a:lnSpc>
              <a:spcBef>
                <a:spcPts val="0"/>
              </a:spcBef>
              <a:spcAft>
                <a:spcPts val="0"/>
              </a:spcAft>
            </a:pPr>
            <a:r>
              <a:rPr sz="969" b="0">
                <a:solidFill>
                  <a:srgbClr val="63718A"/>
                </a:solidFill>
                <a:latin typeface="Arial"/>
              </a:rPr>
              <a:t>A future rate would be agreed in advance.</a:t>
            </a:r>
          </a:p>
        </p:txBody>
      </p:sp>
      <p:sp>
        <p:nvSpPr>
          <p:cNvPr id="26" name="Circle 25"/>
          <p:cNvSpPr/>
          <p:nvPr/>
        </p:nvSpPr>
        <p:spPr>
          <a:xfrm>
            <a:off x="10122408" y="2532888"/>
            <a:ext cx="493776" cy="49377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26"/>
          <p:cNvSpPr txBox="1"/>
          <p:nvPr/>
        </p:nvSpPr>
        <p:spPr>
          <a:xfrm>
            <a:off x="10122408" y="2560320"/>
            <a:ext cx="493776" cy="429768"/>
          </a:xfrm>
          <a:prstGeom prst="rect">
            <a:avLst/>
          </a:prstGeom>
          <a:noFill/>
        </p:spPr>
        <p:txBody>
          <a:bodyPr wrap="none" lIns="0" rIns="0" tIns="0" bIns="0" anchor="ctr">
            <a:noAutofit/>
          </a:bodyPr>
          <a:lstStyle/>
          <a:p>
            <a:pPr algn="ctr">
              <a:lnSpc>
                <a:spcPct val="108000"/>
              </a:lnSpc>
              <a:spcBef>
                <a:spcPts val="0"/>
              </a:spcBef>
              <a:spcAft>
                <a:spcPts val="0"/>
              </a:spcAft>
            </a:pPr>
            <a:r>
              <a:rPr sz="1019" b="1">
                <a:solidFill>
                  <a:srgbClr val="FFFFFF"/>
                </a:solidFill>
                <a:latin typeface="Arial"/>
              </a:rPr>
              <a:t>03</a:t>
            </a:r>
          </a:p>
        </p:txBody>
      </p:sp>
      <p:sp>
        <p:nvSpPr>
          <p:cNvPr id="28" name="Text 27"/>
          <p:cNvSpPr txBox="1"/>
          <p:nvPr/>
        </p:nvSpPr>
        <p:spPr>
          <a:xfrm>
            <a:off x="9802368" y="3255264"/>
            <a:ext cx="1207008" cy="566928"/>
          </a:xfrm>
          <a:prstGeom prst="rect">
            <a:avLst/>
          </a:prstGeom>
          <a:noFill/>
        </p:spPr>
        <p:txBody>
          <a:bodyPr wrap="square" lIns="0" rIns="0" tIns="0" bIns="0" anchor="ctr">
            <a:noAutofit/>
          </a:bodyPr>
          <a:lstStyle/>
          <a:p>
            <a:pPr algn="ctr">
              <a:lnSpc>
                <a:spcPct val="108000"/>
              </a:lnSpc>
              <a:spcBef>
                <a:spcPts val="0"/>
              </a:spcBef>
              <a:spcAft>
                <a:spcPts val="0"/>
              </a:spcAft>
            </a:pPr>
            <a:r>
              <a:rPr sz="1230" b="1">
                <a:solidFill>
                  <a:srgbClr val="0B1733"/>
                </a:solidFill>
                <a:latin typeface="Arial"/>
              </a:rPr>
              <a:t>Platform commission</a:t>
            </a:r>
          </a:p>
        </p:txBody>
      </p:sp>
      <p:sp>
        <p:nvSpPr>
          <p:cNvPr id="29" name="Text 28"/>
          <p:cNvSpPr txBox="1"/>
          <p:nvPr/>
        </p:nvSpPr>
        <p:spPr>
          <a:xfrm>
            <a:off x="9765792" y="3959352"/>
            <a:ext cx="1307592" cy="713232"/>
          </a:xfrm>
          <a:prstGeom prst="rect">
            <a:avLst/>
          </a:prstGeom>
          <a:noFill/>
        </p:spPr>
        <p:txBody>
          <a:bodyPr wrap="square" lIns="0" rIns="0" tIns="0" bIns="0" anchor="ctr">
            <a:noAutofit/>
          </a:bodyPr>
          <a:lstStyle/>
          <a:p>
            <a:pPr algn="ctr">
              <a:lnSpc>
                <a:spcPct val="108000"/>
              </a:lnSpc>
              <a:spcBef>
                <a:spcPts val="0"/>
              </a:spcBef>
              <a:spcAft>
                <a:spcPts val="0"/>
              </a:spcAft>
            </a:pPr>
            <a:r>
              <a:rPr sz="969" b="0">
                <a:solidFill>
                  <a:srgbClr val="63718A"/>
                </a:solidFill>
                <a:latin typeface="Arial"/>
              </a:rPr>
              <a:t>A share could support the service.</a:t>
            </a:r>
          </a:p>
        </p:txBody>
      </p:sp>
      <p:sp>
        <p:nvSpPr>
          <p:cNvPr id="30" name="Text 29"/>
          <p:cNvSpPr txBox="1"/>
          <p:nvPr/>
        </p:nvSpPr>
        <p:spPr>
          <a:xfrm>
            <a:off x="7552944" y="2606040"/>
            <a:ext cx="274320" cy="320040"/>
          </a:xfrm>
          <a:prstGeom prst="rect">
            <a:avLst/>
          </a:prstGeom>
          <a:noFill/>
        </p:spPr>
        <p:txBody>
          <a:bodyPr wrap="none" lIns="0" rIns="0" tIns="0" bIns="0" anchor="ctr">
            <a:noAutofit/>
          </a:bodyPr>
          <a:lstStyle/>
          <a:p>
            <a:pPr algn="ctr">
              <a:lnSpc>
                <a:spcPct val="108000"/>
              </a:lnSpc>
              <a:spcBef>
                <a:spcPts val="0"/>
              </a:spcBef>
              <a:spcAft>
                <a:spcPts val="0"/>
              </a:spcAft>
            </a:pPr>
            <a:r>
              <a:rPr sz="1900" b="1">
                <a:solidFill>
                  <a:srgbClr val="10B981"/>
                </a:solidFill>
                <a:latin typeface="Arial"/>
              </a:rPr>
              <a:t>→</a:t>
            </a:r>
          </a:p>
        </p:txBody>
      </p:sp>
      <p:sp>
        <p:nvSpPr>
          <p:cNvPr id="31" name="Text 30"/>
          <p:cNvSpPr txBox="1"/>
          <p:nvPr/>
        </p:nvSpPr>
        <p:spPr>
          <a:xfrm>
            <a:off x="9427464" y="2606040"/>
            <a:ext cx="274320" cy="320040"/>
          </a:xfrm>
          <a:prstGeom prst="rect">
            <a:avLst/>
          </a:prstGeom>
          <a:noFill/>
        </p:spPr>
        <p:txBody>
          <a:bodyPr wrap="none" lIns="0" rIns="0" tIns="0" bIns="0" anchor="ctr">
            <a:noAutofit/>
          </a:bodyPr>
          <a:lstStyle/>
          <a:p>
            <a:pPr algn="ctr">
              <a:lnSpc>
                <a:spcPct val="108000"/>
              </a:lnSpc>
              <a:spcBef>
                <a:spcPts val="0"/>
              </a:spcBef>
              <a:spcAft>
                <a:spcPts val="0"/>
              </a:spcAft>
            </a:pPr>
            <a:r>
              <a:rPr sz="1900" b="1">
                <a:solidFill>
                  <a:srgbClr val="10B981"/>
                </a:solidFill>
                <a:latin typeface="Arial"/>
              </a:rPr>
              <a:t>→</a:t>
            </a:r>
          </a:p>
        </p:txBody>
      </p:sp>
      <p:sp>
        <p:nvSpPr>
          <p:cNvPr id="32" name="Shape 31"/>
          <p:cNvSpPr/>
          <p:nvPr/>
        </p:nvSpPr>
        <p:spPr>
          <a:xfrm>
            <a:off x="6080760" y="5010912"/>
            <a:ext cx="5056632" cy="448056"/>
          </a:xfrm>
          <a:prstGeom prst="roundRect">
            <a:avLst>
              <a:gd name="adj" fmla="val 20408"/>
            </a:avLst>
          </a:prstGeom>
          <a:solidFill>
            <a:srgbClr val="FF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32"/>
          <p:cNvSpPr txBox="1"/>
          <p:nvPr/>
        </p:nvSpPr>
        <p:spPr>
          <a:xfrm>
            <a:off x="6254496" y="5093208"/>
            <a:ext cx="4700016" cy="265176"/>
          </a:xfrm>
          <a:prstGeom prst="rect">
            <a:avLst/>
          </a:prstGeom>
          <a:noFill/>
        </p:spPr>
        <p:txBody>
          <a:bodyPr wrap="none" lIns="0" rIns="0" tIns="0" bIns="0" anchor="ctr">
            <a:noAutofit/>
          </a:bodyPr>
          <a:lstStyle/>
          <a:p>
            <a:pPr algn="ctr">
              <a:lnSpc>
                <a:spcPct val="108000"/>
              </a:lnSpc>
              <a:spcBef>
                <a:spcPts val="0"/>
              </a:spcBef>
              <a:spcAft>
                <a:spcPts val="0"/>
              </a:spcAft>
            </a:pPr>
            <a:r>
              <a:rPr sz="950" b="1">
                <a:solidFill>
                  <a:srgbClr val="765617"/>
                </a:solidFill>
                <a:latin typeface="Arial"/>
              </a:rPr>
              <a:t>Illustrative business model only · not implemented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rcle 2"/>
          <p:cNvSpPr/>
          <p:nvPr/>
        </p:nvSpPr>
        <p:spPr>
          <a:xfrm>
            <a:off x="612648" y="393192"/>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3"/>
          <p:cNvSpPr txBox="1"/>
          <p:nvPr/>
        </p:nvSpPr>
        <p:spPr>
          <a:xfrm>
            <a:off x="804672" y="329184"/>
            <a:ext cx="6217920" cy="219456"/>
          </a:xfrm>
          <a:prstGeom prst="rect">
            <a:avLst/>
          </a:prstGeom>
          <a:noFill/>
        </p:spPr>
        <p:txBody>
          <a:bodyPr wrap="none" lIns="0" rIns="0" tIns="0" bIns="0" anchor="ctr">
            <a:noAutofit/>
          </a:bodyPr>
          <a:lstStyle/>
          <a:p>
            <a:pPr algn="l">
              <a:lnSpc>
                <a:spcPct val="108000"/>
              </a:lnSpc>
              <a:spcBef>
                <a:spcPts val="0"/>
              </a:spcBef>
              <a:spcAft>
                <a:spcPts val="0"/>
              </a:spcAft>
            </a:pPr>
            <a:r>
              <a:rPr sz="919" b="1">
                <a:solidFill>
                  <a:srgbClr val="1E3A8A"/>
                </a:solidFill>
                <a:latin typeface="Arial"/>
              </a:rPr>
              <a:t>TEAM  /  RESPONSIBILITIES</a:t>
            </a:r>
          </a:p>
        </p:txBody>
      </p:sp>
      <p:sp>
        <p:nvSpPr>
          <p:cNvPr id="5" name="Text 4"/>
          <p:cNvSpPr txBox="1"/>
          <p:nvPr/>
        </p:nvSpPr>
        <p:spPr>
          <a:xfrm>
            <a:off x="7040880" y="329184"/>
            <a:ext cx="4526280" cy="219456"/>
          </a:xfrm>
          <a:prstGeom prst="rect">
            <a:avLst/>
          </a:prstGeom>
          <a:noFill/>
        </p:spPr>
        <p:txBody>
          <a:bodyPr wrap="none" lIns="0" rIns="0" tIns="0" bIns="0" anchor="ctr">
            <a:noAutofit/>
          </a:bodyPr>
          <a:lstStyle/>
          <a:p>
            <a:pPr algn="r">
              <a:lnSpc>
                <a:spcPct val="108000"/>
              </a:lnSpc>
              <a:spcBef>
                <a:spcPts val="0"/>
              </a:spcBef>
              <a:spcAft>
                <a:spcPts val="0"/>
              </a:spcAft>
            </a:pPr>
            <a:r>
              <a:rPr sz="900" b="1">
                <a:solidFill>
                  <a:srgbClr val="63718A"/>
                </a:solidFill>
                <a:latin typeface="Arial"/>
              </a:rPr>
              <a:t>PRESENTER · Uchekwe Uchechukwu Hephzibah</a:t>
            </a:r>
          </a:p>
        </p:txBody>
      </p:sp>
      <p:sp>
        <p:nvSpPr>
          <p:cNvPr id="6" name="Text 5"/>
          <p:cNvSpPr txBox="1"/>
          <p:nvPr/>
        </p:nvSpPr>
        <p:spPr>
          <a:xfrm>
            <a:off x="603504" y="713232"/>
            <a:ext cx="11018520" cy="457200"/>
          </a:xfrm>
          <a:prstGeom prst="rect">
            <a:avLst/>
          </a:prstGeom>
          <a:noFill/>
        </p:spPr>
        <p:txBody>
          <a:bodyPr wrap="square" lIns="0" rIns="0" tIns="0" bIns="0" anchor="ctr">
            <a:noAutofit/>
          </a:bodyPr>
          <a:lstStyle/>
          <a:p>
            <a:pPr algn="l">
              <a:lnSpc>
                <a:spcPct val="108000"/>
              </a:lnSpc>
              <a:spcBef>
                <a:spcPts val="0"/>
              </a:spcBef>
              <a:spcAft>
                <a:spcPts val="0"/>
              </a:spcAft>
            </a:pPr>
            <a:r>
              <a:rPr sz="2850" b="1">
                <a:solidFill>
                  <a:srgbClr val="0B1733"/>
                </a:solidFill>
                <a:latin typeface="Arial"/>
              </a:rPr>
              <a:t>Five contributors, one connected product story</a:t>
            </a:r>
          </a:p>
        </p:txBody>
      </p:sp>
      <p:sp>
        <p:nvSpPr>
          <p:cNvPr id="7" name="Text 6"/>
          <p:cNvSpPr txBox="1"/>
          <p:nvPr/>
        </p:nvSpPr>
        <p:spPr>
          <a:xfrm>
            <a:off x="621792" y="1252728"/>
            <a:ext cx="10972800" cy="292608"/>
          </a:xfrm>
          <a:prstGeom prst="rect">
            <a:avLst/>
          </a:prstGeom>
          <a:noFill/>
        </p:spPr>
        <p:txBody>
          <a:bodyPr wrap="square" lIns="0" rIns="0" tIns="0" bIns="0" anchor="ctr">
            <a:noAutofit/>
          </a:bodyPr>
          <a:lstStyle/>
          <a:p>
            <a:pPr algn="l">
              <a:lnSpc>
                <a:spcPct val="108000"/>
              </a:lnSpc>
              <a:spcBef>
                <a:spcPts val="0"/>
              </a:spcBef>
              <a:spcAft>
                <a:spcPts val="0"/>
              </a:spcAft>
            </a:pPr>
            <a:r>
              <a:rPr sz="1240" b="0">
                <a:solidFill>
                  <a:srgbClr val="63718A"/>
                </a:solidFill>
                <a:latin typeface="Arial"/>
              </a:rPr>
              <a:t>The speaking order follows the team's project responsibilities from overview through technical direction.</a:t>
            </a:r>
          </a:p>
        </p:txBody>
      </p:sp>
      <p:cxnSp>
        <p:nvCxnSpPr>
          <p:cNvPr id="8" name="Connector 7"/>
          <p:cNvCxnSpPr/>
          <p:nvPr/>
        </p:nvCxnSpPr>
        <p:spPr>
          <a:xfrm>
            <a:off x="612648" y="1664208"/>
            <a:ext cx="10972800" cy="0"/>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9" name="Text 8"/>
          <p:cNvSpPr txBox="1"/>
          <p:nvPr/>
        </p:nvSpPr>
        <p:spPr>
          <a:xfrm>
            <a:off x="621792" y="6501384"/>
            <a:ext cx="7863840" cy="164592"/>
          </a:xfrm>
          <a:prstGeom prst="rect">
            <a:avLst/>
          </a:prstGeom>
          <a:noFill/>
        </p:spPr>
        <p:txBody>
          <a:bodyPr wrap="none" lIns="0" rIns="0" tIns="0" bIns="0" anchor="ctr">
            <a:noAutofit/>
          </a:bodyPr>
          <a:lstStyle/>
          <a:p>
            <a:pPr algn="l">
              <a:lnSpc>
                <a:spcPct val="108000"/>
              </a:lnSpc>
              <a:spcBef>
                <a:spcPts val="0"/>
              </a:spcBef>
              <a:spcAft>
                <a:spcPts val="0"/>
              </a:spcAft>
            </a:pPr>
            <a:r>
              <a:rPr sz="800" b="1">
                <a:solidFill>
                  <a:srgbClr val="63718A"/>
                </a:solidFill>
                <a:latin typeface="Arial"/>
              </a:rPr>
              <a:t>TUTORCONNECT NIGERIA  ·  EDUMENTRY AI HACKATHON 1.0</a:t>
            </a:r>
          </a:p>
        </p:txBody>
      </p:sp>
      <p:sp>
        <p:nvSpPr>
          <p:cNvPr id="10" name="Text 9"/>
          <p:cNvSpPr txBox="1"/>
          <p:nvPr/>
        </p:nvSpPr>
        <p:spPr>
          <a:xfrm>
            <a:off x="10469880" y="6492240"/>
            <a:ext cx="1115568" cy="182880"/>
          </a:xfrm>
          <a:prstGeom prst="rect">
            <a:avLst/>
          </a:prstGeom>
          <a:noFill/>
        </p:spPr>
        <p:txBody>
          <a:bodyPr wrap="none" lIns="0" rIns="0" tIns="0" bIns="0" anchor="ctr">
            <a:noAutofit/>
          </a:bodyPr>
          <a:lstStyle/>
          <a:p>
            <a:pPr algn="r">
              <a:lnSpc>
                <a:spcPct val="108000"/>
              </a:lnSpc>
              <a:spcBef>
                <a:spcPts val="0"/>
              </a:spcBef>
              <a:spcAft>
                <a:spcPts val="0"/>
              </a:spcAft>
            </a:pPr>
            <a:r>
              <a:rPr sz="840" b="1">
                <a:solidFill>
                  <a:srgbClr val="63718A"/>
                </a:solidFill>
                <a:latin typeface="Arial"/>
              </a:rPr>
              <a:t>14  /  15</a:t>
            </a:r>
          </a:p>
        </p:txBody>
      </p:sp>
      <p:sp>
        <p:nvSpPr>
          <p:cNvPr id="11" name="Shape 10"/>
          <p:cNvSpPr/>
          <p:nvPr/>
        </p:nvSpPr>
        <p:spPr>
          <a:xfrm>
            <a:off x="736092" y="1970532"/>
            <a:ext cx="10808208" cy="649224"/>
          </a:xfrm>
          <a:prstGeom prst="roundRect">
            <a:avLst>
              <a:gd name="adj" fmla="val 1690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hape 11"/>
          <p:cNvSpPr/>
          <p:nvPr/>
        </p:nvSpPr>
        <p:spPr>
          <a:xfrm>
            <a:off x="694944" y="1920240"/>
            <a:ext cx="10808208" cy="649224"/>
          </a:xfrm>
          <a:prstGeom prst="roundRect">
            <a:avLst>
              <a:gd name="adj" fmla="val 1690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ircle 12"/>
          <p:cNvSpPr/>
          <p:nvPr/>
        </p:nvSpPr>
        <p:spPr>
          <a:xfrm>
            <a:off x="886968" y="2066544"/>
            <a:ext cx="347472" cy="34747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3"/>
          <p:cNvSpPr txBox="1"/>
          <p:nvPr/>
        </p:nvSpPr>
        <p:spPr>
          <a:xfrm>
            <a:off x="886968" y="2075688"/>
            <a:ext cx="347472" cy="301752"/>
          </a:xfrm>
          <a:prstGeom prst="rect">
            <a:avLst/>
          </a:prstGeom>
          <a:noFill/>
        </p:spPr>
        <p:txBody>
          <a:bodyPr wrap="none" lIns="0" rIns="0" tIns="0" bIns="0" anchor="ctr">
            <a:noAutofit/>
          </a:bodyPr>
          <a:lstStyle/>
          <a:p>
            <a:pPr algn="ctr">
              <a:lnSpc>
                <a:spcPct val="108000"/>
              </a:lnSpc>
              <a:spcBef>
                <a:spcPts val="0"/>
              </a:spcBef>
              <a:spcAft>
                <a:spcPts val="0"/>
              </a:spcAft>
            </a:pPr>
            <a:r>
              <a:rPr sz="850" b="1">
                <a:solidFill>
                  <a:srgbClr val="FFFFFF"/>
                </a:solidFill>
                <a:latin typeface="Arial"/>
              </a:rPr>
              <a:t>01</a:t>
            </a:r>
          </a:p>
        </p:txBody>
      </p:sp>
      <p:sp>
        <p:nvSpPr>
          <p:cNvPr id="15" name="Text 14"/>
          <p:cNvSpPr txBox="1"/>
          <p:nvPr/>
        </p:nvSpPr>
        <p:spPr>
          <a:xfrm>
            <a:off x="1389888" y="2011680"/>
            <a:ext cx="4700016" cy="429768"/>
          </a:xfrm>
          <a:prstGeom prst="rect">
            <a:avLst/>
          </a:prstGeom>
          <a:noFill/>
        </p:spPr>
        <p:txBody>
          <a:bodyPr wrap="none" lIns="0" rIns="0" tIns="0" bIns="0" anchor="ctr">
            <a:noAutofit/>
          </a:bodyPr>
          <a:lstStyle/>
          <a:p>
            <a:pPr algn="l">
              <a:lnSpc>
                <a:spcPct val="108000"/>
              </a:lnSpc>
              <a:spcBef>
                <a:spcPts val="0"/>
              </a:spcBef>
              <a:spcAft>
                <a:spcPts val="0"/>
              </a:spcAft>
            </a:pPr>
            <a:r>
              <a:rPr sz="1320" b="1">
                <a:solidFill>
                  <a:srgbClr val="0B1733"/>
                </a:solidFill>
                <a:latin typeface="Arial"/>
              </a:rPr>
              <a:t>Uchekwe Uchechukwu Hephzibah</a:t>
            </a:r>
          </a:p>
        </p:txBody>
      </p:sp>
      <p:cxnSp>
        <p:nvCxnSpPr>
          <p:cNvPr id="16" name="Connector 15"/>
          <p:cNvCxnSpPr/>
          <p:nvPr/>
        </p:nvCxnSpPr>
        <p:spPr>
          <a:xfrm>
            <a:off x="6254496" y="2066544"/>
            <a:ext cx="0" cy="356616"/>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17" name="Text 16"/>
          <p:cNvSpPr txBox="1"/>
          <p:nvPr/>
        </p:nvSpPr>
        <p:spPr>
          <a:xfrm>
            <a:off x="6510528" y="2011680"/>
            <a:ext cx="4681728" cy="429768"/>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Team Leader · project introduction, overview &amp; conclusion</a:t>
            </a:r>
          </a:p>
        </p:txBody>
      </p:sp>
      <p:sp>
        <p:nvSpPr>
          <p:cNvPr id="18" name="Shape 17"/>
          <p:cNvSpPr/>
          <p:nvPr/>
        </p:nvSpPr>
        <p:spPr>
          <a:xfrm>
            <a:off x="736092" y="2756916"/>
            <a:ext cx="10808208" cy="649224"/>
          </a:xfrm>
          <a:prstGeom prst="roundRect">
            <a:avLst>
              <a:gd name="adj" fmla="val 1690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hape 18"/>
          <p:cNvSpPr/>
          <p:nvPr/>
        </p:nvSpPr>
        <p:spPr>
          <a:xfrm>
            <a:off x="694944" y="2706624"/>
            <a:ext cx="10808208" cy="649224"/>
          </a:xfrm>
          <a:prstGeom prst="roundRect">
            <a:avLst>
              <a:gd name="adj" fmla="val 1690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ircle 19"/>
          <p:cNvSpPr/>
          <p:nvPr/>
        </p:nvSpPr>
        <p:spPr>
          <a:xfrm>
            <a:off x="886968" y="2852928"/>
            <a:ext cx="347472" cy="347472"/>
          </a:xfrm>
          <a:prstGeom prst="ellipse">
            <a:avLst/>
          </a:prstGeom>
          <a:solidFill>
            <a:srgbClr val="087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20"/>
          <p:cNvSpPr txBox="1"/>
          <p:nvPr/>
        </p:nvSpPr>
        <p:spPr>
          <a:xfrm>
            <a:off x="886968" y="2862072"/>
            <a:ext cx="347472" cy="301752"/>
          </a:xfrm>
          <a:prstGeom prst="rect">
            <a:avLst/>
          </a:prstGeom>
          <a:noFill/>
        </p:spPr>
        <p:txBody>
          <a:bodyPr wrap="none" lIns="0" rIns="0" tIns="0" bIns="0" anchor="ctr">
            <a:noAutofit/>
          </a:bodyPr>
          <a:lstStyle/>
          <a:p>
            <a:pPr algn="ctr">
              <a:lnSpc>
                <a:spcPct val="108000"/>
              </a:lnSpc>
              <a:spcBef>
                <a:spcPts val="0"/>
              </a:spcBef>
              <a:spcAft>
                <a:spcPts val="0"/>
              </a:spcAft>
            </a:pPr>
            <a:r>
              <a:rPr sz="850" b="1">
                <a:solidFill>
                  <a:srgbClr val="FFFFFF"/>
                </a:solidFill>
                <a:latin typeface="Arial"/>
              </a:rPr>
              <a:t>02</a:t>
            </a:r>
          </a:p>
        </p:txBody>
      </p:sp>
      <p:sp>
        <p:nvSpPr>
          <p:cNvPr id="22" name="Text 21"/>
          <p:cNvSpPr txBox="1"/>
          <p:nvPr/>
        </p:nvSpPr>
        <p:spPr>
          <a:xfrm>
            <a:off x="1389888" y="2798064"/>
            <a:ext cx="4700016" cy="429768"/>
          </a:xfrm>
          <a:prstGeom prst="rect">
            <a:avLst/>
          </a:prstGeom>
          <a:noFill/>
        </p:spPr>
        <p:txBody>
          <a:bodyPr wrap="none" lIns="0" rIns="0" tIns="0" bIns="0" anchor="ctr">
            <a:noAutofit/>
          </a:bodyPr>
          <a:lstStyle/>
          <a:p>
            <a:pPr algn="l">
              <a:lnSpc>
                <a:spcPct val="108000"/>
              </a:lnSpc>
              <a:spcBef>
                <a:spcPts val="0"/>
              </a:spcBef>
              <a:spcAft>
                <a:spcPts val="0"/>
              </a:spcAft>
            </a:pPr>
            <a:r>
              <a:rPr sz="1320" b="1">
                <a:solidFill>
                  <a:srgbClr val="0B1733"/>
                </a:solidFill>
                <a:latin typeface="Arial"/>
              </a:rPr>
              <a:t>Chioma Helen Ezeufonna</a:t>
            </a:r>
          </a:p>
        </p:txBody>
      </p:sp>
      <p:cxnSp>
        <p:nvCxnSpPr>
          <p:cNvPr id="23" name="Connector 22"/>
          <p:cNvCxnSpPr/>
          <p:nvPr/>
        </p:nvCxnSpPr>
        <p:spPr>
          <a:xfrm>
            <a:off x="6254496" y="2852928"/>
            <a:ext cx="0" cy="356616"/>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24" name="Text 23"/>
          <p:cNvSpPr txBox="1"/>
          <p:nvPr/>
        </p:nvSpPr>
        <p:spPr>
          <a:xfrm>
            <a:off x="6510528" y="2798064"/>
            <a:ext cx="4681728" cy="429768"/>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Frontend development &amp; user interface design</a:t>
            </a:r>
          </a:p>
        </p:txBody>
      </p:sp>
      <p:sp>
        <p:nvSpPr>
          <p:cNvPr id="25" name="Shape 24"/>
          <p:cNvSpPr/>
          <p:nvPr/>
        </p:nvSpPr>
        <p:spPr>
          <a:xfrm>
            <a:off x="736092" y="3543300"/>
            <a:ext cx="10808208" cy="649224"/>
          </a:xfrm>
          <a:prstGeom prst="roundRect">
            <a:avLst>
              <a:gd name="adj" fmla="val 1690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hape 25"/>
          <p:cNvSpPr/>
          <p:nvPr/>
        </p:nvSpPr>
        <p:spPr>
          <a:xfrm>
            <a:off x="694944" y="3493008"/>
            <a:ext cx="10808208" cy="649224"/>
          </a:xfrm>
          <a:prstGeom prst="roundRect">
            <a:avLst>
              <a:gd name="adj" fmla="val 1690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ircle 26"/>
          <p:cNvSpPr/>
          <p:nvPr/>
        </p:nvSpPr>
        <p:spPr>
          <a:xfrm>
            <a:off x="886968" y="3639312"/>
            <a:ext cx="347472" cy="347472"/>
          </a:xfrm>
          <a:prstGeom prst="ellipse">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27"/>
          <p:cNvSpPr txBox="1"/>
          <p:nvPr/>
        </p:nvSpPr>
        <p:spPr>
          <a:xfrm>
            <a:off x="886968" y="3648456"/>
            <a:ext cx="347472" cy="301752"/>
          </a:xfrm>
          <a:prstGeom prst="rect">
            <a:avLst/>
          </a:prstGeom>
          <a:noFill/>
        </p:spPr>
        <p:txBody>
          <a:bodyPr wrap="none" lIns="0" rIns="0" tIns="0" bIns="0" anchor="ctr">
            <a:noAutofit/>
          </a:bodyPr>
          <a:lstStyle/>
          <a:p>
            <a:pPr algn="ctr">
              <a:lnSpc>
                <a:spcPct val="108000"/>
              </a:lnSpc>
              <a:spcBef>
                <a:spcPts val="0"/>
              </a:spcBef>
              <a:spcAft>
                <a:spcPts val="0"/>
              </a:spcAft>
            </a:pPr>
            <a:r>
              <a:rPr sz="850" b="1">
                <a:solidFill>
                  <a:srgbClr val="FFFFFF"/>
                </a:solidFill>
                <a:latin typeface="Arial"/>
              </a:rPr>
              <a:t>03</a:t>
            </a:r>
          </a:p>
        </p:txBody>
      </p:sp>
      <p:sp>
        <p:nvSpPr>
          <p:cNvPr id="29" name="Text 28"/>
          <p:cNvSpPr txBox="1"/>
          <p:nvPr/>
        </p:nvSpPr>
        <p:spPr>
          <a:xfrm>
            <a:off x="1389888" y="3584448"/>
            <a:ext cx="4700016" cy="429768"/>
          </a:xfrm>
          <a:prstGeom prst="rect">
            <a:avLst/>
          </a:prstGeom>
          <a:noFill/>
        </p:spPr>
        <p:txBody>
          <a:bodyPr wrap="none" lIns="0" rIns="0" tIns="0" bIns="0" anchor="ctr">
            <a:noAutofit/>
          </a:bodyPr>
          <a:lstStyle/>
          <a:p>
            <a:pPr algn="l">
              <a:lnSpc>
                <a:spcPct val="108000"/>
              </a:lnSpc>
              <a:spcBef>
                <a:spcPts val="0"/>
              </a:spcBef>
              <a:spcAft>
                <a:spcPts val="0"/>
              </a:spcAft>
            </a:pPr>
            <a:r>
              <a:rPr sz="1250" b="1">
                <a:solidFill>
                  <a:srgbClr val="0B1733"/>
                </a:solidFill>
                <a:latin typeface="Arial"/>
              </a:rPr>
              <a:t>Uzochukwu Mary Cynthia Enyemakachukwu</a:t>
            </a:r>
          </a:p>
        </p:txBody>
      </p:sp>
      <p:cxnSp>
        <p:nvCxnSpPr>
          <p:cNvPr id="30" name="Connector 29"/>
          <p:cNvCxnSpPr/>
          <p:nvPr/>
        </p:nvCxnSpPr>
        <p:spPr>
          <a:xfrm>
            <a:off x="6254496" y="3639312"/>
            <a:ext cx="0" cy="356616"/>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31" name="Text 30"/>
          <p:cNvSpPr txBox="1"/>
          <p:nvPr/>
        </p:nvSpPr>
        <p:spPr>
          <a:xfrm>
            <a:off x="6510528" y="3584448"/>
            <a:ext cx="4681728" cy="429768"/>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Tutor discovery, profiles &amp; booking workflow</a:t>
            </a:r>
          </a:p>
        </p:txBody>
      </p:sp>
      <p:sp>
        <p:nvSpPr>
          <p:cNvPr id="32" name="Shape 31"/>
          <p:cNvSpPr/>
          <p:nvPr/>
        </p:nvSpPr>
        <p:spPr>
          <a:xfrm>
            <a:off x="736092" y="4329683"/>
            <a:ext cx="10808208" cy="649224"/>
          </a:xfrm>
          <a:prstGeom prst="roundRect">
            <a:avLst>
              <a:gd name="adj" fmla="val 1690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hape 32"/>
          <p:cNvSpPr/>
          <p:nvPr/>
        </p:nvSpPr>
        <p:spPr>
          <a:xfrm>
            <a:off x="694944" y="4279392"/>
            <a:ext cx="10808208" cy="649224"/>
          </a:xfrm>
          <a:prstGeom prst="roundRect">
            <a:avLst>
              <a:gd name="adj" fmla="val 1690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ircle 33"/>
          <p:cNvSpPr/>
          <p:nvPr/>
        </p:nvSpPr>
        <p:spPr>
          <a:xfrm>
            <a:off x="886968" y="4425696"/>
            <a:ext cx="347472" cy="347472"/>
          </a:xfrm>
          <a:prstGeom prst="ellipse">
            <a:avLst/>
          </a:prstGeom>
          <a:solidFill>
            <a:srgbClr val="1F8A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34"/>
          <p:cNvSpPr txBox="1"/>
          <p:nvPr/>
        </p:nvSpPr>
        <p:spPr>
          <a:xfrm>
            <a:off x="886968" y="4434840"/>
            <a:ext cx="347472" cy="301752"/>
          </a:xfrm>
          <a:prstGeom prst="rect">
            <a:avLst/>
          </a:prstGeom>
          <a:noFill/>
        </p:spPr>
        <p:txBody>
          <a:bodyPr wrap="none" lIns="0" rIns="0" tIns="0" bIns="0" anchor="ctr">
            <a:noAutofit/>
          </a:bodyPr>
          <a:lstStyle/>
          <a:p>
            <a:pPr algn="ctr">
              <a:lnSpc>
                <a:spcPct val="108000"/>
              </a:lnSpc>
              <a:spcBef>
                <a:spcPts val="0"/>
              </a:spcBef>
              <a:spcAft>
                <a:spcPts val="0"/>
              </a:spcAft>
            </a:pPr>
            <a:r>
              <a:rPr sz="850" b="1">
                <a:solidFill>
                  <a:srgbClr val="FFFFFF"/>
                </a:solidFill>
                <a:latin typeface="Arial"/>
              </a:rPr>
              <a:t>04</a:t>
            </a:r>
          </a:p>
        </p:txBody>
      </p:sp>
      <p:sp>
        <p:nvSpPr>
          <p:cNvPr id="36" name="Text 35"/>
          <p:cNvSpPr txBox="1"/>
          <p:nvPr/>
        </p:nvSpPr>
        <p:spPr>
          <a:xfrm>
            <a:off x="1389888" y="4370831"/>
            <a:ext cx="4700016" cy="429768"/>
          </a:xfrm>
          <a:prstGeom prst="rect">
            <a:avLst/>
          </a:prstGeom>
          <a:noFill/>
        </p:spPr>
        <p:txBody>
          <a:bodyPr wrap="none" lIns="0" rIns="0" tIns="0" bIns="0" anchor="ctr">
            <a:noAutofit/>
          </a:bodyPr>
          <a:lstStyle/>
          <a:p>
            <a:pPr algn="l">
              <a:lnSpc>
                <a:spcPct val="108000"/>
              </a:lnSpc>
              <a:spcBef>
                <a:spcPts val="0"/>
              </a:spcBef>
              <a:spcAft>
                <a:spcPts val="0"/>
              </a:spcAft>
            </a:pPr>
            <a:r>
              <a:rPr sz="1320" b="1">
                <a:solidFill>
                  <a:srgbClr val="0B1733"/>
                </a:solidFill>
                <a:latin typeface="Arial"/>
              </a:rPr>
              <a:t>Bodman Ebuka Precous</a:t>
            </a:r>
          </a:p>
        </p:txBody>
      </p:sp>
      <p:cxnSp>
        <p:nvCxnSpPr>
          <p:cNvPr id="37" name="Connector 36"/>
          <p:cNvCxnSpPr/>
          <p:nvPr/>
        </p:nvCxnSpPr>
        <p:spPr>
          <a:xfrm>
            <a:off x="6254496" y="4425696"/>
            <a:ext cx="0" cy="356616"/>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38" name="Text 37"/>
          <p:cNvSpPr txBox="1"/>
          <p:nvPr/>
        </p:nvSpPr>
        <p:spPr>
          <a:xfrm>
            <a:off x="6510528" y="4370831"/>
            <a:ext cx="4681728" cy="429768"/>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Backend development &amp; API integration</a:t>
            </a:r>
          </a:p>
        </p:txBody>
      </p:sp>
      <p:sp>
        <p:nvSpPr>
          <p:cNvPr id="39" name="Shape 38"/>
          <p:cNvSpPr/>
          <p:nvPr/>
        </p:nvSpPr>
        <p:spPr>
          <a:xfrm>
            <a:off x="736092" y="5116068"/>
            <a:ext cx="10808208" cy="649224"/>
          </a:xfrm>
          <a:prstGeom prst="roundRect">
            <a:avLst>
              <a:gd name="adj" fmla="val 16901"/>
            </a:avLst>
          </a:prstGeom>
          <a:solidFill>
            <a:srgbClr val="E9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hape 39"/>
          <p:cNvSpPr/>
          <p:nvPr/>
        </p:nvSpPr>
        <p:spPr>
          <a:xfrm>
            <a:off x="694944" y="5065776"/>
            <a:ext cx="10808208" cy="649224"/>
          </a:xfrm>
          <a:prstGeom prst="roundRect">
            <a:avLst>
              <a:gd name="adj" fmla="val 16901"/>
            </a:avLst>
          </a:prstGeom>
          <a:solidFill>
            <a:srgbClr val="FFFFFF"/>
          </a:solidFill>
          <a:ln w="9525">
            <a:solidFill>
              <a:srgbClr val="DD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ircle 40"/>
          <p:cNvSpPr/>
          <p:nvPr/>
        </p:nvSpPr>
        <p:spPr>
          <a:xfrm>
            <a:off x="886968" y="5212080"/>
            <a:ext cx="347472" cy="347472"/>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41"/>
          <p:cNvSpPr txBox="1"/>
          <p:nvPr/>
        </p:nvSpPr>
        <p:spPr>
          <a:xfrm>
            <a:off x="886968" y="5221224"/>
            <a:ext cx="347472" cy="301752"/>
          </a:xfrm>
          <a:prstGeom prst="rect">
            <a:avLst/>
          </a:prstGeom>
          <a:noFill/>
        </p:spPr>
        <p:txBody>
          <a:bodyPr wrap="none" lIns="0" rIns="0" tIns="0" bIns="0" anchor="ctr">
            <a:noAutofit/>
          </a:bodyPr>
          <a:lstStyle/>
          <a:p>
            <a:pPr algn="ctr">
              <a:lnSpc>
                <a:spcPct val="108000"/>
              </a:lnSpc>
              <a:spcBef>
                <a:spcPts val="0"/>
              </a:spcBef>
              <a:spcAft>
                <a:spcPts val="0"/>
              </a:spcAft>
            </a:pPr>
            <a:r>
              <a:rPr sz="850" b="1">
                <a:solidFill>
                  <a:srgbClr val="FFFFFF"/>
                </a:solidFill>
                <a:latin typeface="Arial"/>
              </a:rPr>
              <a:t>05</a:t>
            </a:r>
          </a:p>
        </p:txBody>
      </p:sp>
      <p:sp>
        <p:nvSpPr>
          <p:cNvPr id="43" name="Text 42"/>
          <p:cNvSpPr txBox="1"/>
          <p:nvPr/>
        </p:nvSpPr>
        <p:spPr>
          <a:xfrm>
            <a:off x="1389888" y="5157216"/>
            <a:ext cx="4700016" cy="429768"/>
          </a:xfrm>
          <a:prstGeom prst="rect">
            <a:avLst/>
          </a:prstGeom>
          <a:noFill/>
        </p:spPr>
        <p:txBody>
          <a:bodyPr wrap="none" lIns="0" rIns="0" tIns="0" bIns="0" anchor="ctr">
            <a:noAutofit/>
          </a:bodyPr>
          <a:lstStyle/>
          <a:p>
            <a:pPr algn="l">
              <a:lnSpc>
                <a:spcPct val="108000"/>
              </a:lnSpc>
              <a:spcBef>
                <a:spcPts val="0"/>
              </a:spcBef>
              <a:spcAft>
                <a:spcPts val="0"/>
              </a:spcAft>
            </a:pPr>
            <a:r>
              <a:rPr sz="1320" b="1">
                <a:solidFill>
                  <a:srgbClr val="0B1733"/>
                </a:solidFill>
                <a:latin typeface="Arial"/>
              </a:rPr>
              <a:t>Pius Kaosisochukwu Aminie</a:t>
            </a:r>
          </a:p>
        </p:txBody>
      </p:sp>
      <p:cxnSp>
        <p:nvCxnSpPr>
          <p:cNvPr id="44" name="Connector 43"/>
          <p:cNvCxnSpPr/>
          <p:nvPr/>
        </p:nvCxnSpPr>
        <p:spPr>
          <a:xfrm>
            <a:off x="6254496" y="5212080"/>
            <a:ext cx="0" cy="356616"/>
          </a:xfrm>
          <a:prstGeom prst="line">
            <a:avLst/>
          </a:prstGeom>
          <a:ln w="10160">
            <a:solidFill>
              <a:srgbClr val="DDE4EF"/>
            </a:solidFill>
          </a:ln>
        </p:spPr>
        <p:style>
          <a:lnRef idx="2">
            <a:schemeClr val="accent1"/>
          </a:lnRef>
          <a:fillRef idx="0">
            <a:schemeClr val="accent1"/>
          </a:fillRef>
          <a:effectRef idx="1">
            <a:schemeClr val="accent1"/>
          </a:effectRef>
          <a:fontRef idx="minor">
            <a:schemeClr val="tx1"/>
          </a:fontRef>
        </p:style>
      </p:cxnSp>
      <p:sp>
        <p:nvSpPr>
          <p:cNvPr id="45" name="Text 44"/>
          <p:cNvSpPr txBox="1"/>
          <p:nvPr/>
        </p:nvSpPr>
        <p:spPr>
          <a:xfrm>
            <a:off x="6510528" y="5157216"/>
            <a:ext cx="4681728" cy="429768"/>
          </a:xfrm>
          <a:prstGeom prst="rect">
            <a:avLst/>
          </a:prstGeom>
          <a:noFill/>
        </p:spPr>
        <p:txBody>
          <a:bodyPr wrap="square" lIns="0" rIns="0" tIns="0" bIns="0" anchor="ctr">
            <a:noAutofit/>
          </a:bodyPr>
          <a:lstStyle/>
          <a:p>
            <a:pPr algn="l">
              <a:lnSpc>
                <a:spcPct val="108000"/>
              </a:lnSpc>
              <a:spcBef>
                <a:spcPts val="0"/>
              </a:spcBef>
              <a:spcAft>
                <a:spcPts val="0"/>
              </a:spcAft>
            </a:pPr>
            <a:r>
              <a:rPr sz="1050" b="0">
                <a:solidFill>
                  <a:srgbClr val="63718A"/>
                </a:solidFill>
                <a:latin typeface="Arial"/>
              </a:rPr>
              <a:t>Database, system architecture, deployment &amp; future improvements</a:t>
            </a:r>
          </a:p>
        </p:txBody>
      </p:sp>
      <p:sp>
        <p:nvSpPr>
          <p:cNvPr id="46" name="Text 45"/>
          <p:cNvSpPr txBox="1"/>
          <p:nvPr/>
        </p:nvSpPr>
        <p:spPr>
          <a:xfrm>
            <a:off x="749808" y="6016752"/>
            <a:ext cx="10744200" cy="182880"/>
          </a:xfrm>
          <a:prstGeom prst="rect">
            <a:avLst/>
          </a:prstGeom>
          <a:noFill/>
        </p:spPr>
        <p:txBody>
          <a:bodyPr wrap="none" lIns="0" rIns="0" tIns="0" bIns="0" anchor="t">
            <a:noAutofit/>
          </a:bodyPr>
          <a:lstStyle/>
          <a:p>
            <a:pPr algn="l">
              <a:lnSpc>
                <a:spcPct val="108000"/>
              </a:lnSpc>
              <a:spcBef>
                <a:spcPts val="0"/>
              </a:spcBef>
              <a:spcAft>
                <a:spcPts val="0"/>
              </a:spcAft>
            </a:pPr>
            <a:r>
              <a:rPr sz="919" b="0">
                <a:solidFill>
                  <a:srgbClr val="63718A"/>
                </a:solidFill>
                <a:latin typeface="Arial"/>
              </a:rPr>
              <a:t>Each speaker will present their assigned section in the order shown on the title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1"/>
          <p:cNvSpPr/>
          <p:nvPr/>
        </p:nvSpPr>
        <p:spPr>
          <a:xfrm>
            <a:off x="0" y="0"/>
            <a:ext cx="12191999" cy="6858000"/>
          </a:xfrm>
          <a:prstGeom prst="rect">
            <a:avLst/>
          </a:prstGeom>
          <a:solidFill>
            <a:srgbClr val="0B1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hape 2"/>
          <p:cNvSpPr/>
          <p:nvPr/>
        </p:nvSpPr>
        <p:spPr>
          <a:xfrm>
            <a:off x="0" y="0"/>
            <a:ext cx="11887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hape 3"/>
          <p:cNvSpPr/>
          <p:nvPr/>
        </p:nvSpPr>
        <p:spPr>
          <a:xfrm>
            <a:off x="6748272" y="310896"/>
            <a:ext cx="5093208" cy="6236208"/>
          </a:xfrm>
          <a:prstGeom prst="roundRect">
            <a:avLst>
              <a:gd name="adj" fmla="val 6000"/>
            </a:avLst>
          </a:prstGeom>
          <a:solidFill>
            <a:srgbClr val="132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Embedded visual: hero-tutor" descr="image.png"/>
          <p:cNvPicPr>
            <a:picLocks noChangeAspect="1"/>
          </p:cNvPicPr>
          <p:nvPr/>
        </p:nvPicPr>
        <p:blipFill>
          <a:blip r:embed="rId2"/>
          <a:stretch>
            <a:fillRect/>
          </a:stretch>
        </p:blipFill>
        <p:spPr>
          <a:xfrm>
            <a:off x="6821424" y="384048"/>
            <a:ext cx="4946904" cy="6089904"/>
          </a:xfrm>
          <a:prstGeom prst="rect">
            <a:avLst/>
          </a:prstGeom>
        </p:spPr>
      </p:pic>
      <p:sp>
        <p:nvSpPr>
          <p:cNvPr id="6" name="Shape 5"/>
          <p:cNvSpPr/>
          <p:nvPr/>
        </p:nvSpPr>
        <p:spPr>
          <a:xfrm>
            <a:off x="713232" y="576072"/>
            <a:ext cx="2267712" cy="292608"/>
          </a:xfrm>
          <a:prstGeom prst="roundRect">
            <a:avLst>
              <a:gd name="adj" fmla="val 28000"/>
            </a:avLst>
          </a:prstGeom>
          <a:solidFill>
            <a:srgbClr val="1B2D50"/>
          </a:solidFill>
          <a:ln w="8890">
            <a:solidFill>
              <a:srgbClr val="3144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6"/>
          <p:cNvSpPr txBox="1"/>
          <p:nvPr/>
        </p:nvSpPr>
        <p:spPr>
          <a:xfrm>
            <a:off x="777240" y="594360"/>
            <a:ext cx="2139696" cy="256032"/>
          </a:xfrm>
          <a:prstGeom prst="rect">
            <a:avLst/>
          </a:prstGeom>
          <a:noFill/>
        </p:spPr>
        <p:txBody>
          <a:bodyPr wrap="none" lIns="0" rIns="0" tIns="0" bIns="0" anchor="ctr">
            <a:noAutofit/>
          </a:bodyPr>
          <a:lstStyle/>
          <a:p>
            <a:pPr algn="ctr">
              <a:lnSpc>
                <a:spcPct val="108000"/>
              </a:lnSpc>
              <a:spcBef>
                <a:spcPts val="0"/>
              </a:spcBef>
              <a:spcAft>
                <a:spcPts val="0"/>
              </a:spcAft>
            </a:pPr>
            <a:r>
              <a:rPr sz="890" b="1">
                <a:solidFill>
                  <a:srgbClr val="DCE8FF"/>
                </a:solidFill>
                <a:latin typeface="Arial"/>
              </a:rPr>
              <a:t>TUTORCONNECT NIGERIA</a:t>
            </a:r>
          </a:p>
        </p:txBody>
      </p:sp>
      <p:sp>
        <p:nvSpPr>
          <p:cNvPr id="8" name="Text 7"/>
          <p:cNvSpPr txBox="1"/>
          <p:nvPr/>
        </p:nvSpPr>
        <p:spPr>
          <a:xfrm>
            <a:off x="749808" y="1408176"/>
            <a:ext cx="5440680" cy="786384"/>
          </a:xfrm>
          <a:prstGeom prst="rect">
            <a:avLst/>
          </a:prstGeom>
          <a:noFill/>
        </p:spPr>
        <p:txBody>
          <a:bodyPr wrap="none" lIns="0" rIns="0" tIns="0" bIns="0" anchor="ctr">
            <a:noAutofit/>
          </a:bodyPr>
          <a:lstStyle/>
          <a:p>
            <a:pPr algn="l">
              <a:lnSpc>
                <a:spcPct val="108000"/>
              </a:lnSpc>
              <a:spcBef>
                <a:spcPts val="0"/>
              </a:spcBef>
              <a:spcAft>
                <a:spcPts val="0"/>
              </a:spcAft>
            </a:pPr>
            <a:r>
              <a:rPr sz="3900" b="1">
                <a:solidFill>
                  <a:srgbClr val="FFFFFF"/>
                </a:solidFill>
                <a:latin typeface="Arial"/>
              </a:rPr>
              <a:t>Thank you.</a:t>
            </a:r>
          </a:p>
        </p:txBody>
      </p:sp>
      <p:sp>
        <p:nvSpPr>
          <p:cNvPr id="9" name="Text 8"/>
          <p:cNvSpPr txBox="1"/>
          <p:nvPr/>
        </p:nvSpPr>
        <p:spPr>
          <a:xfrm>
            <a:off x="768096" y="2331720"/>
            <a:ext cx="5303520" cy="621792"/>
          </a:xfrm>
          <a:prstGeom prst="rect">
            <a:avLst/>
          </a:prstGeom>
          <a:noFill/>
        </p:spPr>
        <p:txBody>
          <a:bodyPr wrap="none" lIns="0" rIns="0" tIns="0" bIns="0" anchor="ctr">
            <a:noAutofit/>
          </a:bodyPr>
          <a:lstStyle/>
          <a:p>
            <a:pPr algn="l">
              <a:lnSpc>
                <a:spcPct val="108000"/>
              </a:lnSpc>
              <a:spcBef>
                <a:spcPts val="0"/>
              </a:spcBef>
              <a:spcAft>
                <a:spcPts val="0"/>
              </a:spcAft>
            </a:pPr>
            <a:r>
              <a:rPr sz="2900" b="1">
                <a:solidFill>
                  <a:srgbClr val="AFC5E4"/>
                </a:solidFill>
                <a:latin typeface="Arial"/>
              </a:rPr>
              <a:t>Questions?</a:t>
            </a:r>
          </a:p>
        </p:txBody>
      </p:sp>
      <p:sp>
        <p:nvSpPr>
          <p:cNvPr id="10" name="Shape 9"/>
          <p:cNvSpPr/>
          <p:nvPr/>
        </p:nvSpPr>
        <p:spPr>
          <a:xfrm>
            <a:off x="777240" y="3236976"/>
            <a:ext cx="704088" cy="50292"/>
          </a:xfrm>
          <a:prstGeom prst="roundRect">
            <a:avLst>
              <a:gd name="adj" fmla="val 28000"/>
            </a:avLst>
          </a:prstGeom>
          <a:solidFill>
            <a:srgbClr val="F4B7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0"/>
          <p:cNvSpPr txBox="1"/>
          <p:nvPr/>
        </p:nvSpPr>
        <p:spPr>
          <a:xfrm>
            <a:off x="768096" y="3538728"/>
            <a:ext cx="5458968" cy="722376"/>
          </a:xfrm>
          <a:prstGeom prst="rect">
            <a:avLst/>
          </a:prstGeom>
          <a:noFill/>
        </p:spPr>
        <p:txBody>
          <a:bodyPr wrap="square" lIns="0" rIns="0" tIns="0" bIns="0" anchor="t">
            <a:noAutofit/>
          </a:bodyPr>
          <a:lstStyle/>
          <a:p>
            <a:pPr algn="l">
              <a:lnSpc>
                <a:spcPct val="117000"/>
              </a:lnSpc>
              <a:spcBef>
                <a:spcPts val="0"/>
              </a:spcBef>
              <a:spcAft>
                <a:spcPts val="0"/>
              </a:spcAft>
            </a:pPr>
            <a:r>
              <a:rPr sz="1550" b="0">
                <a:solidFill>
                  <a:srgbClr val="E0E9F6"/>
                </a:solidFill>
                <a:latin typeface="Arial"/>
              </a:rPr>
              <a:t>A learner-first platform for tutor discovery,</a:t>
            </a:r>
          </a:p>
          <a:p>
            <a:pPr algn="l">
              <a:lnSpc>
                <a:spcPct val="117000"/>
              </a:lnSpc>
              <a:spcBef>
                <a:spcPts val="0"/>
              </a:spcBef>
              <a:spcAft>
                <a:spcPts val="0"/>
              </a:spcAft>
            </a:pPr>
            <a:r>
              <a:rPr sz="1550" b="0">
                <a:solidFill>
                  <a:srgbClr val="E0E9F6"/>
                </a:solidFill>
                <a:latin typeface="Arial"/>
              </a:rPr>
              <a:t>booking requests and trusted communication.</a:t>
            </a:r>
          </a:p>
        </p:txBody>
      </p:sp>
      <p:sp>
        <p:nvSpPr>
          <p:cNvPr id="12" name="Shape 11"/>
          <p:cNvSpPr/>
          <p:nvPr/>
        </p:nvSpPr>
        <p:spPr>
          <a:xfrm>
            <a:off x="768096" y="4791456"/>
            <a:ext cx="1280160" cy="292608"/>
          </a:xfrm>
          <a:prstGeom prst="roundRect">
            <a:avLst>
              <a:gd name="adj" fmla="val 28000"/>
            </a:avLst>
          </a:prstGeom>
          <a:solidFill>
            <a:srgbClr val="1B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12"/>
          <p:cNvSpPr txBox="1"/>
          <p:nvPr/>
        </p:nvSpPr>
        <p:spPr>
          <a:xfrm>
            <a:off x="832103" y="4809744"/>
            <a:ext cx="1152143"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D9E5F6"/>
                </a:solidFill>
                <a:latin typeface="Arial"/>
              </a:rPr>
              <a:t>DISCOVER</a:t>
            </a:r>
          </a:p>
        </p:txBody>
      </p:sp>
      <p:sp>
        <p:nvSpPr>
          <p:cNvPr id="14" name="Shape 13"/>
          <p:cNvSpPr/>
          <p:nvPr/>
        </p:nvSpPr>
        <p:spPr>
          <a:xfrm>
            <a:off x="2176272" y="4791456"/>
            <a:ext cx="1252728" cy="292608"/>
          </a:xfrm>
          <a:prstGeom prst="roundRect">
            <a:avLst>
              <a:gd name="adj" fmla="val 28000"/>
            </a:avLst>
          </a:prstGeom>
          <a:solidFill>
            <a:srgbClr val="1B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14"/>
          <p:cNvSpPr txBox="1"/>
          <p:nvPr/>
        </p:nvSpPr>
        <p:spPr>
          <a:xfrm>
            <a:off x="2240279" y="4809744"/>
            <a:ext cx="1124712"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D9E5F6"/>
                </a:solidFill>
                <a:latin typeface="Arial"/>
              </a:rPr>
              <a:t>REQUEST</a:t>
            </a:r>
          </a:p>
        </p:txBody>
      </p:sp>
      <p:sp>
        <p:nvSpPr>
          <p:cNvPr id="16" name="Shape 15"/>
          <p:cNvSpPr/>
          <p:nvPr/>
        </p:nvSpPr>
        <p:spPr>
          <a:xfrm>
            <a:off x="3575304" y="4791456"/>
            <a:ext cx="1060704" cy="292608"/>
          </a:xfrm>
          <a:prstGeom prst="roundRect">
            <a:avLst>
              <a:gd name="adj" fmla="val 28000"/>
            </a:avLst>
          </a:prstGeom>
          <a:solidFill>
            <a:srgbClr val="1B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16"/>
          <p:cNvSpPr txBox="1"/>
          <p:nvPr/>
        </p:nvSpPr>
        <p:spPr>
          <a:xfrm>
            <a:off x="3639312" y="4809744"/>
            <a:ext cx="932688" cy="256032"/>
          </a:xfrm>
          <a:prstGeom prst="rect">
            <a:avLst/>
          </a:prstGeom>
          <a:noFill/>
        </p:spPr>
        <p:txBody>
          <a:bodyPr wrap="none" lIns="0" rIns="0" tIns="0" bIns="0" anchor="ctr">
            <a:noAutofit/>
          </a:bodyPr>
          <a:lstStyle/>
          <a:p>
            <a:pPr algn="ctr">
              <a:lnSpc>
                <a:spcPct val="108000"/>
              </a:lnSpc>
              <a:spcBef>
                <a:spcPts val="0"/>
              </a:spcBef>
              <a:spcAft>
                <a:spcPts val="0"/>
              </a:spcAft>
            </a:pPr>
            <a:r>
              <a:rPr sz="880" b="1">
                <a:solidFill>
                  <a:srgbClr val="D9E5F6"/>
                </a:solidFill>
                <a:latin typeface="Arial"/>
              </a:rPr>
              <a:t>LEARN</a:t>
            </a:r>
          </a:p>
        </p:txBody>
      </p:sp>
      <p:sp>
        <p:nvSpPr>
          <p:cNvPr id="18" name="Text 17"/>
          <p:cNvSpPr txBox="1"/>
          <p:nvPr/>
        </p:nvSpPr>
        <p:spPr>
          <a:xfrm>
            <a:off x="777240" y="5980176"/>
            <a:ext cx="5394960" cy="228600"/>
          </a:xfrm>
          <a:prstGeom prst="rect">
            <a:avLst/>
          </a:prstGeom>
          <a:noFill/>
        </p:spPr>
        <p:txBody>
          <a:bodyPr wrap="none" lIns="0" rIns="0" tIns="0" bIns="0" anchor="ctr">
            <a:noAutofit/>
          </a:bodyPr>
          <a:lstStyle/>
          <a:p>
            <a:pPr algn="l">
              <a:lnSpc>
                <a:spcPct val="108000"/>
              </a:lnSpc>
              <a:spcBef>
                <a:spcPts val="0"/>
              </a:spcBef>
              <a:spcAft>
                <a:spcPts val="0"/>
              </a:spcAft>
            </a:pPr>
            <a:r>
              <a:rPr sz="1120" b="1">
                <a:solidFill>
                  <a:srgbClr val="AFC0D9"/>
                </a:solidFill>
                <a:latin typeface="Arial"/>
              </a:rPr>
              <a:t>We welcome your questions and feedback.</a:t>
            </a:r>
          </a:p>
        </p:txBody>
      </p:sp>
      <p:sp>
        <p:nvSpPr>
          <p:cNvPr id="19" name="Shape 18"/>
          <p:cNvSpPr/>
          <p:nvPr/>
        </p:nvSpPr>
        <p:spPr>
          <a:xfrm>
            <a:off x="7434072" y="5440680"/>
            <a:ext cx="3273552" cy="384048"/>
          </a:xfrm>
          <a:prstGeom prst="roundRect">
            <a:avLst>
              <a:gd name="adj" fmla="val 28000"/>
            </a:avLst>
          </a:prstGeom>
          <a:solidFill>
            <a:srgbClr val="F7F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19"/>
          <p:cNvSpPr txBox="1"/>
          <p:nvPr/>
        </p:nvSpPr>
        <p:spPr>
          <a:xfrm>
            <a:off x="7498080" y="5458968"/>
            <a:ext cx="3145536" cy="347472"/>
          </a:xfrm>
          <a:prstGeom prst="rect">
            <a:avLst/>
          </a:prstGeom>
          <a:noFill/>
        </p:spPr>
        <p:txBody>
          <a:bodyPr wrap="none" lIns="0" rIns="0" tIns="0" bIns="0" anchor="ctr">
            <a:noAutofit/>
          </a:bodyPr>
          <a:lstStyle/>
          <a:p>
            <a:pPr algn="ctr">
              <a:lnSpc>
                <a:spcPct val="108000"/>
              </a:lnSpc>
              <a:spcBef>
                <a:spcPts val="0"/>
              </a:spcBef>
              <a:spcAft>
                <a:spcPts val="0"/>
              </a:spcAft>
            </a:pPr>
            <a:r>
              <a:rPr sz="1019" b="1">
                <a:solidFill>
                  <a:srgbClr val="0B1733"/>
                </a:solidFill>
                <a:latin typeface="Arial"/>
              </a:rPr>
              <a:t>LEARN  ·  TEACH  ·  GROW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TutorConnect Nigeria — Team Presentation</dc:title>
  <dc:subject>Edumentry AI Hackathon 1.0 — Web App Challenge</dc:subject>
  <dc:creator>TutorConnect Nigeria Team</dc:creator>
  <cp:keywords>TutorConnect Nigeria, EdTech, tutor discovery, team presentation</cp:keywords>
  <dc:description>Prepared from the repository README and source files; no application files were modified.</dc:description>
  <cp:lastModifiedBy>Steve Canny</cp:lastModifiedBy>
  <cp:revision>1</cp:revision>
  <dcterms:created xsi:type="dcterms:W3CDTF">2013-01-27T09:14:16Z</dcterms:created>
  <dcterms:modified xsi:type="dcterms:W3CDTF">2013-01-27T09:15:58Z</dcterms:modified>
  <cp:category/>
</cp:coreProperties>
</file>