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Hephzibah Uchechukwu (Team Leader) opens.</a:t>
            </a:r>
          </a:p>
          <a:p/>
          <a:p>
            <a:r>
              <a:t>Good morning judges. We are TutorConnect Nigeria, a full-stack tutoring marketplace we built and deployed during this hackathon. In the next fifteen minutes the four of us will show you what we built, how it works under the hood, and what we honestly have not finished yet.</a:t>
            </a:r>
          </a:p>
          <a:p/>
          <a:p>
            <a:r>
              <a:t>Live site: tutor-connect-ng.vercel.app   |   Repo: github.com/zibahofficial/TutorConnectNg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Hephzibah Uchechukwu introduces the speaker order before the product overview.</a:t>
            </a:r>
          </a:p>
          <a:p/>
          <a:p>
            <a:r>
              <a:t>Say clearly: these are presentation responsibilities, not claims that each person worked in isolation or authored every line in that area. We built one shared repository. The handoff is Hephzibah, Chioma, Uzochukwu, a short slide 11 technology handoff with each member speaking only to their own row, then Bodman, and Hephzibah returns for the business, impact and close. All four members take questions on slide 16.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Hephzibah Uchechukwu (Team Leader).</a:t>
            </a:r>
          </a:p>
          <a:p/>
          <a:p>
            <a:r>
              <a:t>TutorConnect Nigeria is a marketplace for Nigerian tutoring. Four roles: student, parent, tutor and administrator. The same account system drives all four dashboards, and every record comes from a real PostgreSQL database — we deliberately show empty states rather than fake data, so what you see in the demo is what the system really holds.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Hephzibah Uchechukwu (Team Leader).</a:t>
            </a:r>
          </a:p>
          <a:p/>
          <a:p>
            <a:r>
              <a:t>Five concrete frictions. Notice the green line on each card — that is the part of our code that answers it. And the amber box on the right is deliberate: we have not run a survey, so we are not going to invent statistics about how many students struggle to find tutors.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Hephzibah Uchechukwu (Team Leader).</a:t>
            </a:r>
          </a:p>
          <a:p/>
          <a:p>
            <a:r>
              <a:t>Every problem from the previous slide now maps to a shipped feature. Four roles, one platform — and the role is not a cosmetic label: it is a database enum that the API re-checks on every privileged 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Hephzibah Uchechukwu (Team Leader).</a:t>
            </a:r>
          </a:p>
          <a:p/>
          <a:p>
            <a:r>
              <a:t>Walk the judges through the seven steps. Emphasise step 7: the review name comes from the authenticated user, so a reviewer can never impersonate somebody else, and one booking can only be reviewed once.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Hephzibah Uchechukwu (Team Leader) — frontend section.</a:t>
            </a:r>
          </a:p>
          <a:p/>
          <a:p>
            <a:r>
              <a:t>Point out the 3x2 grid: for every technology, what it is and exactly where we used it. The right-hand panel is the contract with the backend: fetch plus a Bearer JWT, with loading, empty and error states handled in the component. The browser panel below is a clearly labelled explanatory mockup built from the shipped interface, not a live screenshot or tutor record.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Hephzibah Uchechukwu (Team Leader) — Smart Tutor Match.</a:t>
            </a:r>
          </a:p>
          <a:p/>
          <a:p>
            <a:r>
              <a:t>Six stages left to right. Two criteria are gates (subject and budget); the rest add weighted points, and the result is a percentage plus a plain-English reason list. Be explicit with the judges: this is a rules engine implemented in lib/matching/smart-match.ts, not a trained model — and that is a strength, because every ranking can be explained.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Chioma Helen Ezeufonna (Backend).</a:t>
            </a:r>
          </a:p>
          <a:p/>
          <a:p>
            <a:r>
              <a:t>The architecture is one request path: client → route handler → business rules → Neon → PostgreSQL → JSON. On the left are the five real endpoints. On the right is the security story: bcrypt hashing, a 7-day JWT, role gates on every admin action, ownership checks on every booking change, and parameterised SQL throughout.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Uzochukwu Mary Cynthia Enyemakachukwu (Database).</a:t>
            </a:r>
          </a:p>
          <a:p/>
          <a:p>
            <a:r>
              <a:t>Ten tables built around one identity table. users is the hub; tutor_profiles and parent_profiles extend it one-to-one; bookings ties a student, a tutor and a subject together; reviews attach one-to-one to a completed booking; messages is deliberately decoupled with opaque party keys. Two triggers keep the data honest automatically, and db/migrate.ts lets us add columns safely on an existing production database without a manual migration window.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 handoff; each member presents only their own row, in this order: Hephzibah Uchechukwu for the frontend technologies, Chioma Helen Ezeufonna for the API/auth layer, Uzochukwu Mary Cynthia Enyemakachukwu for PostgreSQL and Neon, and Bodman Ebuka Precious for Vercel and QA tooling. For each row, say the technology, what it does, and where the evidence is in the repository. Do not claim that a proposed feature or unrun test is implemented. Bodman then continues with slide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Bodman Ebuka Precious (Deployment, Testing &amp; QA).</a:t>
            </a:r>
          </a:p>
          <a:p/>
          <a:p>
            <a:r>
              <a:t>Distinguish repository evidence from claims. This inspection ran strict TypeScript checking and ESLint successfully. A production build was attempted but stopped when next/font could not reach Google Fonts from the sandbox. No unit, integration, end-to-end or CI suite is committed, so do not claim runtime test coverage. The README documents Vercel's zero-config deployment with DATABASE_URL, JWT_SECRET and NEXT_PUBLIC_APP_URL; the public URL was supplied for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Hephzibah Uchechukwu (Team Leader) — revenue model.</a:t>
            </a:r>
          </a:p>
          <a:p/>
          <a:p>
            <a:r>
              <a:t>Two halves. On the left, what is genuinely built: hourly rates, live naira estimates, budget filtering and an admin revenue metric over completed bookings. On the right, the proposed model — commission, tutor subscriptions and a parent premium plan — and an honest note that no money actually moves through the platform yet.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Hephzibah Uchechukwu (Team Leader).</a:t>
            </a:r>
          </a:p>
          <a:p/>
          <a:p>
            <a:r>
              <a:t>Left: what the platform genuinely delivers today. Middle: the honest list of limitations — no server-side route protection, no automated tests, no payments, no notifications, and base64 document storage. Right: where it could go. The four chips at the bottom are our priority order.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Hephzibah Uchechukwu (Team Leader) — closing remarks.</a:t>
            </a:r>
          </a:p>
          <a:p/>
          <a:p>
            <a:r>
              <a:t>Land four messages: this is a real product; trust is designed in; the matching is explainable; and the base is clean. Then name the four of us, thank the judges, and hand over to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members stand for Q&amp;A.</a:t>
            </a:r>
          </a:p>
          <a:p/>
          <a:p>
            <a:r>
              <a:t>Thank the judges and the Edumentry AI Hackathon organisers. Keep the live URL and the repository on screen for anyone who wants to try it or read the code afterwards.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111E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 name="Picture 2" descr="hero-student.jpg"/>
          <p:cNvPicPr>
            <a:picLocks noChangeAspect="1"/>
          </p:cNvPicPr>
          <p:nvPr/>
        </p:nvPicPr>
        <p:blipFill>
          <a:blip r:embed="rId2"/>
          <a:srcRect t="27343" b="27343"/>
          <a:stretch>
            <a:fillRect/>
          </a:stretch>
        </p:blipFill>
        <p:spPr>
          <a:xfrm>
            <a:off x="0" y="0"/>
            <a:ext cx="12191695" cy="6858000"/>
          </a:xfrm>
          <a:prstGeom prst="rect">
            <a:avLst/>
          </a:prstGeom>
        </p:spPr>
      </p:pic>
      <p:sp>
        <p:nvSpPr>
          <p:cNvPr id="4" name="Rectangle 3"/>
          <p:cNvSpPr/>
          <p:nvPr/>
        </p:nvSpPr>
        <p:spPr>
          <a:xfrm>
            <a:off x="-45720" y="-45720"/>
            <a:ext cx="12283135" cy="6949440"/>
          </a:xfrm>
          <a:prstGeom prst="rect">
            <a:avLst/>
          </a:prstGeom>
          <a:solidFill>
            <a:srgbClr val="111E46">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45720" y="-45720"/>
            <a:ext cx="12283135" cy="6949440"/>
          </a:xfrm>
          <a:prstGeom prst="rect">
            <a:avLst/>
          </a:prstGeom>
          <a:solidFill>
            <a:srgbClr val="1E3A8A">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45720" y="-45720"/>
            <a:ext cx="7680960" cy="6949440"/>
          </a:xfrm>
          <a:prstGeom prst="rect">
            <a:avLst/>
          </a:prstGeom>
          <a:gradFill rotWithShape="1">
            <a:gsLst>
              <a:gs pos="0">
                <a:srgbClr val="111E46"/>
              </a:gs>
              <a:gs pos="100000">
                <a:srgbClr val="1E3A8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0" y="0"/>
            <a:ext cx="12191695" cy="82296"/>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0" y="0"/>
            <a:ext cx="5120511" cy="82296"/>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777240" y="713232"/>
            <a:ext cx="3154680" cy="329184"/>
          </a:xfrm>
          <a:prstGeom prst="roundRect">
            <a:avLst>
              <a:gd name="adj" fmla="val 50000"/>
            </a:avLst>
          </a:prstGeom>
          <a:solidFill>
            <a:srgbClr val="1B2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r>
              <a:rPr sz="1000" b="1" i="0">
                <a:solidFill>
                  <a:srgbClr val="BFDBFE"/>
                </a:solidFill>
                <a:latin typeface="Segoe UI"/>
              </a:rPr>
              <a:t>EDUMENTRY AI HACKATHON 1.0</a:t>
            </a:r>
          </a:p>
        </p:txBody>
      </p:sp>
      <p:sp>
        <p:nvSpPr>
          <p:cNvPr id="10" name="TextBox 9"/>
          <p:cNvSpPr txBox="1"/>
          <p:nvPr/>
        </p:nvSpPr>
        <p:spPr>
          <a:xfrm>
            <a:off x="777240" y="1298448"/>
            <a:ext cx="10058400" cy="868680"/>
          </a:xfrm>
          <a:prstGeom prst="rect">
            <a:avLst/>
          </a:prstGeom>
          <a:noFill/>
        </p:spPr>
        <p:txBody>
          <a:bodyPr wrap="square" lIns="0" rIns="0" tIns="0" bIns="0" anchor="t">
            <a:spAutoFit/>
          </a:bodyPr>
          <a:lstStyle/>
          <a:p>
            <a:pPr algn="l">
              <a:lnSpc>
                <a:spcPct val="100000"/>
              </a:lnSpc>
              <a:spcBef>
                <a:spcPts val="0"/>
              </a:spcBef>
              <a:spcAft>
                <a:spcPts val="0"/>
              </a:spcAft>
            </a:pPr>
            <a:r>
              <a:rPr sz="5400" b="1" i="0">
                <a:solidFill>
                  <a:srgbClr val="FFFFFF"/>
                </a:solidFill>
                <a:latin typeface="Segoe UI Semibold"/>
              </a:rPr>
              <a:t>TUTORCONNECT NIGERIA</a:t>
            </a:r>
          </a:p>
        </p:txBody>
      </p:sp>
      <p:sp>
        <p:nvSpPr>
          <p:cNvPr id="11" name="Rounded Rectangle 10"/>
          <p:cNvSpPr/>
          <p:nvPr/>
        </p:nvSpPr>
        <p:spPr>
          <a:xfrm>
            <a:off x="777240" y="2304288"/>
            <a:ext cx="1417320" cy="50292"/>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77240" y="2542032"/>
            <a:ext cx="8229600" cy="411480"/>
          </a:xfrm>
          <a:prstGeom prst="rect">
            <a:avLst/>
          </a:prstGeom>
          <a:noFill/>
        </p:spPr>
        <p:txBody>
          <a:bodyPr wrap="square" lIns="0" rIns="0" tIns="0" bIns="0" anchor="t">
            <a:spAutoFit/>
          </a:bodyPr>
          <a:lstStyle/>
          <a:p>
            <a:pPr algn="l">
              <a:lnSpc>
                <a:spcPct val="118000"/>
              </a:lnSpc>
              <a:spcBef>
                <a:spcPts val="0"/>
              </a:spcBef>
              <a:spcAft>
                <a:spcPts val="0"/>
              </a:spcAft>
            </a:pPr>
            <a:r>
              <a:rPr sz="2200" b="0" i="0">
                <a:solidFill>
                  <a:srgbClr val="BFDBFE"/>
                </a:solidFill>
                <a:latin typeface="Segoe UI Semibold"/>
              </a:rPr>
              <a:t>A Tutor and Student Matching Platform</a:t>
            </a:r>
          </a:p>
        </p:txBody>
      </p:sp>
      <p:sp>
        <p:nvSpPr>
          <p:cNvPr id="13" name="TextBox 12"/>
          <p:cNvSpPr txBox="1"/>
          <p:nvPr/>
        </p:nvSpPr>
        <p:spPr>
          <a:xfrm>
            <a:off x="777240" y="3072384"/>
            <a:ext cx="6675120" cy="960120"/>
          </a:xfrm>
          <a:prstGeom prst="rect">
            <a:avLst/>
          </a:prstGeom>
          <a:noFill/>
        </p:spPr>
        <p:txBody>
          <a:bodyPr wrap="square" lIns="0" rIns="0" tIns="0" bIns="0" anchor="t">
            <a:spAutoFit/>
          </a:bodyPr>
          <a:lstStyle/>
          <a:p>
            <a:pPr algn="l">
              <a:lnSpc>
                <a:spcPct val="134000"/>
              </a:lnSpc>
              <a:spcBef>
                <a:spcPts val="0"/>
              </a:spcBef>
              <a:spcAft>
                <a:spcPts val="0"/>
              </a:spcAft>
            </a:pPr>
            <a:r>
              <a:rPr sz="1250" b="0" i="0">
                <a:solidFill>
                  <a:srgbClr val="CBD5E1"/>
                </a:solidFill>
                <a:latin typeface="Segoe UI"/>
              </a:rPr>
              <a:t>A full-stack EdTech marketplace that connects Nigerian students and parents with admin-verified tutors — with a rules-based Smart Tutor Match engine, a managed booking lifecycle, private messaging and verified reviews.</a:t>
            </a:r>
          </a:p>
        </p:txBody>
      </p:sp>
      <p:sp>
        <p:nvSpPr>
          <p:cNvPr id="14" name="Rectangle 13"/>
          <p:cNvSpPr/>
          <p:nvPr/>
        </p:nvSpPr>
        <p:spPr>
          <a:xfrm>
            <a:off x="0" y="4498848"/>
            <a:ext cx="12191695" cy="1572768"/>
          </a:xfrm>
          <a:prstGeom prst="rect">
            <a:avLst/>
          </a:prstGeom>
          <a:solidFill>
            <a:srgbClr val="111E46">
              <a:alpha val="7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5" name="Connector 14"/>
          <p:cNvCxnSpPr/>
          <p:nvPr/>
        </p:nvCxnSpPr>
        <p:spPr>
          <a:xfrm>
            <a:off x="0" y="4498848"/>
            <a:ext cx="12191695" cy="0"/>
          </a:xfrm>
          <a:prstGeom prst="line">
            <a:avLst/>
          </a:prstGeom>
          <a:ln w="12700">
            <a:solidFill>
              <a:srgbClr val="3B528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77240" y="4645152"/>
            <a:ext cx="5486400" cy="237744"/>
          </a:xfrm>
          <a:prstGeom prst="rect">
            <a:avLst/>
          </a:prstGeom>
          <a:noFill/>
        </p:spPr>
        <p:txBody>
          <a:bodyPr wrap="square" lIns="0" rIns="0" tIns="0" bIns="0" anchor="t">
            <a:spAutoFit/>
          </a:bodyPr>
          <a:lstStyle/>
          <a:p>
            <a:pPr algn="l">
              <a:lnSpc>
                <a:spcPct val="118000"/>
              </a:lnSpc>
              <a:spcBef>
                <a:spcPts val="0"/>
              </a:spcBef>
              <a:spcAft>
                <a:spcPts val="0"/>
              </a:spcAft>
            </a:pPr>
            <a:r>
              <a:rPr sz="1000" b="1" i="0" cap="all" spc="140">
                <a:solidFill>
                  <a:srgbClr val="10B981"/>
                </a:solidFill>
                <a:latin typeface="Segoe UI"/>
              </a:rPr>
              <a:t>THE TEAM</a:t>
            </a:r>
          </a:p>
        </p:txBody>
      </p:sp>
      <p:sp>
        <p:nvSpPr>
          <p:cNvPr id="17" name="Rounded Rectangle 16"/>
          <p:cNvSpPr/>
          <p:nvPr/>
        </p:nvSpPr>
        <p:spPr>
          <a:xfrm>
            <a:off x="777240" y="4956048"/>
            <a:ext cx="2606040" cy="877824"/>
          </a:xfrm>
          <a:prstGeom prst="roundRect">
            <a:avLst>
              <a:gd name="adj" fmla="val 10000"/>
            </a:avLst>
          </a:prstGeom>
          <a:solidFill>
            <a:srgbClr val="142650">
              <a:alpha val="70000"/>
            </a:srgbClr>
          </a:solidFill>
          <a:ln w="9525">
            <a:solidFill>
              <a:srgbClr val="2E44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777240" y="4956048"/>
            <a:ext cx="45720" cy="877824"/>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60120" y="5065776"/>
            <a:ext cx="2295144" cy="384048"/>
          </a:xfrm>
          <a:prstGeom prst="rect">
            <a:avLst/>
          </a:prstGeom>
          <a:noFill/>
        </p:spPr>
        <p:txBody>
          <a:bodyPr wrap="square" lIns="0" rIns="0" tIns="0" bIns="0" anchor="t">
            <a:spAutoFit/>
          </a:bodyPr>
          <a:lstStyle/>
          <a:p>
            <a:pPr algn="l">
              <a:lnSpc>
                <a:spcPct val="110000"/>
              </a:lnSpc>
              <a:spcBef>
                <a:spcPts val="0"/>
              </a:spcBef>
              <a:spcAft>
                <a:spcPts val="0"/>
              </a:spcAft>
            </a:pPr>
            <a:r>
              <a:rPr sz="1050" b="1" i="0">
                <a:solidFill>
                  <a:srgbClr val="FFFFFF"/>
                </a:solidFill>
                <a:latin typeface="Segoe UI"/>
              </a:rPr>
              <a:t>Hephzibah Uchechukwu</a:t>
            </a:r>
          </a:p>
        </p:txBody>
      </p:sp>
      <p:sp>
        <p:nvSpPr>
          <p:cNvPr id="20" name="TextBox 19"/>
          <p:cNvSpPr txBox="1"/>
          <p:nvPr/>
        </p:nvSpPr>
        <p:spPr>
          <a:xfrm>
            <a:off x="960120" y="5468112"/>
            <a:ext cx="2295144" cy="329184"/>
          </a:xfrm>
          <a:prstGeom prst="rect">
            <a:avLst/>
          </a:prstGeom>
          <a:noFill/>
        </p:spPr>
        <p:txBody>
          <a:bodyPr wrap="square" lIns="0" rIns="0" tIns="0" bIns="0" anchor="t">
            <a:spAutoFit/>
          </a:bodyPr>
          <a:lstStyle/>
          <a:p>
            <a:pPr algn="l">
              <a:lnSpc>
                <a:spcPct val="112000"/>
              </a:lnSpc>
              <a:spcBef>
                <a:spcPts val="0"/>
              </a:spcBef>
              <a:spcAft>
                <a:spcPts val="0"/>
              </a:spcAft>
            </a:pPr>
            <a:r>
              <a:rPr sz="850" b="0" i="0">
                <a:solidFill>
                  <a:srgbClr val="A9BEE8"/>
                </a:solidFill>
                <a:latin typeface="Segoe UI"/>
              </a:rPr>
              <a:t>Team Lead · Product, Frontend &amp; Smart Tutor Match</a:t>
            </a:r>
          </a:p>
        </p:txBody>
      </p:sp>
      <p:sp>
        <p:nvSpPr>
          <p:cNvPr id="21" name="Rounded Rectangle 20"/>
          <p:cNvSpPr/>
          <p:nvPr/>
        </p:nvSpPr>
        <p:spPr>
          <a:xfrm>
            <a:off x="3511296" y="4956048"/>
            <a:ext cx="2606040" cy="877824"/>
          </a:xfrm>
          <a:prstGeom prst="roundRect">
            <a:avLst>
              <a:gd name="adj" fmla="val 10000"/>
            </a:avLst>
          </a:prstGeom>
          <a:solidFill>
            <a:srgbClr val="142650">
              <a:alpha val="70000"/>
            </a:srgbClr>
          </a:solidFill>
          <a:ln w="9525">
            <a:solidFill>
              <a:srgbClr val="2E44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3511296" y="4956048"/>
            <a:ext cx="45720" cy="877824"/>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694176" y="5065776"/>
            <a:ext cx="2295144" cy="384048"/>
          </a:xfrm>
          <a:prstGeom prst="rect">
            <a:avLst/>
          </a:prstGeom>
          <a:noFill/>
        </p:spPr>
        <p:txBody>
          <a:bodyPr wrap="square" lIns="0" rIns="0" tIns="0" bIns="0" anchor="t">
            <a:spAutoFit/>
          </a:bodyPr>
          <a:lstStyle/>
          <a:p>
            <a:pPr algn="l">
              <a:lnSpc>
                <a:spcPct val="110000"/>
              </a:lnSpc>
              <a:spcBef>
                <a:spcPts val="0"/>
              </a:spcBef>
              <a:spcAft>
                <a:spcPts val="0"/>
              </a:spcAft>
            </a:pPr>
            <a:r>
              <a:rPr sz="1050" b="1" i="0">
                <a:solidFill>
                  <a:srgbClr val="FFFFFF"/>
                </a:solidFill>
                <a:latin typeface="Segoe UI"/>
              </a:rPr>
              <a:t>Chioma Helen Ezeufonna</a:t>
            </a:r>
          </a:p>
        </p:txBody>
      </p:sp>
      <p:sp>
        <p:nvSpPr>
          <p:cNvPr id="24" name="TextBox 23"/>
          <p:cNvSpPr txBox="1"/>
          <p:nvPr/>
        </p:nvSpPr>
        <p:spPr>
          <a:xfrm>
            <a:off x="3694176" y="5468112"/>
            <a:ext cx="2295144" cy="329184"/>
          </a:xfrm>
          <a:prstGeom prst="rect">
            <a:avLst/>
          </a:prstGeom>
          <a:noFill/>
        </p:spPr>
        <p:txBody>
          <a:bodyPr wrap="square" lIns="0" rIns="0" tIns="0" bIns="0" anchor="t">
            <a:spAutoFit/>
          </a:bodyPr>
          <a:lstStyle/>
          <a:p>
            <a:pPr algn="l">
              <a:lnSpc>
                <a:spcPct val="112000"/>
              </a:lnSpc>
              <a:spcBef>
                <a:spcPts val="0"/>
              </a:spcBef>
              <a:spcAft>
                <a:spcPts val="0"/>
              </a:spcAft>
            </a:pPr>
            <a:r>
              <a:rPr sz="850" b="0" i="0">
                <a:solidFill>
                  <a:srgbClr val="A9BEE8"/>
                </a:solidFill>
                <a:latin typeface="Segoe UI"/>
              </a:rPr>
              <a:t>Backend · APIs, Authentication &amp; Roles</a:t>
            </a:r>
          </a:p>
        </p:txBody>
      </p:sp>
      <p:sp>
        <p:nvSpPr>
          <p:cNvPr id="25" name="Rounded Rectangle 24"/>
          <p:cNvSpPr/>
          <p:nvPr/>
        </p:nvSpPr>
        <p:spPr>
          <a:xfrm>
            <a:off x="6245352" y="4956048"/>
            <a:ext cx="2606040" cy="877824"/>
          </a:xfrm>
          <a:prstGeom prst="roundRect">
            <a:avLst>
              <a:gd name="adj" fmla="val 10000"/>
            </a:avLst>
          </a:prstGeom>
          <a:solidFill>
            <a:srgbClr val="142650">
              <a:alpha val="70000"/>
            </a:srgbClr>
          </a:solidFill>
          <a:ln w="9525">
            <a:solidFill>
              <a:srgbClr val="2E44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245352" y="4956048"/>
            <a:ext cx="45720" cy="877824"/>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28232" y="5065776"/>
            <a:ext cx="2295144" cy="384048"/>
          </a:xfrm>
          <a:prstGeom prst="rect">
            <a:avLst/>
          </a:prstGeom>
          <a:noFill/>
        </p:spPr>
        <p:txBody>
          <a:bodyPr wrap="square" lIns="0" rIns="0" tIns="0" bIns="0" anchor="t">
            <a:spAutoFit/>
          </a:bodyPr>
          <a:lstStyle/>
          <a:p>
            <a:pPr algn="l">
              <a:lnSpc>
                <a:spcPct val="110000"/>
              </a:lnSpc>
              <a:spcBef>
                <a:spcPts val="0"/>
              </a:spcBef>
              <a:spcAft>
                <a:spcPts val="0"/>
              </a:spcAft>
            </a:pPr>
            <a:r>
              <a:rPr sz="1050" b="1" i="0">
                <a:solidFill>
                  <a:srgbClr val="FFFFFF"/>
                </a:solidFill>
                <a:latin typeface="Segoe UI"/>
              </a:rPr>
              <a:t>Uzochukwu Mary Cynthia Enyemakachukwu</a:t>
            </a:r>
          </a:p>
        </p:txBody>
      </p:sp>
      <p:sp>
        <p:nvSpPr>
          <p:cNvPr id="28" name="TextBox 27"/>
          <p:cNvSpPr txBox="1"/>
          <p:nvPr/>
        </p:nvSpPr>
        <p:spPr>
          <a:xfrm>
            <a:off x="6428232" y="5468112"/>
            <a:ext cx="2295144" cy="329184"/>
          </a:xfrm>
          <a:prstGeom prst="rect">
            <a:avLst/>
          </a:prstGeom>
          <a:noFill/>
        </p:spPr>
        <p:txBody>
          <a:bodyPr wrap="square" lIns="0" rIns="0" tIns="0" bIns="0" anchor="t">
            <a:spAutoFit/>
          </a:bodyPr>
          <a:lstStyle/>
          <a:p>
            <a:pPr algn="l">
              <a:lnSpc>
                <a:spcPct val="112000"/>
              </a:lnSpc>
              <a:spcBef>
                <a:spcPts val="0"/>
              </a:spcBef>
              <a:spcAft>
                <a:spcPts val="0"/>
              </a:spcAft>
            </a:pPr>
            <a:r>
              <a:rPr sz="850" b="0" i="0">
                <a:solidFill>
                  <a:srgbClr val="A9BEE8"/>
                </a:solidFill>
                <a:latin typeface="Segoe UI"/>
              </a:rPr>
              <a:t>Database · PostgreSQL, Schema &amp; Data</a:t>
            </a:r>
          </a:p>
        </p:txBody>
      </p:sp>
      <p:sp>
        <p:nvSpPr>
          <p:cNvPr id="29" name="Rounded Rectangle 28"/>
          <p:cNvSpPr/>
          <p:nvPr/>
        </p:nvSpPr>
        <p:spPr>
          <a:xfrm>
            <a:off x="8979408" y="4956048"/>
            <a:ext cx="2606040" cy="877824"/>
          </a:xfrm>
          <a:prstGeom prst="roundRect">
            <a:avLst>
              <a:gd name="adj" fmla="val 10000"/>
            </a:avLst>
          </a:prstGeom>
          <a:solidFill>
            <a:srgbClr val="142650">
              <a:alpha val="70000"/>
            </a:srgbClr>
          </a:solidFill>
          <a:ln w="9525">
            <a:solidFill>
              <a:srgbClr val="2E44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8979408" y="4956048"/>
            <a:ext cx="45720" cy="877824"/>
          </a:xfrm>
          <a:prstGeom prst="roundRect">
            <a:avLst>
              <a:gd name="adj" fmla="val 8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62288" y="5065776"/>
            <a:ext cx="2295144" cy="384048"/>
          </a:xfrm>
          <a:prstGeom prst="rect">
            <a:avLst/>
          </a:prstGeom>
          <a:noFill/>
        </p:spPr>
        <p:txBody>
          <a:bodyPr wrap="square" lIns="0" rIns="0" tIns="0" bIns="0" anchor="t">
            <a:spAutoFit/>
          </a:bodyPr>
          <a:lstStyle/>
          <a:p>
            <a:pPr algn="l">
              <a:lnSpc>
                <a:spcPct val="110000"/>
              </a:lnSpc>
              <a:spcBef>
                <a:spcPts val="0"/>
              </a:spcBef>
              <a:spcAft>
                <a:spcPts val="0"/>
              </a:spcAft>
            </a:pPr>
            <a:r>
              <a:rPr sz="1050" b="1" i="0">
                <a:solidFill>
                  <a:srgbClr val="FFFFFF"/>
                </a:solidFill>
                <a:latin typeface="Segoe UI"/>
              </a:rPr>
              <a:t>Bodman Ebuka Precious</a:t>
            </a:r>
          </a:p>
        </p:txBody>
      </p:sp>
      <p:sp>
        <p:nvSpPr>
          <p:cNvPr id="32" name="TextBox 31"/>
          <p:cNvSpPr txBox="1"/>
          <p:nvPr/>
        </p:nvSpPr>
        <p:spPr>
          <a:xfrm>
            <a:off x="9162288" y="5468112"/>
            <a:ext cx="2295144" cy="329184"/>
          </a:xfrm>
          <a:prstGeom prst="rect">
            <a:avLst/>
          </a:prstGeom>
          <a:noFill/>
        </p:spPr>
        <p:txBody>
          <a:bodyPr wrap="square" lIns="0" rIns="0" tIns="0" bIns="0" anchor="t">
            <a:spAutoFit/>
          </a:bodyPr>
          <a:lstStyle/>
          <a:p>
            <a:pPr algn="l">
              <a:lnSpc>
                <a:spcPct val="112000"/>
              </a:lnSpc>
              <a:spcBef>
                <a:spcPts val="0"/>
              </a:spcBef>
              <a:spcAft>
                <a:spcPts val="0"/>
              </a:spcAft>
            </a:pPr>
            <a:r>
              <a:rPr sz="850" b="0" i="0">
                <a:solidFill>
                  <a:srgbClr val="A9BEE8"/>
                </a:solidFill>
                <a:latin typeface="Segoe UI"/>
              </a:rPr>
              <a:t>Deployment · Testing, QA &amp; Operations</a:t>
            </a:r>
          </a:p>
        </p:txBody>
      </p:sp>
      <p:sp>
        <p:nvSpPr>
          <p:cNvPr id="33" name="TextBox 32"/>
          <p:cNvSpPr txBox="1"/>
          <p:nvPr/>
        </p:nvSpPr>
        <p:spPr>
          <a:xfrm>
            <a:off x="777240" y="6035040"/>
            <a:ext cx="6583680" cy="237744"/>
          </a:xfrm>
          <a:prstGeom prst="rect">
            <a:avLst/>
          </a:prstGeom>
          <a:noFill/>
        </p:spPr>
        <p:txBody>
          <a:bodyPr wrap="square" lIns="0" rIns="0" tIns="0" bIns="0" anchor="t">
            <a:spAutoFit/>
          </a:bodyPr>
          <a:lstStyle/>
          <a:p>
            <a:pPr algn="l">
              <a:lnSpc>
                <a:spcPct val="118000"/>
              </a:lnSpc>
              <a:spcBef>
                <a:spcPts val="0"/>
              </a:spcBef>
              <a:spcAft>
                <a:spcPts val="0"/>
              </a:spcAft>
            </a:pPr>
            <a:r>
              <a:rPr sz="950" b="0" i="0">
                <a:solidFill>
                  <a:srgbClr val="93A9D4"/>
                </a:solidFill>
                <a:latin typeface="Segoe UI"/>
              </a:rPr>
              <a:t>Live:  tutor-connect-ng.vercel.app        Repository:  github.com/zibahofficial/TutorConnectNg</a:t>
            </a:r>
          </a:p>
        </p:txBody>
      </p:sp>
      <p:sp>
        <p:nvSpPr>
          <p:cNvPr id="34" name="TextBox 33"/>
          <p:cNvSpPr txBox="1"/>
          <p:nvPr/>
        </p:nvSpPr>
        <p:spPr>
          <a:xfrm>
            <a:off x="7315200" y="6035040"/>
            <a:ext cx="4069080" cy="237744"/>
          </a:xfrm>
          <a:prstGeom prst="rect">
            <a:avLst/>
          </a:prstGeom>
          <a:noFill/>
        </p:spPr>
        <p:txBody>
          <a:bodyPr wrap="square" lIns="0" rIns="0" tIns="0" bIns="0" anchor="t">
            <a:spAutoFit/>
          </a:bodyPr>
          <a:lstStyle/>
          <a:p>
            <a:pPr algn="r">
              <a:lnSpc>
                <a:spcPct val="118000"/>
              </a:lnSpc>
              <a:spcBef>
                <a:spcPts val="0"/>
              </a:spcBef>
              <a:spcAft>
                <a:spcPts val="0"/>
              </a:spcAft>
            </a:pPr>
            <a:r>
              <a:rPr sz="950" b="0" i="0">
                <a:solidFill>
                  <a:srgbClr val="93A9D4"/>
                </a:solidFill>
                <a:latin typeface="Segoe UI"/>
              </a:rPr>
              <a:t>MIT License  ·  Built with Next.js 16 + Neon Postgres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420624"/>
            <a:ext cx="50292" cy="173736"/>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384048"/>
            <a:ext cx="10874959" cy="237744"/>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20">
                <a:solidFill>
                  <a:srgbClr val="2563EB"/>
                </a:solidFill>
                <a:latin typeface="Segoe UI"/>
              </a:rPr>
              <a:t>TEAM OWNERSHIP &amp; SPEAKER ORDER</a:t>
            </a:r>
          </a:p>
        </p:txBody>
      </p:sp>
      <p:sp>
        <p:nvSpPr>
          <p:cNvPr id="5" name="TextBox 4"/>
          <p:cNvSpPr txBox="1"/>
          <p:nvPr/>
        </p:nvSpPr>
        <p:spPr>
          <a:xfrm>
            <a:off x="566928" y="658368"/>
            <a:ext cx="11057839" cy="420624"/>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0F172A"/>
                </a:solidFill>
                <a:latin typeface="Segoe UI Semibold"/>
              </a:rPr>
              <a:t>One project, four clear responsibilities</a:t>
            </a:r>
          </a:p>
        </p:txBody>
      </p:sp>
      <p:sp>
        <p:nvSpPr>
          <p:cNvPr id="6" name="TextBox 5"/>
          <p:cNvSpPr txBox="1"/>
          <p:nvPr/>
        </p:nvSpPr>
        <p:spPr>
          <a:xfrm>
            <a:off x="566928" y="1207008"/>
            <a:ext cx="10692079" cy="274320"/>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4748B"/>
                </a:solidFill>
                <a:latin typeface="Segoe UI"/>
              </a:rPr>
              <a:t>The presentation follows a simple handoff: product → APIs → data → deployment &amp; quality.</a:t>
            </a:r>
          </a:p>
        </p:txBody>
      </p:sp>
      <p:sp>
        <p:nvSpPr>
          <p:cNvPr id="7" name="Rounded Rectangle 6"/>
          <p:cNvSpPr/>
          <p:nvPr/>
        </p:nvSpPr>
        <p:spPr>
          <a:xfrm>
            <a:off x="566928" y="1773936"/>
            <a:ext cx="5428335" cy="1536192"/>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66928" y="1773936"/>
            <a:ext cx="50292" cy="1536192"/>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749808" y="1929384"/>
            <a:ext cx="384048" cy="38404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i="0">
                <a:solidFill>
                  <a:srgbClr val="FFFFFF"/>
                </a:solidFill>
                <a:latin typeface="Segoe UI"/>
              </a:rPr>
              <a:t>01</a:t>
            </a:r>
          </a:p>
        </p:txBody>
      </p:sp>
      <p:sp>
        <p:nvSpPr>
          <p:cNvPr id="10" name="TextBox 9"/>
          <p:cNvSpPr txBox="1"/>
          <p:nvPr/>
        </p:nvSpPr>
        <p:spPr>
          <a:xfrm>
            <a:off x="1261872" y="1901952"/>
            <a:ext cx="4550511" cy="283464"/>
          </a:xfrm>
          <a:prstGeom prst="rect">
            <a:avLst/>
          </a:prstGeom>
          <a:noFill/>
        </p:spPr>
        <p:txBody>
          <a:bodyPr wrap="square" lIns="0" rIns="0" tIns="0" bIns="0" anchor="t">
            <a:spAutoFit/>
          </a:bodyPr>
          <a:lstStyle/>
          <a:p>
            <a:pPr algn="l">
              <a:lnSpc>
                <a:spcPct val="118000"/>
              </a:lnSpc>
              <a:spcBef>
                <a:spcPts val="0"/>
              </a:spcBef>
              <a:spcAft>
                <a:spcPts val="0"/>
              </a:spcAft>
            </a:pPr>
            <a:r>
              <a:rPr sz="1320" b="1" i="0">
                <a:solidFill>
                  <a:srgbClr val="0F172A"/>
                </a:solidFill>
                <a:latin typeface="Segoe UI Semibold"/>
              </a:rPr>
              <a:t>Hephzibah Uchechukwu</a:t>
            </a:r>
          </a:p>
        </p:txBody>
      </p:sp>
      <p:sp>
        <p:nvSpPr>
          <p:cNvPr id="11" name="TextBox 10"/>
          <p:cNvSpPr txBox="1"/>
          <p:nvPr/>
        </p:nvSpPr>
        <p:spPr>
          <a:xfrm>
            <a:off x="1261872" y="2212848"/>
            <a:ext cx="4550511" cy="201168"/>
          </a:xfrm>
          <a:prstGeom prst="rect">
            <a:avLst/>
          </a:prstGeom>
          <a:noFill/>
        </p:spPr>
        <p:txBody>
          <a:bodyPr wrap="square" lIns="0" rIns="0" tIns="0" bIns="0" anchor="t">
            <a:spAutoFit/>
          </a:bodyPr>
          <a:lstStyle/>
          <a:p>
            <a:pPr algn="l">
              <a:lnSpc>
                <a:spcPct val="118000"/>
              </a:lnSpc>
              <a:spcBef>
                <a:spcPts val="0"/>
              </a:spcBef>
              <a:spcAft>
                <a:spcPts val="0"/>
              </a:spcAft>
            </a:pPr>
            <a:r>
              <a:rPr sz="840" b="1" i="0" cap="all" spc="50">
                <a:solidFill>
                  <a:srgbClr val="2563EB"/>
                </a:solidFill>
                <a:latin typeface="Segoe UI"/>
              </a:rPr>
              <a:t>TEAM LEAD · PRODUCT &amp; FRONTEND</a:t>
            </a:r>
          </a:p>
        </p:txBody>
      </p:sp>
      <p:cxnSp>
        <p:nvCxnSpPr>
          <p:cNvPr id="12" name="Connector 11"/>
          <p:cNvCxnSpPr/>
          <p:nvPr/>
        </p:nvCxnSpPr>
        <p:spPr>
          <a:xfrm>
            <a:off x="749808" y="2487168"/>
            <a:ext cx="5062575"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49808" y="2578608"/>
            <a:ext cx="694944" cy="164592"/>
          </a:xfrm>
          <a:prstGeom prst="rect">
            <a:avLst/>
          </a:prstGeom>
          <a:noFill/>
        </p:spPr>
        <p:txBody>
          <a:bodyPr wrap="square" lIns="0" rIns="0" tIns="0" bIns="0" anchor="t">
            <a:spAutoFit/>
          </a:bodyPr>
          <a:lstStyle/>
          <a:p>
            <a:pPr algn="l">
              <a:lnSpc>
                <a:spcPct val="118000"/>
              </a:lnSpc>
              <a:spcBef>
                <a:spcPts val="0"/>
              </a:spcBef>
              <a:spcAft>
                <a:spcPts val="0"/>
              </a:spcAft>
            </a:pPr>
            <a:r>
              <a:rPr sz="760" b="1" i="0" cap="all" spc="60">
                <a:solidFill>
                  <a:srgbClr val="64748B"/>
                </a:solidFill>
                <a:latin typeface="Segoe UI"/>
              </a:rPr>
              <a:t>SCOPE</a:t>
            </a:r>
          </a:p>
        </p:txBody>
      </p:sp>
      <p:sp>
        <p:nvSpPr>
          <p:cNvPr id="14" name="TextBox 13"/>
          <p:cNvSpPr txBox="1"/>
          <p:nvPr/>
        </p:nvSpPr>
        <p:spPr>
          <a:xfrm>
            <a:off x="1499616" y="2560320"/>
            <a:ext cx="4312767" cy="265176"/>
          </a:xfrm>
          <a:prstGeom prst="rect">
            <a:avLst/>
          </a:prstGeom>
          <a:noFill/>
        </p:spPr>
        <p:txBody>
          <a:bodyPr wrap="square" lIns="0" rIns="0" tIns="0" bIns="0" anchor="t">
            <a:spAutoFit/>
          </a:bodyPr>
          <a:lstStyle/>
          <a:p>
            <a:pPr algn="l">
              <a:lnSpc>
                <a:spcPct val="108000"/>
              </a:lnSpc>
              <a:spcBef>
                <a:spcPts val="0"/>
              </a:spcBef>
              <a:spcAft>
                <a:spcPts val="0"/>
              </a:spcAft>
            </a:pPr>
            <a:r>
              <a:rPr sz="880" b="0" i="0">
                <a:solidFill>
                  <a:srgbClr val="334155"/>
                </a:solidFill>
                <a:latin typeface="Segoe UI"/>
              </a:rPr>
              <a:t>Frontend/UI · Smart Tutor Match · revenue, impact &amp; conclusion</a:t>
            </a:r>
          </a:p>
        </p:txBody>
      </p:sp>
      <p:sp>
        <p:nvSpPr>
          <p:cNvPr id="15" name="TextBox 14"/>
          <p:cNvSpPr txBox="1"/>
          <p:nvPr/>
        </p:nvSpPr>
        <p:spPr>
          <a:xfrm>
            <a:off x="749808" y="2907792"/>
            <a:ext cx="694944" cy="164592"/>
          </a:xfrm>
          <a:prstGeom prst="rect">
            <a:avLst/>
          </a:prstGeom>
          <a:noFill/>
        </p:spPr>
        <p:txBody>
          <a:bodyPr wrap="square" lIns="0" rIns="0" tIns="0" bIns="0" anchor="t">
            <a:spAutoFit/>
          </a:bodyPr>
          <a:lstStyle/>
          <a:p>
            <a:pPr algn="l">
              <a:lnSpc>
                <a:spcPct val="118000"/>
              </a:lnSpc>
              <a:spcBef>
                <a:spcPts val="0"/>
              </a:spcBef>
              <a:spcAft>
                <a:spcPts val="0"/>
              </a:spcAft>
            </a:pPr>
            <a:r>
              <a:rPr sz="760" b="1" i="0" cap="all" spc="60">
                <a:solidFill>
                  <a:srgbClr val="64748B"/>
                </a:solidFill>
                <a:latin typeface="Segoe UI"/>
              </a:rPr>
              <a:t>PRESENTS</a:t>
            </a:r>
          </a:p>
        </p:txBody>
      </p:sp>
      <p:sp>
        <p:nvSpPr>
          <p:cNvPr id="16" name="TextBox 15"/>
          <p:cNvSpPr txBox="1"/>
          <p:nvPr/>
        </p:nvSpPr>
        <p:spPr>
          <a:xfrm>
            <a:off x="1499616" y="2862072"/>
            <a:ext cx="4312767" cy="356616"/>
          </a:xfrm>
          <a:prstGeom prst="rect">
            <a:avLst/>
          </a:prstGeom>
          <a:noFill/>
        </p:spPr>
        <p:txBody>
          <a:bodyPr wrap="square" lIns="0" rIns="0" tIns="0" bIns="0" anchor="t">
            <a:spAutoFit/>
          </a:bodyPr>
          <a:lstStyle/>
          <a:p>
            <a:pPr algn="l">
              <a:lnSpc>
                <a:spcPct val="110000"/>
              </a:lnSpc>
              <a:spcBef>
                <a:spcPts val="0"/>
              </a:spcBef>
              <a:spcAft>
                <a:spcPts val="0"/>
              </a:spcAft>
            </a:pPr>
            <a:r>
              <a:rPr sz="840" b="0" i="0">
                <a:solidFill>
                  <a:srgbClr val="475569"/>
                </a:solidFill>
                <a:latin typeface="Segoe UI"/>
              </a:rPr>
              <a:t>Opens slides 1–2; leads slides 3–8 and 13–15; presents the frontend row on slide 11.</a:t>
            </a:r>
          </a:p>
        </p:txBody>
      </p:sp>
      <p:sp>
        <p:nvSpPr>
          <p:cNvPr id="17" name="Rounded Rectangle 16"/>
          <p:cNvSpPr/>
          <p:nvPr/>
        </p:nvSpPr>
        <p:spPr>
          <a:xfrm>
            <a:off x="6196431" y="1773936"/>
            <a:ext cx="5428335" cy="1536192"/>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6196431" y="1773936"/>
            <a:ext cx="50292" cy="1536192"/>
          </a:xfrm>
          <a:prstGeom prst="roundRect">
            <a:avLst>
              <a:gd name="adj" fmla="val 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379311" y="1929384"/>
            <a:ext cx="384048" cy="38404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i="0">
                <a:solidFill>
                  <a:srgbClr val="FFFFFF"/>
                </a:solidFill>
                <a:latin typeface="Segoe UI"/>
              </a:rPr>
              <a:t>02</a:t>
            </a:r>
          </a:p>
        </p:txBody>
      </p:sp>
      <p:sp>
        <p:nvSpPr>
          <p:cNvPr id="20" name="TextBox 19"/>
          <p:cNvSpPr txBox="1"/>
          <p:nvPr/>
        </p:nvSpPr>
        <p:spPr>
          <a:xfrm>
            <a:off x="6891375" y="1901952"/>
            <a:ext cx="4550511" cy="283464"/>
          </a:xfrm>
          <a:prstGeom prst="rect">
            <a:avLst/>
          </a:prstGeom>
          <a:noFill/>
        </p:spPr>
        <p:txBody>
          <a:bodyPr wrap="square" lIns="0" rIns="0" tIns="0" bIns="0" anchor="t">
            <a:spAutoFit/>
          </a:bodyPr>
          <a:lstStyle/>
          <a:p>
            <a:pPr algn="l">
              <a:lnSpc>
                <a:spcPct val="118000"/>
              </a:lnSpc>
              <a:spcBef>
                <a:spcPts val="0"/>
              </a:spcBef>
              <a:spcAft>
                <a:spcPts val="0"/>
              </a:spcAft>
            </a:pPr>
            <a:r>
              <a:rPr sz="1320" b="1" i="0">
                <a:solidFill>
                  <a:srgbClr val="0F172A"/>
                </a:solidFill>
                <a:latin typeface="Segoe UI Semibold"/>
              </a:rPr>
              <a:t>Chioma Helen Ezeufonna</a:t>
            </a:r>
          </a:p>
        </p:txBody>
      </p:sp>
      <p:sp>
        <p:nvSpPr>
          <p:cNvPr id="21" name="TextBox 20"/>
          <p:cNvSpPr txBox="1"/>
          <p:nvPr/>
        </p:nvSpPr>
        <p:spPr>
          <a:xfrm>
            <a:off x="6891375" y="2212848"/>
            <a:ext cx="4550511" cy="201168"/>
          </a:xfrm>
          <a:prstGeom prst="rect">
            <a:avLst/>
          </a:prstGeom>
          <a:noFill/>
        </p:spPr>
        <p:txBody>
          <a:bodyPr wrap="square" lIns="0" rIns="0" tIns="0" bIns="0" anchor="t">
            <a:spAutoFit/>
          </a:bodyPr>
          <a:lstStyle/>
          <a:p>
            <a:pPr algn="l">
              <a:lnSpc>
                <a:spcPct val="118000"/>
              </a:lnSpc>
              <a:spcBef>
                <a:spcPts val="0"/>
              </a:spcBef>
              <a:spcAft>
                <a:spcPts val="0"/>
              </a:spcAft>
            </a:pPr>
            <a:r>
              <a:rPr sz="840" b="1" i="0" cap="all" spc="50">
                <a:solidFill>
                  <a:srgbClr val="059669"/>
                </a:solidFill>
                <a:latin typeface="Segoe UI"/>
              </a:rPr>
              <a:t>BACKEND · APIs &amp; AUTH</a:t>
            </a:r>
          </a:p>
        </p:txBody>
      </p:sp>
      <p:cxnSp>
        <p:nvCxnSpPr>
          <p:cNvPr id="22" name="Connector 21"/>
          <p:cNvCxnSpPr/>
          <p:nvPr/>
        </p:nvCxnSpPr>
        <p:spPr>
          <a:xfrm>
            <a:off x="6379311" y="2487168"/>
            <a:ext cx="5062576"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79311" y="2578608"/>
            <a:ext cx="694944" cy="164592"/>
          </a:xfrm>
          <a:prstGeom prst="rect">
            <a:avLst/>
          </a:prstGeom>
          <a:noFill/>
        </p:spPr>
        <p:txBody>
          <a:bodyPr wrap="square" lIns="0" rIns="0" tIns="0" bIns="0" anchor="t">
            <a:spAutoFit/>
          </a:bodyPr>
          <a:lstStyle/>
          <a:p>
            <a:pPr algn="l">
              <a:lnSpc>
                <a:spcPct val="118000"/>
              </a:lnSpc>
              <a:spcBef>
                <a:spcPts val="0"/>
              </a:spcBef>
              <a:spcAft>
                <a:spcPts val="0"/>
              </a:spcAft>
            </a:pPr>
            <a:r>
              <a:rPr sz="760" b="1" i="0" cap="all" spc="60">
                <a:solidFill>
                  <a:srgbClr val="64748B"/>
                </a:solidFill>
                <a:latin typeface="Segoe UI"/>
              </a:rPr>
              <a:t>SCOPE</a:t>
            </a:r>
          </a:p>
        </p:txBody>
      </p:sp>
      <p:sp>
        <p:nvSpPr>
          <p:cNvPr id="24" name="TextBox 23"/>
          <p:cNvSpPr txBox="1"/>
          <p:nvPr/>
        </p:nvSpPr>
        <p:spPr>
          <a:xfrm>
            <a:off x="7129119" y="2560320"/>
            <a:ext cx="4312767" cy="265176"/>
          </a:xfrm>
          <a:prstGeom prst="rect">
            <a:avLst/>
          </a:prstGeom>
          <a:noFill/>
        </p:spPr>
        <p:txBody>
          <a:bodyPr wrap="square" lIns="0" rIns="0" tIns="0" bIns="0" anchor="t">
            <a:spAutoFit/>
          </a:bodyPr>
          <a:lstStyle/>
          <a:p>
            <a:pPr algn="l">
              <a:lnSpc>
                <a:spcPct val="108000"/>
              </a:lnSpc>
              <a:spcBef>
                <a:spcPts val="0"/>
              </a:spcBef>
              <a:spcAft>
                <a:spcPts val="0"/>
              </a:spcAft>
            </a:pPr>
            <a:r>
              <a:rPr sz="880" b="0" i="0">
                <a:solidFill>
                  <a:srgbClr val="334155"/>
                </a:solidFill>
                <a:latin typeface="Segoe UI"/>
              </a:rPr>
              <a:t>API architecture · request handling · authentication and role checks</a:t>
            </a:r>
          </a:p>
        </p:txBody>
      </p:sp>
      <p:sp>
        <p:nvSpPr>
          <p:cNvPr id="25" name="TextBox 24"/>
          <p:cNvSpPr txBox="1"/>
          <p:nvPr/>
        </p:nvSpPr>
        <p:spPr>
          <a:xfrm>
            <a:off x="6379311" y="2907792"/>
            <a:ext cx="694944" cy="164592"/>
          </a:xfrm>
          <a:prstGeom prst="rect">
            <a:avLst/>
          </a:prstGeom>
          <a:noFill/>
        </p:spPr>
        <p:txBody>
          <a:bodyPr wrap="square" lIns="0" rIns="0" tIns="0" bIns="0" anchor="t">
            <a:spAutoFit/>
          </a:bodyPr>
          <a:lstStyle/>
          <a:p>
            <a:pPr algn="l">
              <a:lnSpc>
                <a:spcPct val="118000"/>
              </a:lnSpc>
              <a:spcBef>
                <a:spcPts val="0"/>
              </a:spcBef>
              <a:spcAft>
                <a:spcPts val="0"/>
              </a:spcAft>
            </a:pPr>
            <a:r>
              <a:rPr sz="760" b="1" i="0" cap="all" spc="60">
                <a:solidFill>
                  <a:srgbClr val="64748B"/>
                </a:solidFill>
                <a:latin typeface="Segoe UI"/>
              </a:rPr>
              <a:t>PRESENTS</a:t>
            </a:r>
          </a:p>
        </p:txBody>
      </p:sp>
      <p:sp>
        <p:nvSpPr>
          <p:cNvPr id="26" name="TextBox 25"/>
          <p:cNvSpPr txBox="1"/>
          <p:nvPr/>
        </p:nvSpPr>
        <p:spPr>
          <a:xfrm>
            <a:off x="7129119" y="2862072"/>
            <a:ext cx="4312767" cy="356616"/>
          </a:xfrm>
          <a:prstGeom prst="rect">
            <a:avLst/>
          </a:prstGeom>
          <a:noFill/>
        </p:spPr>
        <p:txBody>
          <a:bodyPr wrap="square" lIns="0" rIns="0" tIns="0" bIns="0" anchor="t">
            <a:spAutoFit/>
          </a:bodyPr>
          <a:lstStyle/>
          <a:p>
            <a:pPr algn="l">
              <a:lnSpc>
                <a:spcPct val="110000"/>
              </a:lnSpc>
              <a:spcBef>
                <a:spcPts val="0"/>
              </a:spcBef>
              <a:spcAft>
                <a:spcPts val="0"/>
              </a:spcAft>
            </a:pPr>
            <a:r>
              <a:rPr sz="840" b="0" i="0">
                <a:solidFill>
                  <a:srgbClr val="475569"/>
                </a:solidFill>
                <a:latin typeface="Segoe UI"/>
              </a:rPr>
              <a:t>Presents slide 9 and the backend row on slide 11.</a:t>
            </a:r>
          </a:p>
        </p:txBody>
      </p:sp>
      <p:sp>
        <p:nvSpPr>
          <p:cNvPr id="27" name="Rounded Rectangle 26"/>
          <p:cNvSpPr/>
          <p:nvPr/>
        </p:nvSpPr>
        <p:spPr>
          <a:xfrm>
            <a:off x="566928" y="3438144"/>
            <a:ext cx="5428335" cy="1536192"/>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566928" y="3438144"/>
            <a:ext cx="50292" cy="1536192"/>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749808" y="3593592"/>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i="0">
                <a:solidFill>
                  <a:srgbClr val="FFFFFF"/>
                </a:solidFill>
                <a:latin typeface="Segoe UI"/>
              </a:rPr>
              <a:t>03</a:t>
            </a:r>
          </a:p>
        </p:txBody>
      </p:sp>
      <p:sp>
        <p:nvSpPr>
          <p:cNvPr id="30" name="TextBox 29"/>
          <p:cNvSpPr txBox="1"/>
          <p:nvPr/>
        </p:nvSpPr>
        <p:spPr>
          <a:xfrm>
            <a:off x="1261872" y="3566160"/>
            <a:ext cx="4550511" cy="283464"/>
          </a:xfrm>
          <a:prstGeom prst="rect">
            <a:avLst/>
          </a:prstGeom>
          <a:noFill/>
        </p:spPr>
        <p:txBody>
          <a:bodyPr wrap="square" lIns="0" rIns="0" tIns="0" bIns="0" anchor="t">
            <a:spAutoFit/>
          </a:bodyPr>
          <a:lstStyle/>
          <a:p>
            <a:pPr algn="l">
              <a:lnSpc>
                <a:spcPct val="118000"/>
              </a:lnSpc>
              <a:spcBef>
                <a:spcPts val="0"/>
              </a:spcBef>
              <a:spcAft>
                <a:spcPts val="0"/>
              </a:spcAft>
            </a:pPr>
            <a:r>
              <a:rPr sz="1240" b="1" i="0">
                <a:solidFill>
                  <a:srgbClr val="0F172A"/>
                </a:solidFill>
                <a:latin typeface="Segoe UI Semibold"/>
              </a:rPr>
              <a:t>Uzochukwu Mary Cynthia Enyemakachukwu</a:t>
            </a:r>
          </a:p>
        </p:txBody>
      </p:sp>
      <p:sp>
        <p:nvSpPr>
          <p:cNvPr id="31" name="TextBox 30"/>
          <p:cNvSpPr txBox="1"/>
          <p:nvPr/>
        </p:nvSpPr>
        <p:spPr>
          <a:xfrm>
            <a:off x="1261872" y="3877056"/>
            <a:ext cx="4550511" cy="201168"/>
          </a:xfrm>
          <a:prstGeom prst="rect">
            <a:avLst/>
          </a:prstGeom>
          <a:noFill/>
        </p:spPr>
        <p:txBody>
          <a:bodyPr wrap="square" lIns="0" rIns="0" tIns="0" bIns="0" anchor="t">
            <a:spAutoFit/>
          </a:bodyPr>
          <a:lstStyle/>
          <a:p>
            <a:pPr algn="l">
              <a:lnSpc>
                <a:spcPct val="118000"/>
              </a:lnSpc>
              <a:spcBef>
                <a:spcPts val="0"/>
              </a:spcBef>
              <a:spcAft>
                <a:spcPts val="0"/>
              </a:spcAft>
            </a:pPr>
            <a:r>
              <a:rPr sz="840" b="1" i="0" cap="all" spc="50">
                <a:solidFill>
                  <a:srgbClr val="F59E0B"/>
                </a:solidFill>
                <a:latin typeface="Segoe UI"/>
              </a:rPr>
              <a:t>DATABASE DESIGN</a:t>
            </a:r>
          </a:p>
        </p:txBody>
      </p:sp>
      <p:cxnSp>
        <p:nvCxnSpPr>
          <p:cNvPr id="32" name="Connector 31"/>
          <p:cNvCxnSpPr/>
          <p:nvPr/>
        </p:nvCxnSpPr>
        <p:spPr>
          <a:xfrm>
            <a:off x="749808" y="4151376"/>
            <a:ext cx="5062575"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49808" y="4242816"/>
            <a:ext cx="694944" cy="164592"/>
          </a:xfrm>
          <a:prstGeom prst="rect">
            <a:avLst/>
          </a:prstGeom>
          <a:noFill/>
        </p:spPr>
        <p:txBody>
          <a:bodyPr wrap="square" lIns="0" rIns="0" tIns="0" bIns="0" anchor="t">
            <a:spAutoFit/>
          </a:bodyPr>
          <a:lstStyle/>
          <a:p>
            <a:pPr algn="l">
              <a:lnSpc>
                <a:spcPct val="118000"/>
              </a:lnSpc>
              <a:spcBef>
                <a:spcPts val="0"/>
              </a:spcBef>
              <a:spcAft>
                <a:spcPts val="0"/>
              </a:spcAft>
            </a:pPr>
            <a:r>
              <a:rPr sz="760" b="1" i="0" cap="all" spc="60">
                <a:solidFill>
                  <a:srgbClr val="64748B"/>
                </a:solidFill>
                <a:latin typeface="Segoe UI"/>
              </a:rPr>
              <a:t>SCOPE</a:t>
            </a:r>
          </a:p>
        </p:txBody>
      </p:sp>
      <p:sp>
        <p:nvSpPr>
          <p:cNvPr id="34" name="TextBox 33"/>
          <p:cNvSpPr txBox="1"/>
          <p:nvPr/>
        </p:nvSpPr>
        <p:spPr>
          <a:xfrm>
            <a:off x="1499616" y="4224528"/>
            <a:ext cx="4312767" cy="265176"/>
          </a:xfrm>
          <a:prstGeom prst="rect">
            <a:avLst/>
          </a:prstGeom>
          <a:noFill/>
        </p:spPr>
        <p:txBody>
          <a:bodyPr wrap="square" lIns="0" rIns="0" tIns="0" bIns="0" anchor="t">
            <a:spAutoFit/>
          </a:bodyPr>
          <a:lstStyle/>
          <a:p>
            <a:pPr algn="l">
              <a:lnSpc>
                <a:spcPct val="108000"/>
              </a:lnSpc>
              <a:spcBef>
                <a:spcPts val="0"/>
              </a:spcBef>
              <a:spcAft>
                <a:spcPts val="0"/>
              </a:spcAft>
            </a:pPr>
            <a:r>
              <a:rPr sz="880" b="0" i="0">
                <a:solidFill>
                  <a:srgbClr val="334155"/>
                </a:solidFill>
                <a:latin typeface="Segoe UI"/>
              </a:rPr>
              <a:t>PostgreSQL schema · relationships · constraints and migrations</a:t>
            </a:r>
          </a:p>
        </p:txBody>
      </p:sp>
      <p:sp>
        <p:nvSpPr>
          <p:cNvPr id="35" name="TextBox 34"/>
          <p:cNvSpPr txBox="1"/>
          <p:nvPr/>
        </p:nvSpPr>
        <p:spPr>
          <a:xfrm>
            <a:off x="749808" y="4572000"/>
            <a:ext cx="694944" cy="164592"/>
          </a:xfrm>
          <a:prstGeom prst="rect">
            <a:avLst/>
          </a:prstGeom>
          <a:noFill/>
        </p:spPr>
        <p:txBody>
          <a:bodyPr wrap="square" lIns="0" rIns="0" tIns="0" bIns="0" anchor="t">
            <a:spAutoFit/>
          </a:bodyPr>
          <a:lstStyle/>
          <a:p>
            <a:pPr algn="l">
              <a:lnSpc>
                <a:spcPct val="118000"/>
              </a:lnSpc>
              <a:spcBef>
                <a:spcPts val="0"/>
              </a:spcBef>
              <a:spcAft>
                <a:spcPts val="0"/>
              </a:spcAft>
            </a:pPr>
            <a:r>
              <a:rPr sz="760" b="1" i="0" cap="all" spc="60">
                <a:solidFill>
                  <a:srgbClr val="64748B"/>
                </a:solidFill>
                <a:latin typeface="Segoe UI"/>
              </a:rPr>
              <a:t>PRESENTS</a:t>
            </a:r>
          </a:p>
        </p:txBody>
      </p:sp>
      <p:sp>
        <p:nvSpPr>
          <p:cNvPr id="36" name="TextBox 35"/>
          <p:cNvSpPr txBox="1"/>
          <p:nvPr/>
        </p:nvSpPr>
        <p:spPr>
          <a:xfrm>
            <a:off x="1499616" y="4526280"/>
            <a:ext cx="4312767" cy="356616"/>
          </a:xfrm>
          <a:prstGeom prst="rect">
            <a:avLst/>
          </a:prstGeom>
          <a:noFill/>
        </p:spPr>
        <p:txBody>
          <a:bodyPr wrap="square" lIns="0" rIns="0" tIns="0" bIns="0" anchor="t">
            <a:spAutoFit/>
          </a:bodyPr>
          <a:lstStyle/>
          <a:p>
            <a:pPr algn="l">
              <a:lnSpc>
                <a:spcPct val="110000"/>
              </a:lnSpc>
              <a:spcBef>
                <a:spcPts val="0"/>
              </a:spcBef>
              <a:spcAft>
                <a:spcPts val="0"/>
              </a:spcAft>
            </a:pPr>
            <a:r>
              <a:rPr sz="840" b="0" i="0">
                <a:solidFill>
                  <a:srgbClr val="475569"/>
                </a:solidFill>
                <a:latin typeface="Segoe UI"/>
              </a:rPr>
              <a:t>Presents slide 10 and the database row on slide 11.</a:t>
            </a:r>
          </a:p>
        </p:txBody>
      </p:sp>
      <p:sp>
        <p:nvSpPr>
          <p:cNvPr id="37" name="Rounded Rectangle 36"/>
          <p:cNvSpPr/>
          <p:nvPr/>
        </p:nvSpPr>
        <p:spPr>
          <a:xfrm>
            <a:off x="6196431" y="3438144"/>
            <a:ext cx="5428335" cy="1536192"/>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6196431" y="3438144"/>
            <a:ext cx="50292" cy="1536192"/>
          </a:xfrm>
          <a:prstGeom prst="roundRect">
            <a:avLst>
              <a:gd name="adj" fmla="val 8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6379311" y="3593592"/>
            <a:ext cx="384048" cy="384048"/>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i="0">
                <a:solidFill>
                  <a:srgbClr val="FFFFFF"/>
                </a:solidFill>
                <a:latin typeface="Segoe UI"/>
              </a:rPr>
              <a:t>04</a:t>
            </a:r>
          </a:p>
        </p:txBody>
      </p:sp>
      <p:sp>
        <p:nvSpPr>
          <p:cNvPr id="40" name="TextBox 39"/>
          <p:cNvSpPr txBox="1"/>
          <p:nvPr/>
        </p:nvSpPr>
        <p:spPr>
          <a:xfrm>
            <a:off x="6891375" y="3566160"/>
            <a:ext cx="4550511" cy="283464"/>
          </a:xfrm>
          <a:prstGeom prst="rect">
            <a:avLst/>
          </a:prstGeom>
          <a:noFill/>
        </p:spPr>
        <p:txBody>
          <a:bodyPr wrap="square" lIns="0" rIns="0" tIns="0" bIns="0" anchor="t">
            <a:spAutoFit/>
          </a:bodyPr>
          <a:lstStyle/>
          <a:p>
            <a:pPr algn="l">
              <a:lnSpc>
                <a:spcPct val="118000"/>
              </a:lnSpc>
              <a:spcBef>
                <a:spcPts val="0"/>
              </a:spcBef>
              <a:spcAft>
                <a:spcPts val="0"/>
              </a:spcAft>
            </a:pPr>
            <a:r>
              <a:rPr sz="1320" b="1" i="0">
                <a:solidFill>
                  <a:srgbClr val="0F172A"/>
                </a:solidFill>
                <a:latin typeface="Segoe UI Semibold"/>
              </a:rPr>
              <a:t>Bodman Ebuka Precious</a:t>
            </a:r>
          </a:p>
        </p:txBody>
      </p:sp>
      <p:sp>
        <p:nvSpPr>
          <p:cNvPr id="41" name="TextBox 40"/>
          <p:cNvSpPr txBox="1"/>
          <p:nvPr/>
        </p:nvSpPr>
        <p:spPr>
          <a:xfrm>
            <a:off x="6891375" y="3877056"/>
            <a:ext cx="4550511" cy="201168"/>
          </a:xfrm>
          <a:prstGeom prst="rect">
            <a:avLst/>
          </a:prstGeom>
          <a:noFill/>
        </p:spPr>
        <p:txBody>
          <a:bodyPr wrap="square" lIns="0" rIns="0" tIns="0" bIns="0" anchor="t">
            <a:spAutoFit/>
          </a:bodyPr>
          <a:lstStyle/>
          <a:p>
            <a:pPr algn="l">
              <a:lnSpc>
                <a:spcPct val="118000"/>
              </a:lnSpc>
              <a:spcBef>
                <a:spcPts val="0"/>
              </a:spcBef>
              <a:spcAft>
                <a:spcPts val="0"/>
              </a:spcAft>
            </a:pPr>
            <a:r>
              <a:rPr sz="840" b="1" i="0" cap="all" spc="50">
                <a:solidFill>
                  <a:srgbClr val="E11D48"/>
                </a:solidFill>
                <a:latin typeface="Segoe UI"/>
              </a:rPr>
              <a:t>DEPLOYMENT · TESTING &amp; QA</a:t>
            </a:r>
          </a:p>
        </p:txBody>
      </p:sp>
      <p:cxnSp>
        <p:nvCxnSpPr>
          <p:cNvPr id="42" name="Connector 41"/>
          <p:cNvCxnSpPr/>
          <p:nvPr/>
        </p:nvCxnSpPr>
        <p:spPr>
          <a:xfrm>
            <a:off x="6379311" y="4151376"/>
            <a:ext cx="5062576"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379311" y="4242816"/>
            <a:ext cx="694944" cy="164592"/>
          </a:xfrm>
          <a:prstGeom prst="rect">
            <a:avLst/>
          </a:prstGeom>
          <a:noFill/>
        </p:spPr>
        <p:txBody>
          <a:bodyPr wrap="square" lIns="0" rIns="0" tIns="0" bIns="0" anchor="t">
            <a:spAutoFit/>
          </a:bodyPr>
          <a:lstStyle/>
          <a:p>
            <a:pPr algn="l">
              <a:lnSpc>
                <a:spcPct val="118000"/>
              </a:lnSpc>
              <a:spcBef>
                <a:spcPts val="0"/>
              </a:spcBef>
              <a:spcAft>
                <a:spcPts val="0"/>
              </a:spcAft>
            </a:pPr>
            <a:r>
              <a:rPr sz="760" b="1" i="0" cap="all" spc="60">
                <a:solidFill>
                  <a:srgbClr val="64748B"/>
                </a:solidFill>
                <a:latin typeface="Segoe UI"/>
              </a:rPr>
              <a:t>SCOPE</a:t>
            </a:r>
          </a:p>
        </p:txBody>
      </p:sp>
      <p:sp>
        <p:nvSpPr>
          <p:cNvPr id="44" name="TextBox 43"/>
          <p:cNvSpPr txBox="1"/>
          <p:nvPr/>
        </p:nvSpPr>
        <p:spPr>
          <a:xfrm>
            <a:off x="7129119" y="4224528"/>
            <a:ext cx="4312767" cy="265176"/>
          </a:xfrm>
          <a:prstGeom prst="rect">
            <a:avLst/>
          </a:prstGeom>
          <a:noFill/>
        </p:spPr>
        <p:txBody>
          <a:bodyPr wrap="square" lIns="0" rIns="0" tIns="0" bIns="0" anchor="t">
            <a:spAutoFit/>
          </a:bodyPr>
          <a:lstStyle/>
          <a:p>
            <a:pPr algn="l">
              <a:lnSpc>
                <a:spcPct val="108000"/>
              </a:lnSpc>
              <a:spcBef>
                <a:spcPts val="0"/>
              </a:spcBef>
              <a:spcAft>
                <a:spcPts val="0"/>
              </a:spcAft>
            </a:pPr>
            <a:r>
              <a:rPr sz="880" b="0" i="0">
                <a:solidFill>
                  <a:srgbClr val="334155"/>
                </a:solidFill>
                <a:latin typeface="Segoe UI"/>
              </a:rPr>
              <a:t>Vercel setup · deployment checks · test evidence and limitations</a:t>
            </a:r>
          </a:p>
        </p:txBody>
      </p:sp>
      <p:sp>
        <p:nvSpPr>
          <p:cNvPr id="45" name="TextBox 44"/>
          <p:cNvSpPr txBox="1"/>
          <p:nvPr/>
        </p:nvSpPr>
        <p:spPr>
          <a:xfrm>
            <a:off x="6379311" y="4572000"/>
            <a:ext cx="694944" cy="164592"/>
          </a:xfrm>
          <a:prstGeom prst="rect">
            <a:avLst/>
          </a:prstGeom>
          <a:noFill/>
        </p:spPr>
        <p:txBody>
          <a:bodyPr wrap="square" lIns="0" rIns="0" tIns="0" bIns="0" anchor="t">
            <a:spAutoFit/>
          </a:bodyPr>
          <a:lstStyle/>
          <a:p>
            <a:pPr algn="l">
              <a:lnSpc>
                <a:spcPct val="118000"/>
              </a:lnSpc>
              <a:spcBef>
                <a:spcPts val="0"/>
              </a:spcBef>
              <a:spcAft>
                <a:spcPts val="0"/>
              </a:spcAft>
            </a:pPr>
            <a:r>
              <a:rPr sz="760" b="1" i="0" cap="all" spc="60">
                <a:solidFill>
                  <a:srgbClr val="64748B"/>
                </a:solidFill>
                <a:latin typeface="Segoe UI"/>
              </a:rPr>
              <a:t>PRESENTS</a:t>
            </a:r>
          </a:p>
        </p:txBody>
      </p:sp>
      <p:sp>
        <p:nvSpPr>
          <p:cNvPr id="46" name="TextBox 45"/>
          <p:cNvSpPr txBox="1"/>
          <p:nvPr/>
        </p:nvSpPr>
        <p:spPr>
          <a:xfrm>
            <a:off x="7129119" y="4526280"/>
            <a:ext cx="4312767" cy="356616"/>
          </a:xfrm>
          <a:prstGeom prst="rect">
            <a:avLst/>
          </a:prstGeom>
          <a:noFill/>
        </p:spPr>
        <p:txBody>
          <a:bodyPr wrap="square" lIns="0" rIns="0" tIns="0" bIns="0" anchor="t">
            <a:spAutoFit/>
          </a:bodyPr>
          <a:lstStyle/>
          <a:p>
            <a:pPr algn="l">
              <a:lnSpc>
                <a:spcPct val="110000"/>
              </a:lnSpc>
              <a:spcBef>
                <a:spcPts val="0"/>
              </a:spcBef>
              <a:spcAft>
                <a:spcPts val="0"/>
              </a:spcAft>
            </a:pPr>
            <a:r>
              <a:rPr sz="840" b="0" i="0">
                <a:solidFill>
                  <a:srgbClr val="475569"/>
                </a:solidFill>
                <a:latin typeface="Segoe UI"/>
              </a:rPr>
              <a:t>Presents slide 12 and the deployment/QA row on slide 11.</a:t>
            </a:r>
          </a:p>
        </p:txBody>
      </p:sp>
      <p:sp>
        <p:nvSpPr>
          <p:cNvPr id="47" name="Rounded Rectangle 46"/>
          <p:cNvSpPr/>
          <p:nvPr/>
        </p:nvSpPr>
        <p:spPr>
          <a:xfrm>
            <a:off x="566928" y="5157216"/>
            <a:ext cx="11057839" cy="694944"/>
          </a:xfrm>
          <a:prstGeom prst="roundRect">
            <a:avLst>
              <a:gd name="adj" fmla="val 6000"/>
            </a:avLst>
          </a:prstGeom>
          <a:solidFill>
            <a:srgbClr val="DBEAFE"/>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22960" y="5303520"/>
            <a:ext cx="10545775" cy="402336"/>
          </a:xfrm>
          <a:prstGeom prst="rect">
            <a:avLst/>
          </a:prstGeom>
          <a:noFill/>
        </p:spPr>
        <p:txBody>
          <a:bodyPr wrap="square" lIns="0" rIns="0" tIns="0" bIns="0" anchor="ctr">
            <a:spAutoFit/>
          </a:bodyPr>
          <a:lstStyle/>
          <a:p>
            <a:pPr algn="l">
              <a:lnSpc>
                <a:spcPct val="120000"/>
              </a:lnSpc>
            </a:pPr>
            <a:r>
              <a:rPr sz="940" b="1" i="0">
                <a:solidFill>
                  <a:srgbClr val="1E3A8A"/>
                </a:solidFill>
                <a:latin typeface="Segoe UI"/>
              </a:rPr>
              <a:t>Speaking flow:  </a:t>
            </a:r>
            <a:r>
              <a:rPr sz="940" b="0" i="0">
                <a:solidFill>
                  <a:srgbClr val="334155"/>
                </a:solidFill>
                <a:latin typeface="Segoe UI"/>
              </a:rPr>
              <a:t>Hephzibah opens → Chioma covers APIs → Uzochukwu covers the database → all four present only their own technology row on slide 11 → Bodman covers deployment/QA → Hephzibah closes. All four take Q&amp;A on slide 16.</a:t>
            </a:r>
          </a:p>
        </p:txBody>
      </p:sp>
      <p:cxnSp>
        <p:nvCxnSpPr>
          <p:cNvPr id="49" name="Connector 48"/>
          <p:cNvCxnSpPr/>
          <p:nvPr/>
        </p:nvCxnSpPr>
        <p:spPr>
          <a:xfrm>
            <a:off x="566928" y="6382512"/>
            <a:ext cx="11057839"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66928" y="6473952"/>
            <a:ext cx="9777679" cy="219456"/>
          </a:xfrm>
          <a:prstGeom prst="rect">
            <a:avLst/>
          </a:prstGeom>
          <a:noFill/>
        </p:spPr>
        <p:txBody>
          <a:bodyPr wrap="square" lIns="0" rIns="0" tIns="0" bIns="0" anchor="t">
            <a:spAutoFit/>
          </a:bodyPr>
          <a:lstStyle/>
          <a:p>
            <a:pPr algn="l">
              <a:lnSpc>
                <a:spcPct val="118000"/>
              </a:lnSpc>
              <a:spcBef>
                <a:spcPts val="0"/>
              </a:spcBef>
              <a:spcAft>
                <a:spcPts val="0"/>
              </a:spcAft>
            </a:pPr>
            <a:r>
              <a:rPr sz="880" b="0" i="0">
                <a:solidFill>
                  <a:srgbClr val="94A3B8"/>
                </a:solidFill>
                <a:latin typeface="Segoe UI"/>
              </a:rPr>
              <a:t>Presenter: Hephzibah Uchechukwu · Team plan</a:t>
            </a:r>
          </a:p>
        </p:txBody>
      </p:sp>
      <p:sp>
        <p:nvSpPr>
          <p:cNvPr id="51" name="TextBox 50"/>
          <p:cNvSpPr txBox="1"/>
          <p:nvPr/>
        </p:nvSpPr>
        <p:spPr>
          <a:xfrm>
            <a:off x="10436047" y="6473952"/>
            <a:ext cx="1188720" cy="219456"/>
          </a:xfrm>
          <a:prstGeom prst="rect">
            <a:avLst/>
          </a:prstGeom>
          <a:noFill/>
        </p:spPr>
        <p:txBody>
          <a:bodyPr wrap="square" lIns="0" rIns="0" tIns="0" bIns="0" anchor="t">
            <a:spAutoFit/>
          </a:bodyPr>
          <a:lstStyle/>
          <a:p>
            <a:pPr algn="r">
              <a:lnSpc>
                <a:spcPct val="118000"/>
              </a:lnSpc>
              <a:spcBef>
                <a:spcPts val="0"/>
              </a:spcBef>
              <a:spcAft>
                <a:spcPts val="0"/>
              </a:spcAft>
            </a:pPr>
            <a:r>
              <a:rPr sz="950" b="1" i="0">
                <a:solidFill>
                  <a:srgbClr val="94A3B8"/>
                </a:solidFill>
                <a:latin typeface="Segoe UI"/>
              </a:rPr>
              <a:t>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420624"/>
            <a:ext cx="50292" cy="173736"/>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384048"/>
            <a:ext cx="10874959" cy="237744"/>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20">
                <a:solidFill>
                  <a:srgbClr val="2563EB"/>
                </a:solidFill>
                <a:latin typeface="Segoe UI"/>
              </a:rPr>
              <a:t>WHAT WE BUILT</a:t>
            </a:r>
          </a:p>
        </p:txBody>
      </p:sp>
      <p:sp>
        <p:nvSpPr>
          <p:cNvPr id="5" name="TextBox 4"/>
          <p:cNvSpPr txBox="1"/>
          <p:nvPr/>
        </p:nvSpPr>
        <p:spPr>
          <a:xfrm>
            <a:off x="566928" y="658368"/>
            <a:ext cx="11057839" cy="420624"/>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0F172A"/>
                </a:solidFill>
                <a:latin typeface="Segoe UI Semibold"/>
              </a:rPr>
              <a:t>Project Overview</a:t>
            </a:r>
          </a:p>
        </p:txBody>
      </p:sp>
      <p:sp>
        <p:nvSpPr>
          <p:cNvPr id="6" name="TextBox 5"/>
          <p:cNvSpPr txBox="1"/>
          <p:nvPr/>
        </p:nvSpPr>
        <p:spPr>
          <a:xfrm>
            <a:off x="566928" y="1207008"/>
            <a:ext cx="10692079" cy="274320"/>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4748B"/>
                </a:solidFill>
                <a:latin typeface="Segoe UI"/>
              </a:rPr>
              <a:t>A working marketplace, not a prototype: a live PostgreSQL database, role-based dashboards, and a full booking lifecycle.</a:t>
            </a:r>
          </a:p>
        </p:txBody>
      </p:sp>
      <p:sp>
        <p:nvSpPr>
          <p:cNvPr id="7" name="TextBox 6"/>
          <p:cNvSpPr txBox="1"/>
          <p:nvPr/>
        </p:nvSpPr>
        <p:spPr>
          <a:xfrm>
            <a:off x="566928" y="1517904"/>
            <a:ext cx="11057839" cy="27432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475569"/>
                </a:solidFill>
                <a:latin typeface="Segoe UI"/>
              </a:rPr>
              <a:t>TutorConnect Nigeria is a web platform that lets students and parents find, compare and book verified tutors across Nigeria — in person or online — and gives tutors the tools to manage their sessions.</a:t>
            </a:r>
          </a:p>
        </p:txBody>
      </p:sp>
      <p:sp>
        <p:nvSpPr>
          <p:cNvPr id="8" name="Rounded Rectangle 7"/>
          <p:cNvSpPr/>
          <p:nvPr/>
        </p:nvSpPr>
        <p:spPr>
          <a:xfrm>
            <a:off x="566928" y="1938528"/>
            <a:ext cx="2651760" cy="1993392"/>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566928" y="1938528"/>
            <a:ext cx="2651760" cy="50292"/>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786384" y="2194560"/>
            <a:ext cx="475488" cy="475488"/>
          </a:xfrm>
          <a:prstGeom prst="roundRect">
            <a:avLst>
              <a:gd name="adj" fmla="val 2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2563EB"/>
                </a:solidFill>
                <a:latin typeface="Segoe UI"/>
              </a:rPr>
              <a:t>⌘</a:t>
            </a:r>
          </a:p>
        </p:txBody>
      </p:sp>
      <p:sp>
        <p:nvSpPr>
          <p:cNvPr id="11" name="TextBox 10"/>
          <p:cNvSpPr txBox="1"/>
          <p:nvPr/>
        </p:nvSpPr>
        <p:spPr>
          <a:xfrm>
            <a:off x="1371600" y="2286000"/>
            <a:ext cx="1645919" cy="292608"/>
          </a:xfrm>
          <a:prstGeom prst="rect">
            <a:avLst/>
          </a:prstGeom>
          <a:noFill/>
        </p:spPr>
        <p:txBody>
          <a:bodyPr wrap="square" lIns="0" rIns="0" tIns="0" bIns="0" anchor="t">
            <a:spAutoFit/>
          </a:bodyPr>
          <a:lstStyle/>
          <a:p>
            <a:pPr algn="l">
              <a:lnSpc>
                <a:spcPct val="118000"/>
              </a:lnSpc>
              <a:spcBef>
                <a:spcPts val="0"/>
              </a:spcBef>
              <a:spcAft>
                <a:spcPts val="0"/>
              </a:spcAft>
            </a:pPr>
            <a:r>
              <a:rPr sz="1500" b="1" i="0">
                <a:solidFill>
                  <a:srgbClr val="0F172A"/>
                </a:solidFill>
                <a:latin typeface="Segoe UI Semibold"/>
              </a:rPr>
              <a:t>Student</a:t>
            </a:r>
          </a:p>
        </p:txBody>
      </p:sp>
      <p:sp>
        <p:nvSpPr>
          <p:cNvPr id="12" name="TextBox 11"/>
          <p:cNvSpPr txBox="1"/>
          <p:nvPr/>
        </p:nvSpPr>
        <p:spPr>
          <a:xfrm>
            <a:off x="786384" y="2816352"/>
            <a:ext cx="2212848" cy="960120"/>
          </a:xfrm>
          <a:prstGeom prst="rect">
            <a:avLst/>
          </a:prstGeom>
          <a:noFill/>
        </p:spPr>
        <p:txBody>
          <a:bodyPr wrap="square" lIns="0" rIns="0" tIns="0" bIns="0" anchor="t">
            <a:spAutoFit/>
          </a:bodyPr>
          <a:lstStyle/>
          <a:p>
            <a:pPr algn="l">
              <a:lnSpc>
                <a:spcPct val="126000"/>
              </a:lnSpc>
              <a:spcBef>
                <a:spcPts val="0"/>
              </a:spcBef>
              <a:spcAft>
                <a:spcPts val="0"/>
              </a:spcAft>
            </a:pPr>
            <a:r>
              <a:rPr sz="1050" b="0" i="0">
                <a:solidFill>
                  <a:srgbClr val="475569"/>
                </a:solidFill>
                <a:latin typeface="Segoe UI"/>
              </a:rPr>
              <a:t>Search the tutor directory, save favourites, request sessions, track status, join online lessons, and review a completed session.</a:t>
            </a:r>
          </a:p>
        </p:txBody>
      </p:sp>
      <p:sp>
        <p:nvSpPr>
          <p:cNvPr id="13" name="Rounded Rectangle 12"/>
          <p:cNvSpPr/>
          <p:nvPr/>
        </p:nvSpPr>
        <p:spPr>
          <a:xfrm>
            <a:off x="3392424" y="1938528"/>
            <a:ext cx="2651760" cy="1993392"/>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3392424" y="1938528"/>
            <a:ext cx="2651760" cy="50292"/>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3611880" y="2194560"/>
            <a:ext cx="475488" cy="475488"/>
          </a:xfrm>
          <a:prstGeom prst="roundRect">
            <a:avLst>
              <a:gd name="adj" fmla="val 28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10B981"/>
                </a:solidFill>
                <a:latin typeface="Segoe UI"/>
              </a:rPr>
              <a:t>◉</a:t>
            </a:r>
          </a:p>
        </p:txBody>
      </p:sp>
      <p:sp>
        <p:nvSpPr>
          <p:cNvPr id="16" name="TextBox 15"/>
          <p:cNvSpPr txBox="1"/>
          <p:nvPr/>
        </p:nvSpPr>
        <p:spPr>
          <a:xfrm>
            <a:off x="4197096" y="2286000"/>
            <a:ext cx="1645919" cy="292608"/>
          </a:xfrm>
          <a:prstGeom prst="rect">
            <a:avLst/>
          </a:prstGeom>
          <a:noFill/>
        </p:spPr>
        <p:txBody>
          <a:bodyPr wrap="square" lIns="0" rIns="0" tIns="0" bIns="0" anchor="t">
            <a:spAutoFit/>
          </a:bodyPr>
          <a:lstStyle/>
          <a:p>
            <a:pPr algn="l">
              <a:lnSpc>
                <a:spcPct val="118000"/>
              </a:lnSpc>
              <a:spcBef>
                <a:spcPts val="0"/>
              </a:spcBef>
              <a:spcAft>
                <a:spcPts val="0"/>
              </a:spcAft>
            </a:pPr>
            <a:r>
              <a:rPr sz="1500" b="1" i="0">
                <a:solidFill>
                  <a:srgbClr val="0F172A"/>
                </a:solidFill>
                <a:latin typeface="Segoe UI Semibold"/>
              </a:rPr>
              <a:t>Parent</a:t>
            </a:r>
          </a:p>
        </p:txBody>
      </p:sp>
      <p:sp>
        <p:nvSpPr>
          <p:cNvPr id="17" name="TextBox 16"/>
          <p:cNvSpPr txBox="1"/>
          <p:nvPr/>
        </p:nvSpPr>
        <p:spPr>
          <a:xfrm>
            <a:off x="3611880" y="2816352"/>
            <a:ext cx="2212848" cy="960120"/>
          </a:xfrm>
          <a:prstGeom prst="rect">
            <a:avLst/>
          </a:prstGeom>
          <a:noFill/>
        </p:spPr>
        <p:txBody>
          <a:bodyPr wrap="square" lIns="0" rIns="0" tIns="0" bIns="0" anchor="t">
            <a:spAutoFit/>
          </a:bodyPr>
          <a:lstStyle/>
          <a:p>
            <a:pPr algn="l">
              <a:lnSpc>
                <a:spcPct val="126000"/>
              </a:lnSpc>
              <a:spcBef>
                <a:spcPts val="0"/>
              </a:spcBef>
              <a:spcAft>
                <a:spcPts val="0"/>
              </a:spcAft>
            </a:pPr>
            <a:r>
              <a:rPr sz="1050" b="0" i="0">
                <a:solidFill>
                  <a:srgbClr val="475569"/>
                </a:solidFill>
                <a:latin typeface="Segoe UI"/>
              </a:rPr>
              <a:t>Register with a learner's details and budget, manage that learner profile, request sessions, and follow bookings and reviews from one dashboard.</a:t>
            </a:r>
          </a:p>
        </p:txBody>
      </p:sp>
      <p:sp>
        <p:nvSpPr>
          <p:cNvPr id="18" name="Rounded Rectangle 17"/>
          <p:cNvSpPr/>
          <p:nvPr/>
        </p:nvSpPr>
        <p:spPr>
          <a:xfrm>
            <a:off x="6217920" y="1938528"/>
            <a:ext cx="2651760" cy="1993392"/>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217920" y="1938528"/>
            <a:ext cx="2651760" cy="50292"/>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437376" y="2194560"/>
            <a:ext cx="475488" cy="475488"/>
          </a:xfrm>
          <a:prstGeom prst="roundRect">
            <a:avLst>
              <a:gd name="adj" fmla="val 2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59E0B"/>
                </a:solidFill>
                <a:latin typeface="Segoe UI"/>
              </a:rPr>
              <a:t>✦</a:t>
            </a:r>
          </a:p>
        </p:txBody>
      </p:sp>
      <p:sp>
        <p:nvSpPr>
          <p:cNvPr id="21" name="TextBox 20"/>
          <p:cNvSpPr txBox="1"/>
          <p:nvPr/>
        </p:nvSpPr>
        <p:spPr>
          <a:xfrm>
            <a:off x="7022592" y="2286000"/>
            <a:ext cx="1645919" cy="292608"/>
          </a:xfrm>
          <a:prstGeom prst="rect">
            <a:avLst/>
          </a:prstGeom>
          <a:noFill/>
        </p:spPr>
        <p:txBody>
          <a:bodyPr wrap="square" lIns="0" rIns="0" tIns="0" bIns="0" anchor="t">
            <a:spAutoFit/>
          </a:bodyPr>
          <a:lstStyle/>
          <a:p>
            <a:pPr algn="l">
              <a:lnSpc>
                <a:spcPct val="118000"/>
              </a:lnSpc>
              <a:spcBef>
                <a:spcPts val="0"/>
              </a:spcBef>
              <a:spcAft>
                <a:spcPts val="0"/>
              </a:spcAft>
            </a:pPr>
            <a:r>
              <a:rPr sz="1500" b="1" i="0">
                <a:solidFill>
                  <a:srgbClr val="0F172A"/>
                </a:solidFill>
                <a:latin typeface="Segoe UI Semibold"/>
              </a:rPr>
              <a:t>Tutor</a:t>
            </a:r>
          </a:p>
        </p:txBody>
      </p:sp>
      <p:sp>
        <p:nvSpPr>
          <p:cNvPr id="22" name="TextBox 21"/>
          <p:cNvSpPr txBox="1"/>
          <p:nvPr/>
        </p:nvSpPr>
        <p:spPr>
          <a:xfrm>
            <a:off x="6437376" y="2816352"/>
            <a:ext cx="2212848" cy="960120"/>
          </a:xfrm>
          <a:prstGeom prst="rect">
            <a:avLst/>
          </a:prstGeom>
          <a:noFill/>
        </p:spPr>
        <p:txBody>
          <a:bodyPr wrap="square" lIns="0" rIns="0" tIns="0" bIns="0" anchor="t">
            <a:spAutoFit/>
          </a:bodyPr>
          <a:lstStyle/>
          <a:p>
            <a:pPr algn="l">
              <a:lnSpc>
                <a:spcPct val="126000"/>
              </a:lnSpc>
              <a:spcBef>
                <a:spcPts val="0"/>
              </a:spcBef>
              <a:spcAft>
                <a:spcPts val="0"/>
              </a:spcAft>
            </a:pPr>
            <a:r>
              <a:rPr sz="1050" b="0" i="0">
                <a:solidFill>
                  <a:srgbClr val="475569"/>
                </a:solidFill>
                <a:latin typeface="Segoe UI"/>
              </a:rPr>
              <a:t>Publish a profile, upload credentials for verification, set weekly availability, accept or decline session requests, and keep history.</a:t>
            </a:r>
          </a:p>
        </p:txBody>
      </p:sp>
      <p:sp>
        <p:nvSpPr>
          <p:cNvPr id="23" name="Rounded Rectangle 22"/>
          <p:cNvSpPr/>
          <p:nvPr/>
        </p:nvSpPr>
        <p:spPr>
          <a:xfrm>
            <a:off x="9043415" y="1938528"/>
            <a:ext cx="2651760" cy="1993392"/>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9043415" y="1938528"/>
            <a:ext cx="2651760" cy="50292"/>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9262872" y="2194560"/>
            <a:ext cx="475488" cy="475488"/>
          </a:xfrm>
          <a:prstGeom prst="roundRect">
            <a:avLst>
              <a:gd name="adj" fmla="val 28000"/>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E11D48"/>
                </a:solidFill>
                <a:latin typeface="Segoe UI"/>
              </a:rPr>
              <a:t>◆</a:t>
            </a:r>
          </a:p>
        </p:txBody>
      </p:sp>
      <p:sp>
        <p:nvSpPr>
          <p:cNvPr id="26" name="TextBox 25"/>
          <p:cNvSpPr txBox="1"/>
          <p:nvPr/>
        </p:nvSpPr>
        <p:spPr>
          <a:xfrm>
            <a:off x="9848088" y="2286000"/>
            <a:ext cx="1645919" cy="292608"/>
          </a:xfrm>
          <a:prstGeom prst="rect">
            <a:avLst/>
          </a:prstGeom>
          <a:noFill/>
        </p:spPr>
        <p:txBody>
          <a:bodyPr wrap="square" lIns="0" rIns="0" tIns="0" bIns="0" anchor="t">
            <a:spAutoFit/>
          </a:bodyPr>
          <a:lstStyle/>
          <a:p>
            <a:pPr algn="l">
              <a:lnSpc>
                <a:spcPct val="118000"/>
              </a:lnSpc>
              <a:spcBef>
                <a:spcPts val="0"/>
              </a:spcBef>
              <a:spcAft>
                <a:spcPts val="0"/>
              </a:spcAft>
            </a:pPr>
            <a:r>
              <a:rPr sz="1500" b="1" i="0">
                <a:solidFill>
                  <a:srgbClr val="0F172A"/>
                </a:solidFill>
                <a:latin typeface="Segoe UI Semibold"/>
              </a:rPr>
              <a:t>Administrator</a:t>
            </a:r>
          </a:p>
        </p:txBody>
      </p:sp>
      <p:sp>
        <p:nvSpPr>
          <p:cNvPr id="27" name="TextBox 26"/>
          <p:cNvSpPr txBox="1"/>
          <p:nvPr/>
        </p:nvSpPr>
        <p:spPr>
          <a:xfrm>
            <a:off x="9262872" y="2816352"/>
            <a:ext cx="2212848" cy="960120"/>
          </a:xfrm>
          <a:prstGeom prst="rect">
            <a:avLst/>
          </a:prstGeom>
          <a:noFill/>
        </p:spPr>
        <p:txBody>
          <a:bodyPr wrap="square" lIns="0" rIns="0" tIns="0" bIns="0" anchor="t">
            <a:spAutoFit/>
          </a:bodyPr>
          <a:lstStyle/>
          <a:p>
            <a:pPr algn="l">
              <a:lnSpc>
                <a:spcPct val="126000"/>
              </a:lnSpc>
              <a:spcBef>
                <a:spcPts val="0"/>
              </a:spcBef>
              <a:spcAft>
                <a:spcPts val="0"/>
              </a:spcAft>
            </a:pPr>
            <a:r>
              <a:rPr sz="1050" b="0" i="0">
                <a:solidFill>
                  <a:srgbClr val="475569"/>
                </a:solidFill>
                <a:latin typeface="Segoe UI"/>
              </a:rPr>
              <a:t>Review credential applications, approve or suspend accounts, monitor booking metrics, and see gross platform revenue.</a:t>
            </a:r>
          </a:p>
        </p:txBody>
      </p:sp>
      <p:sp>
        <p:nvSpPr>
          <p:cNvPr id="28" name="Rounded Rectangle 27"/>
          <p:cNvSpPr/>
          <p:nvPr/>
        </p:nvSpPr>
        <p:spPr>
          <a:xfrm>
            <a:off x="566928" y="4201668"/>
            <a:ext cx="41148" cy="146304"/>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94944" y="4169664"/>
            <a:ext cx="5358384" cy="219456"/>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00">
                <a:solidFill>
                  <a:srgbClr val="1E3A8A"/>
                </a:solidFill>
                <a:latin typeface="Segoe UI"/>
              </a:rPr>
              <a:t>HOW THE PARTS WORK TOGETHER</a:t>
            </a:r>
          </a:p>
        </p:txBody>
      </p:sp>
      <p:sp>
        <p:nvSpPr>
          <p:cNvPr id="30" name="Chevron 29"/>
          <p:cNvSpPr/>
          <p:nvPr/>
        </p:nvSpPr>
        <p:spPr>
          <a:xfrm>
            <a:off x="566928" y="4498848"/>
            <a:ext cx="2286000" cy="658368"/>
          </a:xfrm>
          <a:prstGeom prst="chevron">
            <a:avLst/>
          </a:prstGeom>
          <a:solidFill>
            <a:srgbClr val="172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45720" tIns="0" bIns="0"/>
          <a:lstStyle/>
          <a:p>
            <a:pPr algn="ctr">
              <a:lnSpc>
                <a:spcPct val="105000"/>
              </a:lnSpc>
            </a:pPr>
            <a:r>
              <a:rPr sz="1050" b="1" i="0">
                <a:solidFill>
                  <a:srgbClr val="FFFFFF"/>
                </a:solidFill>
                <a:latin typeface="Segoe UI"/>
              </a:rPr>
              <a:t>Register &amp; sign in</a:t>
            </a:r>
          </a:p>
        </p:txBody>
      </p:sp>
      <p:sp>
        <p:nvSpPr>
          <p:cNvPr id="31" name="Chevron 30"/>
          <p:cNvSpPr/>
          <p:nvPr/>
        </p:nvSpPr>
        <p:spPr>
          <a:xfrm>
            <a:off x="2798064" y="4498848"/>
            <a:ext cx="2286000" cy="658368"/>
          </a:xfrm>
          <a:prstGeom prst="chevron">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45720" tIns="0" bIns="0"/>
          <a:lstStyle/>
          <a:p>
            <a:pPr algn="ctr">
              <a:lnSpc>
                <a:spcPct val="105000"/>
              </a:lnSpc>
            </a:pPr>
            <a:r>
              <a:rPr sz="1050" b="1" i="0">
                <a:solidFill>
                  <a:srgbClr val="FFFFFF"/>
                </a:solidFill>
                <a:latin typeface="Segoe UI"/>
              </a:rPr>
              <a:t>Role dashboard</a:t>
            </a:r>
          </a:p>
        </p:txBody>
      </p:sp>
      <p:sp>
        <p:nvSpPr>
          <p:cNvPr id="32" name="Chevron 31"/>
          <p:cNvSpPr/>
          <p:nvPr/>
        </p:nvSpPr>
        <p:spPr>
          <a:xfrm>
            <a:off x="5029200" y="4498848"/>
            <a:ext cx="2286000" cy="658368"/>
          </a:xfrm>
          <a:prstGeom prst="chevron">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45720" tIns="0" bIns="0"/>
          <a:lstStyle/>
          <a:p>
            <a:pPr algn="ctr">
              <a:lnSpc>
                <a:spcPct val="105000"/>
              </a:lnSpc>
            </a:pPr>
            <a:r>
              <a:rPr sz="1050" b="1" i="0">
                <a:solidFill>
                  <a:srgbClr val="FFFFFF"/>
                </a:solidFill>
                <a:latin typeface="Segoe UI"/>
              </a:rPr>
              <a:t>Discover tutors</a:t>
            </a:r>
          </a:p>
        </p:txBody>
      </p:sp>
      <p:sp>
        <p:nvSpPr>
          <p:cNvPr id="33" name="Chevron 32"/>
          <p:cNvSpPr/>
          <p:nvPr/>
        </p:nvSpPr>
        <p:spPr>
          <a:xfrm>
            <a:off x="7260336" y="4498848"/>
            <a:ext cx="2286000" cy="658368"/>
          </a:xfrm>
          <a:prstGeom prst="chevron">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45720" tIns="0" bIns="0"/>
          <a:lstStyle/>
          <a:p>
            <a:pPr algn="ctr">
              <a:lnSpc>
                <a:spcPct val="105000"/>
              </a:lnSpc>
            </a:pPr>
            <a:r>
              <a:rPr sz="1050" b="1" i="0">
                <a:solidFill>
                  <a:srgbClr val="FFFFFF"/>
                </a:solidFill>
                <a:latin typeface="Segoe UI"/>
              </a:rPr>
              <a:t>Request a booking</a:t>
            </a:r>
          </a:p>
        </p:txBody>
      </p:sp>
      <p:sp>
        <p:nvSpPr>
          <p:cNvPr id="34" name="Chevron 33"/>
          <p:cNvSpPr/>
          <p:nvPr/>
        </p:nvSpPr>
        <p:spPr>
          <a:xfrm>
            <a:off x="9491472" y="4498848"/>
            <a:ext cx="2286000" cy="658368"/>
          </a:xfrm>
          <a:prstGeom prst="chevron">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45720" tIns="0" bIns="0"/>
          <a:lstStyle/>
          <a:p>
            <a:pPr algn="ctr">
              <a:lnSpc>
                <a:spcPct val="105000"/>
              </a:lnSpc>
            </a:pPr>
            <a:r>
              <a:rPr sz="1050" b="1" i="0">
                <a:solidFill>
                  <a:srgbClr val="FFFFFF"/>
                </a:solidFill>
                <a:latin typeface="Segoe UI"/>
              </a:rPr>
              <a:t>Session, review &amp; chat</a:t>
            </a:r>
          </a:p>
        </p:txBody>
      </p:sp>
      <p:sp>
        <p:nvSpPr>
          <p:cNvPr id="35" name="Rounded Rectangle 34"/>
          <p:cNvSpPr/>
          <p:nvPr/>
        </p:nvSpPr>
        <p:spPr>
          <a:xfrm>
            <a:off x="566928" y="5340096"/>
            <a:ext cx="11057839" cy="713232"/>
          </a:xfrm>
          <a:prstGeom prst="roundRect">
            <a:avLst>
              <a:gd name="adj" fmla="val 6000"/>
            </a:avLst>
          </a:prstGeom>
          <a:solidFill>
            <a:srgbClr val="DBEAFE"/>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2960" y="5486400"/>
            <a:ext cx="10545775" cy="420624"/>
          </a:xfrm>
          <a:prstGeom prst="rect">
            <a:avLst/>
          </a:prstGeom>
          <a:noFill/>
        </p:spPr>
        <p:txBody>
          <a:bodyPr wrap="square" lIns="0" rIns="0" tIns="0" bIns="0" anchor="ctr">
            <a:spAutoFit/>
          </a:bodyPr>
          <a:lstStyle/>
          <a:p>
            <a:pPr algn="l">
              <a:lnSpc>
                <a:spcPct val="120000"/>
              </a:lnSpc>
            </a:pPr>
            <a:r>
              <a:rPr sz="1150" b="1" i="0">
                <a:solidFill>
                  <a:srgbClr val="1E3A8A"/>
                </a:solidFill>
                <a:latin typeface="Segoe UI"/>
              </a:rPr>
              <a:t>Truth in the data:  </a:t>
            </a:r>
            <a:r>
              <a:rPr sz="1150" b="0" i="0">
                <a:solidFill>
                  <a:srgbClr val="334155"/>
                </a:solidFill>
                <a:latin typeface="Segoe UI"/>
              </a:rPr>
              <a:t>every tutor listing, booking, review and message is read live from PostgreSQL. When the database is not configured the screens show an explicit empty state — the app never invents tutors, bookings or ratings.</a:t>
            </a:r>
          </a:p>
        </p:txBody>
      </p:sp>
      <p:cxnSp>
        <p:nvCxnSpPr>
          <p:cNvPr id="37" name="Connector 36"/>
          <p:cNvCxnSpPr/>
          <p:nvPr/>
        </p:nvCxnSpPr>
        <p:spPr>
          <a:xfrm>
            <a:off x="566928" y="6382512"/>
            <a:ext cx="11057839"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66928" y="6473952"/>
            <a:ext cx="9777679" cy="219456"/>
          </a:xfrm>
          <a:prstGeom prst="rect">
            <a:avLst/>
          </a:prstGeom>
          <a:noFill/>
        </p:spPr>
        <p:txBody>
          <a:bodyPr wrap="square" lIns="0" rIns="0" tIns="0" bIns="0" anchor="t">
            <a:spAutoFit/>
          </a:bodyPr>
          <a:lstStyle/>
          <a:p>
            <a:pPr algn="l">
              <a:lnSpc>
                <a:spcPct val="118000"/>
              </a:lnSpc>
              <a:spcBef>
                <a:spcPts val="0"/>
              </a:spcBef>
              <a:spcAft>
                <a:spcPts val="0"/>
              </a:spcAft>
            </a:pPr>
            <a:r>
              <a:rPr sz="880" b="0" i="0">
                <a:solidFill>
                  <a:srgbClr val="94A3B8"/>
                </a:solidFill>
                <a:latin typeface="Segoe UI"/>
              </a:rPr>
              <a:t>Presenter: Hephzibah Uchechukwu · Project overview</a:t>
            </a:r>
          </a:p>
        </p:txBody>
      </p:sp>
      <p:sp>
        <p:nvSpPr>
          <p:cNvPr id="39" name="TextBox 38"/>
          <p:cNvSpPr txBox="1"/>
          <p:nvPr/>
        </p:nvSpPr>
        <p:spPr>
          <a:xfrm>
            <a:off x="10436047" y="6473952"/>
            <a:ext cx="1188720" cy="219456"/>
          </a:xfrm>
          <a:prstGeom prst="rect">
            <a:avLst/>
          </a:prstGeom>
          <a:noFill/>
        </p:spPr>
        <p:txBody>
          <a:bodyPr wrap="square" lIns="0" rIns="0" tIns="0" bIns="0" anchor="t">
            <a:spAutoFit/>
          </a:bodyPr>
          <a:lstStyle/>
          <a:p>
            <a:pPr algn="r">
              <a:lnSpc>
                <a:spcPct val="118000"/>
              </a:lnSpc>
              <a:spcBef>
                <a:spcPts val="0"/>
              </a:spcBef>
              <a:spcAft>
                <a:spcPts val="0"/>
              </a:spcAft>
            </a:pPr>
            <a:r>
              <a:rPr sz="950" b="1" i="0">
                <a:solidFill>
                  <a:srgbClr val="94A3B8"/>
                </a:solidFill>
                <a:latin typeface="Segoe UI"/>
              </a:rP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420624"/>
            <a:ext cx="50292" cy="173736"/>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384048"/>
            <a:ext cx="10874959" cy="237744"/>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20">
                <a:solidFill>
                  <a:srgbClr val="2563EB"/>
                </a:solidFill>
                <a:latin typeface="Segoe UI"/>
              </a:rPr>
              <a:t>THE PROBLEM</a:t>
            </a:r>
          </a:p>
        </p:txBody>
      </p:sp>
      <p:sp>
        <p:nvSpPr>
          <p:cNvPr id="5" name="TextBox 4"/>
          <p:cNvSpPr txBox="1"/>
          <p:nvPr/>
        </p:nvSpPr>
        <p:spPr>
          <a:xfrm>
            <a:off x="566928" y="658368"/>
            <a:ext cx="11057839" cy="420624"/>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0F172A"/>
                </a:solidFill>
                <a:latin typeface="Segoe UI Semibold"/>
              </a:rPr>
              <a:t>The challenge: finding and booking a tutor</a:t>
            </a:r>
          </a:p>
        </p:txBody>
      </p:sp>
      <p:sp>
        <p:nvSpPr>
          <p:cNvPr id="6" name="TextBox 5"/>
          <p:cNvSpPr txBox="1"/>
          <p:nvPr/>
        </p:nvSpPr>
        <p:spPr>
          <a:xfrm>
            <a:off x="566928" y="1207008"/>
            <a:ext cx="10692079" cy="274320"/>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4748B"/>
                </a:solidFill>
                <a:latin typeface="Segoe UI"/>
              </a:rPr>
              <a:t>The problems below are the frictions our features were built to remove — each one is mapped to something that actually exists in the codebase.</a:t>
            </a:r>
          </a:p>
        </p:txBody>
      </p:sp>
      <p:sp>
        <p:nvSpPr>
          <p:cNvPr id="7" name="Rounded Rectangle 6"/>
          <p:cNvSpPr/>
          <p:nvPr/>
        </p:nvSpPr>
        <p:spPr>
          <a:xfrm>
            <a:off x="566928" y="1901952"/>
            <a:ext cx="5394960" cy="1060704"/>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66928" y="1901952"/>
            <a:ext cx="45720" cy="1060704"/>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86384" y="2029968"/>
            <a:ext cx="457200" cy="256032"/>
          </a:xfrm>
          <a:prstGeom prst="rect">
            <a:avLst/>
          </a:prstGeom>
          <a:noFill/>
        </p:spPr>
        <p:txBody>
          <a:bodyPr wrap="square" lIns="0" rIns="0" tIns="0" bIns="0" anchor="t">
            <a:spAutoFit/>
          </a:bodyPr>
          <a:lstStyle/>
          <a:p>
            <a:pPr algn="l">
              <a:lnSpc>
                <a:spcPct val="118000"/>
              </a:lnSpc>
              <a:spcBef>
                <a:spcPts val="0"/>
              </a:spcBef>
              <a:spcAft>
                <a:spcPts val="0"/>
              </a:spcAft>
            </a:pPr>
            <a:r>
              <a:rPr sz="1300" b="1" i="0">
                <a:solidFill>
                  <a:srgbClr val="2563EB"/>
                </a:solidFill>
                <a:latin typeface="Segoe UI Semibold"/>
              </a:rPr>
              <a:t>01</a:t>
            </a:r>
          </a:p>
        </p:txBody>
      </p:sp>
      <p:sp>
        <p:nvSpPr>
          <p:cNvPr id="10" name="TextBox 9"/>
          <p:cNvSpPr txBox="1"/>
          <p:nvPr/>
        </p:nvSpPr>
        <p:spPr>
          <a:xfrm>
            <a:off x="1243584" y="2020824"/>
            <a:ext cx="4480560" cy="256032"/>
          </a:xfrm>
          <a:prstGeom prst="rect">
            <a:avLst/>
          </a:prstGeom>
          <a:noFill/>
        </p:spPr>
        <p:txBody>
          <a:bodyPr wrap="square" lIns="0" rIns="0" tIns="0" bIns="0" anchor="t">
            <a:spAutoFit/>
          </a:bodyPr>
          <a:lstStyle/>
          <a:p>
            <a:pPr algn="l">
              <a:lnSpc>
                <a:spcPct val="118000"/>
              </a:lnSpc>
              <a:spcBef>
                <a:spcPts val="0"/>
              </a:spcBef>
              <a:spcAft>
                <a:spcPts val="0"/>
              </a:spcAft>
            </a:pPr>
            <a:r>
              <a:rPr sz="1200" b="1" i="0">
                <a:solidFill>
                  <a:srgbClr val="0F172A"/>
                </a:solidFill>
                <a:latin typeface="Segoe UI Semibold"/>
              </a:rPr>
              <a:t>Finding a tutor for a specific subject</a:t>
            </a:r>
          </a:p>
        </p:txBody>
      </p:sp>
      <p:sp>
        <p:nvSpPr>
          <p:cNvPr id="11" name="TextBox 10"/>
          <p:cNvSpPr txBox="1"/>
          <p:nvPr/>
        </p:nvSpPr>
        <p:spPr>
          <a:xfrm>
            <a:off x="1243584" y="2286000"/>
            <a:ext cx="4480560" cy="320040"/>
          </a:xfrm>
          <a:prstGeom prst="rect">
            <a:avLst/>
          </a:prstGeom>
          <a:noFill/>
        </p:spPr>
        <p:txBody>
          <a:bodyPr wrap="square" lIns="0" rIns="0" tIns="0" bIns="0" anchor="t">
            <a:spAutoFit/>
          </a:bodyPr>
          <a:lstStyle/>
          <a:p>
            <a:pPr algn="l">
              <a:lnSpc>
                <a:spcPct val="115000"/>
              </a:lnSpc>
              <a:spcBef>
                <a:spcPts val="0"/>
              </a:spcBef>
              <a:spcAft>
                <a:spcPts val="0"/>
              </a:spcAft>
            </a:pPr>
            <a:r>
              <a:rPr sz="919" b="0" i="0">
                <a:solidFill>
                  <a:srgbClr val="475569"/>
                </a:solidFill>
                <a:latin typeface="Segoe UI"/>
              </a:rPr>
              <a:t>Word of mouth can miss the exact subject or syllabus; there is no shared searchable tutor directory.</a:t>
            </a:r>
          </a:p>
        </p:txBody>
      </p:sp>
      <p:sp>
        <p:nvSpPr>
          <p:cNvPr id="12" name="TextBox 11"/>
          <p:cNvSpPr txBox="1"/>
          <p:nvPr/>
        </p:nvSpPr>
        <p:spPr>
          <a:xfrm>
            <a:off x="1243584" y="2633472"/>
            <a:ext cx="4480560" cy="301752"/>
          </a:xfrm>
          <a:prstGeom prst="rect">
            <a:avLst/>
          </a:prstGeom>
          <a:noFill/>
        </p:spPr>
        <p:txBody>
          <a:bodyPr wrap="square" lIns="0" rIns="0" tIns="0" bIns="0" anchor="t">
            <a:spAutoFit/>
          </a:bodyPr>
          <a:lstStyle/>
          <a:p>
            <a:pPr algn="l">
              <a:lnSpc>
                <a:spcPct val="112000"/>
              </a:lnSpc>
              <a:spcBef>
                <a:spcPts val="0"/>
              </a:spcBef>
              <a:spcAft>
                <a:spcPts val="0"/>
              </a:spcAft>
            </a:pPr>
            <a:r>
              <a:rPr sz="880" b="1" i="0">
                <a:solidFill>
                  <a:srgbClr val="059669"/>
                </a:solidFill>
                <a:latin typeface="Segoe UI"/>
              </a:rPr>
              <a:t>In our build:  Subject filter + Smart Tutor Match across 33 subject options</a:t>
            </a:r>
          </a:p>
        </p:txBody>
      </p:sp>
      <p:sp>
        <p:nvSpPr>
          <p:cNvPr id="13" name="Rounded Rectangle 12"/>
          <p:cNvSpPr/>
          <p:nvPr/>
        </p:nvSpPr>
        <p:spPr>
          <a:xfrm>
            <a:off x="566928" y="2999232"/>
            <a:ext cx="5394960" cy="1060704"/>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66928" y="2999232"/>
            <a:ext cx="45720" cy="1060704"/>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86384" y="3127248"/>
            <a:ext cx="457200" cy="256032"/>
          </a:xfrm>
          <a:prstGeom prst="rect">
            <a:avLst/>
          </a:prstGeom>
          <a:noFill/>
        </p:spPr>
        <p:txBody>
          <a:bodyPr wrap="square" lIns="0" rIns="0" tIns="0" bIns="0" anchor="t">
            <a:spAutoFit/>
          </a:bodyPr>
          <a:lstStyle/>
          <a:p>
            <a:pPr algn="l">
              <a:lnSpc>
                <a:spcPct val="118000"/>
              </a:lnSpc>
              <a:spcBef>
                <a:spcPts val="0"/>
              </a:spcBef>
              <a:spcAft>
                <a:spcPts val="0"/>
              </a:spcAft>
            </a:pPr>
            <a:r>
              <a:rPr sz="1300" b="1" i="0">
                <a:solidFill>
                  <a:srgbClr val="2563EB"/>
                </a:solidFill>
                <a:latin typeface="Segoe UI Semibold"/>
              </a:rPr>
              <a:t>02</a:t>
            </a:r>
          </a:p>
        </p:txBody>
      </p:sp>
      <p:sp>
        <p:nvSpPr>
          <p:cNvPr id="16" name="TextBox 15"/>
          <p:cNvSpPr txBox="1"/>
          <p:nvPr/>
        </p:nvSpPr>
        <p:spPr>
          <a:xfrm>
            <a:off x="1243584" y="3118104"/>
            <a:ext cx="4480560" cy="256032"/>
          </a:xfrm>
          <a:prstGeom prst="rect">
            <a:avLst/>
          </a:prstGeom>
          <a:noFill/>
        </p:spPr>
        <p:txBody>
          <a:bodyPr wrap="square" lIns="0" rIns="0" tIns="0" bIns="0" anchor="t">
            <a:spAutoFit/>
          </a:bodyPr>
          <a:lstStyle/>
          <a:p>
            <a:pPr algn="l">
              <a:lnSpc>
                <a:spcPct val="118000"/>
              </a:lnSpc>
              <a:spcBef>
                <a:spcPts val="0"/>
              </a:spcBef>
              <a:spcAft>
                <a:spcPts val="0"/>
              </a:spcAft>
            </a:pPr>
            <a:r>
              <a:rPr sz="1200" b="1" i="0">
                <a:solidFill>
                  <a:srgbClr val="0F172A"/>
                </a:solidFill>
                <a:latin typeface="Segoe UI Semibold"/>
              </a:rPr>
              <a:t>Comparing tutors on evidence, not claims</a:t>
            </a:r>
          </a:p>
        </p:txBody>
      </p:sp>
      <p:sp>
        <p:nvSpPr>
          <p:cNvPr id="17" name="TextBox 16"/>
          <p:cNvSpPr txBox="1"/>
          <p:nvPr/>
        </p:nvSpPr>
        <p:spPr>
          <a:xfrm>
            <a:off x="1243584" y="3383280"/>
            <a:ext cx="4480560" cy="320040"/>
          </a:xfrm>
          <a:prstGeom prst="rect">
            <a:avLst/>
          </a:prstGeom>
          <a:noFill/>
        </p:spPr>
        <p:txBody>
          <a:bodyPr wrap="square" lIns="0" rIns="0" tIns="0" bIns="0" anchor="t">
            <a:spAutoFit/>
          </a:bodyPr>
          <a:lstStyle/>
          <a:p>
            <a:pPr algn="l">
              <a:lnSpc>
                <a:spcPct val="115000"/>
              </a:lnSpc>
              <a:spcBef>
                <a:spcPts val="0"/>
              </a:spcBef>
              <a:spcAft>
                <a:spcPts val="0"/>
              </a:spcAft>
            </a:pPr>
            <a:r>
              <a:rPr sz="919" b="0" i="0">
                <a:solidFill>
                  <a:srgbClr val="475569"/>
                </a:solidFill>
                <a:latin typeface="Segoe UI"/>
              </a:rPr>
              <a:t>Without a common profile, families struggle to compare credentials, experience, ratings and reviews.</a:t>
            </a:r>
          </a:p>
        </p:txBody>
      </p:sp>
      <p:sp>
        <p:nvSpPr>
          <p:cNvPr id="18" name="TextBox 17"/>
          <p:cNvSpPr txBox="1"/>
          <p:nvPr/>
        </p:nvSpPr>
        <p:spPr>
          <a:xfrm>
            <a:off x="1243584" y="3730752"/>
            <a:ext cx="4480560" cy="301752"/>
          </a:xfrm>
          <a:prstGeom prst="rect">
            <a:avLst/>
          </a:prstGeom>
          <a:noFill/>
        </p:spPr>
        <p:txBody>
          <a:bodyPr wrap="square" lIns="0" rIns="0" tIns="0" bIns="0" anchor="t">
            <a:spAutoFit/>
          </a:bodyPr>
          <a:lstStyle/>
          <a:p>
            <a:pPr algn="l">
              <a:lnSpc>
                <a:spcPct val="112000"/>
              </a:lnSpc>
              <a:spcBef>
                <a:spcPts val="0"/>
              </a:spcBef>
              <a:spcAft>
                <a:spcPts val="0"/>
              </a:spcAft>
            </a:pPr>
            <a:r>
              <a:rPr sz="880" b="1" i="0">
                <a:solidFill>
                  <a:srgbClr val="059669"/>
                </a:solidFill>
                <a:latin typeface="Segoe UI"/>
              </a:rPr>
              <a:t>In our build:  Admin review, ID + degree uploads, verified badge and ratings</a:t>
            </a:r>
          </a:p>
        </p:txBody>
      </p:sp>
      <p:sp>
        <p:nvSpPr>
          <p:cNvPr id="19" name="Rounded Rectangle 18"/>
          <p:cNvSpPr/>
          <p:nvPr/>
        </p:nvSpPr>
        <p:spPr>
          <a:xfrm>
            <a:off x="566928" y="4096512"/>
            <a:ext cx="5394960" cy="1060704"/>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566928" y="4096512"/>
            <a:ext cx="45720" cy="1060704"/>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86384" y="4224528"/>
            <a:ext cx="457200" cy="256032"/>
          </a:xfrm>
          <a:prstGeom prst="rect">
            <a:avLst/>
          </a:prstGeom>
          <a:noFill/>
        </p:spPr>
        <p:txBody>
          <a:bodyPr wrap="square" lIns="0" rIns="0" tIns="0" bIns="0" anchor="t">
            <a:spAutoFit/>
          </a:bodyPr>
          <a:lstStyle/>
          <a:p>
            <a:pPr algn="l">
              <a:lnSpc>
                <a:spcPct val="118000"/>
              </a:lnSpc>
              <a:spcBef>
                <a:spcPts val="0"/>
              </a:spcBef>
              <a:spcAft>
                <a:spcPts val="0"/>
              </a:spcAft>
            </a:pPr>
            <a:r>
              <a:rPr sz="1300" b="1" i="0">
                <a:solidFill>
                  <a:srgbClr val="2563EB"/>
                </a:solidFill>
                <a:latin typeface="Segoe UI Semibold"/>
              </a:rPr>
              <a:t>03</a:t>
            </a:r>
          </a:p>
        </p:txBody>
      </p:sp>
      <p:sp>
        <p:nvSpPr>
          <p:cNvPr id="22" name="TextBox 21"/>
          <p:cNvSpPr txBox="1"/>
          <p:nvPr/>
        </p:nvSpPr>
        <p:spPr>
          <a:xfrm>
            <a:off x="1243584" y="4215384"/>
            <a:ext cx="4480560" cy="256032"/>
          </a:xfrm>
          <a:prstGeom prst="rect">
            <a:avLst/>
          </a:prstGeom>
          <a:noFill/>
        </p:spPr>
        <p:txBody>
          <a:bodyPr wrap="square" lIns="0" rIns="0" tIns="0" bIns="0" anchor="t">
            <a:spAutoFit/>
          </a:bodyPr>
          <a:lstStyle/>
          <a:p>
            <a:pPr algn="l">
              <a:lnSpc>
                <a:spcPct val="118000"/>
              </a:lnSpc>
              <a:spcBef>
                <a:spcPts val="0"/>
              </a:spcBef>
              <a:spcAft>
                <a:spcPts val="0"/>
              </a:spcAft>
            </a:pPr>
            <a:r>
              <a:rPr sz="1200" b="1" i="0">
                <a:solidFill>
                  <a:srgbClr val="0F172A"/>
                </a:solidFill>
                <a:latin typeface="Segoe UI Semibold"/>
              </a:rPr>
              <a:t>Matching availability and fee to a real budget</a:t>
            </a:r>
          </a:p>
        </p:txBody>
      </p:sp>
      <p:sp>
        <p:nvSpPr>
          <p:cNvPr id="23" name="TextBox 22"/>
          <p:cNvSpPr txBox="1"/>
          <p:nvPr/>
        </p:nvSpPr>
        <p:spPr>
          <a:xfrm>
            <a:off x="1243584" y="4480560"/>
            <a:ext cx="4480560" cy="320040"/>
          </a:xfrm>
          <a:prstGeom prst="rect">
            <a:avLst/>
          </a:prstGeom>
          <a:noFill/>
        </p:spPr>
        <p:txBody>
          <a:bodyPr wrap="square" lIns="0" rIns="0" tIns="0" bIns="0" anchor="t">
            <a:spAutoFit/>
          </a:bodyPr>
          <a:lstStyle/>
          <a:p>
            <a:pPr algn="l">
              <a:lnSpc>
                <a:spcPct val="115000"/>
              </a:lnSpc>
              <a:spcBef>
                <a:spcPts val="0"/>
              </a:spcBef>
              <a:spcAft>
                <a:spcPts val="0"/>
              </a:spcAft>
            </a:pPr>
            <a:r>
              <a:rPr sz="919" b="0" i="0">
                <a:solidFill>
                  <a:srgbClr val="475569"/>
                </a:solidFill>
                <a:latin typeface="Segoe UI"/>
              </a:rPr>
              <a:t>Rates and weekly availability are often discovered only after a time-consuming phone call.</a:t>
            </a:r>
          </a:p>
        </p:txBody>
      </p:sp>
      <p:sp>
        <p:nvSpPr>
          <p:cNvPr id="24" name="TextBox 23"/>
          <p:cNvSpPr txBox="1"/>
          <p:nvPr/>
        </p:nvSpPr>
        <p:spPr>
          <a:xfrm>
            <a:off x="1243584" y="4828032"/>
            <a:ext cx="4480560" cy="301752"/>
          </a:xfrm>
          <a:prstGeom prst="rect">
            <a:avLst/>
          </a:prstGeom>
          <a:noFill/>
        </p:spPr>
        <p:txBody>
          <a:bodyPr wrap="square" lIns="0" rIns="0" tIns="0" bIns="0" anchor="t">
            <a:spAutoFit/>
          </a:bodyPr>
          <a:lstStyle/>
          <a:p>
            <a:pPr algn="l">
              <a:lnSpc>
                <a:spcPct val="112000"/>
              </a:lnSpc>
              <a:spcBef>
                <a:spcPts val="0"/>
              </a:spcBef>
              <a:spcAft>
                <a:spcPts val="0"/>
              </a:spcAft>
            </a:pPr>
            <a:r>
              <a:rPr sz="880" b="1" i="0">
                <a:solidFill>
                  <a:srgbClr val="059669"/>
                </a:solidFill>
                <a:latin typeface="Segoe UI"/>
              </a:rPr>
              <a:t>In our build:  ₦2k–₦25k budget, weekday/weekend, curriculum and location filters</a:t>
            </a:r>
          </a:p>
        </p:txBody>
      </p:sp>
      <p:sp>
        <p:nvSpPr>
          <p:cNvPr id="25" name="Rounded Rectangle 24"/>
          <p:cNvSpPr/>
          <p:nvPr/>
        </p:nvSpPr>
        <p:spPr>
          <a:xfrm>
            <a:off x="6254496" y="1901952"/>
            <a:ext cx="5394960" cy="1060704"/>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254496" y="1901952"/>
            <a:ext cx="45720" cy="1060704"/>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73952" y="2029968"/>
            <a:ext cx="457200" cy="256032"/>
          </a:xfrm>
          <a:prstGeom prst="rect">
            <a:avLst/>
          </a:prstGeom>
          <a:noFill/>
        </p:spPr>
        <p:txBody>
          <a:bodyPr wrap="square" lIns="0" rIns="0" tIns="0" bIns="0" anchor="t">
            <a:spAutoFit/>
          </a:bodyPr>
          <a:lstStyle/>
          <a:p>
            <a:pPr algn="l">
              <a:lnSpc>
                <a:spcPct val="118000"/>
              </a:lnSpc>
              <a:spcBef>
                <a:spcPts val="0"/>
              </a:spcBef>
              <a:spcAft>
                <a:spcPts val="0"/>
              </a:spcAft>
            </a:pPr>
            <a:r>
              <a:rPr sz="1300" b="1" i="0">
                <a:solidFill>
                  <a:srgbClr val="2563EB"/>
                </a:solidFill>
                <a:latin typeface="Segoe UI Semibold"/>
              </a:rPr>
              <a:t>04</a:t>
            </a:r>
          </a:p>
        </p:txBody>
      </p:sp>
      <p:sp>
        <p:nvSpPr>
          <p:cNvPr id="28" name="TextBox 27"/>
          <p:cNvSpPr txBox="1"/>
          <p:nvPr/>
        </p:nvSpPr>
        <p:spPr>
          <a:xfrm>
            <a:off x="6931152" y="2020824"/>
            <a:ext cx="4480560" cy="256032"/>
          </a:xfrm>
          <a:prstGeom prst="rect">
            <a:avLst/>
          </a:prstGeom>
          <a:noFill/>
        </p:spPr>
        <p:txBody>
          <a:bodyPr wrap="square" lIns="0" rIns="0" tIns="0" bIns="0" anchor="t">
            <a:spAutoFit/>
          </a:bodyPr>
          <a:lstStyle/>
          <a:p>
            <a:pPr algn="l">
              <a:lnSpc>
                <a:spcPct val="118000"/>
              </a:lnSpc>
              <a:spcBef>
                <a:spcPts val="0"/>
              </a:spcBef>
              <a:spcAft>
                <a:spcPts val="0"/>
              </a:spcAft>
            </a:pPr>
            <a:r>
              <a:rPr sz="1200" b="1" i="0">
                <a:solidFill>
                  <a:srgbClr val="0F172A"/>
                </a:solidFill>
                <a:latin typeface="Segoe UI Semibold"/>
              </a:rPr>
              <a:t>Coordinating lessons and bookings</a:t>
            </a:r>
          </a:p>
        </p:txBody>
      </p:sp>
      <p:sp>
        <p:nvSpPr>
          <p:cNvPr id="29" name="TextBox 28"/>
          <p:cNvSpPr txBox="1"/>
          <p:nvPr/>
        </p:nvSpPr>
        <p:spPr>
          <a:xfrm>
            <a:off x="6931152" y="2286000"/>
            <a:ext cx="4480560" cy="320040"/>
          </a:xfrm>
          <a:prstGeom prst="rect">
            <a:avLst/>
          </a:prstGeom>
          <a:noFill/>
        </p:spPr>
        <p:txBody>
          <a:bodyPr wrap="square" lIns="0" rIns="0" tIns="0" bIns="0" anchor="t">
            <a:spAutoFit/>
          </a:bodyPr>
          <a:lstStyle/>
          <a:p>
            <a:pPr algn="l">
              <a:lnSpc>
                <a:spcPct val="115000"/>
              </a:lnSpc>
              <a:spcBef>
                <a:spcPts val="0"/>
              </a:spcBef>
              <a:spcAft>
                <a:spcPts val="0"/>
              </a:spcAft>
            </a:pPr>
            <a:r>
              <a:rPr sz="919" b="0" i="0">
                <a:solidFill>
                  <a:srgbClr val="475569"/>
                </a:solidFill>
                <a:latin typeface="Segoe UI"/>
              </a:rPr>
              <a:t>Agreeing date, time, mode and fee over chat makes a request easy to lose or leave unconfirmed.</a:t>
            </a:r>
          </a:p>
        </p:txBody>
      </p:sp>
      <p:sp>
        <p:nvSpPr>
          <p:cNvPr id="30" name="TextBox 29"/>
          <p:cNvSpPr txBox="1"/>
          <p:nvPr/>
        </p:nvSpPr>
        <p:spPr>
          <a:xfrm>
            <a:off x="6931152" y="2633472"/>
            <a:ext cx="4480560" cy="301752"/>
          </a:xfrm>
          <a:prstGeom prst="rect">
            <a:avLst/>
          </a:prstGeom>
          <a:noFill/>
        </p:spPr>
        <p:txBody>
          <a:bodyPr wrap="square" lIns="0" rIns="0" tIns="0" bIns="0" anchor="t">
            <a:spAutoFit/>
          </a:bodyPr>
          <a:lstStyle/>
          <a:p>
            <a:pPr algn="l">
              <a:lnSpc>
                <a:spcPct val="112000"/>
              </a:lnSpc>
              <a:spcBef>
                <a:spcPts val="0"/>
              </a:spcBef>
              <a:spcAft>
                <a:spcPts val="0"/>
              </a:spcAft>
            </a:pPr>
            <a:r>
              <a:rPr sz="880" b="1" i="0">
                <a:solidFill>
                  <a:srgbClr val="059669"/>
                </a:solidFill>
                <a:latin typeface="Segoe UI"/>
              </a:rPr>
              <a:t>In our build:  Booking request → tutor decision → managed status lifecycle</a:t>
            </a:r>
          </a:p>
        </p:txBody>
      </p:sp>
      <p:sp>
        <p:nvSpPr>
          <p:cNvPr id="31" name="Rounded Rectangle 30"/>
          <p:cNvSpPr/>
          <p:nvPr/>
        </p:nvSpPr>
        <p:spPr>
          <a:xfrm>
            <a:off x="6254496" y="2999232"/>
            <a:ext cx="5394960" cy="1060704"/>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6254496" y="2999232"/>
            <a:ext cx="45720" cy="1060704"/>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73952" y="3127248"/>
            <a:ext cx="457200" cy="256032"/>
          </a:xfrm>
          <a:prstGeom prst="rect">
            <a:avLst/>
          </a:prstGeom>
          <a:noFill/>
        </p:spPr>
        <p:txBody>
          <a:bodyPr wrap="square" lIns="0" rIns="0" tIns="0" bIns="0" anchor="t">
            <a:spAutoFit/>
          </a:bodyPr>
          <a:lstStyle/>
          <a:p>
            <a:pPr algn="l">
              <a:lnSpc>
                <a:spcPct val="118000"/>
              </a:lnSpc>
              <a:spcBef>
                <a:spcPts val="0"/>
              </a:spcBef>
              <a:spcAft>
                <a:spcPts val="0"/>
              </a:spcAft>
            </a:pPr>
            <a:r>
              <a:rPr sz="1300" b="1" i="0">
                <a:solidFill>
                  <a:srgbClr val="2563EB"/>
                </a:solidFill>
                <a:latin typeface="Segoe UI Semibold"/>
              </a:rPr>
              <a:t>05</a:t>
            </a:r>
          </a:p>
        </p:txBody>
      </p:sp>
      <p:sp>
        <p:nvSpPr>
          <p:cNvPr id="34" name="TextBox 33"/>
          <p:cNvSpPr txBox="1"/>
          <p:nvPr/>
        </p:nvSpPr>
        <p:spPr>
          <a:xfrm>
            <a:off x="6931152" y="3118104"/>
            <a:ext cx="4480560" cy="256032"/>
          </a:xfrm>
          <a:prstGeom prst="rect">
            <a:avLst/>
          </a:prstGeom>
          <a:noFill/>
        </p:spPr>
        <p:txBody>
          <a:bodyPr wrap="square" lIns="0" rIns="0" tIns="0" bIns="0" anchor="t">
            <a:spAutoFit/>
          </a:bodyPr>
          <a:lstStyle/>
          <a:p>
            <a:pPr algn="l">
              <a:lnSpc>
                <a:spcPct val="118000"/>
              </a:lnSpc>
              <a:spcBef>
                <a:spcPts val="0"/>
              </a:spcBef>
              <a:spcAft>
                <a:spcPts val="0"/>
              </a:spcAft>
            </a:pPr>
            <a:r>
              <a:rPr sz="1200" b="1" i="0">
                <a:solidFill>
                  <a:srgbClr val="0F172A"/>
                </a:solidFill>
                <a:latin typeface="Segoe UI Semibold"/>
              </a:rPr>
              <a:t>Getting feedback and a paper trail</a:t>
            </a:r>
          </a:p>
        </p:txBody>
      </p:sp>
      <p:sp>
        <p:nvSpPr>
          <p:cNvPr id="35" name="TextBox 34"/>
          <p:cNvSpPr txBox="1"/>
          <p:nvPr/>
        </p:nvSpPr>
        <p:spPr>
          <a:xfrm>
            <a:off x="6931152" y="3383280"/>
            <a:ext cx="4480560" cy="320040"/>
          </a:xfrm>
          <a:prstGeom prst="rect">
            <a:avLst/>
          </a:prstGeom>
          <a:noFill/>
        </p:spPr>
        <p:txBody>
          <a:bodyPr wrap="square" lIns="0" rIns="0" tIns="0" bIns="0" anchor="t">
            <a:spAutoFit/>
          </a:bodyPr>
          <a:lstStyle/>
          <a:p>
            <a:pPr algn="l">
              <a:lnSpc>
                <a:spcPct val="115000"/>
              </a:lnSpc>
              <a:spcBef>
                <a:spcPts val="0"/>
              </a:spcBef>
              <a:spcAft>
                <a:spcPts val="0"/>
              </a:spcAft>
            </a:pPr>
            <a:r>
              <a:rPr sz="919" b="0" i="0">
                <a:solidFill>
                  <a:srgbClr val="475569"/>
                </a:solidFill>
                <a:latin typeface="Segoe UI"/>
              </a:rPr>
              <a:t>After class, learners need a structured way to rate a tutor and leave a record for later comparison.</a:t>
            </a:r>
          </a:p>
        </p:txBody>
      </p:sp>
      <p:sp>
        <p:nvSpPr>
          <p:cNvPr id="36" name="TextBox 35"/>
          <p:cNvSpPr txBox="1"/>
          <p:nvPr/>
        </p:nvSpPr>
        <p:spPr>
          <a:xfrm>
            <a:off x="6931152" y="3730752"/>
            <a:ext cx="4480560" cy="301752"/>
          </a:xfrm>
          <a:prstGeom prst="rect">
            <a:avLst/>
          </a:prstGeom>
          <a:noFill/>
        </p:spPr>
        <p:txBody>
          <a:bodyPr wrap="square" lIns="0" rIns="0" tIns="0" bIns="0" anchor="t">
            <a:spAutoFit/>
          </a:bodyPr>
          <a:lstStyle/>
          <a:p>
            <a:pPr algn="l">
              <a:lnSpc>
                <a:spcPct val="112000"/>
              </a:lnSpc>
              <a:spcBef>
                <a:spcPts val="0"/>
              </a:spcBef>
              <a:spcAft>
                <a:spcPts val="0"/>
              </a:spcAft>
            </a:pPr>
            <a:r>
              <a:rPr sz="880" b="1" i="0">
                <a:solidFill>
                  <a:srgbClr val="059669"/>
                </a:solidFill>
                <a:latin typeface="Segoe UI"/>
              </a:rPr>
              <a:t>In our build:  One review per completed booking; rating shown on the tutor profile</a:t>
            </a:r>
          </a:p>
        </p:txBody>
      </p:sp>
      <p:sp>
        <p:nvSpPr>
          <p:cNvPr id="37" name="Rounded Rectangle 36"/>
          <p:cNvSpPr/>
          <p:nvPr/>
        </p:nvSpPr>
        <p:spPr>
          <a:xfrm>
            <a:off x="6254496" y="4096512"/>
            <a:ext cx="5394960" cy="1060704"/>
          </a:xfrm>
          <a:prstGeom prst="roundRect">
            <a:avLst>
              <a:gd name="adj" fmla="val 6000"/>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6254496" y="4096512"/>
            <a:ext cx="45720" cy="1060704"/>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473952" y="4224528"/>
            <a:ext cx="4937760" cy="274320"/>
          </a:xfrm>
          <a:prstGeom prst="rect">
            <a:avLst/>
          </a:prstGeom>
          <a:noFill/>
        </p:spPr>
        <p:txBody>
          <a:bodyPr wrap="square" lIns="0" rIns="0" tIns="0" bIns="0" anchor="t">
            <a:spAutoFit/>
          </a:bodyPr>
          <a:lstStyle/>
          <a:p>
            <a:pPr algn="l">
              <a:lnSpc>
                <a:spcPct val="118000"/>
              </a:lnSpc>
              <a:spcBef>
                <a:spcPts val="0"/>
              </a:spcBef>
              <a:spcAft>
                <a:spcPts val="0"/>
              </a:spcAft>
            </a:pPr>
            <a:r>
              <a:rPr sz="1250" b="1" i="0">
                <a:solidFill>
                  <a:srgbClr val="0F172A"/>
                </a:solidFill>
                <a:latin typeface="Segoe UI Semibold"/>
              </a:rPr>
              <a:t>What we have NOT measured</a:t>
            </a:r>
          </a:p>
        </p:txBody>
      </p:sp>
      <p:sp>
        <p:nvSpPr>
          <p:cNvPr id="40" name="TextBox 39"/>
          <p:cNvSpPr txBox="1"/>
          <p:nvPr/>
        </p:nvSpPr>
        <p:spPr>
          <a:xfrm>
            <a:off x="6473952" y="4498848"/>
            <a:ext cx="4937760" cy="530352"/>
          </a:xfrm>
          <a:prstGeom prst="rect">
            <a:avLst/>
          </a:prstGeom>
          <a:noFill/>
        </p:spPr>
        <p:txBody>
          <a:bodyPr wrap="square" lIns="0" rIns="0" tIns="0" bIns="0" anchor="t">
            <a:spAutoFit/>
          </a:bodyPr>
          <a:lstStyle/>
          <a:p>
            <a:pPr algn="l">
              <a:lnSpc>
                <a:spcPct val="120000"/>
              </a:lnSpc>
              <a:spcBef>
                <a:spcPts val="0"/>
              </a:spcBef>
              <a:spcAft>
                <a:spcPts val="0"/>
              </a:spcAft>
            </a:pPr>
            <a:r>
              <a:rPr sz="1000" b="0" i="0">
                <a:solidFill>
                  <a:srgbClr val="334155"/>
                </a:solidFill>
                <a:latin typeface="Segoe UI"/>
              </a:rPr>
              <a:t>We ran no user survey, no market-sizing study and no usability test. These problems are inferred from the friction our own features are designed to remove — they are not quantified claims.</a:t>
            </a:r>
          </a:p>
        </p:txBody>
      </p:sp>
      <p:sp>
        <p:nvSpPr>
          <p:cNvPr id="41" name="Rounded Rectangle 40"/>
          <p:cNvSpPr/>
          <p:nvPr/>
        </p:nvSpPr>
        <p:spPr>
          <a:xfrm>
            <a:off x="566928" y="5266944"/>
            <a:ext cx="11057839" cy="566928"/>
          </a:xfrm>
          <a:prstGeom prst="roundRect">
            <a:avLst>
              <a:gd name="adj" fmla="val 6000"/>
            </a:avLst>
          </a:prstGeom>
          <a:solidFill>
            <a:srgbClr val="D1FAE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22960" y="5413248"/>
            <a:ext cx="10545775" cy="274320"/>
          </a:xfrm>
          <a:prstGeom prst="rect">
            <a:avLst/>
          </a:prstGeom>
          <a:noFill/>
        </p:spPr>
        <p:txBody>
          <a:bodyPr wrap="square" lIns="0" rIns="0" tIns="0" bIns="0" anchor="ctr">
            <a:spAutoFit/>
          </a:bodyPr>
          <a:lstStyle/>
          <a:p>
            <a:pPr algn="l">
              <a:lnSpc>
                <a:spcPct val="120000"/>
              </a:lnSpc>
            </a:pPr>
            <a:r>
              <a:rPr sz="1150" b="1" i="0">
                <a:solidFill>
                  <a:srgbClr val="059669"/>
                </a:solidFill>
                <a:latin typeface="Segoe UI"/>
              </a:rPr>
              <a:t>Evidence:  </a:t>
            </a:r>
            <a:r>
              <a:rPr sz="1150" b="0" i="0">
                <a:solidFill>
                  <a:srgbClr val="334155"/>
                </a:solidFill>
                <a:latin typeface="Segoe UI"/>
              </a:rPr>
              <a:t>every problem above is addressed by a screen that ships in the repository — no concept-only features are presented as working.</a:t>
            </a:r>
          </a:p>
        </p:txBody>
      </p:sp>
      <p:cxnSp>
        <p:nvCxnSpPr>
          <p:cNvPr id="43" name="Connector 42"/>
          <p:cNvCxnSpPr/>
          <p:nvPr/>
        </p:nvCxnSpPr>
        <p:spPr>
          <a:xfrm>
            <a:off x="566928" y="6382512"/>
            <a:ext cx="11057839"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66928" y="6473952"/>
            <a:ext cx="9777679" cy="219456"/>
          </a:xfrm>
          <a:prstGeom prst="rect">
            <a:avLst/>
          </a:prstGeom>
          <a:noFill/>
        </p:spPr>
        <p:txBody>
          <a:bodyPr wrap="square" lIns="0" rIns="0" tIns="0" bIns="0" anchor="t">
            <a:spAutoFit/>
          </a:bodyPr>
          <a:lstStyle/>
          <a:p>
            <a:pPr algn="l">
              <a:lnSpc>
                <a:spcPct val="118000"/>
              </a:lnSpc>
              <a:spcBef>
                <a:spcPts val="0"/>
              </a:spcBef>
              <a:spcAft>
                <a:spcPts val="0"/>
              </a:spcAft>
            </a:pPr>
            <a:r>
              <a:rPr sz="880" b="0" i="0">
                <a:solidFill>
                  <a:srgbClr val="94A3B8"/>
                </a:solidFill>
                <a:latin typeface="Segoe UI"/>
              </a:rPr>
              <a:t>Presenter: Hephzibah Uchechukwu · Problem</a:t>
            </a:r>
          </a:p>
        </p:txBody>
      </p:sp>
      <p:sp>
        <p:nvSpPr>
          <p:cNvPr id="45" name="TextBox 44"/>
          <p:cNvSpPr txBox="1"/>
          <p:nvPr/>
        </p:nvSpPr>
        <p:spPr>
          <a:xfrm>
            <a:off x="10436047" y="6473952"/>
            <a:ext cx="1188720" cy="219456"/>
          </a:xfrm>
          <a:prstGeom prst="rect">
            <a:avLst/>
          </a:prstGeom>
          <a:noFill/>
        </p:spPr>
        <p:txBody>
          <a:bodyPr wrap="square" lIns="0" rIns="0" tIns="0" bIns="0" anchor="t">
            <a:spAutoFit/>
          </a:bodyPr>
          <a:lstStyle/>
          <a:p>
            <a:pPr algn="r">
              <a:lnSpc>
                <a:spcPct val="118000"/>
              </a:lnSpc>
              <a:spcBef>
                <a:spcPts val="0"/>
              </a:spcBef>
              <a:spcAft>
                <a:spcPts val="0"/>
              </a:spcAft>
            </a:pPr>
            <a:r>
              <a:rPr sz="950" b="1" i="0">
                <a:solidFill>
                  <a:srgbClr val="94A3B8"/>
                </a:solidFill>
                <a:latin typeface="Segoe UI"/>
              </a:rP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420624"/>
            <a:ext cx="50292" cy="173736"/>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384048"/>
            <a:ext cx="10874959" cy="237744"/>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20">
                <a:solidFill>
                  <a:srgbClr val="2563EB"/>
                </a:solidFill>
                <a:latin typeface="Segoe UI"/>
              </a:rPr>
              <a:t>OUR SOLUTION</a:t>
            </a:r>
          </a:p>
        </p:txBody>
      </p:sp>
      <p:sp>
        <p:nvSpPr>
          <p:cNvPr id="5" name="TextBox 4"/>
          <p:cNvSpPr txBox="1"/>
          <p:nvPr/>
        </p:nvSpPr>
        <p:spPr>
          <a:xfrm>
            <a:off x="566928" y="658368"/>
            <a:ext cx="11057839" cy="420624"/>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0F172A"/>
                </a:solidFill>
                <a:latin typeface="Segoe UI Semibold"/>
              </a:rPr>
              <a:t>One platform, four roles, one source of truth</a:t>
            </a:r>
          </a:p>
        </p:txBody>
      </p:sp>
      <p:sp>
        <p:nvSpPr>
          <p:cNvPr id="6" name="TextBox 5"/>
          <p:cNvSpPr txBox="1"/>
          <p:nvPr/>
        </p:nvSpPr>
        <p:spPr>
          <a:xfrm>
            <a:off x="566928" y="1207008"/>
            <a:ext cx="10692079" cy="274320"/>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4748B"/>
                </a:solidFill>
                <a:latin typeface="Segoe UI"/>
              </a:rPr>
              <a:t>TutorConnect Nigeria turns the five problems into a single flow: discover, verify, book, teach, review.</a:t>
            </a:r>
          </a:p>
        </p:txBody>
      </p:sp>
      <p:sp>
        <p:nvSpPr>
          <p:cNvPr id="7" name="Rounded Rectangle 6"/>
          <p:cNvSpPr/>
          <p:nvPr/>
        </p:nvSpPr>
        <p:spPr>
          <a:xfrm>
            <a:off x="566928" y="1879092"/>
            <a:ext cx="41148" cy="146304"/>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94944" y="1847088"/>
            <a:ext cx="5861304" cy="219456"/>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00">
                <a:solidFill>
                  <a:srgbClr val="1E3A8A"/>
                </a:solidFill>
                <a:latin typeface="Segoe UI"/>
              </a:rPr>
              <a:t>HOW EACH PROBLEM IS ANSWERED</a:t>
            </a:r>
          </a:p>
        </p:txBody>
      </p:sp>
      <p:sp>
        <p:nvSpPr>
          <p:cNvPr id="9" name="Rounded Rectangle 8"/>
          <p:cNvSpPr/>
          <p:nvPr/>
        </p:nvSpPr>
        <p:spPr>
          <a:xfrm>
            <a:off x="566928" y="2157984"/>
            <a:ext cx="5989320" cy="640080"/>
          </a:xfrm>
          <a:prstGeom prst="roundRect">
            <a:avLst>
              <a:gd name="adj" fmla="val 7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749808" y="2258568"/>
            <a:ext cx="420624" cy="420624"/>
          </a:xfrm>
          <a:prstGeom prst="roundRect">
            <a:avLst>
              <a:gd name="adj" fmla="val 2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2563EB"/>
                </a:solidFill>
                <a:latin typeface="Segoe UI"/>
              </a:rPr>
              <a:t>✓</a:t>
            </a:r>
          </a:p>
        </p:txBody>
      </p:sp>
      <p:sp>
        <p:nvSpPr>
          <p:cNvPr id="11" name="TextBox 10"/>
          <p:cNvSpPr txBox="1"/>
          <p:nvPr/>
        </p:nvSpPr>
        <p:spPr>
          <a:xfrm>
            <a:off x="1335024" y="2249424"/>
            <a:ext cx="5001768" cy="219456"/>
          </a:xfrm>
          <a:prstGeom prst="rect">
            <a:avLst/>
          </a:prstGeom>
          <a:noFill/>
        </p:spPr>
        <p:txBody>
          <a:bodyPr wrap="square" lIns="0" rIns="0" tIns="0" bIns="0" anchor="t">
            <a:spAutoFit/>
          </a:bodyPr>
          <a:lstStyle/>
          <a:p>
            <a:pPr algn="l">
              <a:lnSpc>
                <a:spcPct val="118000"/>
              </a:lnSpc>
              <a:spcBef>
                <a:spcPts val="0"/>
              </a:spcBef>
              <a:spcAft>
                <a:spcPts val="0"/>
              </a:spcAft>
            </a:pPr>
            <a:r>
              <a:rPr sz="1150" b="1" i="0">
                <a:solidFill>
                  <a:srgbClr val="0F172A"/>
                </a:solidFill>
                <a:latin typeface="Segoe UI Semibold"/>
              </a:rPr>
              <a:t>Searchable supply</a:t>
            </a:r>
          </a:p>
        </p:txBody>
      </p:sp>
      <p:sp>
        <p:nvSpPr>
          <p:cNvPr id="12" name="TextBox 11"/>
          <p:cNvSpPr txBox="1"/>
          <p:nvPr/>
        </p:nvSpPr>
        <p:spPr>
          <a:xfrm>
            <a:off x="1335024" y="2478024"/>
            <a:ext cx="5001768"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475569"/>
                </a:solidFill>
                <a:latin typeface="Segoe UI"/>
              </a:rPr>
              <a:t>A filterable directory of admin-approved tutors plus a preference-driven Smart Tutor Match.</a:t>
            </a:r>
          </a:p>
        </p:txBody>
      </p:sp>
      <p:sp>
        <p:nvSpPr>
          <p:cNvPr id="13" name="Rounded Rectangle 12"/>
          <p:cNvSpPr/>
          <p:nvPr/>
        </p:nvSpPr>
        <p:spPr>
          <a:xfrm>
            <a:off x="566928" y="2843784"/>
            <a:ext cx="5989320" cy="640080"/>
          </a:xfrm>
          <a:prstGeom prst="roundRect">
            <a:avLst>
              <a:gd name="adj" fmla="val 7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749808" y="2944368"/>
            <a:ext cx="420624" cy="420624"/>
          </a:xfrm>
          <a:prstGeom prst="roundRect">
            <a:avLst>
              <a:gd name="adj" fmla="val 2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10B981"/>
                </a:solidFill>
                <a:latin typeface="Segoe UI"/>
              </a:rPr>
              <a:t>✓</a:t>
            </a:r>
          </a:p>
        </p:txBody>
      </p:sp>
      <p:sp>
        <p:nvSpPr>
          <p:cNvPr id="15" name="TextBox 14"/>
          <p:cNvSpPr txBox="1"/>
          <p:nvPr/>
        </p:nvSpPr>
        <p:spPr>
          <a:xfrm>
            <a:off x="1335024" y="2935224"/>
            <a:ext cx="5001768" cy="219456"/>
          </a:xfrm>
          <a:prstGeom prst="rect">
            <a:avLst/>
          </a:prstGeom>
          <a:noFill/>
        </p:spPr>
        <p:txBody>
          <a:bodyPr wrap="square" lIns="0" rIns="0" tIns="0" bIns="0" anchor="t">
            <a:spAutoFit/>
          </a:bodyPr>
          <a:lstStyle/>
          <a:p>
            <a:pPr algn="l">
              <a:lnSpc>
                <a:spcPct val="118000"/>
              </a:lnSpc>
              <a:spcBef>
                <a:spcPts val="0"/>
              </a:spcBef>
              <a:spcAft>
                <a:spcPts val="0"/>
              </a:spcAft>
            </a:pPr>
            <a:r>
              <a:rPr sz="1150" b="1" i="0">
                <a:solidFill>
                  <a:srgbClr val="0F172A"/>
                </a:solidFill>
                <a:latin typeface="Segoe UI Semibold"/>
              </a:rPr>
              <a:t>Trust signals</a:t>
            </a:r>
          </a:p>
        </p:txBody>
      </p:sp>
      <p:sp>
        <p:nvSpPr>
          <p:cNvPr id="16" name="TextBox 15"/>
          <p:cNvSpPr txBox="1"/>
          <p:nvPr/>
        </p:nvSpPr>
        <p:spPr>
          <a:xfrm>
            <a:off x="1335024" y="3163824"/>
            <a:ext cx="5001768"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475569"/>
                </a:solidFill>
                <a:latin typeface="Segoe UI"/>
              </a:rPr>
              <a:t>Credential upload, admin review, verified badge, ratings and reviews attached to the tutor profile.</a:t>
            </a:r>
          </a:p>
        </p:txBody>
      </p:sp>
      <p:sp>
        <p:nvSpPr>
          <p:cNvPr id="17" name="Rounded Rectangle 16"/>
          <p:cNvSpPr/>
          <p:nvPr/>
        </p:nvSpPr>
        <p:spPr>
          <a:xfrm>
            <a:off x="566928" y="3529584"/>
            <a:ext cx="5989320" cy="640080"/>
          </a:xfrm>
          <a:prstGeom prst="roundRect">
            <a:avLst>
              <a:gd name="adj" fmla="val 7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749808" y="3630168"/>
            <a:ext cx="420624" cy="420624"/>
          </a:xfrm>
          <a:prstGeom prst="roundRect">
            <a:avLst>
              <a:gd name="adj" fmla="val 2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59E0B"/>
                </a:solidFill>
                <a:latin typeface="Segoe UI"/>
              </a:rPr>
              <a:t>✓</a:t>
            </a:r>
          </a:p>
        </p:txBody>
      </p:sp>
      <p:sp>
        <p:nvSpPr>
          <p:cNvPr id="19" name="TextBox 18"/>
          <p:cNvSpPr txBox="1"/>
          <p:nvPr/>
        </p:nvSpPr>
        <p:spPr>
          <a:xfrm>
            <a:off x="1335024" y="3621024"/>
            <a:ext cx="5001768" cy="219456"/>
          </a:xfrm>
          <a:prstGeom prst="rect">
            <a:avLst/>
          </a:prstGeom>
          <a:noFill/>
        </p:spPr>
        <p:txBody>
          <a:bodyPr wrap="square" lIns="0" rIns="0" tIns="0" bIns="0" anchor="t">
            <a:spAutoFit/>
          </a:bodyPr>
          <a:lstStyle/>
          <a:p>
            <a:pPr algn="l">
              <a:lnSpc>
                <a:spcPct val="118000"/>
              </a:lnSpc>
              <a:spcBef>
                <a:spcPts val="0"/>
              </a:spcBef>
              <a:spcAft>
                <a:spcPts val="0"/>
              </a:spcAft>
            </a:pPr>
            <a:r>
              <a:rPr sz="1150" b="1" i="0">
                <a:solidFill>
                  <a:srgbClr val="0F172A"/>
                </a:solidFill>
                <a:latin typeface="Segoe UI Semibold"/>
              </a:rPr>
              <a:t>Price &amp; schedule clarity</a:t>
            </a:r>
          </a:p>
        </p:txBody>
      </p:sp>
      <p:sp>
        <p:nvSpPr>
          <p:cNvPr id="20" name="TextBox 19"/>
          <p:cNvSpPr txBox="1"/>
          <p:nvPr/>
        </p:nvSpPr>
        <p:spPr>
          <a:xfrm>
            <a:off x="1335024" y="3849624"/>
            <a:ext cx="5001768"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475569"/>
                </a:solidFill>
                <a:latin typeface="Segoe UI"/>
              </a:rPr>
              <a:t>Hourly rate, budget slider, weekly availability slots and a live ₦ estimate at booking time.</a:t>
            </a:r>
          </a:p>
        </p:txBody>
      </p:sp>
      <p:sp>
        <p:nvSpPr>
          <p:cNvPr id="21" name="Rounded Rectangle 20"/>
          <p:cNvSpPr/>
          <p:nvPr/>
        </p:nvSpPr>
        <p:spPr>
          <a:xfrm>
            <a:off x="566928" y="4215384"/>
            <a:ext cx="5989320" cy="640080"/>
          </a:xfrm>
          <a:prstGeom prst="roundRect">
            <a:avLst>
              <a:gd name="adj" fmla="val 7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749808" y="4315968"/>
            <a:ext cx="420624" cy="420624"/>
          </a:xfrm>
          <a:prstGeom prst="roundRect">
            <a:avLst>
              <a:gd name="adj" fmla="val 2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E11D48"/>
                </a:solidFill>
                <a:latin typeface="Segoe UI"/>
              </a:rPr>
              <a:t>✓</a:t>
            </a:r>
          </a:p>
        </p:txBody>
      </p:sp>
      <p:sp>
        <p:nvSpPr>
          <p:cNvPr id="23" name="TextBox 22"/>
          <p:cNvSpPr txBox="1"/>
          <p:nvPr/>
        </p:nvSpPr>
        <p:spPr>
          <a:xfrm>
            <a:off x="1335024" y="4306824"/>
            <a:ext cx="5001768" cy="219456"/>
          </a:xfrm>
          <a:prstGeom prst="rect">
            <a:avLst/>
          </a:prstGeom>
          <a:noFill/>
        </p:spPr>
        <p:txBody>
          <a:bodyPr wrap="square" lIns="0" rIns="0" tIns="0" bIns="0" anchor="t">
            <a:spAutoFit/>
          </a:bodyPr>
          <a:lstStyle/>
          <a:p>
            <a:pPr algn="l">
              <a:lnSpc>
                <a:spcPct val="118000"/>
              </a:lnSpc>
              <a:spcBef>
                <a:spcPts val="0"/>
              </a:spcBef>
              <a:spcAft>
                <a:spcPts val="0"/>
              </a:spcAft>
            </a:pPr>
            <a:r>
              <a:rPr sz="1150" b="1" i="0">
                <a:solidFill>
                  <a:srgbClr val="0F172A"/>
                </a:solidFill>
                <a:latin typeface="Segoe UI Semibold"/>
              </a:rPr>
              <a:t>Managed bookings</a:t>
            </a:r>
          </a:p>
        </p:txBody>
      </p:sp>
      <p:sp>
        <p:nvSpPr>
          <p:cNvPr id="24" name="TextBox 23"/>
          <p:cNvSpPr txBox="1"/>
          <p:nvPr/>
        </p:nvSpPr>
        <p:spPr>
          <a:xfrm>
            <a:off x="1335024" y="4535424"/>
            <a:ext cx="5001768"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475569"/>
                </a:solidFill>
                <a:latin typeface="Segoe UI"/>
              </a:rPr>
              <a:t>pending → accepted / rejected → completed / cancelled, with ownership checks on every change.</a:t>
            </a:r>
          </a:p>
        </p:txBody>
      </p:sp>
      <p:sp>
        <p:nvSpPr>
          <p:cNvPr id="25" name="Rounded Rectangle 24"/>
          <p:cNvSpPr/>
          <p:nvPr/>
        </p:nvSpPr>
        <p:spPr>
          <a:xfrm>
            <a:off x="566928" y="4901184"/>
            <a:ext cx="5989320" cy="640080"/>
          </a:xfrm>
          <a:prstGeom prst="roundRect">
            <a:avLst>
              <a:gd name="adj" fmla="val 7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749808" y="5001768"/>
            <a:ext cx="420624" cy="420624"/>
          </a:xfrm>
          <a:prstGeom prst="roundRect">
            <a:avLst>
              <a:gd name="adj" fmla="val 2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1E3A8A"/>
                </a:solidFill>
                <a:latin typeface="Segoe UI"/>
              </a:rPr>
              <a:t>✓</a:t>
            </a:r>
          </a:p>
        </p:txBody>
      </p:sp>
      <p:sp>
        <p:nvSpPr>
          <p:cNvPr id="27" name="TextBox 26"/>
          <p:cNvSpPr txBox="1"/>
          <p:nvPr/>
        </p:nvSpPr>
        <p:spPr>
          <a:xfrm>
            <a:off x="1335024" y="4992624"/>
            <a:ext cx="5001768" cy="219456"/>
          </a:xfrm>
          <a:prstGeom prst="rect">
            <a:avLst/>
          </a:prstGeom>
          <a:noFill/>
        </p:spPr>
        <p:txBody>
          <a:bodyPr wrap="square" lIns="0" rIns="0" tIns="0" bIns="0" anchor="t">
            <a:spAutoFit/>
          </a:bodyPr>
          <a:lstStyle/>
          <a:p>
            <a:pPr algn="l">
              <a:lnSpc>
                <a:spcPct val="118000"/>
              </a:lnSpc>
              <a:spcBef>
                <a:spcPts val="0"/>
              </a:spcBef>
              <a:spcAft>
                <a:spcPts val="0"/>
              </a:spcAft>
            </a:pPr>
            <a:r>
              <a:rPr sz="1150" b="1" i="0">
                <a:solidFill>
                  <a:srgbClr val="0F172A"/>
                </a:solidFill>
                <a:latin typeface="Segoe UI Semibold"/>
              </a:rPr>
              <a:t>Private channel</a:t>
            </a:r>
          </a:p>
        </p:txBody>
      </p:sp>
      <p:sp>
        <p:nvSpPr>
          <p:cNvPr id="28" name="TextBox 27"/>
          <p:cNvSpPr txBox="1"/>
          <p:nvPr/>
        </p:nvSpPr>
        <p:spPr>
          <a:xfrm>
            <a:off x="1335024" y="5221224"/>
            <a:ext cx="5001768"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475569"/>
                </a:solidFill>
                <a:latin typeface="Segoe UI"/>
              </a:rPr>
              <a:t>Authenticated 1-to-1 messaging between a signed-in user and an eligible different-role contact.</a:t>
            </a:r>
          </a:p>
        </p:txBody>
      </p:sp>
      <p:sp>
        <p:nvSpPr>
          <p:cNvPr id="29" name="Rounded Rectangle 28"/>
          <p:cNvSpPr/>
          <p:nvPr/>
        </p:nvSpPr>
        <p:spPr>
          <a:xfrm>
            <a:off x="6885432" y="1879092"/>
            <a:ext cx="41148" cy="146304"/>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013448" y="1847088"/>
            <a:ext cx="4611319" cy="219456"/>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00">
                <a:solidFill>
                  <a:srgbClr val="1E3A8A"/>
                </a:solidFill>
                <a:latin typeface="Segoe UI"/>
              </a:rPr>
              <a:t>WHO USES IT</a:t>
            </a:r>
          </a:p>
        </p:txBody>
      </p:sp>
      <p:cxnSp>
        <p:nvCxnSpPr>
          <p:cNvPr id="31" name="Connector 30"/>
          <p:cNvCxnSpPr/>
          <p:nvPr/>
        </p:nvCxnSpPr>
        <p:spPr>
          <a:xfrm flipH="1" flipV="1">
            <a:off x="7822692" y="3127248"/>
            <a:ext cx="1432407" cy="420624"/>
          </a:xfrm>
          <a:prstGeom prst="line">
            <a:avLst/>
          </a:prstGeom>
          <a:ln w="15875">
            <a:solidFill>
              <a:srgbClr val="CBD5E1"/>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9255099" y="3127248"/>
            <a:ext cx="1432408" cy="420624"/>
          </a:xfrm>
          <a:prstGeom prst="line">
            <a:avLst/>
          </a:prstGeom>
          <a:ln w="15875">
            <a:solidFill>
              <a:srgbClr val="CBD5E1"/>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7822692" y="4919472"/>
            <a:ext cx="1432407" cy="164592"/>
          </a:xfrm>
          <a:prstGeom prst="line">
            <a:avLst/>
          </a:prstGeom>
          <a:ln w="15875">
            <a:solidFill>
              <a:srgbClr val="CBD5E1"/>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55099" y="4919472"/>
            <a:ext cx="1432408" cy="164592"/>
          </a:xfrm>
          <a:prstGeom prst="line">
            <a:avLst/>
          </a:prstGeom>
          <a:ln w="15875">
            <a:solidFill>
              <a:srgbClr val="CBD5E1"/>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8569299" y="3547872"/>
            <a:ext cx="1371600" cy="1371600"/>
          </a:xfrm>
          <a:prstGeom prst="ellips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FFFFFF"/>
                </a:solidFill>
                <a:latin typeface="Segoe UI Semibold"/>
              </a:rPr>
              <a:t>TutorConnect</a:t>
            </a:r>
          </a:p>
          <a:p>
            <a:pPr algn="ctr">
              <a:lnSpc>
                <a:spcPct val="118000"/>
              </a:lnSpc>
              <a:spcBef>
                <a:spcPts val="0"/>
              </a:spcBef>
              <a:spcAft>
                <a:spcPts val="0"/>
              </a:spcAft>
            </a:pPr>
            <a:r>
              <a:rPr sz="1200" b="1" i="0">
                <a:solidFill>
                  <a:srgbClr val="10B981"/>
                </a:solidFill>
                <a:latin typeface="Segoe UI"/>
              </a:rPr>
              <a:t>NIGERIA</a:t>
            </a:r>
          </a:p>
          <a:p>
            <a:pPr algn="ctr">
              <a:lnSpc>
                <a:spcPct val="118000"/>
              </a:lnSpc>
              <a:spcBef>
                <a:spcPts val="0"/>
              </a:spcBef>
              <a:spcAft>
                <a:spcPts val="0"/>
              </a:spcAft>
            </a:pPr>
            <a:r>
              <a:rPr sz="800" b="0" i="0">
                <a:solidFill>
                  <a:srgbClr val="CBD5E1"/>
                </a:solidFill>
                <a:latin typeface="Segoe UI"/>
              </a:rPr>
              <a:t>one platform</a:t>
            </a:r>
          </a:p>
        </p:txBody>
      </p:sp>
      <p:sp>
        <p:nvSpPr>
          <p:cNvPr id="36" name="Rounded Rectangle 35"/>
          <p:cNvSpPr/>
          <p:nvPr/>
        </p:nvSpPr>
        <p:spPr>
          <a:xfrm>
            <a:off x="6885432" y="2176272"/>
            <a:ext cx="1874519" cy="950976"/>
          </a:xfrm>
          <a:prstGeom prst="roundRect">
            <a:avLst>
              <a:gd name="adj" fmla="val 9000"/>
            </a:avLst>
          </a:prstGeom>
          <a:solidFill>
            <a:srgbClr val="FFFF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6885432" y="2176272"/>
            <a:ext cx="1874519" cy="4572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031736" y="2414015"/>
            <a:ext cx="1581911" cy="256032"/>
          </a:xfrm>
          <a:prstGeom prst="rect">
            <a:avLst/>
          </a:prstGeom>
          <a:noFill/>
        </p:spPr>
        <p:txBody>
          <a:bodyPr wrap="square" lIns="0" rIns="0" tIns="0" bIns="0" anchor="t">
            <a:spAutoFit/>
          </a:bodyPr>
          <a:lstStyle/>
          <a:p>
            <a:pPr algn="ctr">
              <a:lnSpc>
                <a:spcPct val="118000"/>
              </a:lnSpc>
              <a:spcBef>
                <a:spcPts val="0"/>
              </a:spcBef>
              <a:spcAft>
                <a:spcPts val="0"/>
              </a:spcAft>
            </a:pPr>
            <a:r>
              <a:rPr sz="1200" b="1" i="0">
                <a:solidFill>
                  <a:srgbClr val="0F172A"/>
                </a:solidFill>
                <a:latin typeface="Segoe UI Semibold"/>
              </a:rPr>
              <a:t>Student</a:t>
            </a:r>
          </a:p>
        </p:txBody>
      </p:sp>
      <p:sp>
        <p:nvSpPr>
          <p:cNvPr id="39" name="TextBox 38"/>
          <p:cNvSpPr txBox="1"/>
          <p:nvPr/>
        </p:nvSpPr>
        <p:spPr>
          <a:xfrm>
            <a:off x="7031736" y="2706624"/>
            <a:ext cx="1581911" cy="237744"/>
          </a:xfrm>
          <a:prstGeom prst="rect">
            <a:avLst/>
          </a:prstGeom>
          <a:noFill/>
        </p:spPr>
        <p:txBody>
          <a:bodyPr wrap="square" lIns="0" rIns="0" tIns="0" bIns="0" anchor="t">
            <a:spAutoFit/>
          </a:bodyPr>
          <a:lstStyle/>
          <a:p>
            <a:pPr algn="ctr">
              <a:lnSpc>
                <a:spcPct val="118000"/>
              </a:lnSpc>
              <a:spcBef>
                <a:spcPts val="0"/>
              </a:spcBef>
              <a:spcAft>
                <a:spcPts val="0"/>
              </a:spcAft>
            </a:pPr>
            <a:r>
              <a:rPr sz="950" b="1" i="0">
                <a:solidFill>
                  <a:srgbClr val="2563EB"/>
                </a:solidFill>
                <a:latin typeface="Segoe UI"/>
              </a:rPr>
              <a:t>book · review</a:t>
            </a:r>
          </a:p>
        </p:txBody>
      </p:sp>
      <p:sp>
        <p:nvSpPr>
          <p:cNvPr id="40" name="Rounded Rectangle 39"/>
          <p:cNvSpPr/>
          <p:nvPr/>
        </p:nvSpPr>
        <p:spPr>
          <a:xfrm>
            <a:off x="9750247" y="2176272"/>
            <a:ext cx="1874519" cy="950976"/>
          </a:xfrm>
          <a:prstGeom prst="roundRect">
            <a:avLst>
              <a:gd name="adj" fmla="val 9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9750247" y="2176272"/>
            <a:ext cx="1874519" cy="4572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896551" y="2414015"/>
            <a:ext cx="1581911" cy="256032"/>
          </a:xfrm>
          <a:prstGeom prst="rect">
            <a:avLst/>
          </a:prstGeom>
          <a:noFill/>
        </p:spPr>
        <p:txBody>
          <a:bodyPr wrap="square" lIns="0" rIns="0" tIns="0" bIns="0" anchor="t">
            <a:spAutoFit/>
          </a:bodyPr>
          <a:lstStyle/>
          <a:p>
            <a:pPr algn="ctr">
              <a:lnSpc>
                <a:spcPct val="118000"/>
              </a:lnSpc>
              <a:spcBef>
                <a:spcPts val="0"/>
              </a:spcBef>
              <a:spcAft>
                <a:spcPts val="0"/>
              </a:spcAft>
            </a:pPr>
            <a:r>
              <a:rPr sz="1200" b="1" i="0">
                <a:solidFill>
                  <a:srgbClr val="0F172A"/>
                </a:solidFill>
                <a:latin typeface="Segoe UI Semibold"/>
              </a:rPr>
              <a:t>Parent</a:t>
            </a:r>
          </a:p>
        </p:txBody>
      </p:sp>
      <p:sp>
        <p:nvSpPr>
          <p:cNvPr id="43" name="TextBox 42"/>
          <p:cNvSpPr txBox="1"/>
          <p:nvPr/>
        </p:nvSpPr>
        <p:spPr>
          <a:xfrm>
            <a:off x="9896551" y="2706624"/>
            <a:ext cx="1581911" cy="237744"/>
          </a:xfrm>
          <a:prstGeom prst="rect">
            <a:avLst/>
          </a:prstGeom>
          <a:noFill/>
        </p:spPr>
        <p:txBody>
          <a:bodyPr wrap="square" lIns="0" rIns="0" tIns="0" bIns="0" anchor="t">
            <a:spAutoFit/>
          </a:bodyPr>
          <a:lstStyle/>
          <a:p>
            <a:pPr algn="ctr">
              <a:lnSpc>
                <a:spcPct val="118000"/>
              </a:lnSpc>
              <a:spcBef>
                <a:spcPts val="0"/>
              </a:spcBef>
              <a:spcAft>
                <a:spcPts val="0"/>
              </a:spcAft>
            </a:pPr>
            <a:r>
              <a:rPr sz="950" b="1" i="0">
                <a:solidFill>
                  <a:srgbClr val="10B981"/>
                </a:solidFill>
                <a:latin typeface="Segoe UI"/>
              </a:rPr>
              <a:t>learner · bookings</a:t>
            </a:r>
          </a:p>
        </p:txBody>
      </p:sp>
      <p:sp>
        <p:nvSpPr>
          <p:cNvPr id="44" name="Rounded Rectangle 43"/>
          <p:cNvSpPr/>
          <p:nvPr/>
        </p:nvSpPr>
        <p:spPr>
          <a:xfrm>
            <a:off x="6885432" y="5084064"/>
            <a:ext cx="1874519" cy="950976"/>
          </a:xfrm>
          <a:prstGeom prst="roundRect">
            <a:avLst>
              <a:gd name="adj" fmla="val 9000"/>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6885432" y="5084064"/>
            <a:ext cx="1874519" cy="45720"/>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031736" y="5321808"/>
            <a:ext cx="1581911" cy="256032"/>
          </a:xfrm>
          <a:prstGeom prst="rect">
            <a:avLst/>
          </a:prstGeom>
          <a:noFill/>
        </p:spPr>
        <p:txBody>
          <a:bodyPr wrap="square" lIns="0" rIns="0" tIns="0" bIns="0" anchor="t">
            <a:spAutoFit/>
          </a:bodyPr>
          <a:lstStyle/>
          <a:p>
            <a:pPr algn="ctr">
              <a:lnSpc>
                <a:spcPct val="118000"/>
              </a:lnSpc>
              <a:spcBef>
                <a:spcPts val="0"/>
              </a:spcBef>
              <a:spcAft>
                <a:spcPts val="0"/>
              </a:spcAft>
            </a:pPr>
            <a:r>
              <a:rPr sz="1200" b="1" i="0">
                <a:solidFill>
                  <a:srgbClr val="0F172A"/>
                </a:solidFill>
                <a:latin typeface="Segoe UI Semibold"/>
              </a:rPr>
              <a:t>Tutor</a:t>
            </a:r>
          </a:p>
        </p:txBody>
      </p:sp>
      <p:sp>
        <p:nvSpPr>
          <p:cNvPr id="47" name="TextBox 46"/>
          <p:cNvSpPr txBox="1"/>
          <p:nvPr/>
        </p:nvSpPr>
        <p:spPr>
          <a:xfrm>
            <a:off x="7031736" y="5614416"/>
            <a:ext cx="1581911" cy="237744"/>
          </a:xfrm>
          <a:prstGeom prst="rect">
            <a:avLst/>
          </a:prstGeom>
          <a:noFill/>
        </p:spPr>
        <p:txBody>
          <a:bodyPr wrap="square" lIns="0" rIns="0" tIns="0" bIns="0" anchor="t">
            <a:spAutoFit/>
          </a:bodyPr>
          <a:lstStyle/>
          <a:p>
            <a:pPr algn="ctr">
              <a:lnSpc>
                <a:spcPct val="118000"/>
              </a:lnSpc>
              <a:spcBef>
                <a:spcPts val="0"/>
              </a:spcBef>
              <a:spcAft>
                <a:spcPts val="0"/>
              </a:spcAft>
            </a:pPr>
            <a:r>
              <a:rPr sz="950" b="1" i="0">
                <a:solidFill>
                  <a:srgbClr val="F59E0B"/>
                </a:solidFill>
                <a:latin typeface="Segoe UI"/>
              </a:rPr>
              <a:t>teach · manage</a:t>
            </a:r>
          </a:p>
        </p:txBody>
      </p:sp>
      <p:sp>
        <p:nvSpPr>
          <p:cNvPr id="48" name="Rounded Rectangle 47"/>
          <p:cNvSpPr/>
          <p:nvPr/>
        </p:nvSpPr>
        <p:spPr>
          <a:xfrm>
            <a:off x="9750247" y="5084064"/>
            <a:ext cx="1874519" cy="950976"/>
          </a:xfrm>
          <a:prstGeom prst="roundRect">
            <a:avLst>
              <a:gd name="adj" fmla="val 9000"/>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ounded Rectangle 48"/>
          <p:cNvSpPr/>
          <p:nvPr/>
        </p:nvSpPr>
        <p:spPr>
          <a:xfrm>
            <a:off x="9750247" y="5084064"/>
            <a:ext cx="1874519" cy="45720"/>
          </a:xfrm>
          <a:prstGeom prst="roundRect">
            <a:avLst>
              <a:gd name="adj" fmla="val 8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9896551" y="5321808"/>
            <a:ext cx="1581911" cy="256032"/>
          </a:xfrm>
          <a:prstGeom prst="rect">
            <a:avLst/>
          </a:prstGeom>
          <a:noFill/>
        </p:spPr>
        <p:txBody>
          <a:bodyPr wrap="square" lIns="0" rIns="0" tIns="0" bIns="0" anchor="t">
            <a:spAutoFit/>
          </a:bodyPr>
          <a:lstStyle/>
          <a:p>
            <a:pPr algn="ctr">
              <a:lnSpc>
                <a:spcPct val="118000"/>
              </a:lnSpc>
              <a:spcBef>
                <a:spcPts val="0"/>
              </a:spcBef>
              <a:spcAft>
                <a:spcPts val="0"/>
              </a:spcAft>
            </a:pPr>
            <a:r>
              <a:rPr sz="1200" b="1" i="0">
                <a:solidFill>
                  <a:srgbClr val="0F172A"/>
                </a:solidFill>
                <a:latin typeface="Segoe UI Semibold"/>
              </a:rPr>
              <a:t>Administrator</a:t>
            </a:r>
          </a:p>
        </p:txBody>
      </p:sp>
      <p:sp>
        <p:nvSpPr>
          <p:cNvPr id="51" name="TextBox 50"/>
          <p:cNvSpPr txBox="1"/>
          <p:nvPr/>
        </p:nvSpPr>
        <p:spPr>
          <a:xfrm>
            <a:off x="9896551" y="5614416"/>
            <a:ext cx="1581911" cy="237744"/>
          </a:xfrm>
          <a:prstGeom prst="rect">
            <a:avLst/>
          </a:prstGeom>
          <a:noFill/>
        </p:spPr>
        <p:txBody>
          <a:bodyPr wrap="square" lIns="0" rIns="0" tIns="0" bIns="0" anchor="t">
            <a:spAutoFit/>
          </a:bodyPr>
          <a:lstStyle/>
          <a:p>
            <a:pPr algn="ctr">
              <a:lnSpc>
                <a:spcPct val="118000"/>
              </a:lnSpc>
              <a:spcBef>
                <a:spcPts val="0"/>
              </a:spcBef>
              <a:spcAft>
                <a:spcPts val="0"/>
              </a:spcAft>
            </a:pPr>
            <a:r>
              <a:rPr sz="950" b="1" i="0">
                <a:solidFill>
                  <a:srgbClr val="E11D48"/>
                </a:solidFill>
                <a:latin typeface="Segoe UI"/>
              </a:rPr>
              <a:t>verify · govern</a:t>
            </a:r>
          </a:p>
        </p:txBody>
      </p:sp>
      <p:sp>
        <p:nvSpPr>
          <p:cNvPr id="52" name="Rounded Rectangle 51"/>
          <p:cNvSpPr/>
          <p:nvPr/>
        </p:nvSpPr>
        <p:spPr>
          <a:xfrm>
            <a:off x="566928" y="5696712"/>
            <a:ext cx="5989320" cy="530352"/>
          </a:xfrm>
          <a:prstGeom prst="roundRect">
            <a:avLst>
              <a:gd name="adj" fmla="val 6000"/>
            </a:avLst>
          </a:prstGeom>
          <a:solidFill>
            <a:srgbClr val="DBEAFE"/>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822960" y="5843016"/>
            <a:ext cx="5477256" cy="237743"/>
          </a:xfrm>
          <a:prstGeom prst="rect">
            <a:avLst/>
          </a:prstGeom>
          <a:noFill/>
        </p:spPr>
        <p:txBody>
          <a:bodyPr wrap="square" lIns="0" rIns="0" tIns="0" bIns="0" anchor="ctr">
            <a:spAutoFit/>
          </a:bodyPr>
          <a:lstStyle/>
          <a:p>
            <a:pPr algn="l">
              <a:lnSpc>
                <a:spcPct val="120000"/>
              </a:lnSpc>
            </a:pPr>
            <a:r>
              <a:rPr sz="1150" b="1" i="0">
                <a:solidFill>
                  <a:srgbClr val="1E3A8A"/>
                </a:solidFill>
                <a:latin typeface="Segoe UI"/>
              </a:rPr>
              <a:t>Access model:  </a:t>
            </a:r>
            <a:r>
              <a:rPr sz="1150" b="0" i="0">
                <a:solidFill>
                  <a:srgbClr val="475569"/>
                </a:solidFill>
                <a:latin typeface="Segoe UI"/>
              </a:rPr>
              <a:t>roles are stored in the users.role enum and checked by protected API actions. Dashboard routes are still client-guarded; server middleware is a stated production hardening task.</a:t>
            </a:r>
          </a:p>
        </p:txBody>
      </p:sp>
      <p:cxnSp>
        <p:nvCxnSpPr>
          <p:cNvPr id="54" name="Connector 53"/>
          <p:cNvCxnSpPr/>
          <p:nvPr/>
        </p:nvCxnSpPr>
        <p:spPr>
          <a:xfrm>
            <a:off x="566928" y="6382512"/>
            <a:ext cx="11057839"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66928" y="6473952"/>
            <a:ext cx="9777679" cy="219456"/>
          </a:xfrm>
          <a:prstGeom prst="rect">
            <a:avLst/>
          </a:prstGeom>
          <a:noFill/>
        </p:spPr>
        <p:txBody>
          <a:bodyPr wrap="square" lIns="0" rIns="0" tIns="0" bIns="0" anchor="t">
            <a:spAutoFit/>
          </a:bodyPr>
          <a:lstStyle/>
          <a:p>
            <a:pPr algn="l">
              <a:lnSpc>
                <a:spcPct val="118000"/>
              </a:lnSpc>
              <a:spcBef>
                <a:spcPts val="0"/>
              </a:spcBef>
              <a:spcAft>
                <a:spcPts val="0"/>
              </a:spcAft>
            </a:pPr>
            <a:r>
              <a:rPr sz="880" b="0" i="0">
                <a:solidFill>
                  <a:srgbClr val="94A3B8"/>
                </a:solidFill>
                <a:latin typeface="Segoe UI"/>
              </a:rPr>
              <a:t>Presenter: Hephzibah Uchechukwu · Solution</a:t>
            </a:r>
          </a:p>
        </p:txBody>
      </p:sp>
      <p:sp>
        <p:nvSpPr>
          <p:cNvPr id="56" name="TextBox 55"/>
          <p:cNvSpPr txBox="1"/>
          <p:nvPr/>
        </p:nvSpPr>
        <p:spPr>
          <a:xfrm>
            <a:off x="10436047" y="6473952"/>
            <a:ext cx="1188720" cy="219456"/>
          </a:xfrm>
          <a:prstGeom prst="rect">
            <a:avLst/>
          </a:prstGeom>
          <a:noFill/>
        </p:spPr>
        <p:txBody>
          <a:bodyPr wrap="square" lIns="0" rIns="0" tIns="0" bIns="0" anchor="t">
            <a:spAutoFit/>
          </a:bodyPr>
          <a:lstStyle/>
          <a:p>
            <a:pPr algn="r">
              <a:lnSpc>
                <a:spcPct val="118000"/>
              </a:lnSpc>
              <a:spcBef>
                <a:spcPts val="0"/>
              </a:spcBef>
              <a:spcAft>
                <a:spcPts val="0"/>
              </a:spcAft>
            </a:pPr>
            <a:r>
              <a:rPr sz="950" b="1" i="0">
                <a:solidFill>
                  <a:srgbClr val="94A3B8"/>
                </a:solidFill>
                <a:latin typeface="Segoe UI"/>
              </a:rP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420624"/>
            <a:ext cx="50292" cy="173736"/>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384048"/>
            <a:ext cx="10874959" cy="237744"/>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20">
                <a:solidFill>
                  <a:srgbClr val="2563EB"/>
                </a:solidFill>
                <a:latin typeface="Segoe UI"/>
              </a:rPr>
              <a:t>USER JOURNEY</a:t>
            </a:r>
          </a:p>
        </p:txBody>
      </p:sp>
      <p:sp>
        <p:nvSpPr>
          <p:cNvPr id="5" name="TextBox 4"/>
          <p:cNvSpPr txBox="1"/>
          <p:nvPr/>
        </p:nvSpPr>
        <p:spPr>
          <a:xfrm>
            <a:off x="566928" y="658368"/>
            <a:ext cx="11057839" cy="420624"/>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0F172A"/>
                </a:solidFill>
                <a:latin typeface="Segoe UI Semibold"/>
              </a:rPr>
              <a:t>How the website works, end to end</a:t>
            </a:r>
          </a:p>
        </p:txBody>
      </p:sp>
      <p:sp>
        <p:nvSpPr>
          <p:cNvPr id="6" name="TextBox 5"/>
          <p:cNvSpPr txBox="1"/>
          <p:nvPr/>
        </p:nvSpPr>
        <p:spPr>
          <a:xfrm>
            <a:off x="566928" y="1207008"/>
            <a:ext cx="10692079" cy="274320"/>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4748B"/>
                </a:solidFill>
                <a:latin typeface="Segoe UI"/>
              </a:rPr>
              <a:t>Seven steps, all of them real screens and real API calls in the repository.</a:t>
            </a:r>
          </a:p>
        </p:txBody>
      </p:sp>
      <p:sp>
        <p:nvSpPr>
          <p:cNvPr id="7" name="Rounded Rectangle 6"/>
          <p:cNvSpPr/>
          <p:nvPr/>
        </p:nvSpPr>
        <p:spPr>
          <a:xfrm>
            <a:off x="566928" y="1847088"/>
            <a:ext cx="2651760" cy="1627632"/>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731520" y="1984248"/>
            <a:ext cx="365760" cy="3657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i="0">
                <a:solidFill>
                  <a:srgbClr val="FFFFFF"/>
                </a:solidFill>
                <a:latin typeface="Segoe UI"/>
              </a:rPr>
              <a:t>1</a:t>
            </a:r>
          </a:p>
        </p:txBody>
      </p:sp>
      <p:sp>
        <p:nvSpPr>
          <p:cNvPr id="9" name="TextBox 8"/>
          <p:cNvSpPr txBox="1"/>
          <p:nvPr/>
        </p:nvSpPr>
        <p:spPr>
          <a:xfrm>
            <a:off x="1207007" y="2011680"/>
            <a:ext cx="1847088" cy="338328"/>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0F172A"/>
                </a:solidFill>
                <a:latin typeface="Segoe UI Semibold"/>
              </a:rPr>
              <a:t>Register or sign in</a:t>
            </a:r>
          </a:p>
        </p:txBody>
      </p:sp>
      <p:sp>
        <p:nvSpPr>
          <p:cNvPr id="10" name="TextBox 9"/>
          <p:cNvSpPr txBox="1"/>
          <p:nvPr/>
        </p:nvSpPr>
        <p:spPr>
          <a:xfrm>
            <a:off x="749808" y="2441448"/>
            <a:ext cx="2286000" cy="246888"/>
          </a:xfrm>
          <a:prstGeom prst="rect">
            <a:avLst/>
          </a:prstGeom>
          <a:noFill/>
        </p:spPr>
        <p:txBody>
          <a:bodyPr wrap="square" lIns="0" rIns="0" tIns="0" bIns="0" anchor="t">
            <a:spAutoFit/>
          </a:bodyPr>
          <a:lstStyle/>
          <a:p>
            <a:pPr algn="l">
              <a:lnSpc>
                <a:spcPct val="108000"/>
              </a:lnSpc>
              <a:spcBef>
                <a:spcPts val="0"/>
              </a:spcBef>
              <a:spcAft>
                <a:spcPts val="0"/>
              </a:spcAft>
            </a:pPr>
            <a:r>
              <a:rPr sz="800" b="1" i="0">
                <a:solidFill>
                  <a:srgbClr val="2563EB"/>
                </a:solidFill>
                <a:latin typeface="Segoe UI"/>
              </a:rPr>
              <a:t>/signup  ·  /login</a:t>
            </a:r>
          </a:p>
        </p:txBody>
      </p:sp>
      <p:sp>
        <p:nvSpPr>
          <p:cNvPr id="11" name="TextBox 10"/>
          <p:cNvSpPr txBox="1"/>
          <p:nvPr/>
        </p:nvSpPr>
        <p:spPr>
          <a:xfrm>
            <a:off x="749808" y="2715768"/>
            <a:ext cx="2286000" cy="667512"/>
          </a:xfrm>
          <a:prstGeom prst="rect">
            <a:avLst/>
          </a:prstGeom>
          <a:noFill/>
        </p:spPr>
        <p:txBody>
          <a:bodyPr wrap="square" lIns="0" rIns="0" tIns="0" bIns="0" anchor="t">
            <a:spAutoFit/>
          </a:bodyPr>
          <a:lstStyle/>
          <a:p>
            <a:pPr algn="l">
              <a:lnSpc>
                <a:spcPct val="116000"/>
              </a:lnSpc>
              <a:spcBef>
                <a:spcPts val="0"/>
              </a:spcBef>
              <a:spcAft>
                <a:spcPts val="0"/>
              </a:spcAft>
            </a:pPr>
            <a:r>
              <a:rPr sz="869" b="0" i="0">
                <a:solidFill>
                  <a:srgbClr val="475569"/>
                </a:solidFill>
                <a:latin typeface="Segoe UI"/>
              </a:rPr>
              <a:t>Role-aware signup (student, parent, tutor) validated server-side: Gmail address, 8+ character password with upper, lower, digit and symbol. bcrypt hash + JWT issued on success.</a:t>
            </a:r>
          </a:p>
        </p:txBody>
      </p:sp>
      <p:sp>
        <p:nvSpPr>
          <p:cNvPr id="12" name="Right Arrow 11"/>
          <p:cNvSpPr/>
          <p:nvPr/>
        </p:nvSpPr>
        <p:spPr>
          <a:xfrm>
            <a:off x="3236976" y="2596896"/>
            <a:ext cx="137160" cy="137160"/>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92424" y="1847088"/>
            <a:ext cx="2651760" cy="1627632"/>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3557016" y="198424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i="0">
                <a:solidFill>
                  <a:srgbClr val="FFFFFF"/>
                </a:solidFill>
                <a:latin typeface="Segoe UI"/>
              </a:rPr>
              <a:t>2</a:t>
            </a:r>
          </a:p>
        </p:txBody>
      </p:sp>
      <p:sp>
        <p:nvSpPr>
          <p:cNvPr id="15" name="TextBox 14"/>
          <p:cNvSpPr txBox="1"/>
          <p:nvPr/>
        </p:nvSpPr>
        <p:spPr>
          <a:xfrm>
            <a:off x="4032504" y="2011680"/>
            <a:ext cx="1847088" cy="338328"/>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0F172A"/>
                </a:solidFill>
                <a:latin typeface="Segoe UI Semibold"/>
              </a:rPr>
              <a:t>Land on the right dashboard</a:t>
            </a:r>
          </a:p>
        </p:txBody>
      </p:sp>
      <p:sp>
        <p:nvSpPr>
          <p:cNvPr id="16" name="TextBox 15"/>
          <p:cNvSpPr txBox="1"/>
          <p:nvPr/>
        </p:nvSpPr>
        <p:spPr>
          <a:xfrm>
            <a:off x="3575304" y="2441448"/>
            <a:ext cx="2286000" cy="246888"/>
          </a:xfrm>
          <a:prstGeom prst="rect">
            <a:avLst/>
          </a:prstGeom>
          <a:noFill/>
        </p:spPr>
        <p:txBody>
          <a:bodyPr wrap="square" lIns="0" rIns="0" tIns="0" bIns="0" anchor="t">
            <a:spAutoFit/>
          </a:bodyPr>
          <a:lstStyle/>
          <a:p>
            <a:pPr algn="l">
              <a:lnSpc>
                <a:spcPct val="108000"/>
              </a:lnSpc>
              <a:spcBef>
                <a:spcPts val="0"/>
              </a:spcBef>
              <a:spcAft>
                <a:spcPts val="0"/>
              </a:spcAft>
            </a:pPr>
            <a:r>
              <a:rPr sz="800" b="1" i="0">
                <a:solidFill>
                  <a:srgbClr val="10B981"/>
                </a:solidFill>
                <a:latin typeface="Segoe UI"/>
              </a:rPr>
              <a:t>/dashboard/student | parent | tutor | admin</a:t>
            </a:r>
          </a:p>
        </p:txBody>
      </p:sp>
      <p:sp>
        <p:nvSpPr>
          <p:cNvPr id="17" name="TextBox 16"/>
          <p:cNvSpPr txBox="1"/>
          <p:nvPr/>
        </p:nvSpPr>
        <p:spPr>
          <a:xfrm>
            <a:off x="3575304" y="2715768"/>
            <a:ext cx="2286000" cy="667512"/>
          </a:xfrm>
          <a:prstGeom prst="rect">
            <a:avLst/>
          </a:prstGeom>
          <a:noFill/>
        </p:spPr>
        <p:txBody>
          <a:bodyPr wrap="square" lIns="0" rIns="0" tIns="0" bIns="0" anchor="t">
            <a:spAutoFit/>
          </a:bodyPr>
          <a:lstStyle/>
          <a:p>
            <a:pPr algn="l">
              <a:lnSpc>
                <a:spcPct val="116000"/>
              </a:lnSpc>
              <a:spcBef>
                <a:spcPts val="0"/>
              </a:spcBef>
              <a:spcAft>
                <a:spcPts val="0"/>
              </a:spcAft>
            </a:pPr>
            <a:r>
              <a:rPr sz="869" b="0" i="0">
                <a:solidFill>
                  <a:srgbClr val="475569"/>
                </a:solidFill>
                <a:latin typeface="Segoe UI"/>
              </a:rPr>
              <a:t>The JWT payload carries the role; each dashboard reads it and redirects if the role does not match. Tutors get a 3-step readiness checklist.</a:t>
            </a:r>
          </a:p>
        </p:txBody>
      </p:sp>
      <p:sp>
        <p:nvSpPr>
          <p:cNvPr id="18" name="Right Arrow 17"/>
          <p:cNvSpPr/>
          <p:nvPr/>
        </p:nvSpPr>
        <p:spPr>
          <a:xfrm>
            <a:off x="6062471" y="2596896"/>
            <a:ext cx="137160" cy="137160"/>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7920" y="1847088"/>
            <a:ext cx="2651760" cy="1627632"/>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6382512" y="198424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i="0">
                <a:solidFill>
                  <a:srgbClr val="FFFFFF"/>
                </a:solidFill>
                <a:latin typeface="Segoe UI"/>
              </a:rPr>
              <a:t>3</a:t>
            </a:r>
          </a:p>
        </p:txBody>
      </p:sp>
      <p:sp>
        <p:nvSpPr>
          <p:cNvPr id="21" name="TextBox 20"/>
          <p:cNvSpPr txBox="1"/>
          <p:nvPr/>
        </p:nvSpPr>
        <p:spPr>
          <a:xfrm>
            <a:off x="6858000" y="2011680"/>
            <a:ext cx="1847088" cy="338328"/>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0F172A"/>
                </a:solidFill>
                <a:latin typeface="Segoe UI Semibold"/>
              </a:rPr>
              <a:t>Discover tutors</a:t>
            </a:r>
          </a:p>
        </p:txBody>
      </p:sp>
      <p:sp>
        <p:nvSpPr>
          <p:cNvPr id="22" name="TextBox 21"/>
          <p:cNvSpPr txBox="1"/>
          <p:nvPr/>
        </p:nvSpPr>
        <p:spPr>
          <a:xfrm>
            <a:off x="6400800" y="2441448"/>
            <a:ext cx="2286000" cy="246888"/>
          </a:xfrm>
          <a:prstGeom prst="rect">
            <a:avLst/>
          </a:prstGeom>
          <a:noFill/>
        </p:spPr>
        <p:txBody>
          <a:bodyPr wrap="square" lIns="0" rIns="0" tIns="0" bIns="0" anchor="t">
            <a:spAutoFit/>
          </a:bodyPr>
          <a:lstStyle/>
          <a:p>
            <a:pPr algn="l">
              <a:lnSpc>
                <a:spcPct val="108000"/>
              </a:lnSpc>
              <a:spcBef>
                <a:spcPts val="0"/>
              </a:spcBef>
              <a:spcAft>
                <a:spcPts val="0"/>
              </a:spcAft>
            </a:pPr>
            <a:r>
              <a:rPr sz="800" b="1" i="0">
                <a:solidFill>
                  <a:srgbClr val="F59E0B"/>
                </a:solidFill>
                <a:latin typeface="Segoe UI"/>
              </a:rPr>
              <a:t>/tutors  ·  /smart-match</a:t>
            </a:r>
          </a:p>
        </p:txBody>
      </p:sp>
      <p:sp>
        <p:nvSpPr>
          <p:cNvPr id="23" name="TextBox 22"/>
          <p:cNvSpPr txBox="1"/>
          <p:nvPr/>
        </p:nvSpPr>
        <p:spPr>
          <a:xfrm>
            <a:off x="6400800" y="2715768"/>
            <a:ext cx="2286000" cy="667512"/>
          </a:xfrm>
          <a:prstGeom prst="rect">
            <a:avLst/>
          </a:prstGeom>
          <a:noFill/>
        </p:spPr>
        <p:txBody>
          <a:bodyPr wrap="square" lIns="0" rIns="0" tIns="0" bIns="0" anchor="t">
            <a:spAutoFit/>
          </a:bodyPr>
          <a:lstStyle/>
          <a:p>
            <a:pPr algn="l">
              <a:lnSpc>
                <a:spcPct val="116000"/>
              </a:lnSpc>
              <a:spcBef>
                <a:spcPts val="0"/>
              </a:spcBef>
              <a:spcAft>
                <a:spcPts val="0"/>
              </a:spcAft>
            </a:pPr>
            <a:r>
              <a:rPr sz="869" b="0" i="0">
                <a:solidFill>
                  <a:srgbClr val="475569"/>
                </a:solidFill>
                <a:latin typeface="Segoe UI"/>
              </a:rPr>
              <a:t>Filter the directory by subject, state, ₦ budget, availability and curriculum — or state your preferences and let Smart Tutor Match rank the results for you.</a:t>
            </a:r>
          </a:p>
        </p:txBody>
      </p:sp>
      <p:sp>
        <p:nvSpPr>
          <p:cNvPr id="24" name="Right Arrow 23"/>
          <p:cNvSpPr/>
          <p:nvPr/>
        </p:nvSpPr>
        <p:spPr>
          <a:xfrm>
            <a:off x="8887967" y="2596896"/>
            <a:ext cx="137160" cy="137160"/>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43415" y="1847088"/>
            <a:ext cx="2651760" cy="1627632"/>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9208007" y="1984248"/>
            <a:ext cx="365760" cy="36576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i="0">
                <a:solidFill>
                  <a:srgbClr val="FFFFFF"/>
                </a:solidFill>
                <a:latin typeface="Segoe UI"/>
              </a:rPr>
              <a:t>4</a:t>
            </a:r>
          </a:p>
        </p:txBody>
      </p:sp>
      <p:sp>
        <p:nvSpPr>
          <p:cNvPr id="27" name="TextBox 26"/>
          <p:cNvSpPr txBox="1"/>
          <p:nvPr/>
        </p:nvSpPr>
        <p:spPr>
          <a:xfrm>
            <a:off x="9683495" y="2011680"/>
            <a:ext cx="1847088" cy="338328"/>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0F172A"/>
                </a:solidFill>
                <a:latin typeface="Segoe UI Semibold"/>
              </a:rPr>
              <a:t>Open the tutor profile</a:t>
            </a:r>
          </a:p>
        </p:txBody>
      </p:sp>
      <p:sp>
        <p:nvSpPr>
          <p:cNvPr id="28" name="TextBox 27"/>
          <p:cNvSpPr txBox="1"/>
          <p:nvPr/>
        </p:nvSpPr>
        <p:spPr>
          <a:xfrm>
            <a:off x="9226295" y="2441448"/>
            <a:ext cx="2286000" cy="246888"/>
          </a:xfrm>
          <a:prstGeom prst="rect">
            <a:avLst/>
          </a:prstGeom>
          <a:noFill/>
        </p:spPr>
        <p:txBody>
          <a:bodyPr wrap="square" lIns="0" rIns="0" tIns="0" bIns="0" anchor="t">
            <a:spAutoFit/>
          </a:bodyPr>
          <a:lstStyle/>
          <a:p>
            <a:pPr algn="l">
              <a:lnSpc>
                <a:spcPct val="108000"/>
              </a:lnSpc>
              <a:spcBef>
                <a:spcPts val="0"/>
              </a:spcBef>
              <a:spcAft>
                <a:spcPts val="0"/>
              </a:spcAft>
            </a:pPr>
            <a:r>
              <a:rPr sz="800" b="1" i="0">
                <a:solidFill>
                  <a:srgbClr val="E11D48"/>
                </a:solidFill>
                <a:latin typeface="Segoe UI"/>
              </a:rPr>
              <a:t>/tutors/[id]</a:t>
            </a:r>
          </a:p>
        </p:txBody>
      </p:sp>
      <p:sp>
        <p:nvSpPr>
          <p:cNvPr id="29" name="TextBox 28"/>
          <p:cNvSpPr txBox="1"/>
          <p:nvPr/>
        </p:nvSpPr>
        <p:spPr>
          <a:xfrm>
            <a:off x="9226295" y="2715768"/>
            <a:ext cx="2286000" cy="667512"/>
          </a:xfrm>
          <a:prstGeom prst="rect">
            <a:avLst/>
          </a:prstGeom>
          <a:noFill/>
        </p:spPr>
        <p:txBody>
          <a:bodyPr wrap="square" lIns="0" rIns="0" tIns="0" bIns="0" anchor="t">
            <a:spAutoFit/>
          </a:bodyPr>
          <a:lstStyle/>
          <a:p>
            <a:pPr algn="l">
              <a:lnSpc>
                <a:spcPct val="116000"/>
              </a:lnSpc>
              <a:spcBef>
                <a:spcPts val="0"/>
              </a:spcBef>
              <a:spcAft>
                <a:spcPts val="0"/>
              </a:spcAft>
            </a:pPr>
            <a:r>
              <a:rPr sz="869" b="0" i="0">
                <a:solidFill>
                  <a:srgbClr val="475569"/>
                </a:solidFill>
                <a:latin typeface="Segoe UI"/>
              </a:rPr>
              <a:t>Verified badge, headline, bio, subjects, curriculum, rating, reviews and an interactive weekly availability calendar. Only admin-verified tutors are reachable here.</a:t>
            </a:r>
          </a:p>
        </p:txBody>
      </p:sp>
      <p:sp>
        <p:nvSpPr>
          <p:cNvPr id="30" name="Down Arrow 29"/>
          <p:cNvSpPr/>
          <p:nvPr/>
        </p:nvSpPr>
        <p:spPr>
          <a:xfrm>
            <a:off x="10314431" y="3497579"/>
            <a:ext cx="146304" cy="164592"/>
          </a:xfrm>
          <a:prstGeom prst="down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043415" y="3657600"/>
            <a:ext cx="2651760" cy="1627632"/>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9208007" y="3794760"/>
            <a:ext cx="365760" cy="365760"/>
          </a:xfrm>
          <a:prstGeom prst="ellips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i="0">
                <a:solidFill>
                  <a:srgbClr val="FFFFFF"/>
                </a:solidFill>
                <a:latin typeface="Segoe UI"/>
              </a:rPr>
              <a:t>5</a:t>
            </a:r>
          </a:p>
        </p:txBody>
      </p:sp>
      <p:sp>
        <p:nvSpPr>
          <p:cNvPr id="33" name="TextBox 32"/>
          <p:cNvSpPr txBox="1"/>
          <p:nvPr/>
        </p:nvSpPr>
        <p:spPr>
          <a:xfrm>
            <a:off x="9683495" y="3822191"/>
            <a:ext cx="1847088" cy="338328"/>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0F172A"/>
                </a:solidFill>
                <a:latin typeface="Segoe UI Semibold"/>
              </a:rPr>
              <a:t>Request a booking</a:t>
            </a:r>
          </a:p>
        </p:txBody>
      </p:sp>
      <p:sp>
        <p:nvSpPr>
          <p:cNvPr id="34" name="TextBox 33"/>
          <p:cNvSpPr txBox="1"/>
          <p:nvPr/>
        </p:nvSpPr>
        <p:spPr>
          <a:xfrm>
            <a:off x="9226295" y="4251960"/>
            <a:ext cx="2286000" cy="246888"/>
          </a:xfrm>
          <a:prstGeom prst="rect">
            <a:avLst/>
          </a:prstGeom>
          <a:noFill/>
        </p:spPr>
        <p:txBody>
          <a:bodyPr wrap="square" lIns="0" rIns="0" tIns="0" bIns="0" anchor="t">
            <a:spAutoFit/>
          </a:bodyPr>
          <a:lstStyle/>
          <a:p>
            <a:pPr algn="l">
              <a:lnSpc>
                <a:spcPct val="108000"/>
              </a:lnSpc>
              <a:spcBef>
                <a:spcPts val="0"/>
              </a:spcBef>
              <a:spcAft>
                <a:spcPts val="0"/>
              </a:spcAft>
            </a:pPr>
            <a:r>
              <a:rPr sz="800" b="1" i="0">
                <a:solidFill>
                  <a:srgbClr val="1E3A8A"/>
                </a:solidFill>
                <a:latin typeface="Segoe UI"/>
              </a:rPr>
              <a:t>BookingModal → POST /api/bookings</a:t>
            </a:r>
          </a:p>
        </p:txBody>
      </p:sp>
      <p:sp>
        <p:nvSpPr>
          <p:cNvPr id="35" name="TextBox 34"/>
          <p:cNvSpPr txBox="1"/>
          <p:nvPr/>
        </p:nvSpPr>
        <p:spPr>
          <a:xfrm>
            <a:off x="9226295" y="4526280"/>
            <a:ext cx="2286000" cy="667512"/>
          </a:xfrm>
          <a:prstGeom prst="rect">
            <a:avLst/>
          </a:prstGeom>
          <a:noFill/>
        </p:spPr>
        <p:txBody>
          <a:bodyPr wrap="square" lIns="0" rIns="0" tIns="0" bIns="0" anchor="t">
            <a:spAutoFit/>
          </a:bodyPr>
          <a:lstStyle/>
          <a:p>
            <a:pPr algn="l">
              <a:lnSpc>
                <a:spcPct val="116000"/>
              </a:lnSpc>
              <a:spcBef>
                <a:spcPts val="0"/>
              </a:spcBef>
              <a:spcAft>
                <a:spcPts val="0"/>
              </a:spcAft>
            </a:pPr>
            <a:r>
              <a:rPr sz="869" b="0" i="0">
                <a:solidFill>
                  <a:srgbClr val="475569"/>
                </a:solidFill>
                <a:latin typeface="Segoe UI"/>
              </a:rPr>
              <a:t>Grade level, subject, date, time slot, online or in-person mode, notes and a live ₦ estimate. The row is created with status = pending.</a:t>
            </a:r>
          </a:p>
        </p:txBody>
      </p:sp>
      <p:sp>
        <p:nvSpPr>
          <p:cNvPr id="36" name="Left Arrow 35"/>
          <p:cNvSpPr/>
          <p:nvPr/>
        </p:nvSpPr>
        <p:spPr>
          <a:xfrm>
            <a:off x="8878824" y="4407408"/>
            <a:ext cx="137160" cy="137160"/>
          </a:xfrm>
          <a:prstGeom prst="lef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217920" y="3657600"/>
            <a:ext cx="2651760" cy="1627632"/>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Oval 37"/>
          <p:cNvSpPr/>
          <p:nvPr/>
        </p:nvSpPr>
        <p:spPr>
          <a:xfrm>
            <a:off x="6382512" y="3794760"/>
            <a:ext cx="365760" cy="3657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i="0">
                <a:solidFill>
                  <a:srgbClr val="FFFFFF"/>
                </a:solidFill>
                <a:latin typeface="Segoe UI"/>
              </a:rPr>
              <a:t>6</a:t>
            </a:r>
          </a:p>
        </p:txBody>
      </p:sp>
      <p:sp>
        <p:nvSpPr>
          <p:cNvPr id="39" name="TextBox 38"/>
          <p:cNvSpPr txBox="1"/>
          <p:nvPr/>
        </p:nvSpPr>
        <p:spPr>
          <a:xfrm>
            <a:off x="6858000" y="3822191"/>
            <a:ext cx="1847088" cy="338328"/>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0F172A"/>
                </a:solidFill>
                <a:latin typeface="Segoe UI Semibold"/>
              </a:rPr>
              <a:t>Tutor decides, session happens</a:t>
            </a:r>
          </a:p>
        </p:txBody>
      </p:sp>
      <p:sp>
        <p:nvSpPr>
          <p:cNvPr id="40" name="TextBox 39"/>
          <p:cNvSpPr txBox="1"/>
          <p:nvPr/>
        </p:nvSpPr>
        <p:spPr>
          <a:xfrm>
            <a:off x="6400800" y="4251960"/>
            <a:ext cx="2286000" cy="246888"/>
          </a:xfrm>
          <a:prstGeom prst="rect">
            <a:avLst/>
          </a:prstGeom>
          <a:noFill/>
        </p:spPr>
        <p:txBody>
          <a:bodyPr wrap="square" lIns="0" rIns="0" tIns="0" bIns="0" anchor="t">
            <a:spAutoFit/>
          </a:bodyPr>
          <a:lstStyle/>
          <a:p>
            <a:pPr algn="l">
              <a:lnSpc>
                <a:spcPct val="108000"/>
              </a:lnSpc>
              <a:spcBef>
                <a:spcPts val="0"/>
              </a:spcBef>
              <a:spcAft>
                <a:spcPts val="0"/>
              </a:spcAft>
            </a:pPr>
            <a:r>
              <a:rPr sz="800" b="1" i="0">
                <a:solidFill>
                  <a:srgbClr val="2563EB"/>
                </a:solidFill>
                <a:latin typeface="Segoe UI"/>
              </a:rPr>
              <a:t>PATCH /api/bookings</a:t>
            </a:r>
          </a:p>
        </p:txBody>
      </p:sp>
      <p:sp>
        <p:nvSpPr>
          <p:cNvPr id="41" name="TextBox 40"/>
          <p:cNvSpPr txBox="1"/>
          <p:nvPr/>
        </p:nvSpPr>
        <p:spPr>
          <a:xfrm>
            <a:off x="6400800" y="4526280"/>
            <a:ext cx="2286000" cy="667512"/>
          </a:xfrm>
          <a:prstGeom prst="rect">
            <a:avLst/>
          </a:prstGeom>
          <a:noFill/>
        </p:spPr>
        <p:txBody>
          <a:bodyPr wrap="square" lIns="0" rIns="0" tIns="0" bIns="0" anchor="t">
            <a:spAutoFit/>
          </a:bodyPr>
          <a:lstStyle/>
          <a:p>
            <a:pPr algn="l">
              <a:lnSpc>
                <a:spcPct val="116000"/>
              </a:lnSpc>
              <a:spcBef>
                <a:spcPts val="0"/>
              </a:spcBef>
              <a:spcAft>
                <a:spcPts val="0"/>
              </a:spcAft>
            </a:pPr>
            <a:r>
              <a:rPr sz="869" b="0" i="0">
                <a:solidFill>
                  <a:srgbClr val="475569"/>
                </a:solidFill>
                <a:latin typeface="Segoe UI"/>
              </a:rPr>
              <a:t>The tutor accepts (pasting a Google Meet / Zoom link) or declines. Students can edit or cancel while the request is still pending; the tutor marks it completed afterwards.</a:t>
            </a:r>
          </a:p>
        </p:txBody>
      </p:sp>
      <p:sp>
        <p:nvSpPr>
          <p:cNvPr id="42" name="Left Arrow 41"/>
          <p:cNvSpPr/>
          <p:nvPr/>
        </p:nvSpPr>
        <p:spPr>
          <a:xfrm>
            <a:off x="6053328" y="4407408"/>
            <a:ext cx="137160" cy="137160"/>
          </a:xfrm>
          <a:prstGeom prst="lef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3392424" y="3657600"/>
            <a:ext cx="2651760" cy="1627632"/>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3557016" y="379476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i="0">
                <a:solidFill>
                  <a:srgbClr val="FFFFFF"/>
                </a:solidFill>
                <a:latin typeface="Segoe UI"/>
              </a:rPr>
              <a:t>7</a:t>
            </a:r>
          </a:p>
        </p:txBody>
      </p:sp>
      <p:sp>
        <p:nvSpPr>
          <p:cNvPr id="45" name="TextBox 44"/>
          <p:cNvSpPr txBox="1"/>
          <p:nvPr/>
        </p:nvSpPr>
        <p:spPr>
          <a:xfrm>
            <a:off x="4032504" y="3822191"/>
            <a:ext cx="1847088" cy="338328"/>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0F172A"/>
                </a:solidFill>
                <a:latin typeface="Segoe UI Semibold"/>
              </a:rPr>
              <a:t>Review and keep in touch</a:t>
            </a:r>
          </a:p>
        </p:txBody>
      </p:sp>
      <p:sp>
        <p:nvSpPr>
          <p:cNvPr id="46" name="TextBox 45"/>
          <p:cNvSpPr txBox="1"/>
          <p:nvPr/>
        </p:nvSpPr>
        <p:spPr>
          <a:xfrm>
            <a:off x="3575304" y="4251960"/>
            <a:ext cx="2286000" cy="246888"/>
          </a:xfrm>
          <a:prstGeom prst="rect">
            <a:avLst/>
          </a:prstGeom>
          <a:noFill/>
        </p:spPr>
        <p:txBody>
          <a:bodyPr wrap="square" lIns="0" rIns="0" tIns="0" bIns="0" anchor="t">
            <a:spAutoFit/>
          </a:bodyPr>
          <a:lstStyle/>
          <a:p>
            <a:pPr algn="l">
              <a:lnSpc>
                <a:spcPct val="108000"/>
              </a:lnSpc>
              <a:spcBef>
                <a:spcPts val="0"/>
              </a:spcBef>
              <a:spcAft>
                <a:spcPts val="0"/>
              </a:spcAft>
            </a:pPr>
            <a:r>
              <a:rPr sz="800" b="1" i="0">
                <a:solidFill>
                  <a:srgbClr val="10B981"/>
                </a:solidFill>
                <a:latin typeface="Segoe UI"/>
              </a:rPr>
              <a:t>/api/reviews  ·  /api/messages</a:t>
            </a:r>
          </a:p>
        </p:txBody>
      </p:sp>
      <p:sp>
        <p:nvSpPr>
          <p:cNvPr id="47" name="TextBox 46"/>
          <p:cNvSpPr txBox="1"/>
          <p:nvPr/>
        </p:nvSpPr>
        <p:spPr>
          <a:xfrm>
            <a:off x="3575304" y="4526280"/>
            <a:ext cx="2286000" cy="667512"/>
          </a:xfrm>
          <a:prstGeom prst="rect">
            <a:avLst/>
          </a:prstGeom>
          <a:noFill/>
        </p:spPr>
        <p:txBody>
          <a:bodyPr wrap="square" lIns="0" rIns="0" tIns="0" bIns="0" anchor="t">
            <a:spAutoFit/>
          </a:bodyPr>
          <a:lstStyle/>
          <a:p>
            <a:pPr algn="l">
              <a:lnSpc>
                <a:spcPct val="116000"/>
              </a:lnSpc>
              <a:spcBef>
                <a:spcPts val="0"/>
              </a:spcBef>
              <a:spcAft>
                <a:spcPts val="0"/>
              </a:spcAft>
            </a:pPr>
            <a:r>
              <a:rPr sz="869" b="0" i="0">
                <a:solidFill>
                  <a:srgbClr val="475569"/>
                </a:solidFill>
                <a:latin typeface="Segoe UI"/>
              </a:rPr>
              <a:t>Students and parents can leave one 1–5 star review after a completed booking. Authenticated users can start private 1-to-1 chats with eligible contacts.</a:t>
            </a:r>
          </a:p>
        </p:txBody>
      </p:sp>
      <p:sp>
        <p:nvSpPr>
          <p:cNvPr id="48" name="Rounded Rectangle 47"/>
          <p:cNvSpPr/>
          <p:nvPr/>
        </p:nvSpPr>
        <p:spPr>
          <a:xfrm>
            <a:off x="566928" y="5632704"/>
            <a:ext cx="11057839" cy="566928"/>
          </a:xfrm>
          <a:prstGeom prst="roundRect">
            <a:avLst>
              <a:gd name="adj" fmla="val 6000"/>
            </a:avLst>
          </a:prstGeom>
          <a:solidFill>
            <a:srgbClr val="D1FAE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22960" y="5779008"/>
            <a:ext cx="10545775" cy="274320"/>
          </a:xfrm>
          <a:prstGeom prst="rect">
            <a:avLst/>
          </a:prstGeom>
          <a:noFill/>
        </p:spPr>
        <p:txBody>
          <a:bodyPr wrap="square" lIns="0" rIns="0" tIns="0" bIns="0" anchor="ctr">
            <a:spAutoFit/>
          </a:bodyPr>
          <a:lstStyle/>
          <a:p>
            <a:pPr algn="l">
              <a:lnSpc>
                <a:spcPct val="120000"/>
              </a:lnSpc>
            </a:pPr>
            <a:r>
              <a:rPr sz="1150" b="1" i="0">
                <a:solidFill>
                  <a:srgbClr val="059669"/>
                </a:solidFill>
                <a:latin typeface="Segoe UI"/>
              </a:rPr>
              <a:t>Booking lifecycle:  </a:t>
            </a:r>
            <a:r>
              <a:rPr sz="1150" b="0" i="0">
                <a:solidFill>
                  <a:srgbClr val="334155"/>
                </a:solidFill>
                <a:latin typeface="Segoe UI"/>
              </a:rPr>
              <a:t>pending → accepted / rejected → completed / cancelled. Only a completed booking can be reviewed, and the reviewer name is read from the users table — never from the request body.</a:t>
            </a:r>
          </a:p>
        </p:txBody>
      </p:sp>
      <p:cxnSp>
        <p:nvCxnSpPr>
          <p:cNvPr id="50" name="Connector 49"/>
          <p:cNvCxnSpPr/>
          <p:nvPr/>
        </p:nvCxnSpPr>
        <p:spPr>
          <a:xfrm>
            <a:off x="566928" y="6382512"/>
            <a:ext cx="11057839"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66928" y="6473952"/>
            <a:ext cx="9777679" cy="219456"/>
          </a:xfrm>
          <a:prstGeom prst="rect">
            <a:avLst/>
          </a:prstGeom>
          <a:noFill/>
        </p:spPr>
        <p:txBody>
          <a:bodyPr wrap="square" lIns="0" rIns="0" tIns="0" bIns="0" anchor="t">
            <a:spAutoFit/>
          </a:bodyPr>
          <a:lstStyle/>
          <a:p>
            <a:pPr algn="l">
              <a:lnSpc>
                <a:spcPct val="118000"/>
              </a:lnSpc>
              <a:spcBef>
                <a:spcPts val="0"/>
              </a:spcBef>
              <a:spcAft>
                <a:spcPts val="0"/>
              </a:spcAft>
            </a:pPr>
            <a:r>
              <a:rPr sz="880" b="0" i="0">
                <a:solidFill>
                  <a:srgbClr val="94A3B8"/>
                </a:solidFill>
                <a:latin typeface="Segoe UI"/>
              </a:rPr>
              <a:t>Presenter: Hephzibah Uchechukwu · User journey</a:t>
            </a:r>
          </a:p>
        </p:txBody>
      </p:sp>
      <p:sp>
        <p:nvSpPr>
          <p:cNvPr id="52" name="TextBox 51"/>
          <p:cNvSpPr txBox="1"/>
          <p:nvPr/>
        </p:nvSpPr>
        <p:spPr>
          <a:xfrm>
            <a:off x="10436047" y="6473952"/>
            <a:ext cx="1188720" cy="219456"/>
          </a:xfrm>
          <a:prstGeom prst="rect">
            <a:avLst/>
          </a:prstGeom>
          <a:noFill/>
        </p:spPr>
        <p:txBody>
          <a:bodyPr wrap="square" lIns="0" rIns="0" tIns="0" bIns="0" anchor="t">
            <a:spAutoFit/>
          </a:bodyPr>
          <a:lstStyle/>
          <a:p>
            <a:pPr algn="r">
              <a:lnSpc>
                <a:spcPct val="118000"/>
              </a:lnSpc>
              <a:spcBef>
                <a:spcPts val="0"/>
              </a:spcBef>
              <a:spcAft>
                <a:spcPts val="0"/>
              </a:spcAft>
            </a:pPr>
            <a:r>
              <a:rPr sz="950" b="1" i="0">
                <a:solidFill>
                  <a:srgbClr val="94A3B8"/>
                </a:solidFill>
                <a:latin typeface="Segoe UI"/>
              </a:rPr>
              <a:t>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420624"/>
            <a:ext cx="50292" cy="173736"/>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384048"/>
            <a:ext cx="5571439" cy="237744"/>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20">
                <a:solidFill>
                  <a:srgbClr val="2563EB"/>
                </a:solidFill>
                <a:latin typeface="Segoe UI"/>
              </a:rPr>
              <a:t>FRONTEND DEVELOPMENT &amp; USER EXPERIENCE</a:t>
            </a:r>
          </a:p>
        </p:txBody>
      </p:sp>
      <p:sp>
        <p:nvSpPr>
          <p:cNvPr id="5" name="TextBox 4"/>
          <p:cNvSpPr txBox="1"/>
          <p:nvPr/>
        </p:nvSpPr>
        <p:spPr>
          <a:xfrm>
            <a:off x="566928" y="658368"/>
            <a:ext cx="11057839" cy="420624"/>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0F172A"/>
                </a:solidFill>
                <a:latin typeface="Segoe UI Semibold"/>
              </a:rPr>
              <a:t>Responsive UI, reusable components</a:t>
            </a:r>
          </a:p>
        </p:txBody>
      </p:sp>
      <p:sp>
        <p:nvSpPr>
          <p:cNvPr id="6" name="TextBox 5"/>
          <p:cNvSpPr txBox="1"/>
          <p:nvPr/>
        </p:nvSpPr>
        <p:spPr>
          <a:xfrm>
            <a:off x="566928" y="1207008"/>
            <a:ext cx="10692079" cy="274320"/>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4748B"/>
                </a:solidFill>
                <a:latin typeface="Segoe UI"/>
              </a:rPr>
              <a:t>The frontend is the part of the product students and parents actually touch — so it is where most of our design effort went.</a:t>
            </a:r>
          </a:p>
        </p:txBody>
      </p:sp>
      <p:sp>
        <p:nvSpPr>
          <p:cNvPr id="7" name="Rounded Rectangle 6"/>
          <p:cNvSpPr/>
          <p:nvPr/>
        </p:nvSpPr>
        <p:spPr>
          <a:xfrm>
            <a:off x="6321247" y="365760"/>
            <a:ext cx="5303520" cy="246888"/>
          </a:xfrm>
          <a:prstGeom prst="roundRect">
            <a:avLst>
              <a:gd name="adj" fmla="val 50000"/>
            </a:avLst>
          </a:prstGeom>
          <a:solidFill>
            <a:srgbClr val="FFFFFF"/>
          </a:solidFill>
          <a:ln w="1016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lstStyle/>
          <a:p>
            <a:pPr algn="l"/>
            <a:r>
              <a:rPr sz="750" b="1" i="0" cap="all" spc="60">
                <a:solidFill>
                  <a:srgbClr val="64748B"/>
                </a:solidFill>
                <a:latin typeface="Segoe UI"/>
              </a:rPr>
              <a:t>PRESENTER  </a:t>
            </a:r>
            <a:r>
              <a:rPr sz="830" b="1" i="0">
                <a:solidFill>
                  <a:srgbClr val="0F172A"/>
                </a:solidFill>
                <a:latin typeface="Segoe UI"/>
              </a:rPr>
              <a:t>Hephzibah Uchechukwu</a:t>
            </a:r>
            <a:r>
              <a:rPr sz="790" b="1" i="0">
                <a:solidFill>
                  <a:srgbClr val="2563EB"/>
                </a:solidFill>
                <a:latin typeface="Segoe UI"/>
              </a:rPr>
              <a:t>  ·  Product · Frontend &amp; UI</a:t>
            </a:r>
          </a:p>
        </p:txBody>
      </p:sp>
      <p:sp>
        <p:nvSpPr>
          <p:cNvPr id="8" name="Rounded Rectangle 7"/>
          <p:cNvSpPr/>
          <p:nvPr/>
        </p:nvSpPr>
        <p:spPr>
          <a:xfrm>
            <a:off x="566928" y="1847088"/>
            <a:ext cx="2212848" cy="1207008"/>
          </a:xfrm>
          <a:prstGeom prst="roundRect">
            <a:avLst>
              <a:gd name="adj" fmla="val 7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566928" y="1847088"/>
            <a:ext cx="2212848" cy="4572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49808" y="1965960"/>
            <a:ext cx="1847088" cy="292608"/>
          </a:xfrm>
          <a:prstGeom prst="rect">
            <a:avLst/>
          </a:prstGeom>
          <a:noFill/>
        </p:spPr>
        <p:txBody>
          <a:bodyPr wrap="square" lIns="0" rIns="0" tIns="0" bIns="0" anchor="t">
            <a:spAutoFit/>
          </a:bodyPr>
          <a:lstStyle/>
          <a:p>
            <a:pPr algn="l">
              <a:lnSpc>
                <a:spcPct val="103000"/>
              </a:lnSpc>
              <a:spcBef>
                <a:spcPts val="0"/>
              </a:spcBef>
              <a:spcAft>
                <a:spcPts val="0"/>
              </a:spcAft>
            </a:pPr>
            <a:r>
              <a:rPr sz="1019" b="1" i="0">
                <a:solidFill>
                  <a:srgbClr val="0F172A"/>
                </a:solidFill>
                <a:latin typeface="Segoe UI Semibold"/>
              </a:rPr>
              <a:t>Next.js 16 · App Router</a:t>
            </a:r>
          </a:p>
        </p:txBody>
      </p:sp>
      <p:sp>
        <p:nvSpPr>
          <p:cNvPr id="11" name="TextBox 10"/>
          <p:cNvSpPr txBox="1"/>
          <p:nvPr/>
        </p:nvSpPr>
        <p:spPr>
          <a:xfrm>
            <a:off x="749808" y="2295144"/>
            <a:ext cx="1847088" cy="283464"/>
          </a:xfrm>
          <a:prstGeom prst="rect">
            <a:avLst/>
          </a:prstGeom>
          <a:noFill/>
        </p:spPr>
        <p:txBody>
          <a:bodyPr wrap="square" lIns="0" rIns="0" tIns="0" bIns="0" anchor="t">
            <a:spAutoFit/>
          </a:bodyPr>
          <a:lstStyle/>
          <a:p>
            <a:pPr algn="l">
              <a:lnSpc>
                <a:spcPct val="112000"/>
              </a:lnSpc>
              <a:spcBef>
                <a:spcPts val="0"/>
              </a:spcBef>
              <a:spcAft>
                <a:spcPts val="0"/>
              </a:spcAft>
            </a:pPr>
            <a:r>
              <a:rPr sz="819" b="1" i="0">
                <a:solidFill>
                  <a:srgbClr val="2563EB"/>
                </a:solidFill>
                <a:latin typeface="Segoe UI"/>
              </a:rPr>
              <a:t>File routes, server-rendered pages and API handlers.</a:t>
            </a:r>
          </a:p>
        </p:txBody>
      </p:sp>
      <p:sp>
        <p:nvSpPr>
          <p:cNvPr id="12" name="TextBox 11"/>
          <p:cNvSpPr txBox="1"/>
          <p:nvPr/>
        </p:nvSpPr>
        <p:spPr>
          <a:xfrm>
            <a:off x="749808" y="2596896"/>
            <a:ext cx="1847088" cy="393192"/>
          </a:xfrm>
          <a:prstGeom prst="rect">
            <a:avLst/>
          </a:prstGeom>
          <a:noFill/>
        </p:spPr>
        <p:txBody>
          <a:bodyPr wrap="square" lIns="0" rIns="0" tIns="0" bIns="0" anchor="t">
            <a:spAutoFit/>
          </a:bodyPr>
          <a:lstStyle/>
          <a:p>
            <a:pPr algn="l">
              <a:lnSpc>
                <a:spcPct val="110000"/>
              </a:lnSpc>
              <a:spcBef>
                <a:spcPts val="0"/>
              </a:spcBef>
              <a:spcAft>
                <a:spcPts val="0"/>
              </a:spcAft>
            </a:pPr>
            <a:r>
              <a:rPr sz="770" b="0" i="0">
                <a:solidFill>
                  <a:srgbClr val="475569"/>
                </a:solidFill>
                <a:latin typeface="Segoe UI"/>
              </a:rPr>
              <a:t>app/: 15 page routes plus /api handlers.</a:t>
            </a:r>
          </a:p>
        </p:txBody>
      </p:sp>
      <p:sp>
        <p:nvSpPr>
          <p:cNvPr id="13" name="Rounded Rectangle 12"/>
          <p:cNvSpPr/>
          <p:nvPr/>
        </p:nvSpPr>
        <p:spPr>
          <a:xfrm>
            <a:off x="2926080" y="1847088"/>
            <a:ext cx="2212848" cy="1207008"/>
          </a:xfrm>
          <a:prstGeom prst="roundRect">
            <a:avLst>
              <a:gd name="adj" fmla="val 7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2926080" y="1847088"/>
            <a:ext cx="2212848" cy="4572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108960" y="1965960"/>
            <a:ext cx="1847088" cy="292608"/>
          </a:xfrm>
          <a:prstGeom prst="rect">
            <a:avLst/>
          </a:prstGeom>
          <a:noFill/>
        </p:spPr>
        <p:txBody>
          <a:bodyPr wrap="square" lIns="0" rIns="0" tIns="0" bIns="0" anchor="t">
            <a:spAutoFit/>
          </a:bodyPr>
          <a:lstStyle/>
          <a:p>
            <a:pPr algn="l">
              <a:lnSpc>
                <a:spcPct val="103000"/>
              </a:lnSpc>
              <a:spcBef>
                <a:spcPts val="0"/>
              </a:spcBef>
              <a:spcAft>
                <a:spcPts val="0"/>
              </a:spcAft>
            </a:pPr>
            <a:r>
              <a:rPr sz="1019" b="1" i="0">
                <a:solidFill>
                  <a:srgbClr val="0F172A"/>
                </a:solidFill>
                <a:latin typeface="Segoe UI Semibold"/>
              </a:rPr>
              <a:t>React 19 · TypeScript 5</a:t>
            </a:r>
          </a:p>
        </p:txBody>
      </p:sp>
      <p:sp>
        <p:nvSpPr>
          <p:cNvPr id="16" name="TextBox 15"/>
          <p:cNvSpPr txBox="1"/>
          <p:nvPr/>
        </p:nvSpPr>
        <p:spPr>
          <a:xfrm>
            <a:off x="3108960" y="2295144"/>
            <a:ext cx="1847088" cy="283464"/>
          </a:xfrm>
          <a:prstGeom prst="rect">
            <a:avLst/>
          </a:prstGeom>
          <a:noFill/>
        </p:spPr>
        <p:txBody>
          <a:bodyPr wrap="square" lIns="0" rIns="0" tIns="0" bIns="0" anchor="t">
            <a:spAutoFit/>
          </a:bodyPr>
          <a:lstStyle/>
          <a:p>
            <a:pPr algn="l">
              <a:lnSpc>
                <a:spcPct val="112000"/>
              </a:lnSpc>
              <a:spcBef>
                <a:spcPts val="0"/>
              </a:spcBef>
              <a:spcAft>
                <a:spcPts val="0"/>
              </a:spcAft>
            </a:pPr>
            <a:r>
              <a:rPr sz="819" b="1" i="0">
                <a:solidFill>
                  <a:srgbClr val="2563EB"/>
                </a:solidFill>
                <a:latin typeface="Segoe UI"/>
              </a:rPr>
              <a:t>Component UI with strict static type-checking.</a:t>
            </a:r>
          </a:p>
        </p:txBody>
      </p:sp>
      <p:sp>
        <p:nvSpPr>
          <p:cNvPr id="17" name="TextBox 16"/>
          <p:cNvSpPr txBox="1"/>
          <p:nvPr/>
        </p:nvSpPr>
        <p:spPr>
          <a:xfrm>
            <a:off x="3108960" y="2596896"/>
            <a:ext cx="1847088" cy="393192"/>
          </a:xfrm>
          <a:prstGeom prst="rect">
            <a:avLst/>
          </a:prstGeom>
          <a:noFill/>
        </p:spPr>
        <p:txBody>
          <a:bodyPr wrap="square" lIns="0" rIns="0" tIns="0" bIns="0" anchor="t">
            <a:spAutoFit/>
          </a:bodyPr>
          <a:lstStyle/>
          <a:p>
            <a:pPr algn="l">
              <a:lnSpc>
                <a:spcPct val="110000"/>
              </a:lnSpc>
              <a:spcBef>
                <a:spcPts val="0"/>
              </a:spcBef>
              <a:spcAft>
                <a:spcPts val="0"/>
              </a:spcAft>
            </a:pPr>
            <a:r>
              <a:rPr sz="770" b="0" i="0">
                <a:solidFill>
                  <a:srgbClr val="475569"/>
                </a:solidFill>
                <a:latin typeface="Segoe UI"/>
              </a:rPr>
              <a:t>21 shared components; domain types in lib/types.ts.</a:t>
            </a:r>
          </a:p>
        </p:txBody>
      </p:sp>
      <p:sp>
        <p:nvSpPr>
          <p:cNvPr id="18" name="Rounded Rectangle 17"/>
          <p:cNvSpPr/>
          <p:nvPr/>
        </p:nvSpPr>
        <p:spPr>
          <a:xfrm>
            <a:off x="5285232" y="1847088"/>
            <a:ext cx="2212848" cy="1207008"/>
          </a:xfrm>
          <a:prstGeom prst="roundRect">
            <a:avLst>
              <a:gd name="adj" fmla="val 7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5285232" y="1847088"/>
            <a:ext cx="2212848" cy="45720"/>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468112" y="1965960"/>
            <a:ext cx="1847088" cy="292608"/>
          </a:xfrm>
          <a:prstGeom prst="rect">
            <a:avLst/>
          </a:prstGeom>
          <a:noFill/>
        </p:spPr>
        <p:txBody>
          <a:bodyPr wrap="square" lIns="0" rIns="0" tIns="0" bIns="0" anchor="t">
            <a:spAutoFit/>
          </a:bodyPr>
          <a:lstStyle/>
          <a:p>
            <a:pPr algn="l">
              <a:lnSpc>
                <a:spcPct val="103000"/>
              </a:lnSpc>
              <a:spcBef>
                <a:spcPts val="0"/>
              </a:spcBef>
              <a:spcAft>
                <a:spcPts val="0"/>
              </a:spcAft>
            </a:pPr>
            <a:r>
              <a:rPr sz="1019" b="1" i="0">
                <a:solidFill>
                  <a:srgbClr val="0F172A"/>
                </a:solidFill>
                <a:latin typeface="Segoe UI Semibold"/>
              </a:rPr>
              <a:t>Tailwind CSS 4</a:t>
            </a:r>
          </a:p>
        </p:txBody>
      </p:sp>
      <p:sp>
        <p:nvSpPr>
          <p:cNvPr id="21" name="TextBox 20"/>
          <p:cNvSpPr txBox="1"/>
          <p:nvPr/>
        </p:nvSpPr>
        <p:spPr>
          <a:xfrm>
            <a:off x="5468112" y="2295144"/>
            <a:ext cx="1847088" cy="283464"/>
          </a:xfrm>
          <a:prstGeom prst="rect">
            <a:avLst/>
          </a:prstGeom>
          <a:noFill/>
        </p:spPr>
        <p:txBody>
          <a:bodyPr wrap="square" lIns="0" rIns="0" tIns="0" bIns="0" anchor="t">
            <a:spAutoFit/>
          </a:bodyPr>
          <a:lstStyle/>
          <a:p>
            <a:pPr algn="l">
              <a:lnSpc>
                <a:spcPct val="112000"/>
              </a:lnSpc>
              <a:spcBef>
                <a:spcPts val="0"/>
              </a:spcBef>
              <a:spcAft>
                <a:spcPts val="0"/>
              </a:spcAft>
            </a:pPr>
            <a:r>
              <a:rPr sz="819" b="1" i="0">
                <a:solidFill>
                  <a:srgbClr val="2563EB"/>
                </a:solidFill>
                <a:latin typeface="Segoe UI"/>
              </a:rPr>
              <a:t>Utility CSS with brand tokens and responsive breakpoints.</a:t>
            </a:r>
          </a:p>
        </p:txBody>
      </p:sp>
      <p:sp>
        <p:nvSpPr>
          <p:cNvPr id="22" name="TextBox 21"/>
          <p:cNvSpPr txBox="1"/>
          <p:nvPr/>
        </p:nvSpPr>
        <p:spPr>
          <a:xfrm>
            <a:off x="5468112" y="2596896"/>
            <a:ext cx="1847088" cy="393192"/>
          </a:xfrm>
          <a:prstGeom prst="rect">
            <a:avLst/>
          </a:prstGeom>
          <a:noFill/>
        </p:spPr>
        <p:txBody>
          <a:bodyPr wrap="square" lIns="0" rIns="0" tIns="0" bIns="0" anchor="t">
            <a:spAutoFit/>
          </a:bodyPr>
          <a:lstStyle/>
          <a:p>
            <a:pPr algn="l">
              <a:lnSpc>
                <a:spcPct val="110000"/>
              </a:lnSpc>
              <a:spcBef>
                <a:spcPts val="0"/>
              </a:spcBef>
              <a:spcAft>
                <a:spcPts val="0"/>
              </a:spcAft>
            </a:pPr>
            <a:r>
              <a:rPr sz="770" b="0" i="0">
                <a:solidFill>
                  <a:srgbClr val="475569"/>
                </a:solidFill>
                <a:latin typeface="Segoe UI"/>
              </a:rPr>
              <a:t>tailwind.config.js: palette, shadows and keyframes.</a:t>
            </a:r>
          </a:p>
        </p:txBody>
      </p:sp>
      <p:sp>
        <p:nvSpPr>
          <p:cNvPr id="23" name="Rounded Rectangle 22"/>
          <p:cNvSpPr/>
          <p:nvPr/>
        </p:nvSpPr>
        <p:spPr>
          <a:xfrm>
            <a:off x="566928" y="3163824"/>
            <a:ext cx="2212848" cy="1207008"/>
          </a:xfrm>
          <a:prstGeom prst="roundRect">
            <a:avLst>
              <a:gd name="adj" fmla="val 7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566928" y="3163824"/>
            <a:ext cx="2212848" cy="45720"/>
          </a:xfrm>
          <a:prstGeom prst="roundRect">
            <a:avLst>
              <a:gd name="adj" fmla="val 8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49808" y="3282696"/>
            <a:ext cx="1847088" cy="292608"/>
          </a:xfrm>
          <a:prstGeom prst="rect">
            <a:avLst/>
          </a:prstGeom>
          <a:noFill/>
        </p:spPr>
        <p:txBody>
          <a:bodyPr wrap="square" lIns="0" rIns="0" tIns="0" bIns="0" anchor="t">
            <a:spAutoFit/>
          </a:bodyPr>
          <a:lstStyle/>
          <a:p>
            <a:pPr algn="l">
              <a:lnSpc>
                <a:spcPct val="103000"/>
              </a:lnSpc>
              <a:spcBef>
                <a:spcPts val="0"/>
              </a:spcBef>
              <a:spcAft>
                <a:spcPts val="0"/>
              </a:spcAft>
            </a:pPr>
            <a:r>
              <a:rPr sz="1019" b="1" i="0">
                <a:solidFill>
                  <a:srgbClr val="0F172A"/>
                </a:solidFill>
                <a:latin typeface="Segoe UI Semibold"/>
              </a:rPr>
              <a:t>Framer Motion 14</a:t>
            </a:r>
          </a:p>
        </p:txBody>
      </p:sp>
      <p:sp>
        <p:nvSpPr>
          <p:cNvPr id="26" name="TextBox 25"/>
          <p:cNvSpPr txBox="1"/>
          <p:nvPr/>
        </p:nvSpPr>
        <p:spPr>
          <a:xfrm>
            <a:off x="749808" y="3611880"/>
            <a:ext cx="1847088" cy="283464"/>
          </a:xfrm>
          <a:prstGeom prst="rect">
            <a:avLst/>
          </a:prstGeom>
          <a:noFill/>
        </p:spPr>
        <p:txBody>
          <a:bodyPr wrap="square" lIns="0" rIns="0" tIns="0" bIns="0" anchor="t">
            <a:spAutoFit/>
          </a:bodyPr>
          <a:lstStyle/>
          <a:p>
            <a:pPr algn="l">
              <a:lnSpc>
                <a:spcPct val="112000"/>
              </a:lnSpc>
              <a:spcBef>
                <a:spcPts val="0"/>
              </a:spcBef>
              <a:spcAft>
                <a:spcPts val="0"/>
              </a:spcAft>
            </a:pPr>
            <a:r>
              <a:rPr sz="819" b="1" i="0">
                <a:solidFill>
                  <a:srgbClr val="2563EB"/>
                </a:solidFill>
                <a:latin typeface="Segoe UI"/>
              </a:rPr>
              <a:t>Declarative transitions for animated interface states.</a:t>
            </a:r>
          </a:p>
        </p:txBody>
      </p:sp>
      <p:sp>
        <p:nvSpPr>
          <p:cNvPr id="27" name="TextBox 26"/>
          <p:cNvSpPr txBox="1"/>
          <p:nvPr/>
        </p:nvSpPr>
        <p:spPr>
          <a:xfrm>
            <a:off x="749808" y="3913632"/>
            <a:ext cx="1847088" cy="393192"/>
          </a:xfrm>
          <a:prstGeom prst="rect">
            <a:avLst/>
          </a:prstGeom>
          <a:noFill/>
        </p:spPr>
        <p:txBody>
          <a:bodyPr wrap="square" lIns="0" rIns="0" tIns="0" bIns="0" anchor="t">
            <a:spAutoFit/>
          </a:bodyPr>
          <a:lstStyle/>
          <a:p>
            <a:pPr algn="l">
              <a:lnSpc>
                <a:spcPct val="110000"/>
              </a:lnSpc>
              <a:spcBef>
                <a:spcPts val="0"/>
              </a:spcBef>
              <a:spcAft>
                <a:spcPts val="0"/>
              </a:spcAft>
            </a:pPr>
            <a:r>
              <a:rPr sz="770" b="0" i="0">
                <a:solidFill>
                  <a:srgbClr val="475569"/>
                </a:solidFill>
                <a:latin typeface="Segoe UI"/>
              </a:rPr>
              <a:t>HeroSlider, BookingModal and tutor-grid transitions.</a:t>
            </a:r>
          </a:p>
        </p:txBody>
      </p:sp>
      <p:sp>
        <p:nvSpPr>
          <p:cNvPr id="28" name="Rounded Rectangle 27"/>
          <p:cNvSpPr/>
          <p:nvPr/>
        </p:nvSpPr>
        <p:spPr>
          <a:xfrm>
            <a:off x="2926080" y="3163824"/>
            <a:ext cx="2212848" cy="1207008"/>
          </a:xfrm>
          <a:prstGeom prst="roundRect">
            <a:avLst>
              <a:gd name="adj" fmla="val 7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2926080" y="3163824"/>
            <a:ext cx="2212848" cy="45720"/>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108960" y="3282696"/>
            <a:ext cx="1847088" cy="292608"/>
          </a:xfrm>
          <a:prstGeom prst="rect">
            <a:avLst/>
          </a:prstGeom>
          <a:noFill/>
        </p:spPr>
        <p:txBody>
          <a:bodyPr wrap="square" lIns="0" rIns="0" tIns="0" bIns="0" anchor="t">
            <a:spAutoFit/>
          </a:bodyPr>
          <a:lstStyle/>
          <a:p>
            <a:pPr algn="l">
              <a:lnSpc>
                <a:spcPct val="103000"/>
              </a:lnSpc>
              <a:spcBef>
                <a:spcPts val="0"/>
              </a:spcBef>
              <a:spcAft>
                <a:spcPts val="0"/>
              </a:spcAft>
            </a:pPr>
            <a:r>
              <a:rPr sz="1019" b="1" i="0">
                <a:solidFill>
                  <a:srgbClr val="0F172A"/>
                </a:solidFill>
                <a:latin typeface="Segoe UI Semibold"/>
              </a:rPr>
              <a:t>lucide-react</a:t>
            </a:r>
          </a:p>
        </p:txBody>
      </p:sp>
      <p:sp>
        <p:nvSpPr>
          <p:cNvPr id="31" name="TextBox 30"/>
          <p:cNvSpPr txBox="1"/>
          <p:nvPr/>
        </p:nvSpPr>
        <p:spPr>
          <a:xfrm>
            <a:off x="3108960" y="3611880"/>
            <a:ext cx="1847088" cy="283464"/>
          </a:xfrm>
          <a:prstGeom prst="rect">
            <a:avLst/>
          </a:prstGeom>
          <a:noFill/>
        </p:spPr>
        <p:txBody>
          <a:bodyPr wrap="square" lIns="0" rIns="0" tIns="0" bIns="0" anchor="t">
            <a:spAutoFit/>
          </a:bodyPr>
          <a:lstStyle/>
          <a:p>
            <a:pPr algn="l">
              <a:lnSpc>
                <a:spcPct val="112000"/>
              </a:lnSpc>
              <a:spcBef>
                <a:spcPts val="0"/>
              </a:spcBef>
              <a:spcAft>
                <a:spcPts val="0"/>
              </a:spcAft>
            </a:pPr>
            <a:r>
              <a:rPr sz="819" b="1" i="0">
                <a:solidFill>
                  <a:srgbClr val="2563EB"/>
                </a:solidFill>
                <a:latin typeface="Segoe UI"/>
              </a:rPr>
              <a:t>A tree-shakeable SVG icon set, styled with Tailwind.</a:t>
            </a:r>
          </a:p>
        </p:txBody>
      </p:sp>
      <p:sp>
        <p:nvSpPr>
          <p:cNvPr id="32" name="TextBox 31"/>
          <p:cNvSpPr txBox="1"/>
          <p:nvPr/>
        </p:nvSpPr>
        <p:spPr>
          <a:xfrm>
            <a:off x="3108960" y="3913632"/>
            <a:ext cx="1847088" cy="393192"/>
          </a:xfrm>
          <a:prstGeom prst="rect">
            <a:avLst/>
          </a:prstGeom>
          <a:noFill/>
        </p:spPr>
        <p:txBody>
          <a:bodyPr wrap="square" lIns="0" rIns="0" tIns="0" bIns="0" anchor="t">
            <a:spAutoFit/>
          </a:bodyPr>
          <a:lstStyle/>
          <a:p>
            <a:pPr algn="l">
              <a:lnSpc>
                <a:spcPct val="110000"/>
              </a:lnSpc>
              <a:spcBef>
                <a:spcPts val="0"/>
              </a:spcBef>
              <a:spcAft>
                <a:spcPts val="0"/>
              </a:spcAft>
            </a:pPr>
            <a:r>
              <a:rPr sz="770" b="0" i="0">
                <a:solidFill>
                  <a:srgbClr val="475569"/>
                </a:solidFill>
                <a:latin typeface="Segoe UI"/>
              </a:rPr>
              <a:t>Navbar, verified badges, search, budget and status icons.</a:t>
            </a:r>
          </a:p>
        </p:txBody>
      </p:sp>
      <p:sp>
        <p:nvSpPr>
          <p:cNvPr id="33" name="Rounded Rectangle 32"/>
          <p:cNvSpPr/>
          <p:nvPr/>
        </p:nvSpPr>
        <p:spPr>
          <a:xfrm>
            <a:off x="5285232" y="3163824"/>
            <a:ext cx="2212848" cy="1207008"/>
          </a:xfrm>
          <a:prstGeom prst="roundRect">
            <a:avLst>
              <a:gd name="adj" fmla="val 7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5285232" y="3163824"/>
            <a:ext cx="2212848" cy="4572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468112" y="3282696"/>
            <a:ext cx="1847088" cy="292608"/>
          </a:xfrm>
          <a:prstGeom prst="rect">
            <a:avLst/>
          </a:prstGeom>
          <a:noFill/>
        </p:spPr>
        <p:txBody>
          <a:bodyPr wrap="square" lIns="0" rIns="0" tIns="0" bIns="0" anchor="t">
            <a:spAutoFit/>
          </a:bodyPr>
          <a:lstStyle/>
          <a:p>
            <a:pPr algn="l">
              <a:lnSpc>
                <a:spcPct val="103000"/>
              </a:lnSpc>
              <a:spcBef>
                <a:spcPts val="0"/>
              </a:spcBef>
              <a:spcAft>
                <a:spcPts val="0"/>
              </a:spcAft>
            </a:pPr>
            <a:r>
              <a:rPr sz="1019" b="1" i="0">
                <a:solidFill>
                  <a:srgbClr val="0F172A"/>
                </a:solidFill>
                <a:latin typeface="Segoe UI Semibold"/>
              </a:rPr>
              <a:t>next/font + design tokens</a:t>
            </a:r>
          </a:p>
        </p:txBody>
      </p:sp>
      <p:sp>
        <p:nvSpPr>
          <p:cNvPr id="36" name="TextBox 35"/>
          <p:cNvSpPr txBox="1"/>
          <p:nvPr/>
        </p:nvSpPr>
        <p:spPr>
          <a:xfrm>
            <a:off x="5468112" y="3611880"/>
            <a:ext cx="1847088" cy="283464"/>
          </a:xfrm>
          <a:prstGeom prst="rect">
            <a:avLst/>
          </a:prstGeom>
          <a:noFill/>
        </p:spPr>
        <p:txBody>
          <a:bodyPr wrap="square" lIns="0" rIns="0" tIns="0" bIns="0" anchor="t">
            <a:spAutoFit/>
          </a:bodyPr>
          <a:lstStyle/>
          <a:p>
            <a:pPr algn="l">
              <a:lnSpc>
                <a:spcPct val="112000"/>
              </a:lnSpc>
              <a:spcBef>
                <a:spcPts val="0"/>
              </a:spcBef>
              <a:spcAft>
                <a:spcPts val="0"/>
              </a:spcAft>
            </a:pPr>
            <a:r>
              <a:rPr sz="819" b="1" i="0">
                <a:solidFill>
                  <a:srgbClr val="2563EB"/>
                </a:solidFill>
                <a:latin typeface="Segoe UI"/>
              </a:rPr>
              <a:t>Self-hosted fonts, loaded without layout shift.</a:t>
            </a:r>
          </a:p>
        </p:txBody>
      </p:sp>
      <p:sp>
        <p:nvSpPr>
          <p:cNvPr id="37" name="TextBox 36"/>
          <p:cNvSpPr txBox="1"/>
          <p:nvPr/>
        </p:nvSpPr>
        <p:spPr>
          <a:xfrm>
            <a:off x="5468112" y="3913632"/>
            <a:ext cx="1847088" cy="393192"/>
          </a:xfrm>
          <a:prstGeom prst="rect">
            <a:avLst/>
          </a:prstGeom>
          <a:noFill/>
        </p:spPr>
        <p:txBody>
          <a:bodyPr wrap="square" lIns="0" rIns="0" tIns="0" bIns="0" anchor="t">
            <a:spAutoFit/>
          </a:bodyPr>
          <a:lstStyle/>
          <a:p>
            <a:pPr algn="l">
              <a:lnSpc>
                <a:spcPct val="110000"/>
              </a:lnSpc>
              <a:spcBef>
                <a:spcPts val="0"/>
              </a:spcBef>
              <a:spcAft>
                <a:spcPts val="0"/>
              </a:spcAft>
            </a:pPr>
            <a:r>
              <a:rPr sz="770" b="0" i="0">
                <a:solidFill>
                  <a:srgbClr val="475569"/>
                </a:solidFill>
                <a:latin typeface="Segoe UI"/>
              </a:rPr>
              <a:t>app/layout.tsx: Inter body + Plus Jakarta Sans headings.</a:t>
            </a:r>
          </a:p>
        </p:txBody>
      </p:sp>
      <p:sp>
        <p:nvSpPr>
          <p:cNvPr id="38" name="Rounded Rectangle 37"/>
          <p:cNvSpPr/>
          <p:nvPr/>
        </p:nvSpPr>
        <p:spPr>
          <a:xfrm>
            <a:off x="7699248" y="1847088"/>
            <a:ext cx="3925519" cy="1207008"/>
          </a:xfrm>
          <a:prstGeom prst="roundRect">
            <a:avLst>
              <a:gd name="adj" fmla="val 7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900416" y="1993392"/>
            <a:ext cx="3523183" cy="274320"/>
          </a:xfrm>
          <a:prstGeom prst="rect">
            <a:avLst/>
          </a:prstGeom>
          <a:noFill/>
        </p:spPr>
        <p:txBody>
          <a:bodyPr wrap="square" lIns="0" rIns="0" tIns="0" bIns="0" anchor="t">
            <a:spAutoFit/>
          </a:bodyPr>
          <a:lstStyle/>
          <a:p>
            <a:pPr algn="l">
              <a:lnSpc>
                <a:spcPct val="118000"/>
              </a:lnSpc>
              <a:spcBef>
                <a:spcPts val="0"/>
              </a:spcBef>
              <a:spcAft>
                <a:spcPts val="0"/>
              </a:spcAft>
            </a:pPr>
            <a:r>
              <a:rPr sz="1000" b="1" i="0" cap="all" spc="110">
                <a:solidFill>
                  <a:srgbClr val="10B981"/>
                </a:solidFill>
                <a:latin typeface="Segoe UI"/>
              </a:rPr>
              <a:t>FRONTEND → BACKEND</a:t>
            </a:r>
          </a:p>
        </p:txBody>
      </p:sp>
      <p:sp>
        <p:nvSpPr>
          <p:cNvPr id="40" name="TextBox 39"/>
          <p:cNvSpPr txBox="1"/>
          <p:nvPr/>
        </p:nvSpPr>
        <p:spPr>
          <a:xfrm>
            <a:off x="7900416" y="2286000"/>
            <a:ext cx="3523183" cy="713232"/>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CBD5E1"/>
                </a:solidFill>
                <a:latin typeface="Segoe UI"/>
              </a:rPr>
              <a:t>Client components call the API with fetch() and send the JWT as an Authorization: Bearer header from localStorage. Responses are parsed into React state; loading, empty and error states are handled in the component itself.</a:t>
            </a:r>
          </a:p>
        </p:txBody>
      </p:sp>
      <p:sp>
        <p:nvSpPr>
          <p:cNvPr id="41" name="Rounded Rectangle 40"/>
          <p:cNvSpPr/>
          <p:nvPr/>
        </p:nvSpPr>
        <p:spPr>
          <a:xfrm>
            <a:off x="7699248" y="3163824"/>
            <a:ext cx="3925519" cy="1207008"/>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900416" y="3310128"/>
            <a:ext cx="3523183" cy="256032"/>
          </a:xfrm>
          <a:prstGeom prst="rect">
            <a:avLst/>
          </a:prstGeom>
          <a:noFill/>
        </p:spPr>
        <p:txBody>
          <a:bodyPr wrap="square" lIns="0" rIns="0" tIns="0" bIns="0" anchor="t">
            <a:spAutoFit/>
          </a:bodyPr>
          <a:lstStyle/>
          <a:p>
            <a:pPr algn="l">
              <a:lnSpc>
                <a:spcPct val="118000"/>
              </a:lnSpc>
              <a:spcBef>
                <a:spcPts val="0"/>
              </a:spcBef>
              <a:spcAft>
                <a:spcPts val="0"/>
              </a:spcAft>
            </a:pPr>
            <a:r>
              <a:rPr sz="1150" b="1" i="0">
                <a:solidFill>
                  <a:srgbClr val="0F172A"/>
                </a:solidFill>
                <a:latin typeface="Segoe UI Semibold"/>
              </a:rPr>
              <a:t>Responsive by default</a:t>
            </a:r>
          </a:p>
        </p:txBody>
      </p:sp>
      <p:sp>
        <p:nvSpPr>
          <p:cNvPr id="43" name="TextBox 42"/>
          <p:cNvSpPr txBox="1"/>
          <p:nvPr/>
        </p:nvSpPr>
        <p:spPr>
          <a:xfrm>
            <a:off x="7900416" y="3584448"/>
            <a:ext cx="3523183" cy="731520"/>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75569"/>
                </a:solidFill>
                <a:latin typeface="Segoe UI"/>
              </a:rPr>
              <a:t>Tailwind breakpoints drive a sticky, blurred navbar, a slide-in mobile filter drawer, a 1→2→4 column homepage grid, a 1→2→3 column directory and bottom-sheet booking modals on small screens.</a:t>
            </a:r>
          </a:p>
        </p:txBody>
      </p:sp>
      <p:sp>
        <p:nvSpPr>
          <p:cNvPr id="44" name="Rounded Rectangle 43"/>
          <p:cNvSpPr/>
          <p:nvPr/>
        </p:nvSpPr>
        <p:spPr>
          <a:xfrm>
            <a:off x="566928" y="4567428"/>
            <a:ext cx="41148" cy="146304"/>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94944" y="4535424"/>
            <a:ext cx="10929823" cy="219456"/>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00">
                <a:solidFill>
                  <a:srgbClr val="1E3A8A"/>
                </a:solidFill>
                <a:latin typeface="Segoe UI"/>
              </a:rPr>
              <a:t>PRODUCT UI ILLUSTRATION — REFLECTS SHIPPED COMPONENTS, NOT A LIVE SCREENSHOT</a:t>
            </a:r>
          </a:p>
        </p:txBody>
      </p:sp>
      <p:sp>
        <p:nvSpPr>
          <p:cNvPr id="46" name="Rounded Rectangle 45"/>
          <p:cNvSpPr/>
          <p:nvPr/>
        </p:nvSpPr>
        <p:spPr>
          <a:xfrm>
            <a:off x="566928" y="4809744"/>
            <a:ext cx="11057839" cy="1261872"/>
          </a:xfrm>
          <a:prstGeom prst="roundRect">
            <a:avLst>
              <a:gd name="adj" fmla="val 6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566928" y="4809744"/>
            <a:ext cx="11057839" cy="219456"/>
          </a:xfrm>
          <a:prstGeom prst="roundRect">
            <a:avLst>
              <a:gd name="adj" fmla="val 6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694944" y="4850892"/>
            <a:ext cx="137160" cy="13716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700" b="1" i="0">
                <a:solidFill>
                  <a:srgbClr val="FFFFFF"/>
                </a:solidFill>
                <a:latin typeface="Segoe UI"/>
              </a:rPr>
              <a:t>✦</a:t>
            </a:r>
          </a:p>
        </p:txBody>
      </p:sp>
      <p:sp>
        <p:nvSpPr>
          <p:cNvPr id="49" name="TextBox 48"/>
          <p:cNvSpPr txBox="1"/>
          <p:nvPr/>
        </p:nvSpPr>
        <p:spPr>
          <a:xfrm>
            <a:off x="886968" y="4850892"/>
            <a:ext cx="1508760" cy="146304"/>
          </a:xfrm>
          <a:prstGeom prst="rect">
            <a:avLst/>
          </a:prstGeom>
          <a:noFill/>
        </p:spPr>
        <p:txBody>
          <a:bodyPr wrap="square" lIns="0" rIns="0" tIns="0" bIns="0" anchor="t">
            <a:spAutoFit/>
          </a:bodyPr>
          <a:lstStyle/>
          <a:p>
            <a:pPr algn="l">
              <a:lnSpc>
                <a:spcPct val="118000"/>
              </a:lnSpc>
              <a:spcBef>
                <a:spcPts val="0"/>
              </a:spcBef>
              <a:spcAft>
                <a:spcPts val="0"/>
              </a:spcAft>
            </a:pPr>
            <a:r>
              <a:rPr sz="800" b="1" i="0">
                <a:solidFill>
                  <a:srgbClr val="FFFFFF"/>
                </a:solidFill>
                <a:latin typeface="Segoe UI"/>
              </a:rPr>
              <a:t>TutorConnect NG</a:t>
            </a:r>
          </a:p>
        </p:txBody>
      </p:sp>
      <p:sp>
        <p:nvSpPr>
          <p:cNvPr id="50" name="TextBox 49"/>
          <p:cNvSpPr txBox="1"/>
          <p:nvPr/>
        </p:nvSpPr>
        <p:spPr>
          <a:xfrm>
            <a:off x="2487168" y="4850892"/>
            <a:ext cx="2194560" cy="146304"/>
          </a:xfrm>
          <a:prstGeom prst="rect">
            <a:avLst/>
          </a:prstGeom>
          <a:noFill/>
        </p:spPr>
        <p:txBody>
          <a:bodyPr wrap="square" lIns="0" rIns="0" tIns="0" bIns="0" anchor="t">
            <a:spAutoFit/>
          </a:bodyPr>
          <a:lstStyle/>
          <a:p>
            <a:pPr algn="l">
              <a:lnSpc>
                <a:spcPct val="118000"/>
              </a:lnSpc>
              <a:spcBef>
                <a:spcPts val="0"/>
              </a:spcBef>
              <a:spcAft>
                <a:spcPts val="0"/>
              </a:spcAft>
            </a:pPr>
            <a:r>
              <a:rPr sz="750" b="0" i="0">
                <a:solidFill>
                  <a:srgbClr val="D8E4FF"/>
                </a:solidFill>
                <a:latin typeface="Segoe UI"/>
              </a:rPr>
              <a:t>Tutors   Parents &amp; Students</a:t>
            </a:r>
          </a:p>
        </p:txBody>
      </p:sp>
      <p:sp>
        <p:nvSpPr>
          <p:cNvPr id="51" name="Rounded Rectangle 50"/>
          <p:cNvSpPr/>
          <p:nvPr/>
        </p:nvSpPr>
        <p:spPr>
          <a:xfrm>
            <a:off x="9539935" y="4846320"/>
            <a:ext cx="804672" cy="14630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720" b="1" i="0">
                <a:solidFill>
                  <a:srgbClr val="1E3A8A"/>
                </a:solidFill>
                <a:latin typeface="Segoe UI"/>
              </a:rPr>
              <a:t>Log in</a:t>
            </a:r>
          </a:p>
        </p:txBody>
      </p:sp>
      <p:sp>
        <p:nvSpPr>
          <p:cNvPr id="52" name="Rounded Rectangle 51"/>
          <p:cNvSpPr/>
          <p:nvPr/>
        </p:nvSpPr>
        <p:spPr>
          <a:xfrm>
            <a:off x="10481767" y="4846320"/>
            <a:ext cx="987552" cy="146304"/>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720" b="1" i="0">
                <a:solidFill>
                  <a:srgbClr val="FFFFFF"/>
                </a:solidFill>
                <a:latin typeface="Segoe UI"/>
              </a:rPr>
              <a:t>Sign up</a:t>
            </a:r>
          </a:p>
        </p:txBody>
      </p:sp>
      <p:sp>
        <p:nvSpPr>
          <p:cNvPr id="53" name="Rounded Rectangle 52"/>
          <p:cNvSpPr/>
          <p:nvPr/>
        </p:nvSpPr>
        <p:spPr>
          <a:xfrm>
            <a:off x="694944" y="5120640"/>
            <a:ext cx="1417320" cy="832104"/>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786384" y="5193792"/>
            <a:ext cx="1234440" cy="146304"/>
          </a:xfrm>
          <a:prstGeom prst="rect">
            <a:avLst/>
          </a:prstGeom>
          <a:noFill/>
        </p:spPr>
        <p:txBody>
          <a:bodyPr wrap="square" lIns="0" rIns="0" tIns="0" bIns="0" anchor="t">
            <a:spAutoFit/>
          </a:bodyPr>
          <a:lstStyle/>
          <a:p>
            <a:pPr algn="l">
              <a:lnSpc>
                <a:spcPct val="118000"/>
              </a:lnSpc>
              <a:spcBef>
                <a:spcPts val="0"/>
              </a:spcBef>
              <a:spcAft>
                <a:spcPts val="0"/>
              </a:spcAft>
            </a:pPr>
            <a:r>
              <a:rPr sz="720" b="1" i="0" cap="all" spc="70">
                <a:solidFill>
                  <a:srgbClr val="1E3A8A"/>
                </a:solidFill>
                <a:latin typeface="Segoe UI"/>
              </a:rPr>
              <a:t>FILTERS</a:t>
            </a:r>
          </a:p>
        </p:txBody>
      </p:sp>
      <p:sp>
        <p:nvSpPr>
          <p:cNvPr id="55" name="TextBox 54"/>
          <p:cNvSpPr txBox="1"/>
          <p:nvPr/>
        </p:nvSpPr>
        <p:spPr>
          <a:xfrm>
            <a:off x="786384" y="5376672"/>
            <a:ext cx="1234440" cy="128016"/>
          </a:xfrm>
          <a:prstGeom prst="rect">
            <a:avLst/>
          </a:prstGeom>
          <a:noFill/>
        </p:spPr>
        <p:txBody>
          <a:bodyPr wrap="square" lIns="0" rIns="0" tIns="0" bIns="0" anchor="t">
            <a:spAutoFit/>
          </a:bodyPr>
          <a:lstStyle/>
          <a:p>
            <a:pPr algn="l">
              <a:lnSpc>
                <a:spcPct val="118000"/>
              </a:lnSpc>
              <a:spcBef>
                <a:spcPts val="0"/>
              </a:spcBef>
              <a:spcAft>
                <a:spcPts val="0"/>
              </a:spcAft>
            </a:pPr>
            <a:r>
              <a:rPr sz="650" b="0" i="0">
                <a:solidFill>
                  <a:srgbClr val="475569"/>
                </a:solidFill>
                <a:latin typeface="Segoe UI"/>
              </a:rPr>
              <a:t>Subject  ▾</a:t>
            </a:r>
          </a:p>
        </p:txBody>
      </p:sp>
      <p:sp>
        <p:nvSpPr>
          <p:cNvPr id="56" name="Rectangle 55"/>
          <p:cNvSpPr/>
          <p:nvPr/>
        </p:nvSpPr>
        <p:spPr>
          <a:xfrm>
            <a:off x="786384" y="5513831"/>
            <a:ext cx="1234440" cy="548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786384" y="5513832"/>
            <a:ext cx="1234440" cy="128016"/>
          </a:xfrm>
          <a:prstGeom prst="rect">
            <a:avLst/>
          </a:prstGeom>
          <a:noFill/>
        </p:spPr>
        <p:txBody>
          <a:bodyPr wrap="square" lIns="0" rIns="0" tIns="0" bIns="0" anchor="t">
            <a:spAutoFit/>
          </a:bodyPr>
          <a:lstStyle/>
          <a:p>
            <a:pPr algn="l">
              <a:lnSpc>
                <a:spcPct val="118000"/>
              </a:lnSpc>
              <a:spcBef>
                <a:spcPts val="0"/>
              </a:spcBef>
              <a:spcAft>
                <a:spcPts val="0"/>
              </a:spcAft>
            </a:pPr>
            <a:r>
              <a:rPr sz="650" b="0" i="0">
                <a:solidFill>
                  <a:srgbClr val="475569"/>
                </a:solidFill>
                <a:latin typeface="Segoe UI"/>
              </a:rPr>
              <a:t>State / location  ▾</a:t>
            </a:r>
          </a:p>
        </p:txBody>
      </p:sp>
      <p:sp>
        <p:nvSpPr>
          <p:cNvPr id="58" name="Rectangle 57"/>
          <p:cNvSpPr/>
          <p:nvPr/>
        </p:nvSpPr>
        <p:spPr>
          <a:xfrm>
            <a:off x="786384" y="5650992"/>
            <a:ext cx="1234440" cy="548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786384" y="5650992"/>
            <a:ext cx="1234440" cy="128016"/>
          </a:xfrm>
          <a:prstGeom prst="rect">
            <a:avLst/>
          </a:prstGeom>
          <a:noFill/>
        </p:spPr>
        <p:txBody>
          <a:bodyPr wrap="square" lIns="0" rIns="0" tIns="0" bIns="0" anchor="t">
            <a:spAutoFit/>
          </a:bodyPr>
          <a:lstStyle/>
          <a:p>
            <a:pPr algn="l">
              <a:lnSpc>
                <a:spcPct val="118000"/>
              </a:lnSpc>
              <a:spcBef>
                <a:spcPts val="0"/>
              </a:spcBef>
              <a:spcAft>
                <a:spcPts val="0"/>
              </a:spcAft>
            </a:pPr>
            <a:r>
              <a:rPr sz="650" b="0" i="0">
                <a:solidFill>
                  <a:srgbClr val="475569"/>
                </a:solidFill>
                <a:latin typeface="Segoe UI"/>
              </a:rPr>
              <a:t>Budget  ₦2k–₦25k</a:t>
            </a:r>
          </a:p>
        </p:txBody>
      </p:sp>
      <p:sp>
        <p:nvSpPr>
          <p:cNvPr id="60" name="Rectangle 59"/>
          <p:cNvSpPr/>
          <p:nvPr/>
        </p:nvSpPr>
        <p:spPr>
          <a:xfrm>
            <a:off x="786384" y="5788151"/>
            <a:ext cx="1234440" cy="548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786384" y="5788152"/>
            <a:ext cx="1234440" cy="128016"/>
          </a:xfrm>
          <a:prstGeom prst="rect">
            <a:avLst/>
          </a:prstGeom>
          <a:noFill/>
        </p:spPr>
        <p:txBody>
          <a:bodyPr wrap="square" lIns="0" rIns="0" tIns="0" bIns="0" anchor="t">
            <a:spAutoFit/>
          </a:bodyPr>
          <a:lstStyle/>
          <a:p>
            <a:pPr algn="l">
              <a:lnSpc>
                <a:spcPct val="118000"/>
              </a:lnSpc>
              <a:spcBef>
                <a:spcPts val="0"/>
              </a:spcBef>
              <a:spcAft>
                <a:spcPts val="0"/>
              </a:spcAft>
            </a:pPr>
            <a:r>
              <a:rPr sz="650" b="0" i="0">
                <a:solidFill>
                  <a:srgbClr val="475569"/>
                </a:solidFill>
                <a:latin typeface="Segoe UI"/>
              </a:rPr>
              <a:t>Availability  ▾</a:t>
            </a:r>
          </a:p>
        </p:txBody>
      </p:sp>
      <p:sp>
        <p:nvSpPr>
          <p:cNvPr id="62" name="Rectangle 61"/>
          <p:cNvSpPr/>
          <p:nvPr/>
        </p:nvSpPr>
        <p:spPr>
          <a:xfrm>
            <a:off x="786384" y="5925312"/>
            <a:ext cx="1234440" cy="548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ounded Rectangle 62"/>
          <p:cNvSpPr/>
          <p:nvPr/>
        </p:nvSpPr>
        <p:spPr>
          <a:xfrm>
            <a:off x="2276856" y="5120640"/>
            <a:ext cx="2987954" cy="832104"/>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4" name="Picture 63" descr="tutor-02.jpg"/>
          <p:cNvPicPr>
            <a:picLocks noChangeAspect="1"/>
          </p:cNvPicPr>
          <p:nvPr/>
        </p:nvPicPr>
        <p:blipFill>
          <a:blip r:embed="rId2"/>
          <a:srcRect l="12857" r="12857"/>
          <a:stretch>
            <a:fillRect/>
          </a:stretch>
        </p:blipFill>
        <p:spPr>
          <a:xfrm>
            <a:off x="2340864" y="5193792"/>
            <a:ext cx="475488" cy="640080"/>
          </a:xfrm>
          <a:prstGeom prst="rect">
            <a:avLst/>
          </a:prstGeom>
        </p:spPr>
      </p:pic>
      <p:sp>
        <p:nvSpPr>
          <p:cNvPr id="65" name="TextBox 64"/>
          <p:cNvSpPr txBox="1"/>
          <p:nvPr/>
        </p:nvSpPr>
        <p:spPr>
          <a:xfrm>
            <a:off x="2898648" y="5193792"/>
            <a:ext cx="2274722" cy="146304"/>
          </a:xfrm>
          <a:prstGeom prst="rect">
            <a:avLst/>
          </a:prstGeom>
          <a:noFill/>
        </p:spPr>
        <p:txBody>
          <a:bodyPr wrap="square" lIns="0" rIns="0" tIns="0" bIns="0" anchor="t">
            <a:spAutoFit/>
          </a:bodyPr>
          <a:lstStyle/>
          <a:p>
            <a:pPr algn="l">
              <a:lnSpc>
                <a:spcPct val="118000"/>
              </a:lnSpc>
              <a:spcBef>
                <a:spcPts val="0"/>
              </a:spcBef>
              <a:spcAft>
                <a:spcPts val="0"/>
              </a:spcAft>
            </a:pPr>
            <a:r>
              <a:rPr sz="700" b="1" i="0">
                <a:solidFill>
                  <a:srgbClr val="0F172A"/>
                </a:solidFill>
                <a:latin typeface="Segoe UI"/>
              </a:rPr>
              <a:t>Verified tutor</a:t>
            </a:r>
          </a:p>
        </p:txBody>
      </p:sp>
      <p:sp>
        <p:nvSpPr>
          <p:cNvPr id="66" name="TextBox 65"/>
          <p:cNvSpPr txBox="1"/>
          <p:nvPr/>
        </p:nvSpPr>
        <p:spPr>
          <a:xfrm>
            <a:off x="2898648" y="5349240"/>
            <a:ext cx="2274722" cy="128016"/>
          </a:xfrm>
          <a:prstGeom prst="rect">
            <a:avLst/>
          </a:prstGeom>
          <a:noFill/>
        </p:spPr>
        <p:txBody>
          <a:bodyPr wrap="square" lIns="0" rIns="0" tIns="0" bIns="0" anchor="t">
            <a:spAutoFit/>
          </a:bodyPr>
          <a:lstStyle/>
          <a:p>
            <a:pPr algn="l">
              <a:lnSpc>
                <a:spcPct val="118000"/>
              </a:lnSpc>
              <a:spcBef>
                <a:spcPts val="0"/>
              </a:spcBef>
              <a:spcAft>
                <a:spcPts val="0"/>
              </a:spcAft>
            </a:pPr>
            <a:r>
              <a:rPr sz="630" b="0" i="0">
                <a:solidFill>
                  <a:srgbClr val="64748B"/>
                </a:solidFill>
                <a:latin typeface="Segoe UI"/>
              </a:rPr>
              <a:t>Subject · curriculum</a:t>
            </a:r>
          </a:p>
        </p:txBody>
      </p:sp>
      <p:sp>
        <p:nvSpPr>
          <p:cNvPr id="67" name="Rounded Rectangle 66"/>
          <p:cNvSpPr/>
          <p:nvPr/>
        </p:nvSpPr>
        <p:spPr>
          <a:xfrm>
            <a:off x="2898648" y="5513831"/>
            <a:ext cx="713232" cy="155448"/>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640" b="1" i="0">
                <a:solidFill>
                  <a:srgbClr val="1E3A8A"/>
                </a:solidFill>
                <a:latin typeface="Segoe UI"/>
              </a:rPr>
              <a:t>₦ / hour</a:t>
            </a:r>
          </a:p>
        </p:txBody>
      </p:sp>
      <p:sp>
        <p:nvSpPr>
          <p:cNvPr id="68" name="TextBox 67"/>
          <p:cNvSpPr txBox="1"/>
          <p:nvPr/>
        </p:nvSpPr>
        <p:spPr>
          <a:xfrm>
            <a:off x="2898648" y="5715000"/>
            <a:ext cx="2274722" cy="118872"/>
          </a:xfrm>
          <a:prstGeom prst="rect">
            <a:avLst/>
          </a:prstGeom>
          <a:noFill/>
        </p:spPr>
        <p:txBody>
          <a:bodyPr wrap="square" lIns="0" rIns="0" tIns="0" bIns="0" anchor="t">
            <a:spAutoFit/>
          </a:bodyPr>
          <a:lstStyle/>
          <a:p>
            <a:pPr algn="l">
              <a:lnSpc>
                <a:spcPct val="118000"/>
              </a:lnSpc>
              <a:spcBef>
                <a:spcPts val="0"/>
              </a:spcBef>
              <a:spcAft>
                <a:spcPts val="0"/>
              </a:spcAft>
            </a:pPr>
            <a:r>
              <a:rPr sz="660" b="1" i="0">
                <a:solidFill>
                  <a:srgbClr val="059669"/>
                </a:solidFill>
                <a:latin typeface="Segoe UI"/>
              </a:rPr>
              <a:t>Profile   ·   Book</a:t>
            </a:r>
          </a:p>
        </p:txBody>
      </p:sp>
      <p:sp>
        <p:nvSpPr>
          <p:cNvPr id="69" name="Rounded Rectangle 68"/>
          <p:cNvSpPr/>
          <p:nvPr/>
        </p:nvSpPr>
        <p:spPr>
          <a:xfrm>
            <a:off x="5374538" y="5120640"/>
            <a:ext cx="2987954" cy="832104"/>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0" name="Picture 69" descr="tutor-05.jpg"/>
          <p:cNvPicPr>
            <a:picLocks noChangeAspect="1"/>
          </p:cNvPicPr>
          <p:nvPr/>
        </p:nvPicPr>
        <p:blipFill>
          <a:blip r:embed="rId3"/>
          <a:srcRect l="12857" r="12857"/>
          <a:stretch>
            <a:fillRect/>
          </a:stretch>
        </p:blipFill>
        <p:spPr>
          <a:xfrm>
            <a:off x="5438546" y="5193792"/>
            <a:ext cx="475488" cy="640080"/>
          </a:xfrm>
          <a:prstGeom prst="rect">
            <a:avLst/>
          </a:prstGeom>
        </p:spPr>
      </p:pic>
      <p:sp>
        <p:nvSpPr>
          <p:cNvPr id="71" name="TextBox 70"/>
          <p:cNvSpPr txBox="1"/>
          <p:nvPr/>
        </p:nvSpPr>
        <p:spPr>
          <a:xfrm>
            <a:off x="5996330" y="5193792"/>
            <a:ext cx="2274722" cy="146304"/>
          </a:xfrm>
          <a:prstGeom prst="rect">
            <a:avLst/>
          </a:prstGeom>
          <a:noFill/>
        </p:spPr>
        <p:txBody>
          <a:bodyPr wrap="square" lIns="0" rIns="0" tIns="0" bIns="0" anchor="t">
            <a:spAutoFit/>
          </a:bodyPr>
          <a:lstStyle/>
          <a:p>
            <a:pPr algn="l">
              <a:lnSpc>
                <a:spcPct val="118000"/>
              </a:lnSpc>
              <a:spcBef>
                <a:spcPts val="0"/>
              </a:spcBef>
              <a:spcAft>
                <a:spcPts val="0"/>
              </a:spcAft>
            </a:pPr>
            <a:r>
              <a:rPr sz="700" b="1" i="0">
                <a:solidFill>
                  <a:srgbClr val="0F172A"/>
                </a:solidFill>
                <a:latin typeface="Segoe UI"/>
              </a:rPr>
              <a:t>Verified tutor</a:t>
            </a:r>
          </a:p>
        </p:txBody>
      </p:sp>
      <p:sp>
        <p:nvSpPr>
          <p:cNvPr id="72" name="TextBox 71"/>
          <p:cNvSpPr txBox="1"/>
          <p:nvPr/>
        </p:nvSpPr>
        <p:spPr>
          <a:xfrm>
            <a:off x="5996330" y="5349240"/>
            <a:ext cx="2274722" cy="128016"/>
          </a:xfrm>
          <a:prstGeom prst="rect">
            <a:avLst/>
          </a:prstGeom>
          <a:noFill/>
        </p:spPr>
        <p:txBody>
          <a:bodyPr wrap="square" lIns="0" rIns="0" tIns="0" bIns="0" anchor="t">
            <a:spAutoFit/>
          </a:bodyPr>
          <a:lstStyle/>
          <a:p>
            <a:pPr algn="l">
              <a:lnSpc>
                <a:spcPct val="118000"/>
              </a:lnSpc>
              <a:spcBef>
                <a:spcPts val="0"/>
              </a:spcBef>
              <a:spcAft>
                <a:spcPts val="0"/>
              </a:spcAft>
            </a:pPr>
            <a:r>
              <a:rPr sz="630" b="0" i="0">
                <a:solidFill>
                  <a:srgbClr val="64748B"/>
                </a:solidFill>
                <a:latin typeface="Segoe UI"/>
              </a:rPr>
              <a:t>Subject · curriculum</a:t>
            </a:r>
          </a:p>
        </p:txBody>
      </p:sp>
      <p:sp>
        <p:nvSpPr>
          <p:cNvPr id="73" name="Rounded Rectangle 72"/>
          <p:cNvSpPr/>
          <p:nvPr/>
        </p:nvSpPr>
        <p:spPr>
          <a:xfrm>
            <a:off x="5996330" y="5513831"/>
            <a:ext cx="713232" cy="155448"/>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640" b="1" i="0">
                <a:solidFill>
                  <a:srgbClr val="1E3A8A"/>
                </a:solidFill>
                <a:latin typeface="Segoe UI"/>
              </a:rPr>
              <a:t>₦ / hour</a:t>
            </a:r>
          </a:p>
        </p:txBody>
      </p:sp>
      <p:sp>
        <p:nvSpPr>
          <p:cNvPr id="74" name="TextBox 73"/>
          <p:cNvSpPr txBox="1"/>
          <p:nvPr/>
        </p:nvSpPr>
        <p:spPr>
          <a:xfrm>
            <a:off x="5996330" y="5715000"/>
            <a:ext cx="2274722" cy="118872"/>
          </a:xfrm>
          <a:prstGeom prst="rect">
            <a:avLst/>
          </a:prstGeom>
          <a:noFill/>
        </p:spPr>
        <p:txBody>
          <a:bodyPr wrap="square" lIns="0" rIns="0" tIns="0" bIns="0" anchor="t">
            <a:spAutoFit/>
          </a:bodyPr>
          <a:lstStyle/>
          <a:p>
            <a:pPr algn="l">
              <a:lnSpc>
                <a:spcPct val="118000"/>
              </a:lnSpc>
              <a:spcBef>
                <a:spcPts val="0"/>
              </a:spcBef>
              <a:spcAft>
                <a:spcPts val="0"/>
              </a:spcAft>
            </a:pPr>
            <a:r>
              <a:rPr sz="660" b="1" i="0">
                <a:solidFill>
                  <a:srgbClr val="059669"/>
                </a:solidFill>
                <a:latin typeface="Segoe UI"/>
              </a:rPr>
              <a:t>Profile   ·   Book</a:t>
            </a:r>
          </a:p>
        </p:txBody>
      </p:sp>
      <p:sp>
        <p:nvSpPr>
          <p:cNvPr id="75" name="Rounded Rectangle 74"/>
          <p:cNvSpPr/>
          <p:nvPr/>
        </p:nvSpPr>
        <p:spPr>
          <a:xfrm>
            <a:off x="8472220" y="5120640"/>
            <a:ext cx="2987954" cy="832104"/>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6" name="Picture 75" descr="tutor-08.jpg"/>
          <p:cNvPicPr>
            <a:picLocks noChangeAspect="1"/>
          </p:cNvPicPr>
          <p:nvPr/>
        </p:nvPicPr>
        <p:blipFill>
          <a:blip r:embed="rId4"/>
          <a:srcRect l="12857" r="12857"/>
          <a:stretch>
            <a:fillRect/>
          </a:stretch>
        </p:blipFill>
        <p:spPr>
          <a:xfrm>
            <a:off x="8536228" y="5193792"/>
            <a:ext cx="475488" cy="640080"/>
          </a:xfrm>
          <a:prstGeom prst="rect">
            <a:avLst/>
          </a:prstGeom>
        </p:spPr>
      </p:pic>
      <p:sp>
        <p:nvSpPr>
          <p:cNvPr id="77" name="TextBox 76"/>
          <p:cNvSpPr txBox="1"/>
          <p:nvPr/>
        </p:nvSpPr>
        <p:spPr>
          <a:xfrm>
            <a:off x="9094012" y="5193792"/>
            <a:ext cx="2274722" cy="146304"/>
          </a:xfrm>
          <a:prstGeom prst="rect">
            <a:avLst/>
          </a:prstGeom>
          <a:noFill/>
        </p:spPr>
        <p:txBody>
          <a:bodyPr wrap="square" lIns="0" rIns="0" tIns="0" bIns="0" anchor="t">
            <a:spAutoFit/>
          </a:bodyPr>
          <a:lstStyle/>
          <a:p>
            <a:pPr algn="l">
              <a:lnSpc>
                <a:spcPct val="118000"/>
              </a:lnSpc>
              <a:spcBef>
                <a:spcPts val="0"/>
              </a:spcBef>
              <a:spcAft>
                <a:spcPts val="0"/>
              </a:spcAft>
            </a:pPr>
            <a:r>
              <a:rPr sz="700" b="1" i="0">
                <a:solidFill>
                  <a:srgbClr val="0F172A"/>
                </a:solidFill>
                <a:latin typeface="Segoe UI"/>
              </a:rPr>
              <a:t>Verified tutor</a:t>
            </a:r>
          </a:p>
        </p:txBody>
      </p:sp>
      <p:sp>
        <p:nvSpPr>
          <p:cNvPr id="78" name="TextBox 77"/>
          <p:cNvSpPr txBox="1"/>
          <p:nvPr/>
        </p:nvSpPr>
        <p:spPr>
          <a:xfrm>
            <a:off x="9094012" y="5349240"/>
            <a:ext cx="2274722" cy="128016"/>
          </a:xfrm>
          <a:prstGeom prst="rect">
            <a:avLst/>
          </a:prstGeom>
          <a:noFill/>
        </p:spPr>
        <p:txBody>
          <a:bodyPr wrap="square" lIns="0" rIns="0" tIns="0" bIns="0" anchor="t">
            <a:spAutoFit/>
          </a:bodyPr>
          <a:lstStyle/>
          <a:p>
            <a:pPr algn="l">
              <a:lnSpc>
                <a:spcPct val="118000"/>
              </a:lnSpc>
              <a:spcBef>
                <a:spcPts val="0"/>
              </a:spcBef>
              <a:spcAft>
                <a:spcPts val="0"/>
              </a:spcAft>
            </a:pPr>
            <a:r>
              <a:rPr sz="630" b="0" i="0">
                <a:solidFill>
                  <a:srgbClr val="64748B"/>
                </a:solidFill>
                <a:latin typeface="Segoe UI"/>
              </a:rPr>
              <a:t>Subject · curriculum</a:t>
            </a:r>
          </a:p>
        </p:txBody>
      </p:sp>
      <p:sp>
        <p:nvSpPr>
          <p:cNvPr id="79" name="Rounded Rectangle 78"/>
          <p:cNvSpPr/>
          <p:nvPr/>
        </p:nvSpPr>
        <p:spPr>
          <a:xfrm>
            <a:off x="9094012" y="5513831"/>
            <a:ext cx="713232" cy="155448"/>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640" b="1" i="0">
                <a:solidFill>
                  <a:srgbClr val="1E3A8A"/>
                </a:solidFill>
                <a:latin typeface="Segoe UI"/>
              </a:rPr>
              <a:t>₦ / hour</a:t>
            </a:r>
          </a:p>
        </p:txBody>
      </p:sp>
      <p:sp>
        <p:nvSpPr>
          <p:cNvPr id="80" name="TextBox 79"/>
          <p:cNvSpPr txBox="1"/>
          <p:nvPr/>
        </p:nvSpPr>
        <p:spPr>
          <a:xfrm>
            <a:off x="9094012" y="5715000"/>
            <a:ext cx="2274722" cy="118872"/>
          </a:xfrm>
          <a:prstGeom prst="rect">
            <a:avLst/>
          </a:prstGeom>
          <a:noFill/>
        </p:spPr>
        <p:txBody>
          <a:bodyPr wrap="square" lIns="0" rIns="0" tIns="0" bIns="0" anchor="t">
            <a:spAutoFit/>
          </a:bodyPr>
          <a:lstStyle/>
          <a:p>
            <a:pPr algn="l">
              <a:lnSpc>
                <a:spcPct val="118000"/>
              </a:lnSpc>
              <a:spcBef>
                <a:spcPts val="0"/>
              </a:spcBef>
              <a:spcAft>
                <a:spcPts val="0"/>
              </a:spcAft>
            </a:pPr>
            <a:r>
              <a:rPr sz="660" b="1" i="0">
                <a:solidFill>
                  <a:srgbClr val="059669"/>
                </a:solidFill>
                <a:latin typeface="Segoe UI"/>
              </a:rPr>
              <a:t>Profile   ·   Book</a:t>
            </a:r>
          </a:p>
        </p:txBody>
      </p:sp>
      <p:sp>
        <p:nvSpPr>
          <p:cNvPr id="81" name="TextBox 80"/>
          <p:cNvSpPr txBox="1"/>
          <p:nvPr/>
        </p:nvSpPr>
        <p:spPr>
          <a:xfrm>
            <a:off x="566928" y="6089904"/>
            <a:ext cx="11057839" cy="201168"/>
          </a:xfrm>
          <a:prstGeom prst="rect">
            <a:avLst/>
          </a:prstGeom>
          <a:noFill/>
        </p:spPr>
        <p:txBody>
          <a:bodyPr wrap="square" lIns="0" rIns="0" tIns="0" bIns="0" anchor="t">
            <a:spAutoFit/>
          </a:bodyPr>
          <a:lstStyle/>
          <a:p>
            <a:pPr algn="l">
              <a:lnSpc>
                <a:spcPct val="118000"/>
              </a:lnSpc>
              <a:spcBef>
                <a:spcPts val="0"/>
              </a:spcBef>
              <a:spcAft>
                <a:spcPts val="0"/>
              </a:spcAft>
            </a:pPr>
            <a:r>
              <a:rPr sz="850" b="0" i="1">
                <a:solidFill>
                  <a:srgbClr val="94A3B8"/>
                </a:solidFill>
                <a:latin typeface="Segoe UI"/>
              </a:rPr>
              <a:t>Illustration only — it is not a website screenshot and contains no live tutor data. The layout represents the shipped Navbar, filters, TutorCard and booking actions.</a:t>
            </a:r>
          </a:p>
        </p:txBody>
      </p:sp>
      <p:cxnSp>
        <p:nvCxnSpPr>
          <p:cNvPr id="82" name="Connector 81"/>
          <p:cNvCxnSpPr/>
          <p:nvPr/>
        </p:nvCxnSpPr>
        <p:spPr>
          <a:xfrm>
            <a:off x="566928" y="6382512"/>
            <a:ext cx="11057839"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566928" y="6473952"/>
            <a:ext cx="9777679" cy="219456"/>
          </a:xfrm>
          <a:prstGeom prst="rect">
            <a:avLst/>
          </a:prstGeom>
          <a:noFill/>
        </p:spPr>
        <p:txBody>
          <a:bodyPr wrap="square" lIns="0" rIns="0" tIns="0" bIns="0" anchor="t">
            <a:spAutoFit/>
          </a:bodyPr>
          <a:lstStyle/>
          <a:p>
            <a:pPr algn="l">
              <a:lnSpc>
                <a:spcPct val="118000"/>
              </a:lnSpc>
              <a:spcBef>
                <a:spcPts val="0"/>
              </a:spcBef>
              <a:spcAft>
                <a:spcPts val="0"/>
              </a:spcAft>
            </a:pPr>
            <a:r>
              <a:rPr sz="880" b="0" i="0">
                <a:solidFill>
                  <a:srgbClr val="94A3B8"/>
                </a:solidFill>
                <a:latin typeface="Segoe UI"/>
              </a:rPr>
              <a:t>Presenter: Hephzibah Uchechukwu · Frontend</a:t>
            </a:r>
          </a:p>
        </p:txBody>
      </p:sp>
      <p:sp>
        <p:nvSpPr>
          <p:cNvPr id="84" name="TextBox 83"/>
          <p:cNvSpPr txBox="1"/>
          <p:nvPr/>
        </p:nvSpPr>
        <p:spPr>
          <a:xfrm>
            <a:off x="10436047" y="6473952"/>
            <a:ext cx="1188720" cy="219456"/>
          </a:xfrm>
          <a:prstGeom prst="rect">
            <a:avLst/>
          </a:prstGeom>
          <a:noFill/>
        </p:spPr>
        <p:txBody>
          <a:bodyPr wrap="square" lIns="0" rIns="0" tIns="0" bIns="0" anchor="t">
            <a:spAutoFit/>
          </a:bodyPr>
          <a:lstStyle/>
          <a:p>
            <a:pPr algn="r">
              <a:lnSpc>
                <a:spcPct val="118000"/>
              </a:lnSpc>
              <a:spcBef>
                <a:spcPts val="0"/>
              </a:spcBef>
              <a:spcAft>
                <a:spcPts val="0"/>
              </a:spcAft>
            </a:pPr>
            <a:r>
              <a:rPr sz="950" b="1" i="0">
                <a:solidFill>
                  <a:srgbClr val="94A3B8"/>
                </a:solidFill>
                <a:latin typeface="Segoe UI"/>
              </a:rP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420624"/>
            <a:ext cx="50292" cy="173736"/>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384048"/>
            <a:ext cx="5571439" cy="237744"/>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20">
                <a:solidFill>
                  <a:srgbClr val="2563EB"/>
                </a:solidFill>
                <a:latin typeface="Segoe UI"/>
              </a:rPr>
              <a:t>SMART TUTOR MATCHING &amp; TUTOR DISCOVERY</a:t>
            </a:r>
          </a:p>
        </p:txBody>
      </p:sp>
      <p:sp>
        <p:nvSpPr>
          <p:cNvPr id="5" name="TextBox 4"/>
          <p:cNvSpPr txBox="1"/>
          <p:nvPr/>
        </p:nvSpPr>
        <p:spPr>
          <a:xfrm>
            <a:off x="566928" y="658368"/>
            <a:ext cx="11057839" cy="420624"/>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0F172A"/>
                </a:solidFill>
                <a:latin typeface="Segoe UI Semibold"/>
              </a:rPr>
              <a:t>Transparent, rules-based tutor matching</a:t>
            </a:r>
          </a:p>
        </p:txBody>
      </p:sp>
      <p:sp>
        <p:nvSpPr>
          <p:cNvPr id="6" name="TextBox 5"/>
          <p:cNvSpPr txBox="1"/>
          <p:nvPr/>
        </p:nvSpPr>
        <p:spPr>
          <a:xfrm>
            <a:off x="566928" y="1207008"/>
            <a:ext cx="10692079" cy="274320"/>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4748B"/>
                </a:solidFill>
                <a:latin typeface="Segoe UI"/>
              </a:rPr>
              <a:t>The learner states what they need; the engine filters eligible tutors, scores each one against their preferences and explains every match.</a:t>
            </a:r>
          </a:p>
        </p:txBody>
      </p:sp>
      <p:sp>
        <p:nvSpPr>
          <p:cNvPr id="7" name="Rounded Rectangle 6"/>
          <p:cNvSpPr/>
          <p:nvPr/>
        </p:nvSpPr>
        <p:spPr>
          <a:xfrm>
            <a:off x="6321247" y="365760"/>
            <a:ext cx="5303520" cy="246888"/>
          </a:xfrm>
          <a:prstGeom prst="roundRect">
            <a:avLst>
              <a:gd name="adj" fmla="val 50000"/>
            </a:avLst>
          </a:prstGeom>
          <a:solidFill>
            <a:srgbClr val="FFFFFF"/>
          </a:solidFill>
          <a:ln w="1016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lstStyle/>
          <a:p>
            <a:pPr algn="l"/>
            <a:r>
              <a:rPr sz="750" b="1" i="0" cap="all" spc="60">
                <a:solidFill>
                  <a:srgbClr val="64748B"/>
                </a:solidFill>
                <a:latin typeface="Segoe UI"/>
              </a:rPr>
              <a:t>PRESENTER  </a:t>
            </a:r>
            <a:r>
              <a:rPr sz="830" b="1" i="0">
                <a:solidFill>
                  <a:srgbClr val="0F172A"/>
                </a:solidFill>
                <a:latin typeface="Segoe UI"/>
              </a:rPr>
              <a:t>Hephzibah Uchechukwu</a:t>
            </a:r>
            <a:r>
              <a:rPr sz="790" b="1" i="0">
                <a:solidFill>
                  <a:srgbClr val="2563EB"/>
                </a:solidFill>
                <a:latin typeface="Segoe UI"/>
              </a:rPr>
              <a:t>  ·  Smart Tutor Match</a:t>
            </a:r>
          </a:p>
        </p:txBody>
      </p:sp>
      <p:sp>
        <p:nvSpPr>
          <p:cNvPr id="8" name="Rounded Rectangle 7"/>
          <p:cNvSpPr/>
          <p:nvPr/>
        </p:nvSpPr>
        <p:spPr>
          <a:xfrm>
            <a:off x="566928" y="1792224"/>
            <a:ext cx="1719072" cy="1188720"/>
          </a:xfrm>
          <a:prstGeom prst="roundRect">
            <a:avLst>
              <a:gd name="adj" fmla="val 8000"/>
            </a:avLst>
          </a:prstGeom>
          <a:solidFill>
            <a:srgbClr val="FFFFFF"/>
          </a:solidFill>
          <a:ln w="1270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566928" y="1792224"/>
            <a:ext cx="1719072" cy="45720"/>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1271016" y="1911096"/>
            <a:ext cx="310896" cy="310896"/>
          </a:xfrm>
          <a:prstGeom prst="ellips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i="0">
                <a:solidFill>
                  <a:srgbClr val="FFFFFF"/>
                </a:solidFill>
                <a:latin typeface="Segoe UI"/>
              </a:rPr>
              <a:t>1</a:t>
            </a:r>
          </a:p>
        </p:txBody>
      </p:sp>
      <p:sp>
        <p:nvSpPr>
          <p:cNvPr id="11" name="TextBox 10"/>
          <p:cNvSpPr txBox="1"/>
          <p:nvPr/>
        </p:nvSpPr>
        <p:spPr>
          <a:xfrm>
            <a:off x="658368" y="2276856"/>
            <a:ext cx="1536192" cy="237744"/>
          </a:xfrm>
          <a:prstGeom prst="rect">
            <a:avLst/>
          </a:prstGeom>
          <a:noFill/>
        </p:spPr>
        <p:txBody>
          <a:bodyPr wrap="square" lIns="0" rIns="0" tIns="0" bIns="0" anchor="t">
            <a:spAutoFit/>
          </a:bodyPr>
          <a:lstStyle/>
          <a:p>
            <a:pPr algn="ctr">
              <a:lnSpc>
                <a:spcPct val="118000"/>
              </a:lnSpc>
              <a:spcBef>
                <a:spcPts val="0"/>
              </a:spcBef>
              <a:spcAft>
                <a:spcPts val="0"/>
              </a:spcAft>
            </a:pPr>
            <a:r>
              <a:rPr sz="980" b="1" i="0">
                <a:solidFill>
                  <a:srgbClr val="0F172A"/>
                </a:solidFill>
                <a:latin typeface="Segoe UI Semibold"/>
              </a:rPr>
              <a:t>Learner's needs</a:t>
            </a:r>
          </a:p>
        </p:txBody>
      </p:sp>
      <p:sp>
        <p:nvSpPr>
          <p:cNvPr id="12" name="TextBox 11"/>
          <p:cNvSpPr txBox="1"/>
          <p:nvPr/>
        </p:nvSpPr>
        <p:spPr>
          <a:xfrm>
            <a:off x="658368" y="2523744"/>
            <a:ext cx="1536192" cy="393192"/>
          </a:xfrm>
          <a:prstGeom prst="rect">
            <a:avLst/>
          </a:prstGeom>
          <a:noFill/>
        </p:spPr>
        <p:txBody>
          <a:bodyPr wrap="square" lIns="0" rIns="0" tIns="0" bIns="0" anchor="t">
            <a:spAutoFit/>
          </a:bodyPr>
          <a:lstStyle/>
          <a:p>
            <a:pPr algn="ctr">
              <a:lnSpc>
                <a:spcPct val="114000"/>
              </a:lnSpc>
              <a:spcBef>
                <a:spcPts val="0"/>
              </a:spcBef>
              <a:spcAft>
                <a:spcPts val="0"/>
              </a:spcAft>
            </a:pPr>
            <a:r>
              <a:rPr sz="800" b="0" i="0">
                <a:solidFill>
                  <a:srgbClr val="64748B"/>
                </a:solidFill>
                <a:latin typeface="Segoe UI"/>
              </a:rPr>
              <a:t>Subject, budget, curriculum,  location, availability</a:t>
            </a:r>
          </a:p>
        </p:txBody>
      </p:sp>
      <p:sp>
        <p:nvSpPr>
          <p:cNvPr id="13" name="Right Arrow 12"/>
          <p:cNvSpPr/>
          <p:nvPr/>
        </p:nvSpPr>
        <p:spPr>
          <a:xfrm>
            <a:off x="2290572" y="2386584"/>
            <a:ext cx="105156" cy="146304"/>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404872" y="1792224"/>
            <a:ext cx="1719072" cy="1188720"/>
          </a:xfrm>
          <a:prstGeom prst="roundRect">
            <a:avLst>
              <a:gd name="adj" fmla="val 8000"/>
            </a:avLst>
          </a:prstGeom>
          <a:solidFill>
            <a:srgbClr val="FFFFFF"/>
          </a:solidFill>
          <a:ln w="12700">
            <a:solidFill>
              <a:srgbClr val="172B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2404872" y="1792224"/>
            <a:ext cx="1719072" cy="45720"/>
          </a:xfrm>
          <a:prstGeom prst="roundRect">
            <a:avLst>
              <a:gd name="adj" fmla="val 8000"/>
            </a:avLst>
          </a:prstGeom>
          <a:solidFill>
            <a:srgbClr val="172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108960" y="1911096"/>
            <a:ext cx="310896" cy="310896"/>
          </a:xfrm>
          <a:prstGeom prst="ellipse">
            <a:avLst/>
          </a:prstGeom>
          <a:solidFill>
            <a:srgbClr val="172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i="0">
                <a:solidFill>
                  <a:srgbClr val="FFFFFF"/>
                </a:solidFill>
                <a:latin typeface="Segoe UI"/>
              </a:rPr>
              <a:t>2</a:t>
            </a:r>
          </a:p>
        </p:txBody>
      </p:sp>
      <p:sp>
        <p:nvSpPr>
          <p:cNvPr id="17" name="TextBox 16"/>
          <p:cNvSpPr txBox="1"/>
          <p:nvPr/>
        </p:nvSpPr>
        <p:spPr>
          <a:xfrm>
            <a:off x="2496312" y="2276856"/>
            <a:ext cx="1536192" cy="237744"/>
          </a:xfrm>
          <a:prstGeom prst="rect">
            <a:avLst/>
          </a:prstGeom>
          <a:noFill/>
        </p:spPr>
        <p:txBody>
          <a:bodyPr wrap="square" lIns="0" rIns="0" tIns="0" bIns="0" anchor="t">
            <a:spAutoFit/>
          </a:bodyPr>
          <a:lstStyle/>
          <a:p>
            <a:pPr algn="ctr">
              <a:lnSpc>
                <a:spcPct val="118000"/>
              </a:lnSpc>
              <a:spcBef>
                <a:spcPts val="0"/>
              </a:spcBef>
              <a:spcAft>
                <a:spcPts val="0"/>
              </a:spcAft>
            </a:pPr>
            <a:r>
              <a:rPr sz="980" b="1" i="0">
                <a:solidFill>
                  <a:srgbClr val="0F172A"/>
                </a:solidFill>
                <a:latin typeface="Segoe UI Semibold"/>
              </a:rPr>
              <a:t>Preference form</a:t>
            </a:r>
          </a:p>
        </p:txBody>
      </p:sp>
      <p:sp>
        <p:nvSpPr>
          <p:cNvPr id="18" name="TextBox 17"/>
          <p:cNvSpPr txBox="1"/>
          <p:nvPr/>
        </p:nvSpPr>
        <p:spPr>
          <a:xfrm>
            <a:off x="2496312" y="2523744"/>
            <a:ext cx="1536192" cy="393192"/>
          </a:xfrm>
          <a:prstGeom prst="rect">
            <a:avLst/>
          </a:prstGeom>
          <a:noFill/>
        </p:spPr>
        <p:txBody>
          <a:bodyPr wrap="square" lIns="0" rIns="0" tIns="0" bIns="0" anchor="t">
            <a:spAutoFit/>
          </a:bodyPr>
          <a:lstStyle/>
          <a:p>
            <a:pPr algn="ctr">
              <a:lnSpc>
                <a:spcPct val="114000"/>
              </a:lnSpc>
              <a:spcBef>
                <a:spcPts val="0"/>
              </a:spcBef>
              <a:spcAft>
                <a:spcPts val="0"/>
              </a:spcAft>
            </a:pPr>
            <a:r>
              <a:rPr sz="800" b="0" i="0">
                <a:solidFill>
                  <a:srgbClr val="64748B"/>
                </a:solidFill>
                <a:latin typeface="Segoe UI"/>
              </a:rPr>
              <a:t>/smart-match  5 criteria collected</a:t>
            </a:r>
          </a:p>
        </p:txBody>
      </p:sp>
      <p:sp>
        <p:nvSpPr>
          <p:cNvPr id="19" name="Right Arrow 18"/>
          <p:cNvSpPr/>
          <p:nvPr/>
        </p:nvSpPr>
        <p:spPr>
          <a:xfrm>
            <a:off x="4128515" y="2386584"/>
            <a:ext cx="105156" cy="146304"/>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242816" y="1792224"/>
            <a:ext cx="1719072" cy="1188720"/>
          </a:xfrm>
          <a:prstGeom prst="roundRect">
            <a:avLst>
              <a:gd name="adj" fmla="val 8000"/>
            </a:avLst>
          </a:prstGeom>
          <a:solidFill>
            <a:srgbClr val="FFFF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4242816" y="1792224"/>
            <a:ext cx="1719072" cy="4572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4946904" y="1911096"/>
            <a:ext cx="310896" cy="31089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i="0">
                <a:solidFill>
                  <a:srgbClr val="FFFFFF"/>
                </a:solidFill>
                <a:latin typeface="Segoe UI"/>
              </a:rPr>
              <a:t>3</a:t>
            </a:r>
          </a:p>
        </p:txBody>
      </p:sp>
      <p:sp>
        <p:nvSpPr>
          <p:cNvPr id="23" name="TextBox 22"/>
          <p:cNvSpPr txBox="1"/>
          <p:nvPr/>
        </p:nvSpPr>
        <p:spPr>
          <a:xfrm>
            <a:off x="4334255" y="2276856"/>
            <a:ext cx="1536192" cy="237744"/>
          </a:xfrm>
          <a:prstGeom prst="rect">
            <a:avLst/>
          </a:prstGeom>
          <a:noFill/>
        </p:spPr>
        <p:txBody>
          <a:bodyPr wrap="square" lIns="0" rIns="0" tIns="0" bIns="0" anchor="t">
            <a:spAutoFit/>
          </a:bodyPr>
          <a:lstStyle/>
          <a:p>
            <a:pPr algn="ctr">
              <a:lnSpc>
                <a:spcPct val="118000"/>
              </a:lnSpc>
              <a:spcBef>
                <a:spcPts val="0"/>
              </a:spcBef>
              <a:spcAft>
                <a:spcPts val="0"/>
              </a:spcAft>
            </a:pPr>
            <a:r>
              <a:rPr sz="980" b="1" i="0">
                <a:solidFill>
                  <a:srgbClr val="0F172A"/>
                </a:solidFill>
                <a:latin typeface="Segoe UI Semibold"/>
              </a:rPr>
              <a:t>Hard filter</a:t>
            </a:r>
          </a:p>
        </p:txBody>
      </p:sp>
      <p:sp>
        <p:nvSpPr>
          <p:cNvPr id="24" name="TextBox 23"/>
          <p:cNvSpPr txBox="1"/>
          <p:nvPr/>
        </p:nvSpPr>
        <p:spPr>
          <a:xfrm>
            <a:off x="4334255" y="2523744"/>
            <a:ext cx="1536192" cy="393192"/>
          </a:xfrm>
          <a:prstGeom prst="rect">
            <a:avLst/>
          </a:prstGeom>
          <a:noFill/>
        </p:spPr>
        <p:txBody>
          <a:bodyPr wrap="square" lIns="0" rIns="0" tIns="0" bIns="0" anchor="t">
            <a:spAutoFit/>
          </a:bodyPr>
          <a:lstStyle/>
          <a:p>
            <a:pPr algn="ctr">
              <a:lnSpc>
                <a:spcPct val="114000"/>
              </a:lnSpc>
              <a:spcBef>
                <a:spcPts val="0"/>
              </a:spcBef>
              <a:spcAft>
                <a:spcPts val="0"/>
              </a:spcAft>
            </a:pPr>
            <a:r>
              <a:rPr sz="800" b="0" i="0">
                <a:solidFill>
                  <a:srgbClr val="64748B"/>
                </a:solidFill>
                <a:latin typeface="Segoe UI"/>
              </a:rPr>
              <a:t>Subject + budget  must be satisfied</a:t>
            </a:r>
          </a:p>
        </p:txBody>
      </p:sp>
      <p:sp>
        <p:nvSpPr>
          <p:cNvPr id="25" name="Right Arrow 24"/>
          <p:cNvSpPr/>
          <p:nvPr/>
        </p:nvSpPr>
        <p:spPr>
          <a:xfrm>
            <a:off x="5966459" y="2386584"/>
            <a:ext cx="105156" cy="146304"/>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59" y="1792224"/>
            <a:ext cx="1719072" cy="1188720"/>
          </a:xfrm>
          <a:prstGeom prst="roundRect">
            <a:avLst>
              <a:gd name="adj" fmla="val 8000"/>
            </a:avLst>
          </a:prstGeom>
          <a:solidFill>
            <a:srgbClr val="FFFFFF"/>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6080759" y="1792224"/>
            <a:ext cx="1719072" cy="45720"/>
          </a:xfrm>
          <a:prstGeom prst="roundRect">
            <a:avLst>
              <a:gd name="adj" fmla="val 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6784848" y="1911096"/>
            <a:ext cx="310896" cy="310896"/>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i="0">
                <a:solidFill>
                  <a:srgbClr val="FFFFFF"/>
                </a:solidFill>
                <a:latin typeface="Segoe UI"/>
              </a:rPr>
              <a:t>4</a:t>
            </a:r>
          </a:p>
        </p:txBody>
      </p:sp>
      <p:sp>
        <p:nvSpPr>
          <p:cNvPr id="29" name="TextBox 28"/>
          <p:cNvSpPr txBox="1"/>
          <p:nvPr/>
        </p:nvSpPr>
        <p:spPr>
          <a:xfrm>
            <a:off x="6172199" y="2276856"/>
            <a:ext cx="1536192" cy="237744"/>
          </a:xfrm>
          <a:prstGeom prst="rect">
            <a:avLst/>
          </a:prstGeom>
          <a:noFill/>
        </p:spPr>
        <p:txBody>
          <a:bodyPr wrap="square" lIns="0" rIns="0" tIns="0" bIns="0" anchor="t">
            <a:spAutoFit/>
          </a:bodyPr>
          <a:lstStyle/>
          <a:p>
            <a:pPr algn="ctr">
              <a:lnSpc>
                <a:spcPct val="118000"/>
              </a:lnSpc>
              <a:spcBef>
                <a:spcPts val="0"/>
              </a:spcBef>
              <a:spcAft>
                <a:spcPts val="0"/>
              </a:spcAft>
            </a:pPr>
            <a:r>
              <a:rPr sz="980" b="1" i="0">
                <a:solidFill>
                  <a:srgbClr val="0F172A"/>
                </a:solidFill>
                <a:latin typeface="Segoe UI Semibold"/>
              </a:rPr>
              <a:t>Weighted score</a:t>
            </a:r>
          </a:p>
        </p:txBody>
      </p:sp>
      <p:sp>
        <p:nvSpPr>
          <p:cNvPr id="30" name="TextBox 29"/>
          <p:cNvSpPr txBox="1"/>
          <p:nvPr/>
        </p:nvSpPr>
        <p:spPr>
          <a:xfrm>
            <a:off x="6172199" y="2523744"/>
            <a:ext cx="1536192" cy="393192"/>
          </a:xfrm>
          <a:prstGeom prst="rect">
            <a:avLst/>
          </a:prstGeom>
          <a:noFill/>
        </p:spPr>
        <p:txBody>
          <a:bodyPr wrap="square" lIns="0" rIns="0" tIns="0" bIns="0" anchor="t">
            <a:spAutoFit/>
          </a:bodyPr>
          <a:lstStyle/>
          <a:p>
            <a:pPr algn="ctr">
              <a:lnSpc>
                <a:spcPct val="114000"/>
              </a:lnSpc>
              <a:spcBef>
                <a:spcPts val="0"/>
              </a:spcBef>
              <a:spcAft>
                <a:spcPts val="0"/>
              </a:spcAft>
            </a:pPr>
            <a:r>
              <a:rPr sz="800" b="0" i="0">
                <a:solidFill>
                  <a:srgbClr val="64748B"/>
                </a:solidFill>
                <a:latin typeface="Segoe UI"/>
              </a:rPr>
              <a:t>Curriculum 30 · Location 20  Availability 10 · Verified 5</a:t>
            </a:r>
          </a:p>
        </p:txBody>
      </p:sp>
      <p:sp>
        <p:nvSpPr>
          <p:cNvPr id="31" name="Right Arrow 30"/>
          <p:cNvSpPr/>
          <p:nvPr/>
        </p:nvSpPr>
        <p:spPr>
          <a:xfrm>
            <a:off x="7804404" y="2386584"/>
            <a:ext cx="105156" cy="146304"/>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918703" y="1792224"/>
            <a:ext cx="1719072" cy="1188720"/>
          </a:xfrm>
          <a:prstGeom prst="roundRect">
            <a:avLst>
              <a:gd name="adj" fmla="val 8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7918703" y="1792224"/>
            <a:ext cx="1719072" cy="4572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8622791" y="1911096"/>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i="0">
                <a:solidFill>
                  <a:srgbClr val="FFFFFF"/>
                </a:solidFill>
                <a:latin typeface="Segoe UI"/>
              </a:rPr>
              <a:t>5</a:t>
            </a:r>
          </a:p>
        </p:txBody>
      </p:sp>
      <p:sp>
        <p:nvSpPr>
          <p:cNvPr id="35" name="TextBox 34"/>
          <p:cNvSpPr txBox="1"/>
          <p:nvPr/>
        </p:nvSpPr>
        <p:spPr>
          <a:xfrm>
            <a:off x="8010143" y="2276856"/>
            <a:ext cx="1536192" cy="237744"/>
          </a:xfrm>
          <a:prstGeom prst="rect">
            <a:avLst/>
          </a:prstGeom>
          <a:noFill/>
        </p:spPr>
        <p:txBody>
          <a:bodyPr wrap="square" lIns="0" rIns="0" tIns="0" bIns="0" anchor="t">
            <a:spAutoFit/>
          </a:bodyPr>
          <a:lstStyle/>
          <a:p>
            <a:pPr algn="ctr">
              <a:lnSpc>
                <a:spcPct val="118000"/>
              </a:lnSpc>
              <a:spcBef>
                <a:spcPts val="0"/>
              </a:spcBef>
              <a:spcAft>
                <a:spcPts val="0"/>
              </a:spcAft>
            </a:pPr>
            <a:r>
              <a:rPr sz="980" b="1" i="0">
                <a:solidFill>
                  <a:srgbClr val="0F172A"/>
                </a:solidFill>
                <a:latin typeface="Segoe UI Semibold"/>
              </a:rPr>
              <a:t>Ranked results</a:t>
            </a:r>
          </a:p>
        </p:txBody>
      </p:sp>
      <p:sp>
        <p:nvSpPr>
          <p:cNvPr id="36" name="TextBox 35"/>
          <p:cNvSpPr txBox="1"/>
          <p:nvPr/>
        </p:nvSpPr>
        <p:spPr>
          <a:xfrm>
            <a:off x="8010143" y="2523744"/>
            <a:ext cx="1536192" cy="393192"/>
          </a:xfrm>
          <a:prstGeom prst="rect">
            <a:avLst/>
          </a:prstGeom>
          <a:noFill/>
        </p:spPr>
        <p:txBody>
          <a:bodyPr wrap="square" lIns="0" rIns="0" tIns="0" bIns="0" anchor="t">
            <a:spAutoFit/>
          </a:bodyPr>
          <a:lstStyle/>
          <a:p>
            <a:pPr algn="ctr">
              <a:lnSpc>
                <a:spcPct val="114000"/>
              </a:lnSpc>
              <a:spcBef>
                <a:spcPts val="0"/>
              </a:spcBef>
              <a:spcAft>
                <a:spcPts val="0"/>
              </a:spcAft>
            </a:pPr>
            <a:r>
              <a:rPr sz="800" b="0" i="0">
                <a:solidFill>
                  <a:srgbClr val="64748B"/>
                </a:solidFill>
                <a:latin typeface="Segoe UI"/>
              </a:rPr>
              <a:t>Score → rating → price  with reasons shown</a:t>
            </a:r>
          </a:p>
        </p:txBody>
      </p:sp>
      <p:sp>
        <p:nvSpPr>
          <p:cNvPr id="37" name="Right Arrow 36"/>
          <p:cNvSpPr/>
          <p:nvPr/>
        </p:nvSpPr>
        <p:spPr>
          <a:xfrm>
            <a:off x="9642348" y="2386584"/>
            <a:ext cx="105156" cy="146304"/>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9756647" y="1792224"/>
            <a:ext cx="1719072" cy="1188720"/>
          </a:xfrm>
          <a:prstGeom prst="roundRect">
            <a:avLst>
              <a:gd name="adj" fmla="val 8000"/>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9756647" y="1792224"/>
            <a:ext cx="1719072" cy="45720"/>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10460735" y="1911096"/>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i="0">
                <a:solidFill>
                  <a:srgbClr val="FFFFFF"/>
                </a:solidFill>
                <a:latin typeface="Segoe UI"/>
              </a:rPr>
              <a:t>6</a:t>
            </a:r>
          </a:p>
        </p:txBody>
      </p:sp>
      <p:sp>
        <p:nvSpPr>
          <p:cNvPr id="41" name="TextBox 40"/>
          <p:cNvSpPr txBox="1"/>
          <p:nvPr/>
        </p:nvSpPr>
        <p:spPr>
          <a:xfrm>
            <a:off x="9848087" y="2276856"/>
            <a:ext cx="1536192" cy="237744"/>
          </a:xfrm>
          <a:prstGeom prst="rect">
            <a:avLst/>
          </a:prstGeom>
          <a:noFill/>
        </p:spPr>
        <p:txBody>
          <a:bodyPr wrap="square" lIns="0" rIns="0" tIns="0" bIns="0" anchor="t">
            <a:spAutoFit/>
          </a:bodyPr>
          <a:lstStyle/>
          <a:p>
            <a:pPr algn="ctr">
              <a:lnSpc>
                <a:spcPct val="118000"/>
              </a:lnSpc>
              <a:spcBef>
                <a:spcPts val="0"/>
              </a:spcBef>
              <a:spcAft>
                <a:spcPts val="0"/>
              </a:spcAft>
            </a:pPr>
            <a:r>
              <a:rPr sz="980" b="1" i="0">
                <a:solidFill>
                  <a:srgbClr val="0F172A"/>
                </a:solidFill>
                <a:latin typeface="Segoe UI Semibold"/>
              </a:rPr>
              <a:t>Profile &amp; book</a:t>
            </a:r>
          </a:p>
        </p:txBody>
      </p:sp>
      <p:sp>
        <p:nvSpPr>
          <p:cNvPr id="42" name="TextBox 41"/>
          <p:cNvSpPr txBox="1"/>
          <p:nvPr/>
        </p:nvSpPr>
        <p:spPr>
          <a:xfrm>
            <a:off x="9848087" y="2523744"/>
            <a:ext cx="1536192" cy="393192"/>
          </a:xfrm>
          <a:prstGeom prst="rect">
            <a:avLst/>
          </a:prstGeom>
          <a:noFill/>
        </p:spPr>
        <p:txBody>
          <a:bodyPr wrap="square" lIns="0" rIns="0" tIns="0" bIns="0" anchor="t">
            <a:spAutoFit/>
          </a:bodyPr>
          <a:lstStyle/>
          <a:p>
            <a:pPr algn="ctr">
              <a:lnSpc>
                <a:spcPct val="114000"/>
              </a:lnSpc>
              <a:spcBef>
                <a:spcPts val="0"/>
              </a:spcBef>
              <a:spcAft>
                <a:spcPts val="0"/>
              </a:spcAft>
            </a:pPr>
            <a:r>
              <a:rPr sz="800" b="0" i="0">
                <a:solidFill>
                  <a:srgbClr val="64748B"/>
                </a:solidFill>
                <a:latin typeface="Segoe UI"/>
              </a:rPr>
              <a:t>Open profile, save tutor,  or request a session</a:t>
            </a:r>
          </a:p>
        </p:txBody>
      </p:sp>
      <p:sp>
        <p:nvSpPr>
          <p:cNvPr id="43" name="Rounded Rectangle 42"/>
          <p:cNvSpPr/>
          <p:nvPr/>
        </p:nvSpPr>
        <p:spPr>
          <a:xfrm>
            <a:off x="566928" y="3177540"/>
            <a:ext cx="41148" cy="146304"/>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94944" y="3145536"/>
            <a:ext cx="5678424" cy="219456"/>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00">
                <a:solidFill>
                  <a:srgbClr val="1E3A8A"/>
                </a:solidFill>
                <a:latin typeface="Segoe UI"/>
              </a:rPr>
              <a:t>MATCHING CRITERIA ACTUALLY IMPLEMENTED</a:t>
            </a:r>
          </a:p>
        </p:txBody>
      </p:sp>
      <p:sp>
        <p:nvSpPr>
          <p:cNvPr id="45" name="Rectangle 44"/>
          <p:cNvSpPr/>
          <p:nvPr/>
        </p:nvSpPr>
        <p:spPr>
          <a:xfrm>
            <a:off x="566928" y="3419856"/>
            <a:ext cx="5806440" cy="24688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31520" y="3474720"/>
            <a:ext cx="2743200" cy="182880"/>
          </a:xfrm>
          <a:prstGeom prst="rect">
            <a:avLst/>
          </a:prstGeom>
          <a:noFill/>
        </p:spPr>
        <p:txBody>
          <a:bodyPr wrap="square" lIns="0" rIns="0" tIns="0" bIns="0" anchor="t">
            <a:spAutoFit/>
          </a:bodyPr>
          <a:lstStyle/>
          <a:p>
            <a:pPr algn="l">
              <a:lnSpc>
                <a:spcPct val="118000"/>
              </a:lnSpc>
              <a:spcBef>
                <a:spcPts val="0"/>
              </a:spcBef>
              <a:spcAft>
                <a:spcPts val="0"/>
              </a:spcAft>
            </a:pPr>
            <a:r>
              <a:rPr sz="850" b="1" i="0" cap="all" spc="80">
                <a:solidFill>
                  <a:srgbClr val="FFFFFF"/>
                </a:solidFill>
                <a:latin typeface="Segoe UI"/>
              </a:rPr>
              <a:t>CRITERION</a:t>
            </a:r>
          </a:p>
        </p:txBody>
      </p:sp>
      <p:sp>
        <p:nvSpPr>
          <p:cNvPr id="47" name="TextBox 46"/>
          <p:cNvSpPr txBox="1"/>
          <p:nvPr/>
        </p:nvSpPr>
        <p:spPr>
          <a:xfrm>
            <a:off x="3538728" y="3474720"/>
            <a:ext cx="2103120" cy="182880"/>
          </a:xfrm>
          <a:prstGeom prst="rect">
            <a:avLst/>
          </a:prstGeom>
          <a:noFill/>
        </p:spPr>
        <p:txBody>
          <a:bodyPr wrap="square" lIns="0" rIns="0" tIns="0" bIns="0" anchor="t">
            <a:spAutoFit/>
          </a:bodyPr>
          <a:lstStyle/>
          <a:p>
            <a:pPr algn="l">
              <a:lnSpc>
                <a:spcPct val="118000"/>
              </a:lnSpc>
              <a:spcBef>
                <a:spcPts val="0"/>
              </a:spcBef>
              <a:spcAft>
                <a:spcPts val="0"/>
              </a:spcAft>
            </a:pPr>
            <a:r>
              <a:rPr sz="850" b="1" i="0" cap="all" spc="80">
                <a:solidFill>
                  <a:srgbClr val="FFFFFF"/>
                </a:solidFill>
                <a:latin typeface="Segoe UI"/>
              </a:rPr>
              <a:t>RULE</a:t>
            </a:r>
          </a:p>
        </p:txBody>
      </p:sp>
      <p:sp>
        <p:nvSpPr>
          <p:cNvPr id="48" name="TextBox 47"/>
          <p:cNvSpPr txBox="1"/>
          <p:nvPr/>
        </p:nvSpPr>
        <p:spPr>
          <a:xfrm>
            <a:off x="5504688" y="3474720"/>
            <a:ext cx="731520" cy="182880"/>
          </a:xfrm>
          <a:prstGeom prst="rect">
            <a:avLst/>
          </a:prstGeom>
          <a:noFill/>
        </p:spPr>
        <p:txBody>
          <a:bodyPr wrap="square" lIns="0" rIns="0" tIns="0" bIns="0" anchor="t">
            <a:spAutoFit/>
          </a:bodyPr>
          <a:lstStyle/>
          <a:p>
            <a:pPr algn="r">
              <a:lnSpc>
                <a:spcPct val="118000"/>
              </a:lnSpc>
              <a:spcBef>
                <a:spcPts val="0"/>
              </a:spcBef>
              <a:spcAft>
                <a:spcPts val="0"/>
              </a:spcAft>
            </a:pPr>
            <a:r>
              <a:rPr sz="850" b="1" i="0" cap="all" spc="80">
                <a:solidFill>
                  <a:srgbClr val="FFFFFF"/>
                </a:solidFill>
                <a:latin typeface="Segoe UI"/>
              </a:rPr>
              <a:t>POINTS</a:t>
            </a:r>
          </a:p>
        </p:txBody>
      </p:sp>
      <p:sp>
        <p:nvSpPr>
          <p:cNvPr id="49" name="Rectangle 48"/>
          <p:cNvSpPr/>
          <p:nvPr/>
        </p:nvSpPr>
        <p:spPr>
          <a:xfrm>
            <a:off x="566928" y="3666744"/>
            <a:ext cx="5806440" cy="2468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731520" y="3707891"/>
            <a:ext cx="2743200" cy="201168"/>
          </a:xfrm>
          <a:prstGeom prst="rect">
            <a:avLst/>
          </a:prstGeom>
          <a:noFill/>
        </p:spPr>
        <p:txBody>
          <a:bodyPr wrap="square" lIns="0" rIns="0" tIns="0" bIns="0" anchor="t">
            <a:spAutoFit/>
          </a:bodyPr>
          <a:lstStyle/>
          <a:p>
            <a:pPr algn="l">
              <a:lnSpc>
                <a:spcPct val="118000"/>
              </a:lnSpc>
              <a:spcBef>
                <a:spcPts val="0"/>
              </a:spcBef>
              <a:spcAft>
                <a:spcPts val="0"/>
              </a:spcAft>
            </a:pPr>
            <a:r>
              <a:rPr sz="880" b="1" i="0">
                <a:solidFill>
                  <a:srgbClr val="0F172A"/>
                </a:solidFill>
                <a:latin typeface="Segoe UI"/>
              </a:rPr>
              <a:t>Subject  (required)</a:t>
            </a:r>
          </a:p>
        </p:txBody>
      </p:sp>
      <p:sp>
        <p:nvSpPr>
          <p:cNvPr id="51" name="TextBox 50"/>
          <p:cNvSpPr txBox="1"/>
          <p:nvPr/>
        </p:nvSpPr>
        <p:spPr>
          <a:xfrm>
            <a:off x="3538728" y="3707891"/>
            <a:ext cx="2240280" cy="201168"/>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475569"/>
                </a:solidFill>
                <a:latin typeface="Segoe UI"/>
              </a:rPr>
              <a:t>Hard filter — must teach selected subject</a:t>
            </a:r>
          </a:p>
        </p:txBody>
      </p:sp>
      <p:sp>
        <p:nvSpPr>
          <p:cNvPr id="52" name="TextBox 51"/>
          <p:cNvSpPr txBox="1"/>
          <p:nvPr/>
        </p:nvSpPr>
        <p:spPr>
          <a:xfrm>
            <a:off x="5504688" y="3707891"/>
            <a:ext cx="731520" cy="201168"/>
          </a:xfrm>
          <a:prstGeom prst="rect">
            <a:avLst/>
          </a:prstGeom>
          <a:noFill/>
        </p:spPr>
        <p:txBody>
          <a:bodyPr wrap="square" lIns="0" rIns="0" tIns="0" bIns="0" anchor="t">
            <a:spAutoFit/>
          </a:bodyPr>
          <a:lstStyle/>
          <a:p>
            <a:pPr algn="r">
              <a:lnSpc>
                <a:spcPct val="118000"/>
              </a:lnSpc>
              <a:spcBef>
                <a:spcPts val="0"/>
              </a:spcBef>
              <a:spcAft>
                <a:spcPts val="0"/>
              </a:spcAft>
            </a:pPr>
            <a:r>
              <a:rPr sz="880" b="1" i="0">
                <a:solidFill>
                  <a:srgbClr val="2563EB"/>
                </a:solidFill>
                <a:latin typeface="Segoe UI"/>
              </a:rPr>
              <a:t>gate</a:t>
            </a:r>
          </a:p>
        </p:txBody>
      </p:sp>
      <p:sp>
        <p:nvSpPr>
          <p:cNvPr id="53" name="Rectangle 52"/>
          <p:cNvSpPr/>
          <p:nvPr/>
        </p:nvSpPr>
        <p:spPr>
          <a:xfrm>
            <a:off x="566928" y="3913631"/>
            <a:ext cx="5806440" cy="24688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731520" y="3954779"/>
            <a:ext cx="2743200" cy="201168"/>
          </a:xfrm>
          <a:prstGeom prst="rect">
            <a:avLst/>
          </a:prstGeom>
          <a:noFill/>
        </p:spPr>
        <p:txBody>
          <a:bodyPr wrap="square" lIns="0" rIns="0" tIns="0" bIns="0" anchor="t">
            <a:spAutoFit/>
          </a:bodyPr>
          <a:lstStyle/>
          <a:p>
            <a:pPr algn="l">
              <a:lnSpc>
                <a:spcPct val="118000"/>
              </a:lnSpc>
              <a:spcBef>
                <a:spcPts val="0"/>
              </a:spcBef>
              <a:spcAft>
                <a:spcPts val="0"/>
              </a:spcAft>
            </a:pPr>
            <a:r>
              <a:rPr sz="880" b="1" i="0">
                <a:solidFill>
                  <a:srgbClr val="0F172A"/>
                </a:solidFill>
                <a:latin typeface="Segoe UI"/>
              </a:rPr>
              <a:t>Max hourly budget ₦  (required)</a:t>
            </a:r>
          </a:p>
        </p:txBody>
      </p:sp>
      <p:sp>
        <p:nvSpPr>
          <p:cNvPr id="55" name="TextBox 54"/>
          <p:cNvSpPr txBox="1"/>
          <p:nvPr/>
        </p:nvSpPr>
        <p:spPr>
          <a:xfrm>
            <a:off x="3538728" y="3954779"/>
            <a:ext cx="2240280" cy="201168"/>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475569"/>
                </a:solidFill>
                <a:latin typeface="Segoe UI"/>
              </a:rPr>
              <a:t>Hard filter — hourly_rate ≤ maxBudget</a:t>
            </a:r>
          </a:p>
        </p:txBody>
      </p:sp>
      <p:sp>
        <p:nvSpPr>
          <p:cNvPr id="56" name="TextBox 55"/>
          <p:cNvSpPr txBox="1"/>
          <p:nvPr/>
        </p:nvSpPr>
        <p:spPr>
          <a:xfrm>
            <a:off x="5504688" y="3954779"/>
            <a:ext cx="731520" cy="201168"/>
          </a:xfrm>
          <a:prstGeom prst="rect">
            <a:avLst/>
          </a:prstGeom>
          <a:noFill/>
        </p:spPr>
        <p:txBody>
          <a:bodyPr wrap="square" lIns="0" rIns="0" tIns="0" bIns="0" anchor="t">
            <a:spAutoFit/>
          </a:bodyPr>
          <a:lstStyle/>
          <a:p>
            <a:pPr algn="r">
              <a:lnSpc>
                <a:spcPct val="118000"/>
              </a:lnSpc>
              <a:spcBef>
                <a:spcPts val="0"/>
              </a:spcBef>
              <a:spcAft>
                <a:spcPts val="0"/>
              </a:spcAft>
            </a:pPr>
            <a:r>
              <a:rPr sz="880" b="1" i="0">
                <a:solidFill>
                  <a:srgbClr val="2563EB"/>
                </a:solidFill>
                <a:latin typeface="Segoe UI"/>
              </a:rPr>
              <a:t>gate</a:t>
            </a:r>
          </a:p>
        </p:txBody>
      </p:sp>
      <p:sp>
        <p:nvSpPr>
          <p:cNvPr id="57" name="Rectangle 56"/>
          <p:cNvSpPr/>
          <p:nvPr/>
        </p:nvSpPr>
        <p:spPr>
          <a:xfrm>
            <a:off x="566928" y="4160519"/>
            <a:ext cx="5806440" cy="2468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731520" y="4201667"/>
            <a:ext cx="2743200" cy="201168"/>
          </a:xfrm>
          <a:prstGeom prst="rect">
            <a:avLst/>
          </a:prstGeom>
          <a:noFill/>
        </p:spPr>
        <p:txBody>
          <a:bodyPr wrap="square" lIns="0" rIns="0" tIns="0" bIns="0" anchor="t">
            <a:spAutoFit/>
          </a:bodyPr>
          <a:lstStyle/>
          <a:p>
            <a:pPr algn="l">
              <a:lnSpc>
                <a:spcPct val="118000"/>
              </a:lnSpc>
              <a:spcBef>
                <a:spcPts val="0"/>
              </a:spcBef>
              <a:spcAft>
                <a:spcPts val="0"/>
              </a:spcAft>
            </a:pPr>
            <a:r>
              <a:rPr sz="880" b="1" i="0">
                <a:solidFill>
                  <a:srgbClr val="0F172A"/>
                </a:solidFill>
                <a:latin typeface="Segoe UI"/>
              </a:rPr>
              <a:t>Preferred curriculum</a:t>
            </a:r>
          </a:p>
        </p:txBody>
      </p:sp>
      <p:sp>
        <p:nvSpPr>
          <p:cNvPr id="59" name="TextBox 58"/>
          <p:cNvSpPr txBox="1"/>
          <p:nvPr/>
        </p:nvSpPr>
        <p:spPr>
          <a:xfrm>
            <a:off x="3538728" y="4201667"/>
            <a:ext cx="2240280" cy="201168"/>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475569"/>
                </a:solidFill>
                <a:latin typeface="Segoe UI"/>
              </a:rPr>
              <a:t>Exact tutor curriculum match</a:t>
            </a:r>
          </a:p>
        </p:txBody>
      </p:sp>
      <p:sp>
        <p:nvSpPr>
          <p:cNvPr id="60" name="TextBox 59"/>
          <p:cNvSpPr txBox="1"/>
          <p:nvPr/>
        </p:nvSpPr>
        <p:spPr>
          <a:xfrm>
            <a:off x="5504688" y="4201667"/>
            <a:ext cx="731520" cy="201168"/>
          </a:xfrm>
          <a:prstGeom prst="rect">
            <a:avLst/>
          </a:prstGeom>
          <a:noFill/>
        </p:spPr>
        <p:txBody>
          <a:bodyPr wrap="square" lIns="0" rIns="0" tIns="0" bIns="0" anchor="t">
            <a:spAutoFit/>
          </a:bodyPr>
          <a:lstStyle/>
          <a:p>
            <a:pPr algn="r">
              <a:lnSpc>
                <a:spcPct val="118000"/>
              </a:lnSpc>
              <a:spcBef>
                <a:spcPts val="0"/>
              </a:spcBef>
              <a:spcAft>
                <a:spcPts val="0"/>
              </a:spcAft>
            </a:pPr>
            <a:r>
              <a:rPr sz="880" b="1" i="0">
                <a:solidFill>
                  <a:srgbClr val="10B981"/>
                </a:solidFill>
                <a:latin typeface="Segoe UI"/>
              </a:rPr>
              <a:t>30</a:t>
            </a:r>
          </a:p>
        </p:txBody>
      </p:sp>
      <p:sp>
        <p:nvSpPr>
          <p:cNvPr id="61" name="Rectangle 60"/>
          <p:cNvSpPr/>
          <p:nvPr/>
        </p:nvSpPr>
        <p:spPr>
          <a:xfrm>
            <a:off x="566928" y="4407407"/>
            <a:ext cx="5806440" cy="24688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731520" y="4448555"/>
            <a:ext cx="2743200" cy="201168"/>
          </a:xfrm>
          <a:prstGeom prst="rect">
            <a:avLst/>
          </a:prstGeom>
          <a:noFill/>
        </p:spPr>
        <p:txBody>
          <a:bodyPr wrap="square" lIns="0" rIns="0" tIns="0" bIns="0" anchor="t">
            <a:spAutoFit/>
          </a:bodyPr>
          <a:lstStyle/>
          <a:p>
            <a:pPr algn="l">
              <a:lnSpc>
                <a:spcPct val="118000"/>
              </a:lnSpc>
              <a:spcBef>
                <a:spcPts val="0"/>
              </a:spcBef>
              <a:spcAft>
                <a:spcPts val="0"/>
              </a:spcAft>
            </a:pPr>
            <a:r>
              <a:rPr sz="880" b="1" i="0">
                <a:solidFill>
                  <a:srgbClr val="0F172A"/>
                </a:solidFill>
                <a:latin typeface="Segoe UI"/>
              </a:rPr>
              <a:t>Preferred location</a:t>
            </a:r>
          </a:p>
        </p:txBody>
      </p:sp>
      <p:sp>
        <p:nvSpPr>
          <p:cNvPr id="63" name="TextBox 62"/>
          <p:cNvSpPr txBox="1"/>
          <p:nvPr/>
        </p:nvSpPr>
        <p:spPr>
          <a:xfrm>
            <a:off x="3538728" y="4448555"/>
            <a:ext cx="2240280" cy="201168"/>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475569"/>
                </a:solidFill>
                <a:latin typeface="Segoe UI"/>
              </a:rPr>
              <a:t>State / area match, or online mode</a:t>
            </a:r>
          </a:p>
        </p:txBody>
      </p:sp>
      <p:sp>
        <p:nvSpPr>
          <p:cNvPr id="64" name="TextBox 63"/>
          <p:cNvSpPr txBox="1"/>
          <p:nvPr/>
        </p:nvSpPr>
        <p:spPr>
          <a:xfrm>
            <a:off x="5504688" y="4448555"/>
            <a:ext cx="731520" cy="201168"/>
          </a:xfrm>
          <a:prstGeom prst="rect">
            <a:avLst/>
          </a:prstGeom>
          <a:noFill/>
        </p:spPr>
        <p:txBody>
          <a:bodyPr wrap="square" lIns="0" rIns="0" tIns="0" bIns="0" anchor="t">
            <a:spAutoFit/>
          </a:bodyPr>
          <a:lstStyle/>
          <a:p>
            <a:pPr algn="r">
              <a:lnSpc>
                <a:spcPct val="118000"/>
              </a:lnSpc>
              <a:spcBef>
                <a:spcPts val="0"/>
              </a:spcBef>
              <a:spcAft>
                <a:spcPts val="0"/>
              </a:spcAft>
            </a:pPr>
            <a:r>
              <a:rPr sz="880" b="1" i="0">
                <a:solidFill>
                  <a:srgbClr val="10B981"/>
                </a:solidFill>
                <a:latin typeface="Segoe UI"/>
              </a:rPr>
              <a:t>20</a:t>
            </a:r>
          </a:p>
        </p:txBody>
      </p:sp>
      <p:sp>
        <p:nvSpPr>
          <p:cNvPr id="65" name="Rectangle 64"/>
          <p:cNvSpPr/>
          <p:nvPr/>
        </p:nvSpPr>
        <p:spPr>
          <a:xfrm>
            <a:off x="566928" y="4654295"/>
            <a:ext cx="5806440" cy="2468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731520" y="4695443"/>
            <a:ext cx="2743200" cy="201168"/>
          </a:xfrm>
          <a:prstGeom prst="rect">
            <a:avLst/>
          </a:prstGeom>
          <a:noFill/>
        </p:spPr>
        <p:txBody>
          <a:bodyPr wrap="square" lIns="0" rIns="0" tIns="0" bIns="0" anchor="t">
            <a:spAutoFit/>
          </a:bodyPr>
          <a:lstStyle/>
          <a:p>
            <a:pPr algn="l">
              <a:lnSpc>
                <a:spcPct val="118000"/>
              </a:lnSpc>
              <a:spcBef>
                <a:spcPts val="0"/>
              </a:spcBef>
              <a:spcAft>
                <a:spcPts val="0"/>
              </a:spcAft>
            </a:pPr>
            <a:r>
              <a:rPr sz="880" b="1" i="0">
                <a:solidFill>
                  <a:srgbClr val="0F172A"/>
                </a:solidFill>
                <a:latin typeface="Segoe UI"/>
              </a:rPr>
              <a:t>Preferred availability</a:t>
            </a:r>
          </a:p>
        </p:txBody>
      </p:sp>
      <p:sp>
        <p:nvSpPr>
          <p:cNvPr id="67" name="TextBox 66"/>
          <p:cNvSpPr txBox="1"/>
          <p:nvPr/>
        </p:nvSpPr>
        <p:spPr>
          <a:xfrm>
            <a:off x="3538728" y="4695443"/>
            <a:ext cx="2240280" cy="201168"/>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475569"/>
                </a:solidFill>
                <a:latin typeface="Segoe UI"/>
              </a:rPr>
              <a:t>Weekday or weekend slot overlap</a:t>
            </a:r>
          </a:p>
        </p:txBody>
      </p:sp>
      <p:sp>
        <p:nvSpPr>
          <p:cNvPr id="68" name="TextBox 67"/>
          <p:cNvSpPr txBox="1"/>
          <p:nvPr/>
        </p:nvSpPr>
        <p:spPr>
          <a:xfrm>
            <a:off x="5504688" y="4695443"/>
            <a:ext cx="731520" cy="201168"/>
          </a:xfrm>
          <a:prstGeom prst="rect">
            <a:avLst/>
          </a:prstGeom>
          <a:noFill/>
        </p:spPr>
        <p:txBody>
          <a:bodyPr wrap="square" lIns="0" rIns="0" tIns="0" bIns="0" anchor="t">
            <a:spAutoFit/>
          </a:bodyPr>
          <a:lstStyle/>
          <a:p>
            <a:pPr algn="r">
              <a:lnSpc>
                <a:spcPct val="118000"/>
              </a:lnSpc>
              <a:spcBef>
                <a:spcPts val="0"/>
              </a:spcBef>
              <a:spcAft>
                <a:spcPts val="0"/>
              </a:spcAft>
            </a:pPr>
            <a:r>
              <a:rPr sz="880" b="1" i="0">
                <a:solidFill>
                  <a:srgbClr val="10B981"/>
                </a:solidFill>
                <a:latin typeface="Segoe UI"/>
              </a:rPr>
              <a:t>10</a:t>
            </a:r>
          </a:p>
        </p:txBody>
      </p:sp>
      <p:sp>
        <p:nvSpPr>
          <p:cNvPr id="69" name="Rectangle 68"/>
          <p:cNvSpPr/>
          <p:nvPr/>
        </p:nvSpPr>
        <p:spPr>
          <a:xfrm>
            <a:off x="566928" y="4901183"/>
            <a:ext cx="5806440" cy="24688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731520" y="4942331"/>
            <a:ext cx="2743200" cy="201168"/>
          </a:xfrm>
          <a:prstGeom prst="rect">
            <a:avLst/>
          </a:prstGeom>
          <a:noFill/>
        </p:spPr>
        <p:txBody>
          <a:bodyPr wrap="square" lIns="0" rIns="0" tIns="0" bIns="0" anchor="t">
            <a:spAutoFit/>
          </a:bodyPr>
          <a:lstStyle/>
          <a:p>
            <a:pPr algn="l">
              <a:lnSpc>
                <a:spcPct val="118000"/>
              </a:lnSpc>
              <a:spcBef>
                <a:spcPts val="0"/>
              </a:spcBef>
              <a:spcAft>
                <a:spcPts val="0"/>
              </a:spcAft>
            </a:pPr>
            <a:r>
              <a:rPr sz="880" b="1" i="0">
                <a:solidFill>
                  <a:srgbClr val="0F172A"/>
                </a:solidFill>
                <a:latin typeface="Segoe UI"/>
              </a:rPr>
              <a:t>Verified tutor</a:t>
            </a:r>
          </a:p>
        </p:txBody>
      </p:sp>
      <p:sp>
        <p:nvSpPr>
          <p:cNvPr id="71" name="TextBox 70"/>
          <p:cNvSpPr txBox="1"/>
          <p:nvPr/>
        </p:nvSpPr>
        <p:spPr>
          <a:xfrm>
            <a:off x="3538728" y="4942331"/>
            <a:ext cx="2240280" cy="201168"/>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475569"/>
                </a:solidFill>
                <a:latin typeface="Segoe UI"/>
              </a:rPr>
              <a:t>tutor_profiles.is_verified = TRUE</a:t>
            </a:r>
          </a:p>
        </p:txBody>
      </p:sp>
      <p:sp>
        <p:nvSpPr>
          <p:cNvPr id="72" name="TextBox 71"/>
          <p:cNvSpPr txBox="1"/>
          <p:nvPr/>
        </p:nvSpPr>
        <p:spPr>
          <a:xfrm>
            <a:off x="5504688" y="4942331"/>
            <a:ext cx="731520" cy="201168"/>
          </a:xfrm>
          <a:prstGeom prst="rect">
            <a:avLst/>
          </a:prstGeom>
          <a:noFill/>
        </p:spPr>
        <p:txBody>
          <a:bodyPr wrap="square" lIns="0" rIns="0" tIns="0" bIns="0" anchor="t">
            <a:spAutoFit/>
          </a:bodyPr>
          <a:lstStyle/>
          <a:p>
            <a:pPr algn="r">
              <a:lnSpc>
                <a:spcPct val="118000"/>
              </a:lnSpc>
              <a:spcBef>
                <a:spcPts val="0"/>
              </a:spcBef>
              <a:spcAft>
                <a:spcPts val="0"/>
              </a:spcAft>
            </a:pPr>
            <a:r>
              <a:rPr sz="880" b="1" i="0">
                <a:solidFill>
                  <a:srgbClr val="F59E0B"/>
                </a:solidFill>
                <a:latin typeface="Segoe UI"/>
              </a:rPr>
              <a:t>5</a:t>
            </a:r>
          </a:p>
        </p:txBody>
      </p:sp>
      <p:sp>
        <p:nvSpPr>
          <p:cNvPr id="73" name="Rectangle 72"/>
          <p:cNvSpPr/>
          <p:nvPr/>
        </p:nvSpPr>
        <p:spPr>
          <a:xfrm>
            <a:off x="566928" y="5148071"/>
            <a:ext cx="5806440" cy="2468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731520" y="5189219"/>
            <a:ext cx="2743200" cy="201168"/>
          </a:xfrm>
          <a:prstGeom prst="rect">
            <a:avLst/>
          </a:prstGeom>
          <a:noFill/>
        </p:spPr>
        <p:txBody>
          <a:bodyPr wrap="square" lIns="0" rIns="0" tIns="0" bIns="0" anchor="t">
            <a:spAutoFit/>
          </a:bodyPr>
          <a:lstStyle/>
          <a:p>
            <a:pPr algn="l">
              <a:lnSpc>
                <a:spcPct val="118000"/>
              </a:lnSpc>
              <a:spcBef>
                <a:spcPts val="0"/>
              </a:spcBef>
              <a:spcAft>
                <a:spcPts val="0"/>
              </a:spcAft>
            </a:pPr>
            <a:r>
              <a:rPr sz="880" b="1" i="0">
                <a:solidFill>
                  <a:srgbClr val="0F172A"/>
                </a:solidFill>
                <a:latin typeface="Segoe UI"/>
              </a:rPr>
              <a:t>Rating ≥ 4</a:t>
            </a:r>
          </a:p>
        </p:txBody>
      </p:sp>
      <p:sp>
        <p:nvSpPr>
          <p:cNvPr id="75" name="TextBox 74"/>
          <p:cNvSpPr txBox="1"/>
          <p:nvPr/>
        </p:nvSpPr>
        <p:spPr>
          <a:xfrm>
            <a:off x="3538728" y="5189219"/>
            <a:ext cx="2240280" cy="201168"/>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475569"/>
                </a:solidFill>
                <a:latin typeface="Segoe UI"/>
              </a:rPr>
              <a:t>rating_avg ≥ 4; total_reviews &gt; 0</a:t>
            </a:r>
          </a:p>
        </p:txBody>
      </p:sp>
      <p:sp>
        <p:nvSpPr>
          <p:cNvPr id="76" name="TextBox 75"/>
          <p:cNvSpPr txBox="1"/>
          <p:nvPr/>
        </p:nvSpPr>
        <p:spPr>
          <a:xfrm>
            <a:off x="5504688" y="5189219"/>
            <a:ext cx="731520" cy="201168"/>
          </a:xfrm>
          <a:prstGeom prst="rect">
            <a:avLst/>
          </a:prstGeom>
          <a:noFill/>
        </p:spPr>
        <p:txBody>
          <a:bodyPr wrap="square" lIns="0" rIns="0" tIns="0" bIns="0" anchor="t">
            <a:spAutoFit/>
          </a:bodyPr>
          <a:lstStyle/>
          <a:p>
            <a:pPr algn="r">
              <a:lnSpc>
                <a:spcPct val="118000"/>
              </a:lnSpc>
              <a:spcBef>
                <a:spcPts val="0"/>
              </a:spcBef>
              <a:spcAft>
                <a:spcPts val="0"/>
              </a:spcAft>
            </a:pPr>
            <a:r>
              <a:rPr sz="880" b="1" i="0">
                <a:solidFill>
                  <a:srgbClr val="F59E0B"/>
                </a:solidFill>
                <a:latin typeface="Segoe UI"/>
              </a:rPr>
              <a:t>5</a:t>
            </a:r>
          </a:p>
        </p:txBody>
      </p:sp>
      <p:cxnSp>
        <p:nvCxnSpPr>
          <p:cNvPr id="77" name="Connector 76"/>
          <p:cNvCxnSpPr/>
          <p:nvPr/>
        </p:nvCxnSpPr>
        <p:spPr>
          <a:xfrm>
            <a:off x="566928" y="5394959"/>
            <a:ext cx="580644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78" name="Rounded Rectangle 77"/>
          <p:cNvSpPr/>
          <p:nvPr/>
        </p:nvSpPr>
        <p:spPr>
          <a:xfrm>
            <a:off x="6647688" y="3419856"/>
            <a:ext cx="4977079" cy="1975104"/>
          </a:xfrm>
          <a:prstGeom prst="roundRect">
            <a:avLst>
              <a:gd name="adj" fmla="val 5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tIns="109728" bIns="73152"/>
          <a:lstStyle/>
          <a:p>
            <a:pPr algn="ctr">
              <a:lnSpc>
                <a:spcPct val="110000"/>
              </a:lnSpc>
            </a:pPr>
            <a:r>
              <a:rPr sz="950" b="1" i="0">
                <a:solidFill>
                  <a:srgbClr val="10B981"/>
                </a:solidFill>
                <a:latin typeface="Segoe UI"/>
              </a:rPr>
              <a:t>HOW THE ENGINE WORKS</a:t>
            </a:r>
          </a:p>
          <a:p>
            <a:pPr>
              <a:lnSpc>
                <a:spcPct val="122000"/>
              </a:lnSpc>
              <a:spcBef>
                <a:spcPts val="100"/>
              </a:spcBef>
            </a:pPr>
            <a:r>
              <a:rPr sz="900" b="1" i="0">
                <a:solidFill>
                  <a:srgbClr val="F59E0B"/>
                </a:solidFill>
                <a:latin typeface="Segoe UI"/>
              </a:rPr>
              <a:t>lib/matching/smart-match.ts</a:t>
            </a:r>
            <a:r>
              <a:rPr sz="900" b="0" i="0">
                <a:solidFill>
                  <a:srgbClr val="E2E8F0"/>
                </a:solidFill>
                <a:latin typeface="Segoe UI"/>
              </a:rPr>
              <a:t/>
            </a:r>
          </a:p>
          <a:p>
            <a:pPr>
              <a:lnSpc>
                <a:spcPct val="122000"/>
              </a:lnSpc>
              <a:spcBef>
                <a:spcPts val="100"/>
              </a:spcBef>
            </a:pPr>
            <a:r>
              <a:rPr sz="900" b="1" i="0">
                <a:solidFill>
                  <a:srgbClr val="F59E0B"/>
                </a:solidFill>
                <a:latin typeface="Segoe UI"/>
              </a:rPr>
              <a:t/>
            </a:r>
            <a:r>
              <a:rPr sz="900" b="0" i="0">
                <a:solidFill>
                  <a:srgbClr val="E2E8F0"/>
                </a:solidFill>
                <a:latin typeface="Segoe UI"/>
              </a:rPr>
              <a:t/>
            </a:r>
          </a:p>
          <a:p>
            <a:pPr>
              <a:lnSpc>
                <a:spcPct val="122000"/>
              </a:lnSpc>
              <a:spcBef>
                <a:spcPts val="100"/>
              </a:spcBef>
            </a:pPr>
            <a:r>
              <a:rPr sz="900" b="1" i="0">
                <a:solidFill>
                  <a:srgbClr val="F59E0B"/>
                </a:solidFill>
                <a:latin typeface="Segoe UI"/>
              </a:rPr>
              <a:t>normalize()</a:t>
            </a:r>
            <a:r>
              <a:rPr sz="900" b="0" i="0">
                <a:solidFill>
                  <a:srgbClr val="E2E8F0"/>
                </a:solidFill>
                <a:latin typeface="Segoe UI"/>
              </a:rPr>
              <a:t>  → NFKD, lower-case, strip emoji</a:t>
            </a:r>
          </a:p>
          <a:p>
            <a:pPr>
              <a:lnSpc>
                <a:spcPct val="122000"/>
              </a:lnSpc>
              <a:spcBef>
                <a:spcPts val="100"/>
              </a:spcBef>
            </a:pPr>
            <a:r>
              <a:rPr sz="900" b="1" i="0">
                <a:solidFill>
                  <a:srgbClr val="F59E0B"/>
                </a:solidFill>
                <a:latin typeface="Segoe UI"/>
              </a:rPr>
              <a:t>SUBJECT_GROUPS</a:t>
            </a:r>
            <a:r>
              <a:rPr sz="900" b="0" i="0">
                <a:solidFill>
                  <a:srgbClr val="E2E8F0"/>
                </a:solidFill>
                <a:latin typeface="Segoe UI"/>
              </a:rPr>
              <a:t>  → 6 subject families + synonyms</a:t>
            </a:r>
          </a:p>
          <a:p>
            <a:pPr>
              <a:lnSpc>
                <a:spcPct val="122000"/>
              </a:lnSpc>
              <a:spcBef>
                <a:spcPts val="100"/>
              </a:spcBef>
            </a:pPr>
            <a:r>
              <a:rPr sz="900" b="1" i="0">
                <a:solidFill>
                  <a:srgbClr val="F59E0B"/>
                </a:solidFill>
                <a:latin typeface="Segoe UI"/>
              </a:rPr>
              <a:t/>
            </a:r>
            <a:r>
              <a:rPr sz="900" b="0" i="0">
                <a:solidFill>
                  <a:srgbClr val="E2E8F0"/>
                </a:solidFill>
                <a:latin typeface="Segoe UI"/>
              </a:rPr>
              <a:t>    ("maths" ≡ "mathematics" ≡</a:t>
            </a:r>
          </a:p>
          <a:p>
            <a:pPr>
              <a:lnSpc>
                <a:spcPct val="122000"/>
              </a:lnSpc>
              <a:spcBef>
                <a:spcPts val="100"/>
              </a:spcBef>
            </a:pPr>
            <a:r>
              <a:rPr sz="900" b="1" i="0">
                <a:solidFill>
                  <a:srgbClr val="F59E0B"/>
                </a:solidFill>
                <a:latin typeface="Segoe UI"/>
              </a:rPr>
              <a:t/>
            </a:r>
            <a:r>
              <a:rPr sz="900" b="0" i="0">
                <a:solidFill>
                  <a:srgbClr val="E2E8F0"/>
                </a:solidFill>
                <a:latin typeface="Segoe UI"/>
              </a:rPr>
              <a:t>     "further mathematics")</a:t>
            </a:r>
          </a:p>
          <a:p>
            <a:pPr>
              <a:lnSpc>
                <a:spcPct val="122000"/>
              </a:lnSpc>
              <a:spcBef>
                <a:spcPts val="100"/>
              </a:spcBef>
            </a:pPr>
            <a:r>
              <a:rPr sz="900" b="1" i="0">
                <a:solidFill>
                  <a:srgbClr val="F59E0B"/>
                </a:solidFill>
                <a:latin typeface="Segoe UI"/>
              </a:rPr>
              <a:t/>
            </a:r>
            <a:r>
              <a:rPr sz="900" b="0" i="0">
                <a:solidFill>
                  <a:srgbClr val="E2E8F0"/>
                </a:solidFill>
                <a:latin typeface="Segoe UI"/>
              </a:rPr>
              <a:t/>
            </a:r>
          </a:p>
          <a:p>
            <a:pPr>
              <a:lnSpc>
                <a:spcPct val="122000"/>
              </a:lnSpc>
              <a:spcBef>
                <a:spcPts val="100"/>
              </a:spcBef>
            </a:pPr>
            <a:r>
              <a:rPr sz="900" b="1" i="0">
                <a:solidFill>
                  <a:srgbClr val="F59E0B"/>
                </a:solidFill>
                <a:latin typeface="Segoe UI"/>
              </a:rPr>
              <a:t>filter()</a:t>
            </a:r>
            <a:r>
              <a:rPr sz="900" b="0" i="0">
                <a:solidFill>
                  <a:srgbClr val="E2E8F0"/>
                </a:solidFill>
                <a:latin typeface="Segoe UI"/>
              </a:rPr>
              <a:t>  → subject + budget are gates</a:t>
            </a:r>
          </a:p>
          <a:p>
            <a:pPr>
              <a:lnSpc>
                <a:spcPct val="122000"/>
              </a:lnSpc>
              <a:spcBef>
                <a:spcPts val="100"/>
              </a:spcBef>
            </a:pPr>
            <a:r>
              <a:rPr sz="900" b="1" i="0">
                <a:solidFill>
                  <a:srgbClr val="F59E0B"/>
                </a:solidFill>
                <a:latin typeface="Segoe UI"/>
              </a:rPr>
              <a:t>map()</a:t>
            </a:r>
            <a:r>
              <a:rPr sz="900" b="0" i="0">
                <a:solidFill>
                  <a:srgbClr val="E2E8F0"/>
                </a:solidFill>
                <a:latin typeface="Segoe UI"/>
              </a:rPr>
              <a:t>  → weighted points + reasons[]</a:t>
            </a:r>
          </a:p>
          <a:p>
            <a:pPr>
              <a:lnSpc>
                <a:spcPct val="122000"/>
              </a:lnSpc>
              <a:spcBef>
                <a:spcPts val="100"/>
              </a:spcBef>
            </a:pPr>
            <a:r>
              <a:rPr sz="900" b="1" i="0">
                <a:solidFill>
                  <a:srgbClr val="F59E0B"/>
                </a:solidFill>
                <a:latin typeface="Segoe UI"/>
              </a:rPr>
              <a:t>sort()</a:t>
            </a:r>
            <a:r>
              <a:rPr sz="900" b="0" i="0">
                <a:solidFill>
                  <a:srgbClr val="E2E8F0"/>
                </a:solidFill>
                <a:latin typeface="Segoe UI"/>
              </a:rPr>
              <a:t>  → score ↓, rating ↓, price ↑</a:t>
            </a:r>
          </a:p>
          <a:p>
            <a:pPr>
              <a:lnSpc>
                <a:spcPct val="122000"/>
              </a:lnSpc>
              <a:spcBef>
                <a:spcPts val="100"/>
              </a:spcBef>
            </a:pPr>
            <a:r>
              <a:rPr sz="900" b="1" i="0">
                <a:solidFill>
                  <a:srgbClr val="F59E0B"/>
                </a:solidFill>
                <a:latin typeface="Segoe UI"/>
              </a:rPr>
              <a:t/>
            </a:r>
            <a:r>
              <a:rPr sz="900" b="0" i="0">
                <a:solidFill>
                  <a:srgbClr val="E2E8F0"/>
                </a:solidFill>
                <a:latin typeface="Segoe UI"/>
              </a:rPr>
              <a:t/>
            </a:r>
          </a:p>
          <a:p>
            <a:pPr>
              <a:lnSpc>
                <a:spcPct val="122000"/>
              </a:lnSpc>
              <a:spcBef>
                <a:spcPts val="100"/>
              </a:spcBef>
            </a:pPr>
            <a:r>
              <a:rPr sz="900" b="1" i="0">
                <a:solidFill>
                  <a:srgbClr val="F59E0B"/>
                </a:solidFill>
                <a:latin typeface="Segoe UI"/>
              </a:rPr>
              <a:t>score = round(earned / possible × 100)</a:t>
            </a:r>
            <a:r>
              <a:rPr sz="900" b="0" i="0">
                <a:solidFill>
                  <a:srgbClr val="E2E8F0"/>
                </a:solidFill>
                <a:latin typeface="Segoe UI"/>
              </a:rPr>
              <a:t/>
            </a:r>
          </a:p>
        </p:txBody>
      </p:sp>
      <p:sp>
        <p:nvSpPr>
          <p:cNvPr id="79" name="Rounded Rectangle 78"/>
          <p:cNvSpPr/>
          <p:nvPr/>
        </p:nvSpPr>
        <p:spPr>
          <a:xfrm>
            <a:off x="566928" y="5449824"/>
            <a:ext cx="11057839" cy="621792"/>
          </a:xfrm>
          <a:prstGeom prst="roundRect">
            <a:avLst>
              <a:gd name="adj" fmla="val 6000"/>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TextBox 79"/>
          <p:cNvSpPr txBox="1"/>
          <p:nvPr/>
        </p:nvSpPr>
        <p:spPr>
          <a:xfrm>
            <a:off x="822960" y="5596128"/>
            <a:ext cx="10545775" cy="329184"/>
          </a:xfrm>
          <a:prstGeom prst="rect">
            <a:avLst/>
          </a:prstGeom>
          <a:noFill/>
        </p:spPr>
        <p:txBody>
          <a:bodyPr wrap="square" lIns="0" rIns="0" tIns="0" bIns="0" anchor="ctr">
            <a:spAutoFit/>
          </a:bodyPr>
          <a:lstStyle/>
          <a:p>
            <a:pPr algn="l">
              <a:lnSpc>
                <a:spcPct val="120000"/>
              </a:lnSpc>
            </a:pPr>
            <a:r>
              <a:rPr sz="1150" b="1" i="0">
                <a:solidFill>
                  <a:srgbClr val="0F172A"/>
                </a:solidFill>
                <a:latin typeface="Segoe UI"/>
              </a:rPr>
              <a:t>Accuracy note:  </a:t>
            </a:r>
            <a:r>
              <a:rPr sz="1150" b="0" i="0">
                <a:solidFill>
                  <a:srgbClr val="334155"/>
                </a:solidFill>
                <a:latin typeface="Segoe UI"/>
              </a:rPr>
              <a:t>No ML model, LLM, embeddings or predictive service appears in the dependencies. ‘Smart’ is a deterministic rules engine; every result exposes its score and reasons.</a:t>
            </a:r>
          </a:p>
        </p:txBody>
      </p:sp>
      <p:cxnSp>
        <p:nvCxnSpPr>
          <p:cNvPr id="81" name="Connector 80"/>
          <p:cNvCxnSpPr/>
          <p:nvPr/>
        </p:nvCxnSpPr>
        <p:spPr>
          <a:xfrm>
            <a:off x="566928" y="6382512"/>
            <a:ext cx="11057839"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566928" y="6473952"/>
            <a:ext cx="9777679" cy="219456"/>
          </a:xfrm>
          <a:prstGeom prst="rect">
            <a:avLst/>
          </a:prstGeom>
          <a:noFill/>
        </p:spPr>
        <p:txBody>
          <a:bodyPr wrap="square" lIns="0" rIns="0" tIns="0" bIns="0" anchor="t">
            <a:spAutoFit/>
          </a:bodyPr>
          <a:lstStyle/>
          <a:p>
            <a:pPr algn="l">
              <a:lnSpc>
                <a:spcPct val="118000"/>
              </a:lnSpc>
              <a:spcBef>
                <a:spcPts val="0"/>
              </a:spcBef>
              <a:spcAft>
                <a:spcPts val="0"/>
              </a:spcAft>
            </a:pPr>
            <a:r>
              <a:rPr sz="880" b="0" i="0">
                <a:solidFill>
                  <a:srgbClr val="94A3B8"/>
                </a:solidFill>
                <a:latin typeface="Segoe UI"/>
              </a:rPr>
              <a:t>Presenter: Hephzibah Uchechukwu · Smart Tutor Match</a:t>
            </a:r>
          </a:p>
        </p:txBody>
      </p:sp>
      <p:sp>
        <p:nvSpPr>
          <p:cNvPr id="83" name="TextBox 82"/>
          <p:cNvSpPr txBox="1"/>
          <p:nvPr/>
        </p:nvSpPr>
        <p:spPr>
          <a:xfrm>
            <a:off x="10436047" y="6473952"/>
            <a:ext cx="1188720" cy="219456"/>
          </a:xfrm>
          <a:prstGeom prst="rect">
            <a:avLst/>
          </a:prstGeom>
          <a:noFill/>
        </p:spPr>
        <p:txBody>
          <a:bodyPr wrap="square" lIns="0" rIns="0" tIns="0" bIns="0" anchor="t">
            <a:spAutoFit/>
          </a:bodyPr>
          <a:lstStyle/>
          <a:p>
            <a:pPr algn="r">
              <a:lnSpc>
                <a:spcPct val="118000"/>
              </a:lnSpc>
              <a:spcBef>
                <a:spcPts val="0"/>
              </a:spcBef>
              <a:spcAft>
                <a:spcPts val="0"/>
              </a:spcAft>
            </a:pPr>
            <a:r>
              <a:rPr sz="950" b="1" i="0">
                <a:solidFill>
                  <a:srgbClr val="94A3B8"/>
                </a:solidFill>
                <a:latin typeface="Segoe UI"/>
              </a:rP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420624"/>
            <a:ext cx="50292" cy="173736"/>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384048"/>
            <a:ext cx="5571439" cy="237744"/>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20">
                <a:solidFill>
                  <a:srgbClr val="2563EB"/>
                </a:solidFill>
                <a:latin typeface="Segoe UI"/>
              </a:rPr>
              <a:t>BACKEND DEVELOPMENT &amp; API ARCHITECTURE</a:t>
            </a:r>
          </a:p>
        </p:txBody>
      </p:sp>
      <p:sp>
        <p:nvSpPr>
          <p:cNvPr id="5" name="TextBox 4"/>
          <p:cNvSpPr txBox="1"/>
          <p:nvPr/>
        </p:nvSpPr>
        <p:spPr>
          <a:xfrm>
            <a:off x="566928" y="658368"/>
            <a:ext cx="11057839" cy="420624"/>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0F172A"/>
                </a:solidFill>
                <a:latin typeface="Segoe UI Semibold"/>
              </a:rPr>
              <a:t>How a request moves through our system</a:t>
            </a:r>
          </a:p>
        </p:txBody>
      </p:sp>
      <p:sp>
        <p:nvSpPr>
          <p:cNvPr id="6" name="TextBox 5"/>
          <p:cNvSpPr txBox="1"/>
          <p:nvPr/>
        </p:nvSpPr>
        <p:spPr>
          <a:xfrm>
            <a:off x="566928" y="1207008"/>
            <a:ext cx="10692079" cy="274320"/>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4748B"/>
                </a:solidFill>
                <a:latin typeface="Segoe UI"/>
              </a:rPr>
              <a:t>The backend is a set of HTTP route handlers that validate, authorise, query PostgreSQL and return JSON.</a:t>
            </a:r>
          </a:p>
        </p:txBody>
      </p:sp>
      <p:sp>
        <p:nvSpPr>
          <p:cNvPr id="7" name="Rounded Rectangle 6"/>
          <p:cNvSpPr/>
          <p:nvPr/>
        </p:nvSpPr>
        <p:spPr>
          <a:xfrm>
            <a:off x="6321247" y="365760"/>
            <a:ext cx="5303520" cy="246888"/>
          </a:xfrm>
          <a:prstGeom prst="roundRect">
            <a:avLst>
              <a:gd name="adj" fmla="val 50000"/>
            </a:avLst>
          </a:prstGeom>
          <a:solidFill>
            <a:srgbClr val="FFFFFF"/>
          </a:solidFill>
          <a:ln w="1016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lstStyle/>
          <a:p>
            <a:pPr algn="l"/>
            <a:r>
              <a:rPr sz="750" b="1" i="0" cap="all" spc="60">
                <a:solidFill>
                  <a:srgbClr val="64748B"/>
                </a:solidFill>
                <a:latin typeface="Segoe UI"/>
              </a:rPr>
              <a:t>PRESENTER  </a:t>
            </a:r>
            <a:r>
              <a:rPr sz="830" b="1" i="0">
                <a:solidFill>
                  <a:srgbClr val="0F172A"/>
                </a:solidFill>
                <a:latin typeface="Segoe UI"/>
              </a:rPr>
              <a:t>Chioma Helen Ezeufonna</a:t>
            </a:r>
            <a:r>
              <a:rPr sz="790" b="1" i="0">
                <a:solidFill>
                  <a:srgbClr val="059669"/>
                </a:solidFill>
                <a:latin typeface="Segoe UI"/>
              </a:rPr>
              <a:t>  ·  Backend · APIs · Auth</a:t>
            </a:r>
          </a:p>
        </p:txBody>
      </p:sp>
      <p:sp>
        <p:nvSpPr>
          <p:cNvPr id="8" name="Rounded Rectangle 7"/>
          <p:cNvSpPr/>
          <p:nvPr/>
        </p:nvSpPr>
        <p:spPr>
          <a:xfrm>
            <a:off x="566928" y="1828800"/>
            <a:ext cx="1975104" cy="1133856"/>
          </a:xfrm>
          <a:prstGeom prst="roundRect">
            <a:avLst>
              <a:gd name="adj" fmla="val 8000"/>
            </a:avLst>
          </a:prstGeom>
          <a:solidFill>
            <a:srgbClr val="FFFFFF"/>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566928" y="1828800"/>
            <a:ext cx="1975104" cy="50292"/>
          </a:xfrm>
          <a:prstGeom prst="roundRect">
            <a:avLst>
              <a:gd name="adj" fmla="val 8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94944" y="2011680"/>
            <a:ext cx="1719072" cy="274320"/>
          </a:xfrm>
          <a:prstGeom prst="rect">
            <a:avLst/>
          </a:prstGeom>
          <a:noFill/>
        </p:spPr>
        <p:txBody>
          <a:bodyPr wrap="square" lIns="0" rIns="0" tIns="0" bIns="0" anchor="t">
            <a:spAutoFit/>
          </a:bodyPr>
          <a:lstStyle/>
          <a:p>
            <a:pPr algn="ctr">
              <a:lnSpc>
                <a:spcPct val="118000"/>
              </a:lnSpc>
              <a:spcBef>
                <a:spcPts val="0"/>
              </a:spcBef>
              <a:spcAft>
                <a:spcPts val="0"/>
              </a:spcAft>
            </a:pPr>
            <a:r>
              <a:rPr sz="1200" b="1" i="0">
                <a:solidFill>
                  <a:srgbClr val="0F172A"/>
                </a:solidFill>
                <a:latin typeface="Segoe UI Semibold"/>
              </a:rPr>
              <a:t>React client</a:t>
            </a:r>
          </a:p>
        </p:txBody>
      </p:sp>
      <p:sp>
        <p:nvSpPr>
          <p:cNvPr id="11" name="TextBox 10"/>
          <p:cNvSpPr txBox="1"/>
          <p:nvPr/>
        </p:nvSpPr>
        <p:spPr>
          <a:xfrm>
            <a:off x="676656" y="2340864"/>
            <a:ext cx="1755648" cy="530352"/>
          </a:xfrm>
          <a:prstGeom prst="rect">
            <a:avLst/>
          </a:prstGeom>
          <a:noFill/>
        </p:spPr>
        <p:txBody>
          <a:bodyPr wrap="square" lIns="0" rIns="0" tIns="0" bIns="0" anchor="t">
            <a:spAutoFit/>
          </a:bodyPr>
          <a:lstStyle/>
          <a:p>
            <a:pPr algn="ctr">
              <a:lnSpc>
                <a:spcPct val="118000"/>
              </a:lnSpc>
              <a:spcBef>
                <a:spcPts val="0"/>
              </a:spcBef>
              <a:spcAft>
                <a:spcPts val="0"/>
              </a:spcAft>
            </a:pPr>
            <a:r>
              <a:rPr sz="880" b="0" i="0">
                <a:solidFill>
                  <a:srgbClr val="64748B"/>
                </a:solidFill>
                <a:latin typeface="Segoe UI"/>
              </a:rPr>
              <a:t>Browser — client components
in app/ and components/</a:t>
            </a:r>
          </a:p>
        </p:txBody>
      </p:sp>
      <p:sp>
        <p:nvSpPr>
          <p:cNvPr id="12" name="Right Arrow 11"/>
          <p:cNvSpPr/>
          <p:nvPr/>
        </p:nvSpPr>
        <p:spPr>
          <a:xfrm>
            <a:off x="2587752" y="2322576"/>
            <a:ext cx="201168" cy="164592"/>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34640" y="1828800"/>
            <a:ext cx="1975104" cy="1133856"/>
          </a:xfrm>
          <a:prstGeom prst="roundRect">
            <a:avLst>
              <a:gd name="adj" fmla="val 8000"/>
            </a:avLst>
          </a:prstGeom>
          <a:solidFill>
            <a:srgbClr val="FFFFFF"/>
          </a:solidFill>
          <a:ln w="1270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2834640" y="1828800"/>
            <a:ext cx="1975104" cy="50292"/>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962656" y="2011680"/>
            <a:ext cx="1719072" cy="274320"/>
          </a:xfrm>
          <a:prstGeom prst="rect">
            <a:avLst/>
          </a:prstGeom>
          <a:noFill/>
        </p:spPr>
        <p:txBody>
          <a:bodyPr wrap="square" lIns="0" rIns="0" tIns="0" bIns="0" anchor="t">
            <a:spAutoFit/>
          </a:bodyPr>
          <a:lstStyle/>
          <a:p>
            <a:pPr algn="ctr">
              <a:lnSpc>
                <a:spcPct val="118000"/>
              </a:lnSpc>
              <a:spcBef>
                <a:spcPts val="0"/>
              </a:spcBef>
              <a:spcAft>
                <a:spcPts val="0"/>
              </a:spcAft>
            </a:pPr>
            <a:r>
              <a:rPr sz="1200" b="1" i="0">
                <a:solidFill>
                  <a:srgbClr val="0F172A"/>
                </a:solidFill>
                <a:latin typeface="Segoe UI Semibold"/>
              </a:rPr>
              <a:t>Route handlers</a:t>
            </a:r>
          </a:p>
        </p:txBody>
      </p:sp>
      <p:sp>
        <p:nvSpPr>
          <p:cNvPr id="16" name="TextBox 15"/>
          <p:cNvSpPr txBox="1"/>
          <p:nvPr/>
        </p:nvSpPr>
        <p:spPr>
          <a:xfrm>
            <a:off x="2944368" y="2340864"/>
            <a:ext cx="1755648" cy="530352"/>
          </a:xfrm>
          <a:prstGeom prst="rect">
            <a:avLst/>
          </a:prstGeom>
          <a:noFill/>
        </p:spPr>
        <p:txBody>
          <a:bodyPr wrap="square" lIns="0" rIns="0" tIns="0" bIns="0" anchor="t">
            <a:spAutoFit/>
          </a:bodyPr>
          <a:lstStyle/>
          <a:p>
            <a:pPr algn="ctr">
              <a:lnSpc>
                <a:spcPct val="118000"/>
              </a:lnSpc>
              <a:spcBef>
                <a:spcPts val="0"/>
              </a:spcBef>
              <a:spcAft>
                <a:spcPts val="0"/>
              </a:spcAft>
            </a:pPr>
            <a:r>
              <a:rPr sz="880" b="0" i="0">
                <a:solidFill>
                  <a:srgbClr val="64748B"/>
                </a:solidFill>
                <a:latin typeface="Segoe UI"/>
              </a:rPr>
              <a:t>app/api/*/route.ts
runtime = "nodejs"</a:t>
            </a:r>
          </a:p>
        </p:txBody>
      </p:sp>
      <p:sp>
        <p:nvSpPr>
          <p:cNvPr id="17" name="Right Arrow 16"/>
          <p:cNvSpPr/>
          <p:nvPr/>
        </p:nvSpPr>
        <p:spPr>
          <a:xfrm>
            <a:off x="4855464" y="2322576"/>
            <a:ext cx="201168" cy="164592"/>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102352" y="1828800"/>
            <a:ext cx="1975104" cy="1133856"/>
          </a:xfrm>
          <a:prstGeom prst="roundRect">
            <a:avLst>
              <a:gd name="adj" fmla="val 8000"/>
            </a:avLst>
          </a:prstGeom>
          <a:solidFill>
            <a:srgbClr val="FFFF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5102352" y="1828800"/>
            <a:ext cx="1975104" cy="50292"/>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230368" y="2011680"/>
            <a:ext cx="1719072" cy="274320"/>
          </a:xfrm>
          <a:prstGeom prst="rect">
            <a:avLst/>
          </a:prstGeom>
          <a:noFill/>
        </p:spPr>
        <p:txBody>
          <a:bodyPr wrap="square" lIns="0" rIns="0" tIns="0" bIns="0" anchor="t">
            <a:spAutoFit/>
          </a:bodyPr>
          <a:lstStyle/>
          <a:p>
            <a:pPr algn="ctr">
              <a:lnSpc>
                <a:spcPct val="118000"/>
              </a:lnSpc>
              <a:spcBef>
                <a:spcPts val="0"/>
              </a:spcBef>
              <a:spcAft>
                <a:spcPts val="0"/>
              </a:spcAft>
            </a:pPr>
            <a:r>
              <a:rPr sz="1200" b="1" i="0">
                <a:solidFill>
                  <a:srgbClr val="0F172A"/>
                </a:solidFill>
                <a:latin typeface="Segoe UI Semibold"/>
              </a:rPr>
              <a:t>Business rules</a:t>
            </a:r>
          </a:p>
        </p:txBody>
      </p:sp>
      <p:sp>
        <p:nvSpPr>
          <p:cNvPr id="21" name="TextBox 20"/>
          <p:cNvSpPr txBox="1"/>
          <p:nvPr/>
        </p:nvSpPr>
        <p:spPr>
          <a:xfrm>
            <a:off x="5212080" y="2340864"/>
            <a:ext cx="1755648" cy="530352"/>
          </a:xfrm>
          <a:prstGeom prst="rect">
            <a:avLst/>
          </a:prstGeom>
          <a:noFill/>
        </p:spPr>
        <p:txBody>
          <a:bodyPr wrap="square" lIns="0" rIns="0" tIns="0" bIns="0" anchor="t">
            <a:spAutoFit/>
          </a:bodyPr>
          <a:lstStyle/>
          <a:p>
            <a:pPr algn="ctr">
              <a:lnSpc>
                <a:spcPct val="118000"/>
              </a:lnSpc>
              <a:spcBef>
                <a:spcPts val="0"/>
              </a:spcBef>
              <a:spcAft>
                <a:spcPts val="0"/>
              </a:spcAft>
            </a:pPr>
            <a:r>
              <a:rPr sz="880" b="0" i="0">
                <a:solidFill>
                  <a:srgbClr val="64748B"/>
                </a:solidFill>
                <a:latin typeface="Segoe UI"/>
              </a:rPr>
              <a:t>Validation, role checks,
ownership checks</a:t>
            </a:r>
          </a:p>
        </p:txBody>
      </p:sp>
      <p:sp>
        <p:nvSpPr>
          <p:cNvPr id="22" name="Right Arrow 21"/>
          <p:cNvSpPr/>
          <p:nvPr/>
        </p:nvSpPr>
        <p:spPr>
          <a:xfrm>
            <a:off x="7123176" y="2322576"/>
            <a:ext cx="201168" cy="164592"/>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70063" y="1828800"/>
            <a:ext cx="1975104" cy="1133856"/>
          </a:xfrm>
          <a:prstGeom prst="roundRect">
            <a:avLst>
              <a:gd name="adj" fmla="val 8000"/>
            </a:avLst>
          </a:prstGeom>
          <a:solidFill>
            <a:srgbClr val="FFFFFF"/>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7370063" y="1828800"/>
            <a:ext cx="1975104" cy="50292"/>
          </a:xfrm>
          <a:prstGeom prst="roundRect">
            <a:avLst>
              <a:gd name="adj" fmla="val 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498079" y="2011680"/>
            <a:ext cx="1719072" cy="274320"/>
          </a:xfrm>
          <a:prstGeom prst="rect">
            <a:avLst/>
          </a:prstGeom>
          <a:noFill/>
        </p:spPr>
        <p:txBody>
          <a:bodyPr wrap="square" lIns="0" rIns="0" tIns="0" bIns="0" anchor="t">
            <a:spAutoFit/>
          </a:bodyPr>
          <a:lstStyle/>
          <a:p>
            <a:pPr algn="ctr">
              <a:lnSpc>
                <a:spcPct val="118000"/>
              </a:lnSpc>
              <a:spcBef>
                <a:spcPts val="0"/>
              </a:spcBef>
              <a:spcAft>
                <a:spcPts val="0"/>
              </a:spcAft>
            </a:pPr>
            <a:r>
              <a:rPr sz="1200" b="1" i="0">
                <a:solidFill>
                  <a:srgbClr val="0F172A"/>
                </a:solidFill>
                <a:latin typeface="Segoe UI Semibold"/>
              </a:rPr>
              <a:t>Neon SQL client</a:t>
            </a:r>
          </a:p>
        </p:txBody>
      </p:sp>
      <p:sp>
        <p:nvSpPr>
          <p:cNvPr id="26" name="TextBox 25"/>
          <p:cNvSpPr txBox="1"/>
          <p:nvPr/>
        </p:nvSpPr>
        <p:spPr>
          <a:xfrm>
            <a:off x="7479791" y="2340864"/>
            <a:ext cx="1755648" cy="530352"/>
          </a:xfrm>
          <a:prstGeom prst="rect">
            <a:avLst/>
          </a:prstGeom>
          <a:noFill/>
        </p:spPr>
        <p:txBody>
          <a:bodyPr wrap="square" lIns="0" rIns="0" tIns="0" bIns="0" anchor="t">
            <a:spAutoFit/>
          </a:bodyPr>
          <a:lstStyle/>
          <a:p>
            <a:pPr algn="ctr">
              <a:lnSpc>
                <a:spcPct val="118000"/>
              </a:lnSpc>
              <a:spcBef>
                <a:spcPts val="0"/>
              </a:spcBef>
              <a:spcAft>
                <a:spcPts val="0"/>
              </a:spcAft>
            </a:pPr>
            <a:r>
              <a:rPr sz="880" b="0" i="0">
                <a:solidFill>
                  <a:srgbClr val="64748B"/>
                </a:solidFill>
                <a:latin typeface="Segoe UI"/>
              </a:rPr>
              <a:t>neon() tagged template
over HTTP</a:t>
            </a:r>
          </a:p>
        </p:txBody>
      </p:sp>
      <p:sp>
        <p:nvSpPr>
          <p:cNvPr id="27" name="Right Arrow 26"/>
          <p:cNvSpPr/>
          <p:nvPr/>
        </p:nvSpPr>
        <p:spPr>
          <a:xfrm>
            <a:off x="9390888" y="2322576"/>
            <a:ext cx="201168" cy="164592"/>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637776" y="1828800"/>
            <a:ext cx="1975104" cy="1133856"/>
          </a:xfrm>
          <a:prstGeom prst="roundRect">
            <a:avLst>
              <a:gd name="adj" fmla="val 8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9637776" y="1828800"/>
            <a:ext cx="1975104" cy="50292"/>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765792" y="2011680"/>
            <a:ext cx="1719072" cy="274320"/>
          </a:xfrm>
          <a:prstGeom prst="rect">
            <a:avLst/>
          </a:prstGeom>
          <a:noFill/>
        </p:spPr>
        <p:txBody>
          <a:bodyPr wrap="square" lIns="0" rIns="0" tIns="0" bIns="0" anchor="t">
            <a:spAutoFit/>
          </a:bodyPr>
          <a:lstStyle/>
          <a:p>
            <a:pPr algn="ctr">
              <a:lnSpc>
                <a:spcPct val="118000"/>
              </a:lnSpc>
              <a:spcBef>
                <a:spcPts val="0"/>
              </a:spcBef>
              <a:spcAft>
                <a:spcPts val="0"/>
              </a:spcAft>
            </a:pPr>
            <a:r>
              <a:rPr sz="1200" b="1" i="0">
                <a:solidFill>
                  <a:srgbClr val="0F172A"/>
                </a:solidFill>
                <a:latin typeface="Segoe UI Semibold"/>
              </a:rPr>
              <a:t>PostgreSQL</a:t>
            </a:r>
          </a:p>
        </p:txBody>
      </p:sp>
      <p:sp>
        <p:nvSpPr>
          <p:cNvPr id="31" name="TextBox 30"/>
          <p:cNvSpPr txBox="1"/>
          <p:nvPr/>
        </p:nvSpPr>
        <p:spPr>
          <a:xfrm>
            <a:off x="9747503" y="2340864"/>
            <a:ext cx="1755648" cy="530352"/>
          </a:xfrm>
          <a:prstGeom prst="rect">
            <a:avLst/>
          </a:prstGeom>
          <a:noFill/>
        </p:spPr>
        <p:txBody>
          <a:bodyPr wrap="square" lIns="0" rIns="0" tIns="0" bIns="0" anchor="t">
            <a:spAutoFit/>
          </a:bodyPr>
          <a:lstStyle/>
          <a:p>
            <a:pPr algn="ctr">
              <a:lnSpc>
                <a:spcPct val="118000"/>
              </a:lnSpc>
              <a:spcBef>
                <a:spcPts val="0"/>
              </a:spcBef>
              <a:spcAft>
                <a:spcPts val="0"/>
              </a:spcAft>
            </a:pPr>
            <a:r>
              <a:rPr sz="880" b="0" i="0">
                <a:solidFill>
                  <a:srgbClr val="64748B"/>
                </a:solidFill>
                <a:latin typeface="Segoe UI"/>
              </a:rPr>
              <a:t>10 tables, 4 enums,
2 triggers, 17 explicit indexes</a:t>
            </a:r>
          </a:p>
        </p:txBody>
      </p:sp>
      <p:sp>
        <p:nvSpPr>
          <p:cNvPr id="32" name="Rounded Rectangle 31"/>
          <p:cNvSpPr/>
          <p:nvPr/>
        </p:nvSpPr>
        <p:spPr>
          <a:xfrm>
            <a:off x="1024128" y="3054096"/>
            <a:ext cx="10143439" cy="329184"/>
          </a:xfrm>
          <a:prstGeom prst="roundRect">
            <a:avLst>
              <a:gd name="adj" fmla="val 3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024128" y="3122676"/>
            <a:ext cx="10143439" cy="237744"/>
          </a:xfrm>
          <a:prstGeom prst="rect">
            <a:avLst/>
          </a:prstGeom>
          <a:noFill/>
        </p:spPr>
        <p:txBody>
          <a:bodyPr wrap="square" lIns="0" rIns="0" tIns="0" bIns="0" anchor="t">
            <a:spAutoFit/>
          </a:bodyPr>
          <a:lstStyle/>
          <a:p>
            <a:pPr algn="ctr">
              <a:lnSpc>
                <a:spcPct val="118000"/>
              </a:lnSpc>
              <a:spcBef>
                <a:spcPts val="0"/>
              </a:spcBef>
              <a:spcAft>
                <a:spcPts val="0"/>
              </a:spcAft>
            </a:pPr>
            <a:r>
              <a:rPr sz="950" b="1" i="0">
                <a:solidFill>
                  <a:srgbClr val="1E3A8A"/>
                </a:solidFill>
                <a:latin typeface="Segoe UI"/>
              </a:rPr>
              <a:t>Response path:  JSON body  →  client state update   ·   status codes 200 · 201 · 400 · 401 · 403 · 404 · 409 · 413 · 500 · 503</a:t>
            </a:r>
          </a:p>
        </p:txBody>
      </p:sp>
      <p:sp>
        <p:nvSpPr>
          <p:cNvPr id="34" name="Rounded Rectangle 33"/>
          <p:cNvSpPr/>
          <p:nvPr/>
        </p:nvSpPr>
        <p:spPr>
          <a:xfrm>
            <a:off x="566928" y="3634740"/>
            <a:ext cx="41148" cy="146304"/>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94944" y="3602736"/>
            <a:ext cx="5404104" cy="219456"/>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00">
                <a:solidFill>
                  <a:srgbClr val="1E3A8A"/>
                </a:solidFill>
                <a:latin typeface="Segoe UI"/>
              </a:rPr>
              <a:t>REAL ENDPOINTS IN THE REPOSITORY</a:t>
            </a:r>
          </a:p>
        </p:txBody>
      </p:sp>
      <p:sp>
        <p:nvSpPr>
          <p:cNvPr id="36" name="Rectangle 35"/>
          <p:cNvSpPr/>
          <p:nvPr/>
        </p:nvSpPr>
        <p:spPr>
          <a:xfrm>
            <a:off x="566928" y="3913632"/>
            <a:ext cx="5532120" cy="256032"/>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13232" y="3954780"/>
            <a:ext cx="1371600" cy="182880"/>
          </a:xfrm>
          <a:prstGeom prst="rect">
            <a:avLst/>
          </a:prstGeom>
          <a:noFill/>
        </p:spPr>
        <p:txBody>
          <a:bodyPr wrap="square" lIns="0" rIns="0" tIns="0" bIns="0" anchor="t">
            <a:spAutoFit/>
          </a:bodyPr>
          <a:lstStyle/>
          <a:p>
            <a:pPr algn="l">
              <a:lnSpc>
                <a:spcPct val="118000"/>
              </a:lnSpc>
              <a:spcBef>
                <a:spcPts val="0"/>
              </a:spcBef>
              <a:spcAft>
                <a:spcPts val="0"/>
              </a:spcAft>
            </a:pPr>
            <a:r>
              <a:rPr sz="850" b="1" i="0" cap="all" spc="80">
                <a:solidFill>
                  <a:srgbClr val="FFFFFF"/>
                </a:solidFill>
                <a:latin typeface="Segoe UI"/>
              </a:rPr>
              <a:t>METHOD + PATH</a:t>
            </a:r>
          </a:p>
        </p:txBody>
      </p:sp>
      <p:sp>
        <p:nvSpPr>
          <p:cNvPr id="38" name="TextBox 37"/>
          <p:cNvSpPr txBox="1"/>
          <p:nvPr/>
        </p:nvSpPr>
        <p:spPr>
          <a:xfrm>
            <a:off x="2441448" y="3954780"/>
            <a:ext cx="3474720" cy="182880"/>
          </a:xfrm>
          <a:prstGeom prst="rect">
            <a:avLst/>
          </a:prstGeom>
          <a:noFill/>
        </p:spPr>
        <p:txBody>
          <a:bodyPr wrap="square" lIns="0" rIns="0" tIns="0" bIns="0" anchor="t">
            <a:spAutoFit/>
          </a:bodyPr>
          <a:lstStyle/>
          <a:p>
            <a:pPr algn="l">
              <a:lnSpc>
                <a:spcPct val="118000"/>
              </a:lnSpc>
              <a:spcBef>
                <a:spcPts val="0"/>
              </a:spcBef>
              <a:spcAft>
                <a:spcPts val="0"/>
              </a:spcAft>
            </a:pPr>
            <a:r>
              <a:rPr sz="850" b="1" i="0" cap="all" spc="80">
                <a:solidFill>
                  <a:srgbClr val="FFFFFF"/>
                </a:solidFill>
                <a:latin typeface="Segoe UI"/>
              </a:rPr>
              <a:t>WHAT IT DOES</a:t>
            </a:r>
          </a:p>
        </p:txBody>
      </p:sp>
      <p:sp>
        <p:nvSpPr>
          <p:cNvPr id="39" name="Rectangle 38"/>
          <p:cNvSpPr/>
          <p:nvPr/>
        </p:nvSpPr>
        <p:spPr>
          <a:xfrm>
            <a:off x="566928" y="4169663"/>
            <a:ext cx="55321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566928" y="4169663"/>
            <a:ext cx="36576" cy="420624"/>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713232" y="4261103"/>
            <a:ext cx="1737360" cy="256032"/>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0F172A"/>
                </a:solidFill>
                <a:latin typeface="Segoe UI"/>
              </a:rPr>
              <a:t>GET  /api/tutors</a:t>
            </a:r>
          </a:p>
        </p:txBody>
      </p:sp>
      <p:sp>
        <p:nvSpPr>
          <p:cNvPr id="42" name="TextBox 41"/>
          <p:cNvSpPr txBox="1"/>
          <p:nvPr/>
        </p:nvSpPr>
        <p:spPr>
          <a:xfrm>
            <a:off x="2441448" y="4261103"/>
            <a:ext cx="3520439" cy="27432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475569"/>
                </a:solidFill>
                <a:latin typeface="Segoe UI"/>
              </a:rPr>
              <a:t>Filterable public directory — only admin-verified tutors</a:t>
            </a:r>
          </a:p>
        </p:txBody>
      </p:sp>
      <p:sp>
        <p:nvSpPr>
          <p:cNvPr id="43" name="Rectangle 42"/>
          <p:cNvSpPr/>
          <p:nvPr/>
        </p:nvSpPr>
        <p:spPr>
          <a:xfrm>
            <a:off x="566928" y="4590288"/>
            <a:ext cx="5532120" cy="420624"/>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566928" y="4590288"/>
            <a:ext cx="36576" cy="420624"/>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13232" y="4681727"/>
            <a:ext cx="1737360" cy="256032"/>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0F172A"/>
                </a:solidFill>
                <a:latin typeface="Segoe UI"/>
              </a:rPr>
              <a:t>GET · POST · PATCH · DELETE  /api/bookings</a:t>
            </a:r>
          </a:p>
        </p:txBody>
      </p:sp>
      <p:sp>
        <p:nvSpPr>
          <p:cNvPr id="46" name="TextBox 45"/>
          <p:cNvSpPr txBox="1"/>
          <p:nvPr/>
        </p:nvSpPr>
        <p:spPr>
          <a:xfrm>
            <a:off x="2441448" y="4681727"/>
            <a:ext cx="3520439" cy="27432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475569"/>
                </a:solidFill>
                <a:latin typeface="Segoe UI"/>
              </a:rPr>
              <a:t>Create, list, edit (pending only) and decide bookings</a:t>
            </a:r>
          </a:p>
        </p:txBody>
      </p:sp>
      <p:sp>
        <p:nvSpPr>
          <p:cNvPr id="47" name="Rectangle 46"/>
          <p:cNvSpPr/>
          <p:nvPr/>
        </p:nvSpPr>
        <p:spPr>
          <a:xfrm>
            <a:off x="566928" y="5010912"/>
            <a:ext cx="55321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566928" y="5010912"/>
            <a:ext cx="36576" cy="420624"/>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713232" y="5102351"/>
            <a:ext cx="1737360" cy="256032"/>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0F172A"/>
                </a:solidFill>
                <a:latin typeface="Segoe UI"/>
              </a:rPr>
              <a:t>POST · GET · PUT · DELETE  /api/auth</a:t>
            </a:r>
          </a:p>
        </p:txBody>
      </p:sp>
      <p:sp>
        <p:nvSpPr>
          <p:cNvPr id="50" name="TextBox 49"/>
          <p:cNvSpPr txBox="1"/>
          <p:nvPr/>
        </p:nvSpPr>
        <p:spPr>
          <a:xfrm>
            <a:off x="2441448" y="5102351"/>
            <a:ext cx="3520439" cy="27432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475569"/>
                </a:solidFill>
                <a:latin typeface="Segoe UI"/>
              </a:rPr>
              <a:t>Signup/login, profile, admin review, documents, availability</a:t>
            </a:r>
          </a:p>
        </p:txBody>
      </p:sp>
      <p:sp>
        <p:nvSpPr>
          <p:cNvPr id="51" name="Rectangle 50"/>
          <p:cNvSpPr/>
          <p:nvPr/>
        </p:nvSpPr>
        <p:spPr>
          <a:xfrm>
            <a:off x="566928" y="5431536"/>
            <a:ext cx="5532120" cy="420624"/>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ounded Rectangle 51"/>
          <p:cNvSpPr/>
          <p:nvPr/>
        </p:nvSpPr>
        <p:spPr>
          <a:xfrm>
            <a:off x="566928" y="5431536"/>
            <a:ext cx="36576" cy="420624"/>
          </a:xfrm>
          <a:prstGeom prst="roundRect">
            <a:avLst>
              <a:gd name="adj" fmla="val 8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713232" y="5522975"/>
            <a:ext cx="1737360" cy="256032"/>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0F172A"/>
                </a:solidFill>
                <a:latin typeface="Segoe UI"/>
              </a:rPr>
              <a:t>GET · POST  /api/reviews</a:t>
            </a:r>
          </a:p>
        </p:txBody>
      </p:sp>
      <p:sp>
        <p:nvSpPr>
          <p:cNvPr id="54" name="TextBox 53"/>
          <p:cNvSpPr txBox="1"/>
          <p:nvPr/>
        </p:nvSpPr>
        <p:spPr>
          <a:xfrm>
            <a:off x="2441448" y="5522975"/>
            <a:ext cx="3520439" cy="27432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475569"/>
                </a:solidFill>
                <a:latin typeface="Segoe UI"/>
              </a:rPr>
              <a:t>One review per completed booking; rating validated 1–5</a:t>
            </a:r>
          </a:p>
        </p:txBody>
      </p:sp>
      <p:sp>
        <p:nvSpPr>
          <p:cNvPr id="55" name="Rectangle 54"/>
          <p:cNvSpPr/>
          <p:nvPr/>
        </p:nvSpPr>
        <p:spPr>
          <a:xfrm>
            <a:off x="566928" y="5852159"/>
            <a:ext cx="55321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ounded Rectangle 55"/>
          <p:cNvSpPr/>
          <p:nvPr/>
        </p:nvSpPr>
        <p:spPr>
          <a:xfrm>
            <a:off x="566928" y="5852159"/>
            <a:ext cx="36576" cy="420624"/>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713232" y="5943599"/>
            <a:ext cx="1737360" cy="256032"/>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0F172A"/>
                </a:solidFill>
                <a:latin typeface="Segoe UI"/>
              </a:rPr>
              <a:t>GET · POST  /api/messages</a:t>
            </a:r>
          </a:p>
        </p:txBody>
      </p:sp>
      <p:sp>
        <p:nvSpPr>
          <p:cNvPr id="58" name="TextBox 57"/>
          <p:cNvSpPr txBox="1"/>
          <p:nvPr/>
        </p:nvSpPr>
        <p:spPr>
          <a:xfrm>
            <a:off x="2441448" y="5943599"/>
            <a:ext cx="3520439" cy="27432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475569"/>
                </a:solidFill>
                <a:latin typeface="Segoe UI"/>
              </a:rPr>
              <a:t>Private 1-to-1 threads, scoped to the signed-in account</a:t>
            </a:r>
          </a:p>
        </p:txBody>
      </p:sp>
      <p:sp>
        <p:nvSpPr>
          <p:cNvPr id="59" name="Rounded Rectangle 58"/>
          <p:cNvSpPr/>
          <p:nvPr/>
        </p:nvSpPr>
        <p:spPr>
          <a:xfrm>
            <a:off x="6391656" y="3634740"/>
            <a:ext cx="41148" cy="146304"/>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6519672" y="3602736"/>
            <a:ext cx="5105095" cy="219456"/>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00">
                <a:solidFill>
                  <a:srgbClr val="1E3A8A"/>
                </a:solidFill>
                <a:latin typeface="Segoe UI"/>
              </a:rPr>
              <a:t>AUTHENTICATION, AUTHORISATION &amp; ERROR HANDLING</a:t>
            </a:r>
          </a:p>
        </p:txBody>
      </p:sp>
      <p:sp>
        <p:nvSpPr>
          <p:cNvPr id="61" name="Rounded Rectangle 60"/>
          <p:cNvSpPr/>
          <p:nvPr/>
        </p:nvSpPr>
        <p:spPr>
          <a:xfrm>
            <a:off x="6391656" y="3973068"/>
            <a:ext cx="34747" cy="10972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6629400" y="3931920"/>
            <a:ext cx="4995367" cy="182880"/>
          </a:xfrm>
          <a:prstGeom prst="rect">
            <a:avLst/>
          </a:prstGeom>
          <a:noFill/>
        </p:spPr>
        <p:txBody>
          <a:bodyPr wrap="square" lIns="0" rIns="0" tIns="0" bIns="0" anchor="t">
            <a:spAutoFit/>
          </a:bodyPr>
          <a:lstStyle/>
          <a:p>
            <a:pPr algn="l">
              <a:lnSpc>
                <a:spcPct val="120000"/>
              </a:lnSpc>
            </a:pPr>
            <a:r>
              <a:rPr sz="900" b="1" i="0">
                <a:solidFill>
                  <a:srgbClr val="0F172A"/>
                </a:solidFill>
                <a:latin typeface="Segoe UI"/>
              </a:rPr>
              <a:t>Passwords</a:t>
            </a:r>
            <a:r>
              <a:rPr sz="900" b="0" i="0">
                <a:solidFill>
                  <a:srgbClr val="475569"/>
                </a:solidFill>
                <a:latin typeface="Segoe UI"/>
              </a:rPr>
              <a:t>  bcryptjs hashes use a 10-round cost factor.</a:t>
            </a:r>
          </a:p>
        </p:txBody>
      </p:sp>
      <p:sp>
        <p:nvSpPr>
          <p:cNvPr id="63" name="Rounded Rectangle 62"/>
          <p:cNvSpPr/>
          <p:nvPr/>
        </p:nvSpPr>
        <p:spPr>
          <a:xfrm>
            <a:off x="6391656" y="4178807"/>
            <a:ext cx="34747" cy="10972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6629400" y="4137659"/>
            <a:ext cx="4995367" cy="182880"/>
          </a:xfrm>
          <a:prstGeom prst="rect">
            <a:avLst/>
          </a:prstGeom>
          <a:noFill/>
        </p:spPr>
        <p:txBody>
          <a:bodyPr wrap="square" lIns="0" rIns="0" tIns="0" bIns="0" anchor="t">
            <a:spAutoFit/>
          </a:bodyPr>
          <a:lstStyle/>
          <a:p>
            <a:pPr algn="l">
              <a:lnSpc>
                <a:spcPct val="120000"/>
              </a:lnSpc>
            </a:pPr>
            <a:r>
              <a:rPr sz="900" b="1" i="0">
                <a:solidFill>
                  <a:srgbClr val="0F172A"/>
                </a:solidFill>
                <a:latin typeface="Segoe UI"/>
              </a:rPr>
              <a:t>JWT</a:t>
            </a:r>
            <a:r>
              <a:rPr sz="900" b="0" i="0">
                <a:solidFill>
                  <a:srgbClr val="475569"/>
                </a:solidFill>
                <a:latin typeface="Segoe UI"/>
              </a:rPr>
              <a:t>  Signed with JWT_SECRET; expires in 7 days; sent as a Bearer token.</a:t>
            </a:r>
          </a:p>
        </p:txBody>
      </p:sp>
      <p:sp>
        <p:nvSpPr>
          <p:cNvPr id="65" name="Rounded Rectangle 64"/>
          <p:cNvSpPr/>
          <p:nvPr/>
        </p:nvSpPr>
        <p:spPr>
          <a:xfrm>
            <a:off x="6391656" y="4384547"/>
            <a:ext cx="34747" cy="10972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6629400" y="4343399"/>
            <a:ext cx="4995367" cy="182880"/>
          </a:xfrm>
          <a:prstGeom prst="rect">
            <a:avLst/>
          </a:prstGeom>
          <a:noFill/>
        </p:spPr>
        <p:txBody>
          <a:bodyPr wrap="square" lIns="0" rIns="0" tIns="0" bIns="0" anchor="t">
            <a:spAutoFit/>
          </a:bodyPr>
          <a:lstStyle/>
          <a:p>
            <a:pPr algn="l">
              <a:lnSpc>
                <a:spcPct val="120000"/>
              </a:lnSpc>
            </a:pPr>
            <a:r>
              <a:rPr sz="900" b="1" i="0">
                <a:solidFill>
                  <a:srgbClr val="0F172A"/>
                </a:solidFill>
                <a:latin typeface="Segoe UI"/>
              </a:rPr>
              <a:t>Role gates</a:t>
            </a:r>
            <a:r>
              <a:rPr sz="900" b="0" i="0">
                <a:solidFill>
                  <a:srgbClr val="475569"/>
                </a:solidFill>
                <a:latin typeface="Segoe UI"/>
              </a:rPr>
              <a:t>  Admin actions check role; unauthenticated = 401, wrong role = 403.</a:t>
            </a:r>
          </a:p>
        </p:txBody>
      </p:sp>
      <p:sp>
        <p:nvSpPr>
          <p:cNvPr id="67" name="Rounded Rectangle 66"/>
          <p:cNvSpPr/>
          <p:nvPr/>
        </p:nvSpPr>
        <p:spPr>
          <a:xfrm>
            <a:off x="6391656" y="4590287"/>
            <a:ext cx="34747" cy="10972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6629400" y="4549139"/>
            <a:ext cx="4995367" cy="182880"/>
          </a:xfrm>
          <a:prstGeom prst="rect">
            <a:avLst/>
          </a:prstGeom>
          <a:noFill/>
        </p:spPr>
        <p:txBody>
          <a:bodyPr wrap="square" lIns="0" rIns="0" tIns="0" bIns="0" anchor="t">
            <a:spAutoFit/>
          </a:bodyPr>
          <a:lstStyle/>
          <a:p>
            <a:pPr algn="l">
              <a:lnSpc>
                <a:spcPct val="120000"/>
              </a:lnSpc>
            </a:pPr>
            <a:r>
              <a:rPr sz="900" b="1" i="0">
                <a:solidFill>
                  <a:srgbClr val="0F172A"/>
                </a:solidFill>
                <a:latin typeface="Segoe UI"/>
              </a:rPr>
              <a:t>Ownership</a:t>
            </a:r>
            <a:r>
              <a:rPr sz="900" b="0" i="0">
                <a:solidFill>
                  <a:srgbClr val="475569"/>
                </a:solidFill>
                <a:latin typeface="Segoe UI"/>
              </a:rPr>
              <a:t>  Booking edits and decisions verify student, tutor or admin ownership.</a:t>
            </a:r>
          </a:p>
        </p:txBody>
      </p:sp>
      <p:sp>
        <p:nvSpPr>
          <p:cNvPr id="69" name="Rounded Rectangle 68"/>
          <p:cNvSpPr/>
          <p:nvPr/>
        </p:nvSpPr>
        <p:spPr>
          <a:xfrm>
            <a:off x="6391656" y="4796027"/>
            <a:ext cx="34747" cy="10972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6629400" y="4754879"/>
            <a:ext cx="4995367" cy="182880"/>
          </a:xfrm>
          <a:prstGeom prst="rect">
            <a:avLst/>
          </a:prstGeom>
          <a:noFill/>
        </p:spPr>
        <p:txBody>
          <a:bodyPr wrap="square" lIns="0" rIns="0" tIns="0" bIns="0" anchor="t">
            <a:spAutoFit/>
          </a:bodyPr>
          <a:lstStyle/>
          <a:p>
            <a:pPr algn="l">
              <a:lnSpc>
                <a:spcPct val="120000"/>
              </a:lnSpc>
            </a:pPr>
            <a:r>
              <a:rPr sz="900" b="1" i="0">
                <a:solidFill>
                  <a:srgbClr val="0F172A"/>
                </a:solidFill>
                <a:latin typeface="Segoe UI"/>
              </a:rPr>
              <a:t>Validation</a:t>
            </a:r>
            <a:r>
              <a:rPr sz="900" b="0" i="0">
                <a:solidFill>
                  <a:srgbClr val="475569"/>
                </a:solidFill>
                <a:latin typeface="Segoe UI"/>
              </a:rPr>
              <a:t>  400 for malformed JSON, missing fields, weak password or bad status.</a:t>
            </a:r>
          </a:p>
        </p:txBody>
      </p:sp>
      <p:sp>
        <p:nvSpPr>
          <p:cNvPr id="71" name="Rounded Rectangle 70"/>
          <p:cNvSpPr/>
          <p:nvPr/>
        </p:nvSpPr>
        <p:spPr>
          <a:xfrm>
            <a:off x="6391656" y="5001767"/>
            <a:ext cx="34747" cy="10972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TextBox 71"/>
          <p:cNvSpPr txBox="1"/>
          <p:nvPr/>
        </p:nvSpPr>
        <p:spPr>
          <a:xfrm>
            <a:off x="6629400" y="4960619"/>
            <a:ext cx="4995367" cy="182880"/>
          </a:xfrm>
          <a:prstGeom prst="rect">
            <a:avLst/>
          </a:prstGeom>
          <a:noFill/>
        </p:spPr>
        <p:txBody>
          <a:bodyPr wrap="square" lIns="0" rIns="0" tIns="0" bIns="0" anchor="t">
            <a:spAutoFit/>
          </a:bodyPr>
          <a:lstStyle/>
          <a:p>
            <a:pPr algn="l">
              <a:lnSpc>
                <a:spcPct val="120000"/>
              </a:lnSpc>
            </a:pPr>
            <a:r>
              <a:rPr sz="900" b="1" i="0">
                <a:solidFill>
                  <a:srgbClr val="0F172A"/>
                </a:solidFill>
                <a:latin typeface="Segoe UI"/>
              </a:rPr>
              <a:t>Parameterized SQL</a:t>
            </a:r>
            <a:r>
              <a:rPr sz="900" b="0" i="0">
                <a:solidFill>
                  <a:srgbClr val="475569"/>
                </a:solidFill>
                <a:latin typeface="Segoe UI"/>
              </a:rPr>
              <a:t>  neon() tagged templates parameterise supplied values.</a:t>
            </a:r>
          </a:p>
        </p:txBody>
      </p:sp>
      <p:sp>
        <p:nvSpPr>
          <p:cNvPr id="73" name="Rounded Rectangle 72"/>
          <p:cNvSpPr/>
          <p:nvPr/>
        </p:nvSpPr>
        <p:spPr>
          <a:xfrm>
            <a:off x="6391656" y="5207507"/>
            <a:ext cx="34747" cy="10972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6629400" y="5166359"/>
            <a:ext cx="4995367" cy="182880"/>
          </a:xfrm>
          <a:prstGeom prst="rect">
            <a:avLst/>
          </a:prstGeom>
          <a:noFill/>
        </p:spPr>
        <p:txBody>
          <a:bodyPr wrap="square" lIns="0" rIns="0" tIns="0" bIns="0" anchor="t">
            <a:spAutoFit/>
          </a:bodyPr>
          <a:lstStyle/>
          <a:p>
            <a:pPr algn="l">
              <a:lnSpc>
                <a:spcPct val="120000"/>
              </a:lnSpc>
            </a:pPr>
            <a:r>
              <a:rPr sz="900" b="1" i="0">
                <a:solidFill>
                  <a:srgbClr val="0F172A"/>
                </a:solidFill>
                <a:latin typeface="Segoe UI"/>
              </a:rPr>
              <a:t>No database</a:t>
            </a:r>
            <a:r>
              <a:rPr sz="900" b="0" i="0">
                <a:solidFill>
                  <a:srgbClr val="475569"/>
                </a:solidFill>
                <a:latin typeface="Segoe UI"/>
              </a:rPr>
              <a:t>  DATABASE_URL absent → 503 for booking/chat; tutor list is empty.</a:t>
            </a:r>
          </a:p>
        </p:txBody>
      </p:sp>
      <p:cxnSp>
        <p:nvCxnSpPr>
          <p:cNvPr id="75" name="Connector 74"/>
          <p:cNvCxnSpPr/>
          <p:nvPr/>
        </p:nvCxnSpPr>
        <p:spPr>
          <a:xfrm>
            <a:off x="566928" y="6382512"/>
            <a:ext cx="11057839"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566928" y="6473952"/>
            <a:ext cx="9777679" cy="219456"/>
          </a:xfrm>
          <a:prstGeom prst="rect">
            <a:avLst/>
          </a:prstGeom>
          <a:noFill/>
        </p:spPr>
        <p:txBody>
          <a:bodyPr wrap="square" lIns="0" rIns="0" tIns="0" bIns="0" anchor="t">
            <a:spAutoFit/>
          </a:bodyPr>
          <a:lstStyle/>
          <a:p>
            <a:pPr algn="l">
              <a:lnSpc>
                <a:spcPct val="118000"/>
              </a:lnSpc>
              <a:spcBef>
                <a:spcPts val="0"/>
              </a:spcBef>
              <a:spcAft>
                <a:spcPts val="0"/>
              </a:spcAft>
            </a:pPr>
            <a:r>
              <a:rPr sz="880" b="0" i="0">
                <a:solidFill>
                  <a:srgbClr val="94A3B8"/>
                </a:solidFill>
                <a:latin typeface="Segoe UI"/>
              </a:rPr>
              <a:t>Presenter: Chioma Helen Ezeufonna · Backend / APIs / Auth</a:t>
            </a:r>
          </a:p>
        </p:txBody>
      </p:sp>
      <p:sp>
        <p:nvSpPr>
          <p:cNvPr id="77" name="TextBox 76"/>
          <p:cNvSpPr txBox="1"/>
          <p:nvPr/>
        </p:nvSpPr>
        <p:spPr>
          <a:xfrm>
            <a:off x="10436047" y="6473952"/>
            <a:ext cx="1188720" cy="219456"/>
          </a:xfrm>
          <a:prstGeom prst="rect">
            <a:avLst/>
          </a:prstGeom>
          <a:noFill/>
        </p:spPr>
        <p:txBody>
          <a:bodyPr wrap="square" lIns="0" rIns="0" tIns="0" bIns="0" anchor="t">
            <a:spAutoFit/>
          </a:bodyPr>
          <a:lstStyle/>
          <a:p>
            <a:pPr algn="r">
              <a:lnSpc>
                <a:spcPct val="118000"/>
              </a:lnSpc>
              <a:spcBef>
                <a:spcPts val="0"/>
              </a:spcBef>
              <a:spcAft>
                <a:spcPts val="0"/>
              </a:spcAft>
            </a:pPr>
            <a:r>
              <a:rPr sz="950" b="1" i="0">
                <a:solidFill>
                  <a:srgbClr val="94A3B8"/>
                </a:solidFill>
                <a:latin typeface="Segoe UI"/>
              </a:rPr>
              <a:t>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420624"/>
            <a:ext cx="50292" cy="173736"/>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384048"/>
            <a:ext cx="5571439" cy="237744"/>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20">
                <a:solidFill>
                  <a:srgbClr val="2563EB"/>
                </a:solidFill>
                <a:latin typeface="Segoe UI"/>
              </a:rPr>
              <a:t>DATABASE DESIGN &amp; DATA MANAGEMENT</a:t>
            </a:r>
          </a:p>
        </p:txBody>
      </p:sp>
      <p:sp>
        <p:nvSpPr>
          <p:cNvPr id="5" name="TextBox 4"/>
          <p:cNvSpPr txBox="1"/>
          <p:nvPr/>
        </p:nvSpPr>
        <p:spPr>
          <a:xfrm>
            <a:off x="566928" y="658368"/>
            <a:ext cx="11057839" cy="420624"/>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0F172A"/>
                </a:solidFill>
                <a:latin typeface="Segoe UI Semibold"/>
              </a:rPr>
              <a:t>PostgreSQL data model: 10 connected tables</a:t>
            </a:r>
          </a:p>
        </p:txBody>
      </p:sp>
      <p:sp>
        <p:nvSpPr>
          <p:cNvPr id="6" name="TextBox 5"/>
          <p:cNvSpPr txBox="1"/>
          <p:nvPr/>
        </p:nvSpPr>
        <p:spPr>
          <a:xfrm>
            <a:off x="566928" y="1207008"/>
            <a:ext cx="10692079" cy="274320"/>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4748B"/>
                </a:solidFill>
                <a:latin typeface="Segoe UI"/>
              </a:rPr>
              <a:t>PostgreSQL is the relational database that stores the data; Neon is the managed hosting service that runs it and exposes it over HTTP.</a:t>
            </a:r>
          </a:p>
        </p:txBody>
      </p:sp>
      <p:sp>
        <p:nvSpPr>
          <p:cNvPr id="7" name="Rounded Rectangle 6"/>
          <p:cNvSpPr/>
          <p:nvPr/>
        </p:nvSpPr>
        <p:spPr>
          <a:xfrm>
            <a:off x="6321247" y="365760"/>
            <a:ext cx="5303520" cy="246888"/>
          </a:xfrm>
          <a:prstGeom prst="roundRect">
            <a:avLst>
              <a:gd name="adj" fmla="val 50000"/>
            </a:avLst>
          </a:prstGeom>
          <a:solidFill>
            <a:srgbClr val="FFFFFF"/>
          </a:solidFill>
          <a:ln w="1016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lstStyle/>
          <a:p>
            <a:pPr algn="l"/>
            <a:r>
              <a:rPr sz="750" b="1" i="0" cap="all" spc="60">
                <a:solidFill>
                  <a:srgbClr val="64748B"/>
                </a:solidFill>
                <a:latin typeface="Segoe UI"/>
              </a:rPr>
              <a:t>PRESENTER  </a:t>
            </a:r>
            <a:r>
              <a:rPr sz="830" b="1" i="0">
                <a:solidFill>
                  <a:srgbClr val="0F172A"/>
                </a:solidFill>
                <a:latin typeface="Segoe UI"/>
              </a:rPr>
              <a:t>Uzochukwu Mary Cynthia Enyemakachukwu</a:t>
            </a:r>
            <a:r>
              <a:rPr sz="790" b="1" i="0">
                <a:solidFill>
                  <a:srgbClr val="F59E0B"/>
                </a:solidFill>
                <a:latin typeface="Segoe UI"/>
              </a:rPr>
              <a:t>  ·  Database Design</a:t>
            </a:r>
          </a:p>
        </p:txBody>
      </p:sp>
      <p:sp>
        <p:nvSpPr>
          <p:cNvPr id="8" name="Rounded Rectangle 7"/>
          <p:cNvSpPr/>
          <p:nvPr/>
        </p:nvSpPr>
        <p:spPr>
          <a:xfrm>
            <a:off x="566928" y="1792224"/>
            <a:ext cx="1783080" cy="658368"/>
          </a:xfrm>
          <a:prstGeom prst="roundRect">
            <a:avLst>
              <a:gd name="adj" fmla="val 8000"/>
            </a:avLst>
          </a:prstGeom>
          <a:solidFill>
            <a:srgbClr val="FFFFFF"/>
          </a:solidFill>
          <a:ln w="1270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566928" y="1792224"/>
            <a:ext cx="1783080" cy="45720"/>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1911096"/>
            <a:ext cx="1600200" cy="219456"/>
          </a:xfrm>
          <a:prstGeom prst="rect">
            <a:avLst/>
          </a:prstGeom>
          <a:noFill/>
        </p:spPr>
        <p:txBody>
          <a:bodyPr wrap="square" lIns="0" rIns="0" tIns="0" bIns="0" anchor="t">
            <a:spAutoFit/>
          </a:bodyPr>
          <a:lstStyle/>
          <a:p>
            <a:pPr algn="ctr">
              <a:lnSpc>
                <a:spcPct val="118000"/>
              </a:lnSpc>
              <a:spcBef>
                <a:spcPts val="0"/>
              </a:spcBef>
              <a:spcAft>
                <a:spcPts val="0"/>
              </a:spcAft>
            </a:pPr>
            <a:r>
              <a:rPr sz="1050" b="1" i="0">
                <a:solidFill>
                  <a:srgbClr val="0F172A"/>
                </a:solidFill>
                <a:latin typeface="Segoe UI Semibold"/>
              </a:rPr>
              <a:t>users</a:t>
            </a:r>
          </a:p>
        </p:txBody>
      </p:sp>
      <p:sp>
        <p:nvSpPr>
          <p:cNvPr id="11" name="TextBox 10"/>
          <p:cNvSpPr txBox="1"/>
          <p:nvPr/>
        </p:nvSpPr>
        <p:spPr>
          <a:xfrm>
            <a:off x="640080" y="2139696"/>
            <a:ext cx="1636776" cy="274320"/>
          </a:xfrm>
          <a:prstGeom prst="rect">
            <a:avLst/>
          </a:prstGeom>
          <a:noFill/>
        </p:spPr>
        <p:txBody>
          <a:bodyPr wrap="square" lIns="0" rIns="0" tIns="0" bIns="0" anchor="t">
            <a:spAutoFit/>
          </a:bodyPr>
          <a:lstStyle/>
          <a:p>
            <a:pPr algn="ctr">
              <a:lnSpc>
                <a:spcPct val="112000"/>
              </a:lnSpc>
              <a:spcBef>
                <a:spcPts val="0"/>
              </a:spcBef>
              <a:spcAft>
                <a:spcPts val="0"/>
              </a:spcAft>
            </a:pPr>
            <a:r>
              <a:rPr sz="780" b="0" i="0">
                <a:solidFill>
                  <a:srgbClr val="64748B"/>
                </a:solidFill>
                <a:latin typeface="Segoe UI"/>
              </a:rPr>
              <a:t>role · account_status
email · state · city</a:t>
            </a:r>
          </a:p>
        </p:txBody>
      </p:sp>
      <p:sp>
        <p:nvSpPr>
          <p:cNvPr id="12" name="Rounded Rectangle 11"/>
          <p:cNvSpPr/>
          <p:nvPr/>
        </p:nvSpPr>
        <p:spPr>
          <a:xfrm>
            <a:off x="2834640" y="1792224"/>
            <a:ext cx="1965960" cy="658368"/>
          </a:xfrm>
          <a:prstGeom prst="roundRect">
            <a:avLst>
              <a:gd name="adj" fmla="val 8000"/>
            </a:avLst>
          </a:prstGeom>
          <a:solidFill>
            <a:srgbClr val="FFFF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2834640" y="1792224"/>
            <a:ext cx="1965960" cy="4572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926080" y="1911096"/>
            <a:ext cx="1783080" cy="219456"/>
          </a:xfrm>
          <a:prstGeom prst="rect">
            <a:avLst/>
          </a:prstGeom>
          <a:noFill/>
        </p:spPr>
        <p:txBody>
          <a:bodyPr wrap="square" lIns="0" rIns="0" tIns="0" bIns="0" anchor="t">
            <a:spAutoFit/>
          </a:bodyPr>
          <a:lstStyle/>
          <a:p>
            <a:pPr algn="ctr">
              <a:lnSpc>
                <a:spcPct val="118000"/>
              </a:lnSpc>
              <a:spcBef>
                <a:spcPts val="0"/>
              </a:spcBef>
              <a:spcAft>
                <a:spcPts val="0"/>
              </a:spcAft>
            </a:pPr>
            <a:r>
              <a:rPr sz="1050" b="1" i="0">
                <a:solidFill>
                  <a:srgbClr val="0F172A"/>
                </a:solidFill>
                <a:latin typeface="Segoe UI Semibold"/>
              </a:rPr>
              <a:t>tutor_profiles</a:t>
            </a:r>
          </a:p>
        </p:txBody>
      </p:sp>
      <p:sp>
        <p:nvSpPr>
          <p:cNvPr id="15" name="TextBox 14"/>
          <p:cNvSpPr txBox="1"/>
          <p:nvPr/>
        </p:nvSpPr>
        <p:spPr>
          <a:xfrm>
            <a:off x="2907792" y="2139696"/>
            <a:ext cx="1819656" cy="274320"/>
          </a:xfrm>
          <a:prstGeom prst="rect">
            <a:avLst/>
          </a:prstGeom>
          <a:noFill/>
        </p:spPr>
        <p:txBody>
          <a:bodyPr wrap="square" lIns="0" rIns="0" tIns="0" bIns="0" anchor="t">
            <a:spAutoFit/>
          </a:bodyPr>
          <a:lstStyle/>
          <a:p>
            <a:pPr algn="ctr">
              <a:lnSpc>
                <a:spcPct val="112000"/>
              </a:lnSpc>
              <a:spcBef>
                <a:spcPts val="0"/>
              </a:spcBef>
              <a:spcAft>
                <a:spcPts val="0"/>
              </a:spcAft>
            </a:pPr>
            <a:r>
              <a:rPr sz="780" b="0" i="0">
                <a:solidFill>
                  <a:srgbClr val="64748B"/>
                </a:solidFill>
                <a:latin typeface="Segoe UI"/>
              </a:rPr>
              <a:t>hourly_rate · curriculum
is_verified · rating_avg</a:t>
            </a:r>
          </a:p>
        </p:txBody>
      </p:sp>
      <p:sp>
        <p:nvSpPr>
          <p:cNvPr id="16" name="Rounded Rectangle 15"/>
          <p:cNvSpPr/>
          <p:nvPr/>
        </p:nvSpPr>
        <p:spPr>
          <a:xfrm>
            <a:off x="5285232" y="1792224"/>
            <a:ext cx="1874519" cy="658368"/>
          </a:xfrm>
          <a:prstGeom prst="roundRect">
            <a:avLst>
              <a:gd name="adj" fmla="val 8000"/>
            </a:avLst>
          </a:prstGeom>
          <a:solidFill>
            <a:srgbClr val="FFFFFF"/>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285232" y="1792224"/>
            <a:ext cx="1874519" cy="45720"/>
          </a:xfrm>
          <a:prstGeom prst="roundRect">
            <a:avLst>
              <a:gd name="adj" fmla="val 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76672" y="1911096"/>
            <a:ext cx="1691639" cy="219456"/>
          </a:xfrm>
          <a:prstGeom prst="rect">
            <a:avLst/>
          </a:prstGeom>
          <a:noFill/>
        </p:spPr>
        <p:txBody>
          <a:bodyPr wrap="square" lIns="0" rIns="0" tIns="0" bIns="0" anchor="t">
            <a:spAutoFit/>
          </a:bodyPr>
          <a:lstStyle/>
          <a:p>
            <a:pPr algn="ctr">
              <a:lnSpc>
                <a:spcPct val="118000"/>
              </a:lnSpc>
              <a:spcBef>
                <a:spcPts val="0"/>
              </a:spcBef>
              <a:spcAft>
                <a:spcPts val="0"/>
              </a:spcAft>
            </a:pPr>
            <a:r>
              <a:rPr sz="1050" b="1" i="0">
                <a:solidFill>
                  <a:srgbClr val="0F172A"/>
                </a:solidFill>
                <a:latin typeface="Segoe UI Semibold"/>
              </a:rPr>
              <a:t>bookings</a:t>
            </a:r>
          </a:p>
        </p:txBody>
      </p:sp>
      <p:sp>
        <p:nvSpPr>
          <p:cNvPr id="19" name="TextBox 18"/>
          <p:cNvSpPr txBox="1"/>
          <p:nvPr/>
        </p:nvSpPr>
        <p:spPr>
          <a:xfrm>
            <a:off x="5358384" y="2139696"/>
            <a:ext cx="1728216" cy="274320"/>
          </a:xfrm>
          <a:prstGeom prst="rect">
            <a:avLst/>
          </a:prstGeom>
          <a:noFill/>
        </p:spPr>
        <p:txBody>
          <a:bodyPr wrap="square" lIns="0" rIns="0" tIns="0" bIns="0" anchor="t">
            <a:spAutoFit/>
          </a:bodyPr>
          <a:lstStyle/>
          <a:p>
            <a:pPr algn="ctr">
              <a:lnSpc>
                <a:spcPct val="112000"/>
              </a:lnSpc>
              <a:spcBef>
                <a:spcPts val="0"/>
              </a:spcBef>
              <a:spcAft>
                <a:spcPts val="0"/>
              </a:spcAft>
            </a:pPr>
            <a:r>
              <a:rPr sz="780" b="0" i="0">
                <a:solidFill>
                  <a:srgbClr val="64748B"/>
                </a:solidFill>
                <a:latin typeface="Segoe UI"/>
              </a:rPr>
              <a:t>student_id · tutor_id
status · date · total_price</a:t>
            </a:r>
          </a:p>
        </p:txBody>
      </p:sp>
      <p:sp>
        <p:nvSpPr>
          <p:cNvPr id="20" name="Rounded Rectangle 19"/>
          <p:cNvSpPr/>
          <p:nvPr/>
        </p:nvSpPr>
        <p:spPr>
          <a:xfrm>
            <a:off x="7644383" y="1792224"/>
            <a:ext cx="1783080" cy="658368"/>
          </a:xfrm>
          <a:prstGeom prst="roundRect">
            <a:avLst>
              <a:gd name="adj" fmla="val 8000"/>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7644383" y="1792224"/>
            <a:ext cx="1783080" cy="45720"/>
          </a:xfrm>
          <a:prstGeom prst="roundRect">
            <a:avLst>
              <a:gd name="adj" fmla="val 8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735823" y="1911096"/>
            <a:ext cx="1600200" cy="219456"/>
          </a:xfrm>
          <a:prstGeom prst="rect">
            <a:avLst/>
          </a:prstGeom>
          <a:noFill/>
        </p:spPr>
        <p:txBody>
          <a:bodyPr wrap="square" lIns="0" rIns="0" tIns="0" bIns="0" anchor="t">
            <a:spAutoFit/>
          </a:bodyPr>
          <a:lstStyle/>
          <a:p>
            <a:pPr algn="ctr">
              <a:lnSpc>
                <a:spcPct val="118000"/>
              </a:lnSpc>
              <a:spcBef>
                <a:spcPts val="0"/>
              </a:spcBef>
              <a:spcAft>
                <a:spcPts val="0"/>
              </a:spcAft>
            </a:pPr>
            <a:r>
              <a:rPr sz="1050" b="1" i="0">
                <a:solidFill>
                  <a:srgbClr val="0F172A"/>
                </a:solidFill>
                <a:latin typeface="Segoe UI Semibold"/>
              </a:rPr>
              <a:t>reviews</a:t>
            </a:r>
          </a:p>
        </p:txBody>
      </p:sp>
      <p:sp>
        <p:nvSpPr>
          <p:cNvPr id="23" name="TextBox 22"/>
          <p:cNvSpPr txBox="1"/>
          <p:nvPr/>
        </p:nvSpPr>
        <p:spPr>
          <a:xfrm>
            <a:off x="7717536" y="2139696"/>
            <a:ext cx="1636776" cy="274320"/>
          </a:xfrm>
          <a:prstGeom prst="rect">
            <a:avLst/>
          </a:prstGeom>
          <a:noFill/>
        </p:spPr>
        <p:txBody>
          <a:bodyPr wrap="square" lIns="0" rIns="0" tIns="0" bIns="0" anchor="t">
            <a:spAutoFit/>
          </a:bodyPr>
          <a:lstStyle/>
          <a:p>
            <a:pPr algn="ctr">
              <a:lnSpc>
                <a:spcPct val="112000"/>
              </a:lnSpc>
              <a:spcBef>
                <a:spcPts val="0"/>
              </a:spcBef>
              <a:spcAft>
                <a:spcPts val="0"/>
              </a:spcAft>
            </a:pPr>
            <a:r>
              <a:rPr sz="780" b="0" i="0">
                <a:solidFill>
                  <a:srgbClr val="64748B"/>
                </a:solidFill>
                <a:latin typeface="Segoe UI"/>
              </a:rPr>
              <a:t>rating 1–5 · comment
UNIQUE booking_id</a:t>
            </a:r>
          </a:p>
        </p:txBody>
      </p:sp>
      <p:sp>
        <p:nvSpPr>
          <p:cNvPr id="24" name="Rounded Rectangle 23"/>
          <p:cNvSpPr/>
          <p:nvPr/>
        </p:nvSpPr>
        <p:spPr>
          <a:xfrm>
            <a:off x="9912096" y="1792224"/>
            <a:ext cx="1709928" cy="658368"/>
          </a:xfrm>
          <a:prstGeom prst="roundRect">
            <a:avLst>
              <a:gd name="adj" fmla="val 8000"/>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9912096" y="1792224"/>
            <a:ext cx="1709928" cy="45720"/>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003536" y="1911096"/>
            <a:ext cx="1527048" cy="219456"/>
          </a:xfrm>
          <a:prstGeom prst="rect">
            <a:avLst/>
          </a:prstGeom>
          <a:noFill/>
        </p:spPr>
        <p:txBody>
          <a:bodyPr wrap="square" lIns="0" rIns="0" tIns="0" bIns="0" anchor="t">
            <a:spAutoFit/>
          </a:bodyPr>
          <a:lstStyle/>
          <a:p>
            <a:pPr algn="ctr">
              <a:lnSpc>
                <a:spcPct val="118000"/>
              </a:lnSpc>
              <a:spcBef>
                <a:spcPts val="0"/>
              </a:spcBef>
              <a:spcAft>
                <a:spcPts val="0"/>
              </a:spcAft>
            </a:pPr>
            <a:r>
              <a:rPr sz="1050" b="1" i="0">
                <a:solidFill>
                  <a:srgbClr val="0F172A"/>
                </a:solidFill>
                <a:latin typeface="Segoe UI Semibold"/>
              </a:rPr>
              <a:t>messages</a:t>
            </a:r>
          </a:p>
        </p:txBody>
      </p:sp>
      <p:sp>
        <p:nvSpPr>
          <p:cNvPr id="27" name="TextBox 26"/>
          <p:cNvSpPr txBox="1"/>
          <p:nvPr/>
        </p:nvSpPr>
        <p:spPr>
          <a:xfrm>
            <a:off x="9985248" y="2139696"/>
            <a:ext cx="1563624" cy="274320"/>
          </a:xfrm>
          <a:prstGeom prst="rect">
            <a:avLst/>
          </a:prstGeom>
          <a:noFill/>
        </p:spPr>
        <p:txBody>
          <a:bodyPr wrap="square" lIns="0" rIns="0" tIns="0" bIns="0" anchor="t">
            <a:spAutoFit/>
          </a:bodyPr>
          <a:lstStyle/>
          <a:p>
            <a:pPr algn="ctr">
              <a:lnSpc>
                <a:spcPct val="112000"/>
              </a:lnSpc>
              <a:spcBef>
                <a:spcPts val="0"/>
              </a:spcBef>
              <a:spcAft>
                <a:spcPts val="0"/>
              </a:spcAft>
            </a:pPr>
            <a:r>
              <a:rPr sz="780" b="0" i="0">
                <a:solidFill>
                  <a:srgbClr val="64748B"/>
                </a:solidFill>
                <a:latin typeface="Segoe UI"/>
              </a:rPr>
              <a:t>sender / recipient keys
body · created_at</a:t>
            </a:r>
          </a:p>
        </p:txBody>
      </p:sp>
      <p:sp>
        <p:nvSpPr>
          <p:cNvPr id="28" name="Rounded Rectangle 27"/>
          <p:cNvSpPr/>
          <p:nvPr/>
        </p:nvSpPr>
        <p:spPr>
          <a:xfrm>
            <a:off x="566928" y="2798064"/>
            <a:ext cx="1783080" cy="658368"/>
          </a:xfrm>
          <a:prstGeom prst="roundRect">
            <a:avLst>
              <a:gd name="adj" fmla="val 8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566928" y="2798064"/>
            <a:ext cx="1783080" cy="4572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8368" y="2916936"/>
            <a:ext cx="1600200" cy="219456"/>
          </a:xfrm>
          <a:prstGeom prst="rect">
            <a:avLst/>
          </a:prstGeom>
          <a:noFill/>
        </p:spPr>
        <p:txBody>
          <a:bodyPr wrap="square" lIns="0" rIns="0" tIns="0" bIns="0" anchor="t">
            <a:spAutoFit/>
          </a:bodyPr>
          <a:lstStyle/>
          <a:p>
            <a:pPr algn="ctr">
              <a:lnSpc>
                <a:spcPct val="118000"/>
              </a:lnSpc>
              <a:spcBef>
                <a:spcPts val="0"/>
              </a:spcBef>
              <a:spcAft>
                <a:spcPts val="0"/>
              </a:spcAft>
            </a:pPr>
            <a:r>
              <a:rPr sz="1050" b="1" i="0">
                <a:solidFill>
                  <a:srgbClr val="0F172A"/>
                </a:solidFill>
                <a:latin typeface="Segoe UI Semibold"/>
              </a:rPr>
              <a:t>parent_profiles</a:t>
            </a:r>
          </a:p>
        </p:txBody>
      </p:sp>
      <p:sp>
        <p:nvSpPr>
          <p:cNvPr id="31" name="TextBox 30"/>
          <p:cNvSpPr txBox="1"/>
          <p:nvPr/>
        </p:nvSpPr>
        <p:spPr>
          <a:xfrm>
            <a:off x="640080" y="3145536"/>
            <a:ext cx="1636776" cy="274320"/>
          </a:xfrm>
          <a:prstGeom prst="rect">
            <a:avLst/>
          </a:prstGeom>
          <a:noFill/>
        </p:spPr>
        <p:txBody>
          <a:bodyPr wrap="square" lIns="0" rIns="0" tIns="0" bIns="0" anchor="t">
            <a:spAutoFit/>
          </a:bodyPr>
          <a:lstStyle/>
          <a:p>
            <a:pPr algn="ctr">
              <a:lnSpc>
                <a:spcPct val="112000"/>
              </a:lnSpc>
              <a:spcBef>
                <a:spcPts val="0"/>
              </a:spcBef>
              <a:spcAft>
                <a:spcPts val="0"/>
              </a:spcAft>
            </a:pPr>
            <a:r>
              <a:rPr sz="780" b="0" i="0">
                <a:solidFill>
                  <a:srgbClr val="64748B"/>
                </a:solidFill>
                <a:latin typeface="Segoe UI"/>
              </a:rPr>
              <a:t>one child profile · age
budget · level · learning mode</a:t>
            </a:r>
          </a:p>
        </p:txBody>
      </p:sp>
      <p:sp>
        <p:nvSpPr>
          <p:cNvPr id="32" name="Rounded Rectangle 31"/>
          <p:cNvSpPr/>
          <p:nvPr/>
        </p:nvSpPr>
        <p:spPr>
          <a:xfrm>
            <a:off x="2834640" y="2798064"/>
            <a:ext cx="1965960" cy="658368"/>
          </a:xfrm>
          <a:prstGeom prst="roundRect">
            <a:avLst>
              <a:gd name="adj" fmla="val 8000"/>
            </a:avLst>
          </a:prstGeom>
          <a:solidFill>
            <a:srgbClr val="FFFF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2834640" y="2798064"/>
            <a:ext cx="1965960" cy="4572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2926080" y="2916936"/>
            <a:ext cx="1783080" cy="219456"/>
          </a:xfrm>
          <a:prstGeom prst="rect">
            <a:avLst/>
          </a:prstGeom>
          <a:noFill/>
        </p:spPr>
        <p:txBody>
          <a:bodyPr wrap="square" lIns="0" rIns="0" tIns="0" bIns="0" anchor="t">
            <a:spAutoFit/>
          </a:bodyPr>
          <a:lstStyle/>
          <a:p>
            <a:pPr algn="ctr">
              <a:lnSpc>
                <a:spcPct val="118000"/>
              </a:lnSpc>
              <a:spcBef>
                <a:spcPts val="0"/>
              </a:spcBef>
              <a:spcAft>
                <a:spcPts val="0"/>
              </a:spcAft>
            </a:pPr>
            <a:r>
              <a:rPr sz="1050" b="1" i="0">
                <a:solidFill>
                  <a:srgbClr val="0F172A"/>
                </a:solidFill>
                <a:latin typeface="Segoe UI Semibold"/>
              </a:rPr>
              <a:t>tutor_subjects</a:t>
            </a:r>
          </a:p>
        </p:txBody>
      </p:sp>
      <p:sp>
        <p:nvSpPr>
          <p:cNvPr id="35" name="TextBox 34"/>
          <p:cNvSpPr txBox="1"/>
          <p:nvPr/>
        </p:nvSpPr>
        <p:spPr>
          <a:xfrm>
            <a:off x="2907792" y="3145536"/>
            <a:ext cx="1819656" cy="274320"/>
          </a:xfrm>
          <a:prstGeom prst="rect">
            <a:avLst/>
          </a:prstGeom>
          <a:noFill/>
        </p:spPr>
        <p:txBody>
          <a:bodyPr wrap="square" lIns="0" rIns="0" tIns="0" bIns="0" anchor="t">
            <a:spAutoFit/>
          </a:bodyPr>
          <a:lstStyle/>
          <a:p>
            <a:pPr algn="ctr">
              <a:lnSpc>
                <a:spcPct val="112000"/>
              </a:lnSpc>
              <a:spcBef>
                <a:spcPts val="0"/>
              </a:spcBef>
              <a:spcAft>
                <a:spcPts val="0"/>
              </a:spcAft>
            </a:pPr>
            <a:r>
              <a:rPr sz="780" b="0" i="0">
                <a:solidFill>
                  <a:srgbClr val="64748B"/>
                </a:solidFill>
                <a:latin typeface="Segoe UI"/>
              </a:rPr>
              <a:t>subject_name · level
many subjects per tutor</a:t>
            </a:r>
          </a:p>
        </p:txBody>
      </p:sp>
      <p:sp>
        <p:nvSpPr>
          <p:cNvPr id="36" name="Rounded Rectangle 35"/>
          <p:cNvSpPr/>
          <p:nvPr/>
        </p:nvSpPr>
        <p:spPr>
          <a:xfrm>
            <a:off x="5285232" y="2798064"/>
            <a:ext cx="1874519" cy="658368"/>
          </a:xfrm>
          <a:prstGeom prst="roundRect">
            <a:avLst>
              <a:gd name="adj" fmla="val 8000"/>
            </a:avLst>
          </a:prstGeom>
          <a:solidFill>
            <a:srgbClr val="FFFF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5285232" y="2798064"/>
            <a:ext cx="1874519" cy="4572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376672" y="2916936"/>
            <a:ext cx="1691639" cy="219456"/>
          </a:xfrm>
          <a:prstGeom prst="rect">
            <a:avLst/>
          </a:prstGeom>
          <a:noFill/>
        </p:spPr>
        <p:txBody>
          <a:bodyPr wrap="square" lIns="0" rIns="0" tIns="0" bIns="0" anchor="t">
            <a:spAutoFit/>
          </a:bodyPr>
          <a:lstStyle/>
          <a:p>
            <a:pPr algn="ctr">
              <a:lnSpc>
                <a:spcPct val="118000"/>
              </a:lnSpc>
              <a:spcBef>
                <a:spcPts val="0"/>
              </a:spcBef>
              <a:spcAft>
                <a:spcPts val="0"/>
              </a:spcAft>
            </a:pPr>
            <a:r>
              <a:rPr sz="1050" b="1" i="0">
                <a:solidFill>
                  <a:srgbClr val="0F172A"/>
                </a:solidFill>
                <a:latin typeface="Segoe UI Semibold"/>
              </a:rPr>
              <a:t>tutor_availability</a:t>
            </a:r>
          </a:p>
        </p:txBody>
      </p:sp>
      <p:sp>
        <p:nvSpPr>
          <p:cNvPr id="39" name="TextBox 38"/>
          <p:cNvSpPr txBox="1"/>
          <p:nvPr/>
        </p:nvSpPr>
        <p:spPr>
          <a:xfrm>
            <a:off x="5358384" y="3145536"/>
            <a:ext cx="1728216" cy="274320"/>
          </a:xfrm>
          <a:prstGeom prst="rect">
            <a:avLst/>
          </a:prstGeom>
          <a:noFill/>
        </p:spPr>
        <p:txBody>
          <a:bodyPr wrap="square" lIns="0" rIns="0" tIns="0" bIns="0" anchor="t">
            <a:spAutoFit/>
          </a:bodyPr>
          <a:lstStyle/>
          <a:p>
            <a:pPr algn="ctr">
              <a:lnSpc>
                <a:spcPct val="112000"/>
              </a:lnSpc>
              <a:spcBef>
                <a:spcPts val="0"/>
              </a:spcBef>
              <a:spcAft>
                <a:spcPts val="0"/>
              </a:spcAft>
            </a:pPr>
            <a:r>
              <a:rPr sz="780" b="0" i="0">
                <a:solidFill>
                  <a:srgbClr val="64748B"/>
                </a:solidFill>
                <a:latin typeface="Segoe UI"/>
              </a:rPr>
              <a:t>day_of_week 0–6
start_time · end_time</a:t>
            </a:r>
          </a:p>
        </p:txBody>
      </p:sp>
      <p:sp>
        <p:nvSpPr>
          <p:cNvPr id="40" name="Rounded Rectangle 39"/>
          <p:cNvSpPr/>
          <p:nvPr/>
        </p:nvSpPr>
        <p:spPr>
          <a:xfrm>
            <a:off x="7644383" y="2798064"/>
            <a:ext cx="1783080" cy="658368"/>
          </a:xfrm>
          <a:prstGeom prst="roundRect">
            <a:avLst>
              <a:gd name="adj" fmla="val 8000"/>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7644383" y="2798064"/>
            <a:ext cx="1783080" cy="45720"/>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735823" y="2916936"/>
            <a:ext cx="1600200" cy="219456"/>
          </a:xfrm>
          <a:prstGeom prst="rect">
            <a:avLst/>
          </a:prstGeom>
          <a:noFill/>
        </p:spPr>
        <p:txBody>
          <a:bodyPr wrap="square" lIns="0" rIns="0" tIns="0" bIns="0" anchor="t">
            <a:spAutoFit/>
          </a:bodyPr>
          <a:lstStyle/>
          <a:p>
            <a:pPr algn="ctr">
              <a:lnSpc>
                <a:spcPct val="118000"/>
              </a:lnSpc>
              <a:spcBef>
                <a:spcPts val="0"/>
              </a:spcBef>
              <a:spcAft>
                <a:spcPts val="0"/>
              </a:spcAft>
            </a:pPr>
            <a:r>
              <a:rPr sz="1050" b="1" i="0">
                <a:solidFill>
                  <a:srgbClr val="0F172A"/>
                </a:solidFill>
                <a:latin typeface="Segoe UI Semibold"/>
              </a:rPr>
              <a:t>tutor_documents</a:t>
            </a:r>
          </a:p>
        </p:txBody>
      </p:sp>
      <p:sp>
        <p:nvSpPr>
          <p:cNvPr id="43" name="TextBox 42"/>
          <p:cNvSpPr txBox="1"/>
          <p:nvPr/>
        </p:nvSpPr>
        <p:spPr>
          <a:xfrm>
            <a:off x="7717536" y="3145536"/>
            <a:ext cx="1636776" cy="274320"/>
          </a:xfrm>
          <a:prstGeom prst="rect">
            <a:avLst/>
          </a:prstGeom>
          <a:noFill/>
        </p:spPr>
        <p:txBody>
          <a:bodyPr wrap="square" lIns="0" rIns="0" tIns="0" bIns="0" anchor="t">
            <a:spAutoFit/>
          </a:bodyPr>
          <a:lstStyle/>
          <a:p>
            <a:pPr algn="ctr">
              <a:lnSpc>
                <a:spcPct val="112000"/>
              </a:lnSpc>
              <a:spcBef>
                <a:spcPts val="0"/>
              </a:spcBef>
              <a:spcAft>
                <a:spcPts val="0"/>
              </a:spcAft>
            </a:pPr>
            <a:r>
              <a:rPr sz="780" b="0" i="0">
                <a:solidFill>
                  <a:srgbClr val="64748B"/>
                </a:solidFill>
                <a:latin typeface="Segoe UI"/>
              </a:rPr>
              <a:t>user_id · doc_type
file_data · photo</a:t>
            </a:r>
          </a:p>
        </p:txBody>
      </p:sp>
      <p:sp>
        <p:nvSpPr>
          <p:cNvPr id="44" name="Rounded Rectangle 43"/>
          <p:cNvSpPr/>
          <p:nvPr/>
        </p:nvSpPr>
        <p:spPr>
          <a:xfrm>
            <a:off x="9912096" y="2798064"/>
            <a:ext cx="1709928" cy="658368"/>
          </a:xfrm>
          <a:prstGeom prst="roundRect">
            <a:avLst>
              <a:gd name="adj" fmla="val 8000"/>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9912096" y="2798064"/>
            <a:ext cx="1709928" cy="45720"/>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10003536" y="2916936"/>
            <a:ext cx="1527048" cy="219456"/>
          </a:xfrm>
          <a:prstGeom prst="rect">
            <a:avLst/>
          </a:prstGeom>
          <a:noFill/>
        </p:spPr>
        <p:txBody>
          <a:bodyPr wrap="square" lIns="0" rIns="0" tIns="0" bIns="0" anchor="t">
            <a:spAutoFit/>
          </a:bodyPr>
          <a:lstStyle/>
          <a:p>
            <a:pPr algn="ctr">
              <a:lnSpc>
                <a:spcPct val="118000"/>
              </a:lnSpc>
              <a:spcBef>
                <a:spcPts val="0"/>
              </a:spcBef>
              <a:spcAft>
                <a:spcPts val="0"/>
              </a:spcAft>
            </a:pPr>
            <a:r>
              <a:rPr sz="1050" b="1" i="0">
                <a:solidFill>
                  <a:srgbClr val="0F172A"/>
                </a:solidFill>
                <a:latin typeface="Segoe UI Semibold"/>
              </a:rPr>
              <a:t>tutor_verifications</a:t>
            </a:r>
          </a:p>
        </p:txBody>
      </p:sp>
      <p:sp>
        <p:nvSpPr>
          <p:cNvPr id="47" name="TextBox 46"/>
          <p:cNvSpPr txBox="1"/>
          <p:nvPr/>
        </p:nvSpPr>
        <p:spPr>
          <a:xfrm>
            <a:off x="9985248" y="3145536"/>
            <a:ext cx="1563624" cy="274320"/>
          </a:xfrm>
          <a:prstGeom prst="rect">
            <a:avLst/>
          </a:prstGeom>
          <a:noFill/>
        </p:spPr>
        <p:txBody>
          <a:bodyPr wrap="square" lIns="0" rIns="0" tIns="0" bIns="0" anchor="t">
            <a:spAutoFit/>
          </a:bodyPr>
          <a:lstStyle/>
          <a:p>
            <a:pPr algn="ctr">
              <a:lnSpc>
                <a:spcPct val="112000"/>
              </a:lnSpc>
              <a:spcBef>
                <a:spcPts val="0"/>
              </a:spcBef>
              <a:spcAft>
                <a:spcPts val="0"/>
              </a:spcAft>
            </a:pPr>
            <a:r>
              <a:rPr sz="780" b="0" i="0">
                <a:solidFill>
                  <a:srgbClr val="64748B"/>
                </a:solidFill>
                <a:latin typeface="Segoe UI"/>
              </a:rPr>
              <a:t>user_id PK · status
pending / approved / declined</a:t>
            </a:r>
          </a:p>
        </p:txBody>
      </p:sp>
      <p:cxnSp>
        <p:nvCxnSpPr>
          <p:cNvPr id="48" name="Connector 47"/>
          <p:cNvCxnSpPr/>
          <p:nvPr/>
        </p:nvCxnSpPr>
        <p:spPr>
          <a:xfrm>
            <a:off x="2350008" y="2121408"/>
            <a:ext cx="484632" cy="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304288" y="1847088"/>
            <a:ext cx="411480" cy="182880"/>
          </a:xfrm>
          <a:prstGeom prst="rect">
            <a:avLst/>
          </a:prstGeom>
          <a:noFill/>
        </p:spPr>
        <p:txBody>
          <a:bodyPr wrap="square" lIns="0" rIns="0" tIns="0" bIns="0" anchor="t">
            <a:spAutoFit/>
          </a:bodyPr>
          <a:lstStyle/>
          <a:p>
            <a:pPr algn="ctr">
              <a:lnSpc>
                <a:spcPct val="118000"/>
              </a:lnSpc>
              <a:spcBef>
                <a:spcPts val="0"/>
              </a:spcBef>
              <a:spcAft>
                <a:spcPts val="0"/>
              </a:spcAft>
            </a:pPr>
            <a:r>
              <a:rPr sz="720" b="1" i="0">
                <a:solidFill>
                  <a:srgbClr val="64748B"/>
                </a:solidFill>
                <a:latin typeface="Segoe UI"/>
              </a:rPr>
              <a:t>1:1</a:t>
            </a:r>
          </a:p>
        </p:txBody>
      </p:sp>
      <p:cxnSp>
        <p:nvCxnSpPr>
          <p:cNvPr id="50" name="Connector 49"/>
          <p:cNvCxnSpPr/>
          <p:nvPr/>
        </p:nvCxnSpPr>
        <p:spPr>
          <a:xfrm>
            <a:off x="1463040" y="2450592"/>
            <a:ext cx="0" cy="347472"/>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517904" y="2505456"/>
            <a:ext cx="411480" cy="182880"/>
          </a:xfrm>
          <a:prstGeom prst="rect">
            <a:avLst/>
          </a:prstGeom>
          <a:noFill/>
        </p:spPr>
        <p:txBody>
          <a:bodyPr wrap="square" lIns="0" rIns="0" tIns="0" bIns="0" anchor="t">
            <a:spAutoFit/>
          </a:bodyPr>
          <a:lstStyle/>
          <a:p>
            <a:pPr algn="ctr">
              <a:lnSpc>
                <a:spcPct val="118000"/>
              </a:lnSpc>
              <a:spcBef>
                <a:spcPts val="0"/>
              </a:spcBef>
              <a:spcAft>
                <a:spcPts val="0"/>
              </a:spcAft>
            </a:pPr>
            <a:r>
              <a:rPr sz="720" b="1" i="0">
                <a:solidFill>
                  <a:srgbClr val="64748B"/>
                </a:solidFill>
                <a:latin typeface="Segoe UI"/>
              </a:rPr>
              <a:t>1:1</a:t>
            </a:r>
          </a:p>
        </p:txBody>
      </p:sp>
      <p:cxnSp>
        <p:nvCxnSpPr>
          <p:cNvPr id="52" name="Connector 51"/>
          <p:cNvCxnSpPr/>
          <p:nvPr/>
        </p:nvCxnSpPr>
        <p:spPr>
          <a:xfrm>
            <a:off x="3813048" y="2450592"/>
            <a:ext cx="0" cy="347472"/>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858768" y="2505456"/>
            <a:ext cx="411480" cy="182880"/>
          </a:xfrm>
          <a:prstGeom prst="rect">
            <a:avLst/>
          </a:prstGeom>
          <a:noFill/>
        </p:spPr>
        <p:txBody>
          <a:bodyPr wrap="square" lIns="0" rIns="0" tIns="0" bIns="0" anchor="t">
            <a:spAutoFit/>
          </a:bodyPr>
          <a:lstStyle/>
          <a:p>
            <a:pPr algn="ctr">
              <a:lnSpc>
                <a:spcPct val="118000"/>
              </a:lnSpc>
              <a:spcBef>
                <a:spcPts val="0"/>
              </a:spcBef>
              <a:spcAft>
                <a:spcPts val="0"/>
              </a:spcAft>
            </a:pPr>
            <a:r>
              <a:rPr sz="720" b="1" i="0">
                <a:solidFill>
                  <a:srgbClr val="64748B"/>
                </a:solidFill>
                <a:latin typeface="Segoe UI"/>
              </a:rPr>
              <a:t>1:N</a:t>
            </a:r>
          </a:p>
        </p:txBody>
      </p:sp>
      <p:cxnSp>
        <p:nvCxnSpPr>
          <p:cNvPr id="54" name="Connector 53"/>
          <p:cNvCxnSpPr/>
          <p:nvPr/>
        </p:nvCxnSpPr>
        <p:spPr>
          <a:xfrm>
            <a:off x="4590288" y="2450592"/>
            <a:ext cx="1371600" cy="347472"/>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882896" y="2505456"/>
            <a:ext cx="411480" cy="182880"/>
          </a:xfrm>
          <a:prstGeom prst="rect">
            <a:avLst/>
          </a:prstGeom>
          <a:noFill/>
        </p:spPr>
        <p:txBody>
          <a:bodyPr wrap="square" lIns="0" rIns="0" tIns="0" bIns="0" anchor="t">
            <a:spAutoFit/>
          </a:bodyPr>
          <a:lstStyle/>
          <a:p>
            <a:pPr algn="ctr">
              <a:lnSpc>
                <a:spcPct val="118000"/>
              </a:lnSpc>
              <a:spcBef>
                <a:spcPts val="0"/>
              </a:spcBef>
              <a:spcAft>
                <a:spcPts val="0"/>
              </a:spcAft>
            </a:pPr>
            <a:r>
              <a:rPr sz="720" b="1" i="0">
                <a:solidFill>
                  <a:srgbClr val="64748B"/>
                </a:solidFill>
                <a:latin typeface="Segoe UI"/>
              </a:rPr>
              <a:t>1:N</a:t>
            </a:r>
          </a:p>
        </p:txBody>
      </p:sp>
      <p:cxnSp>
        <p:nvCxnSpPr>
          <p:cNvPr id="56" name="Connector 55"/>
          <p:cNvCxnSpPr/>
          <p:nvPr/>
        </p:nvCxnSpPr>
        <p:spPr>
          <a:xfrm>
            <a:off x="4800600" y="1956816"/>
            <a:ext cx="484632" cy="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4828032" y="1682496"/>
            <a:ext cx="411480" cy="182880"/>
          </a:xfrm>
          <a:prstGeom prst="rect">
            <a:avLst/>
          </a:prstGeom>
          <a:noFill/>
        </p:spPr>
        <p:txBody>
          <a:bodyPr wrap="square" lIns="0" rIns="0" tIns="0" bIns="0" anchor="t">
            <a:spAutoFit/>
          </a:bodyPr>
          <a:lstStyle/>
          <a:p>
            <a:pPr algn="ctr">
              <a:lnSpc>
                <a:spcPct val="118000"/>
              </a:lnSpc>
              <a:spcBef>
                <a:spcPts val="0"/>
              </a:spcBef>
              <a:spcAft>
                <a:spcPts val="0"/>
              </a:spcAft>
            </a:pPr>
            <a:r>
              <a:rPr sz="720" b="1" i="0">
                <a:solidFill>
                  <a:srgbClr val="64748B"/>
                </a:solidFill>
                <a:latin typeface="Segoe UI"/>
              </a:rPr>
              <a:t>1:N</a:t>
            </a:r>
          </a:p>
        </p:txBody>
      </p:sp>
      <p:cxnSp>
        <p:nvCxnSpPr>
          <p:cNvPr id="58" name="Connector 57"/>
          <p:cNvCxnSpPr/>
          <p:nvPr/>
        </p:nvCxnSpPr>
        <p:spPr>
          <a:xfrm>
            <a:off x="7159752" y="2121408"/>
            <a:ext cx="484631" cy="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168896" y="1847088"/>
            <a:ext cx="411480" cy="182880"/>
          </a:xfrm>
          <a:prstGeom prst="rect">
            <a:avLst/>
          </a:prstGeom>
          <a:noFill/>
        </p:spPr>
        <p:txBody>
          <a:bodyPr wrap="square" lIns="0" rIns="0" tIns="0" bIns="0" anchor="t">
            <a:spAutoFit/>
          </a:bodyPr>
          <a:lstStyle/>
          <a:p>
            <a:pPr algn="ctr">
              <a:lnSpc>
                <a:spcPct val="118000"/>
              </a:lnSpc>
              <a:spcBef>
                <a:spcPts val="0"/>
              </a:spcBef>
              <a:spcAft>
                <a:spcPts val="0"/>
              </a:spcAft>
            </a:pPr>
            <a:r>
              <a:rPr sz="720" b="1" i="0">
                <a:solidFill>
                  <a:srgbClr val="64748B"/>
                </a:solidFill>
                <a:latin typeface="Segoe UI"/>
              </a:rPr>
              <a:t>1:1</a:t>
            </a:r>
          </a:p>
        </p:txBody>
      </p:sp>
      <p:sp>
        <p:nvSpPr>
          <p:cNvPr id="60" name="TextBox 59"/>
          <p:cNvSpPr txBox="1"/>
          <p:nvPr/>
        </p:nvSpPr>
        <p:spPr>
          <a:xfrm>
            <a:off x="9912096" y="2542032"/>
            <a:ext cx="1709928" cy="201168"/>
          </a:xfrm>
          <a:prstGeom prst="rect">
            <a:avLst/>
          </a:prstGeom>
          <a:noFill/>
        </p:spPr>
        <p:txBody>
          <a:bodyPr wrap="square" lIns="0" rIns="0" tIns="0" bIns="0" anchor="t">
            <a:spAutoFit/>
          </a:bodyPr>
          <a:lstStyle/>
          <a:p>
            <a:pPr algn="ctr">
              <a:lnSpc>
                <a:spcPct val="118000"/>
              </a:lnSpc>
              <a:spcBef>
                <a:spcPts val="0"/>
              </a:spcBef>
              <a:spcAft>
                <a:spcPts val="0"/>
              </a:spcAft>
            </a:pPr>
            <a:r>
              <a:rPr sz="750" b="0" i="1">
                <a:solidFill>
                  <a:srgbClr val="94A3B8"/>
                </a:solidFill>
                <a:latin typeface="Segoe UI"/>
              </a:rPr>
              <a:t>opaque party keys</a:t>
            </a:r>
          </a:p>
        </p:txBody>
      </p:sp>
      <p:sp>
        <p:nvSpPr>
          <p:cNvPr id="61" name="Rounded Rectangle 60"/>
          <p:cNvSpPr/>
          <p:nvPr/>
        </p:nvSpPr>
        <p:spPr>
          <a:xfrm>
            <a:off x="566928" y="3621024"/>
            <a:ext cx="3527450" cy="2432304"/>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ounded Rectangle 61"/>
          <p:cNvSpPr/>
          <p:nvPr/>
        </p:nvSpPr>
        <p:spPr>
          <a:xfrm>
            <a:off x="566928" y="3621024"/>
            <a:ext cx="3527450" cy="4572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749808" y="3767328"/>
            <a:ext cx="3161690" cy="237744"/>
          </a:xfrm>
          <a:prstGeom prst="rect">
            <a:avLst/>
          </a:prstGeom>
          <a:noFill/>
        </p:spPr>
        <p:txBody>
          <a:bodyPr wrap="square" lIns="0" rIns="0" tIns="0" bIns="0" anchor="t">
            <a:spAutoFit/>
          </a:bodyPr>
          <a:lstStyle/>
          <a:p>
            <a:pPr algn="l">
              <a:lnSpc>
                <a:spcPct val="118000"/>
              </a:lnSpc>
              <a:spcBef>
                <a:spcPts val="0"/>
              </a:spcBef>
              <a:spcAft>
                <a:spcPts val="0"/>
              </a:spcAft>
            </a:pPr>
            <a:r>
              <a:rPr sz="1080" b="1" i="0">
                <a:solidFill>
                  <a:srgbClr val="0F172A"/>
                </a:solidFill>
                <a:latin typeface="Segoe UI Semibold"/>
              </a:rPr>
              <a:t>Table responsibilities</a:t>
            </a:r>
          </a:p>
        </p:txBody>
      </p:sp>
      <p:sp>
        <p:nvSpPr>
          <p:cNvPr id="64" name="TextBox 63"/>
          <p:cNvSpPr txBox="1"/>
          <p:nvPr/>
        </p:nvSpPr>
        <p:spPr>
          <a:xfrm>
            <a:off x="749808" y="4059935"/>
            <a:ext cx="3161690" cy="155448"/>
          </a:xfrm>
          <a:prstGeom prst="rect">
            <a:avLst/>
          </a:prstGeom>
          <a:noFill/>
        </p:spPr>
        <p:txBody>
          <a:bodyPr wrap="square" lIns="0" rIns="0" tIns="0" bIns="0" anchor="t">
            <a:spAutoFit/>
          </a:bodyPr>
          <a:lstStyle/>
          <a:p>
            <a:pPr algn="l">
              <a:lnSpc>
                <a:spcPct val="100000"/>
              </a:lnSpc>
            </a:pPr>
            <a:r>
              <a:rPr sz="760" b="1" i="0">
                <a:solidFill>
                  <a:srgbClr val="1E3A8A"/>
                </a:solidFill>
                <a:latin typeface="Segoe UI"/>
              </a:rPr>
              <a:t>users  ·  </a:t>
            </a:r>
            <a:r>
              <a:rPr sz="760" b="0" i="0">
                <a:solidFill>
                  <a:srgbClr val="475569"/>
                </a:solidFill>
                <a:latin typeface="Segoe UI"/>
              </a:rPr>
              <a:t>every account + role + review state</a:t>
            </a:r>
          </a:p>
        </p:txBody>
      </p:sp>
      <p:sp>
        <p:nvSpPr>
          <p:cNvPr id="65" name="TextBox 64"/>
          <p:cNvSpPr txBox="1"/>
          <p:nvPr/>
        </p:nvSpPr>
        <p:spPr>
          <a:xfrm>
            <a:off x="749808" y="4238244"/>
            <a:ext cx="3161690" cy="155448"/>
          </a:xfrm>
          <a:prstGeom prst="rect">
            <a:avLst/>
          </a:prstGeom>
          <a:noFill/>
        </p:spPr>
        <p:txBody>
          <a:bodyPr wrap="square" lIns="0" rIns="0" tIns="0" bIns="0" anchor="t">
            <a:spAutoFit/>
          </a:bodyPr>
          <a:lstStyle/>
          <a:p>
            <a:pPr algn="l">
              <a:lnSpc>
                <a:spcPct val="100000"/>
              </a:lnSpc>
            </a:pPr>
            <a:r>
              <a:rPr sz="760" b="1" i="0">
                <a:solidFill>
                  <a:srgbClr val="1E3A8A"/>
                </a:solidFill>
                <a:latin typeface="Segoe UI"/>
              </a:rPr>
              <a:t>tutor_profiles  ·  </a:t>
            </a:r>
            <a:r>
              <a:rPr sz="760" b="0" i="0">
                <a:solidFill>
                  <a:srgbClr val="475569"/>
                </a:solidFill>
                <a:latin typeface="Segoe UI"/>
              </a:rPr>
              <a:t>1:1 tutor data, rate, verification</a:t>
            </a:r>
          </a:p>
        </p:txBody>
      </p:sp>
      <p:sp>
        <p:nvSpPr>
          <p:cNvPr id="66" name="TextBox 65"/>
          <p:cNvSpPr txBox="1"/>
          <p:nvPr/>
        </p:nvSpPr>
        <p:spPr>
          <a:xfrm>
            <a:off x="749808" y="4416552"/>
            <a:ext cx="3161690" cy="155448"/>
          </a:xfrm>
          <a:prstGeom prst="rect">
            <a:avLst/>
          </a:prstGeom>
          <a:noFill/>
        </p:spPr>
        <p:txBody>
          <a:bodyPr wrap="square" lIns="0" rIns="0" tIns="0" bIns="0" anchor="t">
            <a:spAutoFit/>
          </a:bodyPr>
          <a:lstStyle/>
          <a:p>
            <a:pPr algn="l">
              <a:lnSpc>
                <a:spcPct val="100000"/>
              </a:lnSpc>
            </a:pPr>
            <a:r>
              <a:rPr sz="760" b="1" i="0">
                <a:solidFill>
                  <a:srgbClr val="1E3A8A"/>
                </a:solidFill>
                <a:latin typeface="Segoe UI"/>
              </a:rPr>
              <a:t>parent_profiles  ·  </a:t>
            </a:r>
            <a:r>
              <a:rPr sz="760" b="0" i="0">
                <a:solidFill>
                  <a:srgbClr val="475569"/>
                </a:solidFill>
                <a:latin typeface="Segoe UI"/>
              </a:rPr>
              <a:t>one child profile, budget, learning mode</a:t>
            </a:r>
          </a:p>
        </p:txBody>
      </p:sp>
      <p:sp>
        <p:nvSpPr>
          <p:cNvPr id="67" name="TextBox 66"/>
          <p:cNvSpPr txBox="1"/>
          <p:nvPr/>
        </p:nvSpPr>
        <p:spPr>
          <a:xfrm>
            <a:off x="749808" y="4594860"/>
            <a:ext cx="3161690" cy="155448"/>
          </a:xfrm>
          <a:prstGeom prst="rect">
            <a:avLst/>
          </a:prstGeom>
          <a:noFill/>
        </p:spPr>
        <p:txBody>
          <a:bodyPr wrap="square" lIns="0" rIns="0" tIns="0" bIns="0" anchor="t">
            <a:spAutoFit/>
          </a:bodyPr>
          <a:lstStyle/>
          <a:p>
            <a:pPr algn="l">
              <a:lnSpc>
                <a:spcPct val="100000"/>
              </a:lnSpc>
            </a:pPr>
            <a:r>
              <a:rPr sz="760" b="1" i="0">
                <a:solidFill>
                  <a:srgbClr val="1E3A8A"/>
                </a:solidFill>
                <a:latin typeface="Segoe UI"/>
              </a:rPr>
              <a:t>tutor_subjects  ·  </a:t>
            </a:r>
            <a:r>
              <a:rPr sz="760" b="0" i="0">
                <a:solidFill>
                  <a:srgbClr val="475569"/>
                </a:solidFill>
                <a:latin typeface="Segoe UI"/>
              </a:rPr>
              <a:t>many subjects per tutor, with level</a:t>
            </a:r>
          </a:p>
        </p:txBody>
      </p:sp>
      <p:sp>
        <p:nvSpPr>
          <p:cNvPr id="68" name="TextBox 67"/>
          <p:cNvSpPr txBox="1"/>
          <p:nvPr/>
        </p:nvSpPr>
        <p:spPr>
          <a:xfrm>
            <a:off x="749808" y="4773168"/>
            <a:ext cx="3161690" cy="155448"/>
          </a:xfrm>
          <a:prstGeom prst="rect">
            <a:avLst/>
          </a:prstGeom>
          <a:noFill/>
        </p:spPr>
        <p:txBody>
          <a:bodyPr wrap="square" lIns="0" rIns="0" tIns="0" bIns="0" anchor="t">
            <a:spAutoFit/>
          </a:bodyPr>
          <a:lstStyle/>
          <a:p>
            <a:pPr algn="l">
              <a:lnSpc>
                <a:spcPct val="100000"/>
              </a:lnSpc>
            </a:pPr>
            <a:r>
              <a:rPr sz="760" b="1" i="0">
                <a:solidFill>
                  <a:srgbClr val="1E3A8A"/>
                </a:solidFill>
                <a:latin typeface="Segoe UI"/>
              </a:rPr>
              <a:t>tutor_availability  ·  </a:t>
            </a:r>
            <a:r>
              <a:rPr sz="760" b="0" i="0">
                <a:solidFill>
                  <a:srgbClr val="475569"/>
                </a:solidFill>
                <a:latin typeface="Segoe UI"/>
              </a:rPr>
              <a:t>recurring weekly time slots</a:t>
            </a:r>
          </a:p>
        </p:txBody>
      </p:sp>
      <p:sp>
        <p:nvSpPr>
          <p:cNvPr id="69" name="TextBox 68"/>
          <p:cNvSpPr txBox="1"/>
          <p:nvPr/>
        </p:nvSpPr>
        <p:spPr>
          <a:xfrm>
            <a:off x="749808" y="4951476"/>
            <a:ext cx="3161690" cy="155448"/>
          </a:xfrm>
          <a:prstGeom prst="rect">
            <a:avLst/>
          </a:prstGeom>
          <a:noFill/>
        </p:spPr>
        <p:txBody>
          <a:bodyPr wrap="square" lIns="0" rIns="0" tIns="0" bIns="0" anchor="t">
            <a:spAutoFit/>
          </a:bodyPr>
          <a:lstStyle/>
          <a:p>
            <a:pPr algn="l">
              <a:lnSpc>
                <a:spcPct val="100000"/>
              </a:lnSpc>
            </a:pPr>
            <a:r>
              <a:rPr sz="760" b="1" i="0">
                <a:solidFill>
                  <a:srgbClr val="1E3A8A"/>
                </a:solidFill>
                <a:latin typeface="Segoe UI"/>
              </a:rPr>
              <a:t>bookings  ·  </a:t>
            </a:r>
            <a:r>
              <a:rPr sz="760" b="0" i="0">
                <a:solidFill>
                  <a:srgbClr val="475569"/>
                </a:solidFill>
                <a:latin typeface="Segoe UI"/>
              </a:rPr>
              <a:t>session requests + status + price</a:t>
            </a:r>
          </a:p>
        </p:txBody>
      </p:sp>
      <p:sp>
        <p:nvSpPr>
          <p:cNvPr id="70" name="TextBox 69"/>
          <p:cNvSpPr txBox="1"/>
          <p:nvPr/>
        </p:nvSpPr>
        <p:spPr>
          <a:xfrm>
            <a:off x="749808" y="5129784"/>
            <a:ext cx="3161690" cy="155448"/>
          </a:xfrm>
          <a:prstGeom prst="rect">
            <a:avLst/>
          </a:prstGeom>
          <a:noFill/>
        </p:spPr>
        <p:txBody>
          <a:bodyPr wrap="square" lIns="0" rIns="0" tIns="0" bIns="0" anchor="t">
            <a:spAutoFit/>
          </a:bodyPr>
          <a:lstStyle/>
          <a:p>
            <a:pPr algn="l">
              <a:lnSpc>
                <a:spcPct val="100000"/>
              </a:lnSpc>
            </a:pPr>
            <a:r>
              <a:rPr sz="760" b="1" i="0">
                <a:solidFill>
                  <a:srgbClr val="1E3A8A"/>
                </a:solidFill>
                <a:latin typeface="Segoe UI"/>
              </a:rPr>
              <a:t>reviews  ·  </a:t>
            </a:r>
            <a:r>
              <a:rPr sz="760" b="0" i="0">
                <a:solidFill>
                  <a:srgbClr val="475569"/>
                </a:solidFill>
                <a:latin typeface="Segoe UI"/>
              </a:rPr>
              <a:t>booking-linked; admin may post unlinked feedback</a:t>
            </a:r>
          </a:p>
        </p:txBody>
      </p:sp>
      <p:sp>
        <p:nvSpPr>
          <p:cNvPr id="71" name="TextBox 70"/>
          <p:cNvSpPr txBox="1"/>
          <p:nvPr/>
        </p:nvSpPr>
        <p:spPr>
          <a:xfrm>
            <a:off x="749808" y="5308092"/>
            <a:ext cx="3161690" cy="155448"/>
          </a:xfrm>
          <a:prstGeom prst="rect">
            <a:avLst/>
          </a:prstGeom>
          <a:noFill/>
        </p:spPr>
        <p:txBody>
          <a:bodyPr wrap="square" lIns="0" rIns="0" tIns="0" bIns="0" anchor="t">
            <a:spAutoFit/>
          </a:bodyPr>
          <a:lstStyle/>
          <a:p>
            <a:pPr algn="l">
              <a:lnSpc>
                <a:spcPct val="100000"/>
              </a:lnSpc>
            </a:pPr>
            <a:r>
              <a:rPr sz="760" b="1" i="0">
                <a:solidFill>
                  <a:srgbClr val="1E3A8A"/>
                </a:solidFill>
                <a:latin typeface="Segoe UI"/>
              </a:rPr>
              <a:t>messages  ·  </a:t>
            </a:r>
            <a:r>
              <a:rPr sz="760" b="0" i="0">
                <a:solidFill>
                  <a:srgbClr val="475569"/>
                </a:solidFill>
                <a:latin typeface="Segoe UI"/>
              </a:rPr>
              <a:t>private threads between two parties</a:t>
            </a:r>
          </a:p>
        </p:txBody>
      </p:sp>
      <p:sp>
        <p:nvSpPr>
          <p:cNvPr id="72" name="TextBox 71"/>
          <p:cNvSpPr txBox="1"/>
          <p:nvPr/>
        </p:nvSpPr>
        <p:spPr>
          <a:xfrm>
            <a:off x="749808" y="5486400"/>
            <a:ext cx="3161690" cy="155448"/>
          </a:xfrm>
          <a:prstGeom prst="rect">
            <a:avLst/>
          </a:prstGeom>
          <a:noFill/>
        </p:spPr>
        <p:txBody>
          <a:bodyPr wrap="square" lIns="0" rIns="0" tIns="0" bIns="0" anchor="t">
            <a:spAutoFit/>
          </a:bodyPr>
          <a:lstStyle/>
          <a:p>
            <a:pPr algn="l">
              <a:lnSpc>
                <a:spcPct val="100000"/>
              </a:lnSpc>
            </a:pPr>
            <a:r>
              <a:rPr sz="760" b="1" i="0">
                <a:solidFill>
                  <a:srgbClr val="1E3A8A"/>
                </a:solidFill>
                <a:latin typeface="Segoe UI"/>
              </a:rPr>
              <a:t>tutor_documents  ·  </a:t>
            </a:r>
            <a:r>
              <a:rPr sz="760" b="0" i="0">
                <a:solidFill>
                  <a:srgbClr val="475569"/>
                </a:solidFill>
                <a:latin typeface="Segoe UI"/>
              </a:rPr>
              <a:t>uploaded credential photos</a:t>
            </a:r>
          </a:p>
        </p:txBody>
      </p:sp>
      <p:sp>
        <p:nvSpPr>
          <p:cNvPr id="73" name="TextBox 72"/>
          <p:cNvSpPr txBox="1"/>
          <p:nvPr/>
        </p:nvSpPr>
        <p:spPr>
          <a:xfrm>
            <a:off x="749808" y="5664708"/>
            <a:ext cx="3161690" cy="155448"/>
          </a:xfrm>
          <a:prstGeom prst="rect">
            <a:avLst/>
          </a:prstGeom>
          <a:noFill/>
        </p:spPr>
        <p:txBody>
          <a:bodyPr wrap="square" lIns="0" rIns="0" tIns="0" bIns="0" anchor="t">
            <a:spAutoFit/>
          </a:bodyPr>
          <a:lstStyle/>
          <a:p>
            <a:pPr algn="l">
              <a:lnSpc>
                <a:spcPct val="100000"/>
              </a:lnSpc>
            </a:pPr>
            <a:r>
              <a:rPr sz="760" b="1" i="0">
                <a:solidFill>
                  <a:srgbClr val="1E3A8A"/>
                </a:solidFill>
                <a:latin typeface="Segoe UI"/>
              </a:rPr>
              <a:t>tutor_verifications  ·  </a:t>
            </a:r>
            <a:r>
              <a:rPr sz="760" b="0" i="0">
                <a:solidFill>
                  <a:srgbClr val="475569"/>
                </a:solidFill>
                <a:latin typeface="Segoe UI"/>
              </a:rPr>
              <a:t>admin review outcome per tutor</a:t>
            </a:r>
          </a:p>
        </p:txBody>
      </p:sp>
      <p:sp>
        <p:nvSpPr>
          <p:cNvPr id="74" name="Rounded Rectangle 73"/>
          <p:cNvSpPr/>
          <p:nvPr/>
        </p:nvSpPr>
        <p:spPr>
          <a:xfrm>
            <a:off x="4332122" y="3621024"/>
            <a:ext cx="3527450" cy="2432304"/>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Rounded Rectangle 74"/>
          <p:cNvSpPr/>
          <p:nvPr/>
        </p:nvSpPr>
        <p:spPr>
          <a:xfrm>
            <a:off x="4332122" y="3621024"/>
            <a:ext cx="3527450" cy="4572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TextBox 75"/>
          <p:cNvSpPr txBox="1"/>
          <p:nvPr/>
        </p:nvSpPr>
        <p:spPr>
          <a:xfrm>
            <a:off x="4515002" y="3767328"/>
            <a:ext cx="3161690" cy="237744"/>
          </a:xfrm>
          <a:prstGeom prst="rect">
            <a:avLst/>
          </a:prstGeom>
          <a:noFill/>
        </p:spPr>
        <p:txBody>
          <a:bodyPr wrap="square" lIns="0" rIns="0" tIns="0" bIns="0" anchor="t">
            <a:spAutoFit/>
          </a:bodyPr>
          <a:lstStyle/>
          <a:p>
            <a:pPr algn="l">
              <a:lnSpc>
                <a:spcPct val="118000"/>
              </a:lnSpc>
              <a:spcBef>
                <a:spcPts val="0"/>
              </a:spcBef>
              <a:spcAft>
                <a:spcPts val="0"/>
              </a:spcAft>
            </a:pPr>
            <a:r>
              <a:rPr sz="1080" b="1" i="0">
                <a:solidFill>
                  <a:srgbClr val="0F172A"/>
                </a:solidFill>
                <a:latin typeface="Segoe UI Semibold"/>
              </a:rPr>
              <a:t>Schema objects &amp; constraints</a:t>
            </a:r>
          </a:p>
        </p:txBody>
      </p:sp>
      <p:sp>
        <p:nvSpPr>
          <p:cNvPr id="77" name="TextBox 76"/>
          <p:cNvSpPr txBox="1"/>
          <p:nvPr/>
        </p:nvSpPr>
        <p:spPr>
          <a:xfrm>
            <a:off x="4496714" y="4059935"/>
            <a:ext cx="950976" cy="202387"/>
          </a:xfrm>
          <a:prstGeom prst="rect">
            <a:avLst/>
          </a:prstGeom>
          <a:noFill/>
        </p:spPr>
        <p:txBody>
          <a:bodyPr wrap="square" lIns="0" rIns="0" tIns="0" bIns="0" anchor="t">
            <a:spAutoFit/>
          </a:bodyPr>
          <a:lstStyle/>
          <a:p>
            <a:pPr algn="l">
              <a:lnSpc>
                <a:spcPct val="108000"/>
              </a:lnSpc>
              <a:spcBef>
                <a:spcPts val="0"/>
              </a:spcBef>
              <a:spcAft>
                <a:spcPts val="0"/>
              </a:spcAft>
            </a:pPr>
            <a:r>
              <a:rPr sz="770" b="1" i="0">
                <a:solidFill>
                  <a:srgbClr val="1E3A8A"/>
                </a:solidFill>
                <a:latin typeface="Segoe UI"/>
              </a:rPr>
              <a:t>4 enums</a:t>
            </a:r>
          </a:p>
        </p:txBody>
      </p:sp>
      <p:sp>
        <p:nvSpPr>
          <p:cNvPr id="78" name="TextBox 77"/>
          <p:cNvSpPr txBox="1"/>
          <p:nvPr/>
        </p:nvSpPr>
        <p:spPr>
          <a:xfrm>
            <a:off x="5447690" y="4059935"/>
            <a:ext cx="2384450" cy="202387"/>
          </a:xfrm>
          <a:prstGeom prst="rect">
            <a:avLst/>
          </a:prstGeom>
          <a:noFill/>
        </p:spPr>
        <p:txBody>
          <a:bodyPr wrap="square" lIns="0" rIns="0" tIns="0" bIns="0" anchor="t">
            <a:spAutoFit/>
          </a:bodyPr>
          <a:lstStyle/>
          <a:p>
            <a:pPr algn="l">
              <a:lnSpc>
                <a:spcPct val="112000"/>
              </a:lnSpc>
              <a:spcBef>
                <a:spcPts val="0"/>
              </a:spcBef>
              <a:spcAft>
                <a:spcPts val="0"/>
              </a:spcAft>
            </a:pPr>
            <a:r>
              <a:rPr sz="780" b="0" i="0">
                <a:solidFill>
                  <a:srgbClr val="475569"/>
                </a:solidFill>
                <a:latin typeface="Segoe UI"/>
              </a:rPr>
              <a:t>role · status · session mode · curriculum</a:t>
            </a:r>
          </a:p>
        </p:txBody>
      </p:sp>
      <p:sp>
        <p:nvSpPr>
          <p:cNvPr id="79" name="TextBox 78"/>
          <p:cNvSpPr txBox="1"/>
          <p:nvPr/>
        </p:nvSpPr>
        <p:spPr>
          <a:xfrm>
            <a:off x="4496714" y="4280611"/>
            <a:ext cx="950976" cy="202387"/>
          </a:xfrm>
          <a:prstGeom prst="rect">
            <a:avLst/>
          </a:prstGeom>
          <a:noFill/>
        </p:spPr>
        <p:txBody>
          <a:bodyPr wrap="square" lIns="0" rIns="0" tIns="0" bIns="0" anchor="t">
            <a:spAutoFit/>
          </a:bodyPr>
          <a:lstStyle/>
          <a:p>
            <a:pPr algn="l">
              <a:lnSpc>
                <a:spcPct val="108000"/>
              </a:lnSpc>
              <a:spcBef>
                <a:spcPts val="0"/>
              </a:spcBef>
              <a:spcAft>
                <a:spcPts val="0"/>
              </a:spcAft>
            </a:pPr>
            <a:r>
              <a:rPr sz="770" b="1" i="0">
                <a:solidFill>
                  <a:srgbClr val="1E3A8A"/>
                </a:solidFill>
                <a:latin typeface="Segoe UI"/>
              </a:rPr>
              <a:t>2 triggers</a:t>
            </a:r>
          </a:p>
        </p:txBody>
      </p:sp>
      <p:sp>
        <p:nvSpPr>
          <p:cNvPr id="80" name="TextBox 79"/>
          <p:cNvSpPr txBox="1"/>
          <p:nvPr/>
        </p:nvSpPr>
        <p:spPr>
          <a:xfrm>
            <a:off x="5447690" y="4280611"/>
            <a:ext cx="2384450" cy="202387"/>
          </a:xfrm>
          <a:prstGeom prst="rect">
            <a:avLst/>
          </a:prstGeom>
          <a:noFill/>
        </p:spPr>
        <p:txBody>
          <a:bodyPr wrap="square" lIns="0" rIns="0" tIns="0" bIns="0" anchor="t">
            <a:spAutoFit/>
          </a:bodyPr>
          <a:lstStyle/>
          <a:p>
            <a:pPr algn="l">
              <a:lnSpc>
                <a:spcPct val="112000"/>
              </a:lnSpc>
              <a:spcBef>
                <a:spcPts val="0"/>
              </a:spcBef>
              <a:spcAft>
                <a:spcPts val="0"/>
              </a:spcAft>
            </a:pPr>
            <a:r>
              <a:rPr sz="780" b="0" i="0">
                <a:solidFill>
                  <a:srgbClr val="475569"/>
                </a:solidFill>
                <a:latin typeface="Segoe UI"/>
              </a:rPr>
              <a:t>rating totals on review; updated_at on booking</a:t>
            </a:r>
          </a:p>
        </p:txBody>
      </p:sp>
      <p:sp>
        <p:nvSpPr>
          <p:cNvPr id="81" name="TextBox 80"/>
          <p:cNvSpPr txBox="1"/>
          <p:nvPr/>
        </p:nvSpPr>
        <p:spPr>
          <a:xfrm>
            <a:off x="4496714" y="4501286"/>
            <a:ext cx="950976" cy="313334"/>
          </a:xfrm>
          <a:prstGeom prst="rect">
            <a:avLst/>
          </a:prstGeom>
          <a:noFill/>
        </p:spPr>
        <p:txBody>
          <a:bodyPr wrap="square" lIns="0" rIns="0" tIns="0" bIns="0" anchor="t">
            <a:spAutoFit/>
          </a:bodyPr>
          <a:lstStyle/>
          <a:p>
            <a:pPr algn="l">
              <a:lnSpc>
                <a:spcPct val="108000"/>
              </a:lnSpc>
              <a:spcBef>
                <a:spcPts val="0"/>
              </a:spcBef>
              <a:spcAft>
                <a:spcPts val="0"/>
              </a:spcAft>
            </a:pPr>
            <a:r>
              <a:rPr sz="770" b="1" i="0">
                <a:solidFill>
                  <a:srgbClr val="1E3A8A"/>
                </a:solidFill>
                <a:latin typeface="Segoe UI"/>
              </a:rPr>
              <a:t>17 indexes</a:t>
            </a:r>
          </a:p>
        </p:txBody>
      </p:sp>
      <p:sp>
        <p:nvSpPr>
          <p:cNvPr id="82" name="TextBox 81"/>
          <p:cNvSpPr txBox="1"/>
          <p:nvPr/>
        </p:nvSpPr>
        <p:spPr>
          <a:xfrm>
            <a:off x="5447690" y="4501286"/>
            <a:ext cx="2384450" cy="313334"/>
          </a:xfrm>
          <a:prstGeom prst="rect">
            <a:avLst/>
          </a:prstGeom>
          <a:noFill/>
        </p:spPr>
        <p:txBody>
          <a:bodyPr wrap="square" lIns="0" rIns="0" tIns="0" bIns="0" anchor="t">
            <a:spAutoFit/>
          </a:bodyPr>
          <a:lstStyle/>
          <a:p>
            <a:pPr algn="l">
              <a:lnSpc>
                <a:spcPct val="112000"/>
              </a:lnSpc>
              <a:spcBef>
                <a:spcPts val="0"/>
              </a:spcBef>
              <a:spcAft>
                <a:spcPts val="0"/>
              </a:spcAft>
            </a:pPr>
            <a:r>
              <a:rPr sz="780" b="0" i="0">
                <a:solidFill>
                  <a:srgbClr val="475569"/>
                </a:solidFill>
                <a:latin typeface="Segoe UI"/>
              </a:rPr>
              <a:t>role/state · subject · rate · booking · chat lookups</a:t>
            </a:r>
          </a:p>
        </p:txBody>
      </p:sp>
      <p:sp>
        <p:nvSpPr>
          <p:cNvPr id="83" name="TextBox 82"/>
          <p:cNvSpPr txBox="1"/>
          <p:nvPr/>
        </p:nvSpPr>
        <p:spPr>
          <a:xfrm>
            <a:off x="4496714" y="4832908"/>
            <a:ext cx="950976" cy="202387"/>
          </a:xfrm>
          <a:prstGeom prst="rect">
            <a:avLst/>
          </a:prstGeom>
          <a:noFill/>
        </p:spPr>
        <p:txBody>
          <a:bodyPr wrap="square" lIns="0" rIns="0" tIns="0" bIns="0" anchor="t">
            <a:spAutoFit/>
          </a:bodyPr>
          <a:lstStyle/>
          <a:p>
            <a:pPr algn="l">
              <a:lnSpc>
                <a:spcPct val="108000"/>
              </a:lnSpc>
              <a:spcBef>
                <a:spcPts val="0"/>
              </a:spcBef>
              <a:spcAft>
                <a:spcPts val="0"/>
              </a:spcAft>
            </a:pPr>
            <a:r>
              <a:rPr sz="770" b="1" i="0">
                <a:solidFill>
                  <a:srgbClr val="1E3A8A"/>
                </a:solidFill>
                <a:latin typeface="Segoe UI"/>
              </a:rPr>
              <a:t>UUID keys</a:t>
            </a:r>
          </a:p>
        </p:txBody>
      </p:sp>
      <p:sp>
        <p:nvSpPr>
          <p:cNvPr id="84" name="TextBox 83"/>
          <p:cNvSpPr txBox="1"/>
          <p:nvPr/>
        </p:nvSpPr>
        <p:spPr>
          <a:xfrm>
            <a:off x="5447690" y="4832908"/>
            <a:ext cx="2384450" cy="202387"/>
          </a:xfrm>
          <a:prstGeom prst="rect">
            <a:avLst/>
          </a:prstGeom>
          <a:noFill/>
        </p:spPr>
        <p:txBody>
          <a:bodyPr wrap="square" lIns="0" rIns="0" tIns="0" bIns="0" anchor="t">
            <a:spAutoFit/>
          </a:bodyPr>
          <a:lstStyle/>
          <a:p>
            <a:pPr algn="l">
              <a:lnSpc>
                <a:spcPct val="112000"/>
              </a:lnSpc>
              <a:spcBef>
                <a:spcPts val="0"/>
              </a:spcBef>
              <a:spcAft>
                <a:spcPts val="0"/>
              </a:spcAft>
            </a:pPr>
            <a:r>
              <a:rPr sz="780" b="0" i="0">
                <a:solidFill>
                  <a:srgbClr val="475569"/>
                </a:solidFill>
                <a:latin typeface="Segoe UI"/>
              </a:rPr>
              <a:t>pgcrypto · gen_random_uuid()</a:t>
            </a:r>
          </a:p>
        </p:txBody>
      </p:sp>
      <p:sp>
        <p:nvSpPr>
          <p:cNvPr id="85" name="TextBox 84"/>
          <p:cNvSpPr txBox="1"/>
          <p:nvPr/>
        </p:nvSpPr>
        <p:spPr>
          <a:xfrm>
            <a:off x="4496714" y="5053584"/>
            <a:ext cx="950976" cy="202387"/>
          </a:xfrm>
          <a:prstGeom prst="rect">
            <a:avLst/>
          </a:prstGeom>
          <a:noFill/>
        </p:spPr>
        <p:txBody>
          <a:bodyPr wrap="square" lIns="0" rIns="0" tIns="0" bIns="0" anchor="t">
            <a:spAutoFit/>
          </a:bodyPr>
          <a:lstStyle/>
          <a:p>
            <a:pPr algn="l">
              <a:lnSpc>
                <a:spcPct val="108000"/>
              </a:lnSpc>
              <a:spcBef>
                <a:spcPts val="0"/>
              </a:spcBef>
              <a:spcAft>
                <a:spcPts val="0"/>
              </a:spcAft>
            </a:pPr>
            <a:r>
              <a:rPr sz="770" b="1" i="0">
                <a:solidFill>
                  <a:srgbClr val="1E3A8A"/>
                </a:solidFill>
                <a:latin typeface="Segoe UI"/>
              </a:rPr>
              <a:t>Foreign keys</a:t>
            </a:r>
          </a:p>
        </p:txBody>
      </p:sp>
      <p:sp>
        <p:nvSpPr>
          <p:cNvPr id="86" name="TextBox 85"/>
          <p:cNvSpPr txBox="1"/>
          <p:nvPr/>
        </p:nvSpPr>
        <p:spPr>
          <a:xfrm>
            <a:off x="5447690" y="5053584"/>
            <a:ext cx="2384450" cy="202387"/>
          </a:xfrm>
          <a:prstGeom prst="rect">
            <a:avLst/>
          </a:prstGeom>
          <a:noFill/>
        </p:spPr>
        <p:txBody>
          <a:bodyPr wrap="square" lIns="0" rIns="0" tIns="0" bIns="0" anchor="t">
            <a:spAutoFit/>
          </a:bodyPr>
          <a:lstStyle/>
          <a:p>
            <a:pPr algn="l">
              <a:lnSpc>
                <a:spcPct val="112000"/>
              </a:lnSpc>
              <a:spcBef>
                <a:spcPts val="0"/>
              </a:spcBef>
              <a:spcAft>
                <a:spcPts val="0"/>
              </a:spcAft>
            </a:pPr>
            <a:r>
              <a:rPr sz="780" b="0" i="0">
                <a:solidFill>
                  <a:srgbClr val="475569"/>
                </a:solidFill>
                <a:latin typeface="Segoe UI"/>
              </a:rPr>
              <a:t>CASCADE; SET NULL for optional subject</a:t>
            </a:r>
          </a:p>
        </p:txBody>
      </p:sp>
      <p:sp>
        <p:nvSpPr>
          <p:cNvPr id="87" name="TextBox 86"/>
          <p:cNvSpPr txBox="1"/>
          <p:nvPr/>
        </p:nvSpPr>
        <p:spPr>
          <a:xfrm>
            <a:off x="4496714" y="5274259"/>
            <a:ext cx="950976" cy="202387"/>
          </a:xfrm>
          <a:prstGeom prst="rect">
            <a:avLst/>
          </a:prstGeom>
          <a:noFill/>
        </p:spPr>
        <p:txBody>
          <a:bodyPr wrap="square" lIns="0" rIns="0" tIns="0" bIns="0" anchor="t">
            <a:spAutoFit/>
          </a:bodyPr>
          <a:lstStyle/>
          <a:p>
            <a:pPr algn="l">
              <a:lnSpc>
                <a:spcPct val="108000"/>
              </a:lnSpc>
              <a:spcBef>
                <a:spcPts val="0"/>
              </a:spcBef>
              <a:spcAft>
                <a:spcPts val="0"/>
              </a:spcAft>
            </a:pPr>
            <a:r>
              <a:rPr sz="770" b="1" i="0">
                <a:solidFill>
                  <a:srgbClr val="1E3A8A"/>
                </a:solidFill>
                <a:latin typeface="Segoe UI"/>
              </a:rPr>
              <a:t>CHECKs</a:t>
            </a:r>
          </a:p>
        </p:txBody>
      </p:sp>
      <p:sp>
        <p:nvSpPr>
          <p:cNvPr id="88" name="TextBox 87"/>
          <p:cNvSpPr txBox="1"/>
          <p:nvPr/>
        </p:nvSpPr>
        <p:spPr>
          <a:xfrm>
            <a:off x="5447690" y="5274259"/>
            <a:ext cx="2384450" cy="202387"/>
          </a:xfrm>
          <a:prstGeom prst="rect">
            <a:avLst/>
          </a:prstGeom>
          <a:noFill/>
        </p:spPr>
        <p:txBody>
          <a:bodyPr wrap="square" lIns="0" rIns="0" tIns="0" bIns="0" anchor="t">
            <a:spAutoFit/>
          </a:bodyPr>
          <a:lstStyle/>
          <a:p>
            <a:pPr algn="l">
              <a:lnSpc>
                <a:spcPct val="112000"/>
              </a:lnSpc>
              <a:spcBef>
                <a:spcPts val="0"/>
              </a:spcBef>
              <a:spcAft>
                <a:spcPts val="0"/>
              </a:spcAft>
            </a:pPr>
            <a:r>
              <a:rPr sz="780" b="0" i="0">
                <a:solidFill>
                  <a:srgbClr val="475569"/>
                </a:solidFill>
                <a:latin typeface="Segoe UI"/>
              </a:rPr>
              <a:t>rating 1–5 · day 0–6 · end &gt; start</a:t>
            </a:r>
          </a:p>
        </p:txBody>
      </p:sp>
      <p:sp>
        <p:nvSpPr>
          <p:cNvPr id="89" name="TextBox 88"/>
          <p:cNvSpPr txBox="1"/>
          <p:nvPr/>
        </p:nvSpPr>
        <p:spPr>
          <a:xfrm>
            <a:off x="4496714" y="5494934"/>
            <a:ext cx="950976" cy="202387"/>
          </a:xfrm>
          <a:prstGeom prst="rect">
            <a:avLst/>
          </a:prstGeom>
          <a:noFill/>
        </p:spPr>
        <p:txBody>
          <a:bodyPr wrap="square" lIns="0" rIns="0" tIns="0" bIns="0" anchor="t">
            <a:spAutoFit/>
          </a:bodyPr>
          <a:lstStyle/>
          <a:p>
            <a:pPr algn="l">
              <a:lnSpc>
                <a:spcPct val="108000"/>
              </a:lnSpc>
              <a:spcBef>
                <a:spcPts val="0"/>
              </a:spcBef>
              <a:spcAft>
                <a:spcPts val="0"/>
              </a:spcAft>
            </a:pPr>
            <a:r>
              <a:rPr sz="770" b="1" i="0">
                <a:solidFill>
                  <a:srgbClr val="1E3A8A"/>
                </a:solidFill>
                <a:latin typeface="Segoe UI"/>
              </a:rPr>
              <a:t>Money</a:t>
            </a:r>
          </a:p>
        </p:txBody>
      </p:sp>
      <p:sp>
        <p:nvSpPr>
          <p:cNvPr id="90" name="TextBox 89"/>
          <p:cNvSpPr txBox="1"/>
          <p:nvPr/>
        </p:nvSpPr>
        <p:spPr>
          <a:xfrm>
            <a:off x="5447690" y="5494934"/>
            <a:ext cx="2384450" cy="202387"/>
          </a:xfrm>
          <a:prstGeom prst="rect">
            <a:avLst/>
          </a:prstGeom>
          <a:noFill/>
        </p:spPr>
        <p:txBody>
          <a:bodyPr wrap="square" lIns="0" rIns="0" tIns="0" bIns="0" anchor="t">
            <a:spAutoFit/>
          </a:bodyPr>
          <a:lstStyle/>
          <a:p>
            <a:pPr algn="l">
              <a:lnSpc>
                <a:spcPct val="112000"/>
              </a:lnSpc>
              <a:spcBef>
                <a:spcPts val="0"/>
              </a:spcBef>
              <a:spcAft>
                <a:spcPts val="0"/>
              </a:spcAft>
            </a:pPr>
            <a:r>
              <a:rPr sz="780" b="0" i="0">
                <a:solidFill>
                  <a:srgbClr val="475569"/>
                </a:solidFill>
                <a:latin typeface="Segoe UI"/>
              </a:rPr>
              <a:t>hourly_rate + total_price: NUMERIC(10,2)</a:t>
            </a:r>
          </a:p>
        </p:txBody>
      </p:sp>
      <p:sp>
        <p:nvSpPr>
          <p:cNvPr id="91" name="Rounded Rectangle 90"/>
          <p:cNvSpPr/>
          <p:nvPr/>
        </p:nvSpPr>
        <p:spPr>
          <a:xfrm>
            <a:off x="8097316" y="3621024"/>
            <a:ext cx="3527450" cy="2432304"/>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Rounded Rectangle 91"/>
          <p:cNvSpPr/>
          <p:nvPr/>
        </p:nvSpPr>
        <p:spPr>
          <a:xfrm>
            <a:off x="8097316" y="3621024"/>
            <a:ext cx="3527450" cy="45720"/>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TextBox 92"/>
          <p:cNvSpPr txBox="1"/>
          <p:nvPr/>
        </p:nvSpPr>
        <p:spPr>
          <a:xfrm>
            <a:off x="8280196" y="3767328"/>
            <a:ext cx="3161690" cy="237744"/>
          </a:xfrm>
          <a:prstGeom prst="rect">
            <a:avLst/>
          </a:prstGeom>
          <a:noFill/>
        </p:spPr>
        <p:txBody>
          <a:bodyPr wrap="square" lIns="0" rIns="0" tIns="0" bIns="0" anchor="t">
            <a:spAutoFit/>
          </a:bodyPr>
          <a:lstStyle/>
          <a:p>
            <a:pPr algn="l">
              <a:lnSpc>
                <a:spcPct val="118000"/>
              </a:lnSpc>
              <a:spcBef>
                <a:spcPts val="0"/>
              </a:spcBef>
              <a:spcAft>
                <a:spcPts val="0"/>
              </a:spcAft>
            </a:pPr>
            <a:r>
              <a:rPr sz="1080" b="1" i="0">
                <a:solidFill>
                  <a:srgbClr val="0F172A"/>
                </a:solidFill>
                <a:latin typeface="Segoe UI Semibold"/>
              </a:rPr>
              <a:t>How the app reads and writes</a:t>
            </a:r>
          </a:p>
        </p:txBody>
      </p:sp>
      <p:sp>
        <p:nvSpPr>
          <p:cNvPr id="94" name="TextBox 93"/>
          <p:cNvSpPr txBox="1"/>
          <p:nvPr/>
        </p:nvSpPr>
        <p:spPr>
          <a:xfrm>
            <a:off x="8261908" y="4059935"/>
            <a:ext cx="950976" cy="202387"/>
          </a:xfrm>
          <a:prstGeom prst="rect">
            <a:avLst/>
          </a:prstGeom>
          <a:noFill/>
        </p:spPr>
        <p:txBody>
          <a:bodyPr wrap="square" lIns="0" rIns="0" tIns="0" bIns="0" anchor="t">
            <a:spAutoFit/>
          </a:bodyPr>
          <a:lstStyle/>
          <a:p>
            <a:pPr algn="l">
              <a:lnSpc>
                <a:spcPct val="108000"/>
              </a:lnSpc>
              <a:spcBef>
                <a:spcPts val="0"/>
              </a:spcBef>
              <a:spcAft>
                <a:spcPts val="0"/>
              </a:spcAft>
            </a:pPr>
            <a:r>
              <a:rPr sz="770" b="1" i="0">
                <a:solidFill>
                  <a:srgbClr val="1E3A8A"/>
                </a:solidFill>
                <a:latin typeface="Segoe UI"/>
              </a:rPr>
              <a:t>db/neon.ts</a:t>
            </a:r>
          </a:p>
        </p:txBody>
      </p:sp>
      <p:sp>
        <p:nvSpPr>
          <p:cNvPr id="95" name="TextBox 94"/>
          <p:cNvSpPr txBox="1"/>
          <p:nvPr/>
        </p:nvSpPr>
        <p:spPr>
          <a:xfrm>
            <a:off x="9212884" y="4059935"/>
            <a:ext cx="2384450" cy="202387"/>
          </a:xfrm>
          <a:prstGeom prst="rect">
            <a:avLst/>
          </a:prstGeom>
          <a:noFill/>
        </p:spPr>
        <p:txBody>
          <a:bodyPr wrap="square" lIns="0" rIns="0" tIns="0" bIns="0" anchor="t">
            <a:spAutoFit/>
          </a:bodyPr>
          <a:lstStyle/>
          <a:p>
            <a:pPr algn="l">
              <a:lnSpc>
                <a:spcPct val="112000"/>
              </a:lnSpc>
              <a:spcBef>
                <a:spcPts val="0"/>
              </a:spcBef>
              <a:spcAft>
                <a:spcPts val="0"/>
              </a:spcAft>
            </a:pPr>
            <a:r>
              <a:rPr sz="780" b="0" i="0">
                <a:solidFill>
                  <a:srgbClr val="475569"/>
                </a:solidFill>
                <a:latin typeface="Segoe UI"/>
              </a:rPr>
              <a:t>one HTTP neon() client; hasDatabase guard</a:t>
            </a:r>
          </a:p>
        </p:txBody>
      </p:sp>
      <p:sp>
        <p:nvSpPr>
          <p:cNvPr id="96" name="TextBox 95"/>
          <p:cNvSpPr txBox="1"/>
          <p:nvPr/>
        </p:nvSpPr>
        <p:spPr>
          <a:xfrm>
            <a:off x="8261908" y="4280611"/>
            <a:ext cx="950976" cy="202387"/>
          </a:xfrm>
          <a:prstGeom prst="rect">
            <a:avLst/>
          </a:prstGeom>
          <a:noFill/>
        </p:spPr>
        <p:txBody>
          <a:bodyPr wrap="square" lIns="0" rIns="0" tIns="0" bIns="0" anchor="t">
            <a:spAutoFit/>
          </a:bodyPr>
          <a:lstStyle/>
          <a:p>
            <a:pPr algn="l">
              <a:lnSpc>
                <a:spcPct val="108000"/>
              </a:lnSpc>
              <a:spcBef>
                <a:spcPts val="0"/>
              </a:spcBef>
              <a:spcAft>
                <a:spcPts val="0"/>
              </a:spcAft>
            </a:pPr>
            <a:r>
              <a:rPr sz="770" b="1" i="0">
                <a:solidFill>
                  <a:srgbClr val="1E3A8A"/>
                </a:solidFill>
                <a:latin typeface="Segoe UI"/>
              </a:rPr>
              <a:t>db/tutors.ts</a:t>
            </a:r>
          </a:p>
        </p:txBody>
      </p:sp>
      <p:sp>
        <p:nvSpPr>
          <p:cNvPr id="97" name="TextBox 96"/>
          <p:cNvSpPr txBox="1"/>
          <p:nvPr/>
        </p:nvSpPr>
        <p:spPr>
          <a:xfrm>
            <a:off x="9212884" y="4280611"/>
            <a:ext cx="2384450" cy="202387"/>
          </a:xfrm>
          <a:prstGeom prst="rect">
            <a:avLst/>
          </a:prstGeom>
          <a:noFill/>
        </p:spPr>
        <p:txBody>
          <a:bodyPr wrap="square" lIns="0" rIns="0" tIns="0" bIns="0" anchor="t">
            <a:spAutoFit/>
          </a:bodyPr>
          <a:lstStyle/>
          <a:p>
            <a:pPr algn="l">
              <a:lnSpc>
                <a:spcPct val="112000"/>
              </a:lnSpc>
              <a:spcBef>
                <a:spcPts val="0"/>
              </a:spcBef>
              <a:spcAft>
                <a:spcPts val="0"/>
              </a:spcAft>
            </a:pPr>
            <a:r>
              <a:rPr sz="780" b="0" i="0">
                <a:solidFill>
                  <a:srgbClr val="475569"/>
                </a:solidFill>
                <a:latin typeface="Segoe UI"/>
              </a:rPr>
              <a:t>approved-tutor reads + homepage aggregates</a:t>
            </a:r>
          </a:p>
        </p:txBody>
      </p:sp>
      <p:sp>
        <p:nvSpPr>
          <p:cNvPr id="98" name="TextBox 97"/>
          <p:cNvSpPr txBox="1"/>
          <p:nvPr/>
        </p:nvSpPr>
        <p:spPr>
          <a:xfrm>
            <a:off x="8261908" y="4501286"/>
            <a:ext cx="950976" cy="202387"/>
          </a:xfrm>
          <a:prstGeom prst="rect">
            <a:avLst/>
          </a:prstGeom>
          <a:noFill/>
        </p:spPr>
        <p:txBody>
          <a:bodyPr wrap="square" lIns="0" rIns="0" tIns="0" bIns="0" anchor="t">
            <a:spAutoFit/>
          </a:bodyPr>
          <a:lstStyle/>
          <a:p>
            <a:pPr algn="l">
              <a:lnSpc>
                <a:spcPct val="108000"/>
              </a:lnSpc>
              <a:spcBef>
                <a:spcPts val="0"/>
              </a:spcBef>
              <a:spcAft>
                <a:spcPts val="0"/>
              </a:spcAft>
            </a:pPr>
            <a:r>
              <a:rPr sz="770" b="1" i="0">
                <a:solidFill>
                  <a:srgbClr val="1E3A8A"/>
                </a:solidFill>
                <a:latin typeface="Segoe UI"/>
              </a:rPr>
              <a:t>db/bookings.ts</a:t>
            </a:r>
          </a:p>
        </p:txBody>
      </p:sp>
      <p:sp>
        <p:nvSpPr>
          <p:cNvPr id="99" name="TextBox 98"/>
          <p:cNvSpPr txBox="1"/>
          <p:nvPr/>
        </p:nvSpPr>
        <p:spPr>
          <a:xfrm>
            <a:off x="9212884" y="4501286"/>
            <a:ext cx="2384450" cy="202387"/>
          </a:xfrm>
          <a:prstGeom prst="rect">
            <a:avLst/>
          </a:prstGeom>
          <a:noFill/>
        </p:spPr>
        <p:txBody>
          <a:bodyPr wrap="square" lIns="0" rIns="0" tIns="0" bIns="0" anchor="t">
            <a:spAutoFit/>
          </a:bodyPr>
          <a:lstStyle/>
          <a:p>
            <a:pPr algn="l">
              <a:lnSpc>
                <a:spcPct val="112000"/>
              </a:lnSpc>
              <a:spcBef>
                <a:spcPts val="0"/>
              </a:spcBef>
              <a:spcAft>
                <a:spcPts val="0"/>
              </a:spcAft>
            </a:pPr>
            <a:r>
              <a:rPr sz="780" b="0" i="0">
                <a:solidFill>
                  <a:srgbClr val="475569"/>
                </a:solidFill>
                <a:latin typeface="Segoe UI"/>
              </a:rPr>
              <a:t>maps SQL rows to the shared Booking type</a:t>
            </a:r>
          </a:p>
        </p:txBody>
      </p:sp>
      <p:sp>
        <p:nvSpPr>
          <p:cNvPr id="100" name="TextBox 99"/>
          <p:cNvSpPr txBox="1"/>
          <p:nvPr/>
        </p:nvSpPr>
        <p:spPr>
          <a:xfrm>
            <a:off x="8261908" y="4721961"/>
            <a:ext cx="950976" cy="202387"/>
          </a:xfrm>
          <a:prstGeom prst="rect">
            <a:avLst/>
          </a:prstGeom>
          <a:noFill/>
        </p:spPr>
        <p:txBody>
          <a:bodyPr wrap="square" lIns="0" rIns="0" tIns="0" bIns="0" anchor="t">
            <a:spAutoFit/>
          </a:bodyPr>
          <a:lstStyle/>
          <a:p>
            <a:pPr algn="l">
              <a:lnSpc>
                <a:spcPct val="108000"/>
              </a:lnSpc>
              <a:spcBef>
                <a:spcPts val="0"/>
              </a:spcBef>
              <a:spcAft>
                <a:spcPts val="0"/>
              </a:spcAft>
            </a:pPr>
            <a:r>
              <a:rPr sz="770" b="1" i="0">
                <a:solidFill>
                  <a:srgbClr val="1E3A8A"/>
                </a:solidFill>
                <a:latin typeface="Segoe UI"/>
              </a:rPr>
              <a:t>db/migrate.ts</a:t>
            </a:r>
          </a:p>
        </p:txBody>
      </p:sp>
      <p:sp>
        <p:nvSpPr>
          <p:cNvPr id="101" name="TextBox 100"/>
          <p:cNvSpPr txBox="1"/>
          <p:nvPr/>
        </p:nvSpPr>
        <p:spPr>
          <a:xfrm>
            <a:off x="9212884" y="4721961"/>
            <a:ext cx="2384450" cy="202387"/>
          </a:xfrm>
          <a:prstGeom prst="rect">
            <a:avLst/>
          </a:prstGeom>
          <a:noFill/>
        </p:spPr>
        <p:txBody>
          <a:bodyPr wrap="square" lIns="0" rIns="0" tIns="0" bIns="0" anchor="t">
            <a:spAutoFit/>
          </a:bodyPr>
          <a:lstStyle/>
          <a:p>
            <a:pPr algn="l">
              <a:lnSpc>
                <a:spcPct val="112000"/>
              </a:lnSpc>
              <a:spcBef>
                <a:spcPts val="0"/>
              </a:spcBef>
              <a:spcAft>
                <a:spcPts val="0"/>
              </a:spcAft>
            </a:pPr>
            <a:r>
              <a:rPr sz="780" b="0" i="0">
                <a:solidFill>
                  <a:srgbClr val="475569"/>
                </a:solidFill>
                <a:latin typeface="Segoe UI"/>
              </a:rPr>
              <a:t>lazy, non-destructive schema guards</a:t>
            </a:r>
          </a:p>
        </p:txBody>
      </p:sp>
      <p:sp>
        <p:nvSpPr>
          <p:cNvPr id="102" name="TextBox 101"/>
          <p:cNvSpPr txBox="1"/>
          <p:nvPr/>
        </p:nvSpPr>
        <p:spPr>
          <a:xfrm>
            <a:off x="8261908" y="4942636"/>
            <a:ext cx="950976" cy="313334"/>
          </a:xfrm>
          <a:prstGeom prst="rect">
            <a:avLst/>
          </a:prstGeom>
          <a:noFill/>
        </p:spPr>
        <p:txBody>
          <a:bodyPr wrap="square" lIns="0" rIns="0" tIns="0" bIns="0" anchor="t">
            <a:spAutoFit/>
          </a:bodyPr>
          <a:lstStyle/>
          <a:p>
            <a:pPr algn="l">
              <a:lnSpc>
                <a:spcPct val="108000"/>
              </a:lnSpc>
              <a:spcBef>
                <a:spcPts val="0"/>
              </a:spcBef>
              <a:spcAft>
                <a:spcPts val="0"/>
              </a:spcAft>
            </a:pPr>
            <a:r>
              <a:rPr sz="770" b="1" i="0">
                <a:solidFill>
                  <a:srgbClr val="1E3A8A"/>
                </a:solidFill>
                <a:latin typeface="Segoe UI"/>
              </a:rPr>
              <a:t>Neon service</a:t>
            </a:r>
          </a:p>
        </p:txBody>
      </p:sp>
      <p:sp>
        <p:nvSpPr>
          <p:cNvPr id="103" name="TextBox 102"/>
          <p:cNvSpPr txBox="1"/>
          <p:nvPr/>
        </p:nvSpPr>
        <p:spPr>
          <a:xfrm>
            <a:off x="9212884" y="4942636"/>
            <a:ext cx="2384450" cy="313334"/>
          </a:xfrm>
          <a:prstGeom prst="rect">
            <a:avLst/>
          </a:prstGeom>
          <a:noFill/>
        </p:spPr>
        <p:txBody>
          <a:bodyPr wrap="square" lIns="0" rIns="0" tIns="0" bIns="0" anchor="t">
            <a:spAutoFit/>
          </a:bodyPr>
          <a:lstStyle/>
          <a:p>
            <a:pPr algn="l">
              <a:lnSpc>
                <a:spcPct val="112000"/>
              </a:lnSpc>
              <a:spcBef>
                <a:spcPts val="0"/>
              </a:spcBef>
              <a:spcAft>
                <a:spcPts val="0"/>
              </a:spcAft>
            </a:pPr>
            <a:r>
              <a:rPr sz="780" b="0" i="0">
                <a:solidFill>
                  <a:srgbClr val="475569"/>
                </a:solidFill>
                <a:latin typeface="Segoe UI"/>
              </a:rPr>
              <a:t>Neon hosts managed PostgreSQL and exposes an HTTP driver for serverless.</a:t>
            </a:r>
          </a:p>
        </p:txBody>
      </p:sp>
      <p:cxnSp>
        <p:nvCxnSpPr>
          <p:cNvPr id="104" name="Connector 103"/>
          <p:cNvCxnSpPr/>
          <p:nvPr/>
        </p:nvCxnSpPr>
        <p:spPr>
          <a:xfrm>
            <a:off x="566928" y="6382512"/>
            <a:ext cx="11057839"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566928" y="6473952"/>
            <a:ext cx="9777679" cy="219456"/>
          </a:xfrm>
          <a:prstGeom prst="rect">
            <a:avLst/>
          </a:prstGeom>
          <a:noFill/>
        </p:spPr>
        <p:txBody>
          <a:bodyPr wrap="square" lIns="0" rIns="0" tIns="0" bIns="0" anchor="t">
            <a:spAutoFit/>
          </a:bodyPr>
          <a:lstStyle/>
          <a:p>
            <a:pPr algn="l">
              <a:lnSpc>
                <a:spcPct val="118000"/>
              </a:lnSpc>
              <a:spcBef>
                <a:spcPts val="0"/>
              </a:spcBef>
              <a:spcAft>
                <a:spcPts val="0"/>
              </a:spcAft>
            </a:pPr>
            <a:r>
              <a:rPr sz="880" b="0" i="0">
                <a:solidFill>
                  <a:srgbClr val="94A3B8"/>
                </a:solidFill>
                <a:latin typeface="Segoe UI"/>
              </a:rPr>
              <a:t>Presenter: Uzochukwu Mary Cynthia Enyemakachukwu · Database</a:t>
            </a:r>
          </a:p>
        </p:txBody>
      </p:sp>
      <p:sp>
        <p:nvSpPr>
          <p:cNvPr id="106" name="TextBox 105"/>
          <p:cNvSpPr txBox="1"/>
          <p:nvPr/>
        </p:nvSpPr>
        <p:spPr>
          <a:xfrm>
            <a:off x="10436047" y="6473952"/>
            <a:ext cx="1188720" cy="219456"/>
          </a:xfrm>
          <a:prstGeom prst="rect">
            <a:avLst/>
          </a:prstGeom>
          <a:noFill/>
        </p:spPr>
        <p:txBody>
          <a:bodyPr wrap="square" lIns="0" rIns="0" tIns="0" bIns="0" anchor="t">
            <a:spAutoFit/>
          </a:bodyPr>
          <a:lstStyle/>
          <a:p>
            <a:pPr algn="r">
              <a:lnSpc>
                <a:spcPct val="118000"/>
              </a:lnSpc>
              <a:spcBef>
                <a:spcPts val="0"/>
              </a:spcBef>
              <a:spcAft>
                <a:spcPts val="0"/>
              </a:spcAft>
            </a:pPr>
            <a:r>
              <a:rPr sz="950" b="1" i="0">
                <a:solidFill>
                  <a:srgbClr val="94A3B8"/>
                </a:solidFill>
                <a:latin typeface="Segoe UI"/>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420624"/>
            <a:ext cx="50292" cy="173736"/>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384048"/>
            <a:ext cx="10874959" cy="237744"/>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20">
                <a:solidFill>
                  <a:srgbClr val="2563EB"/>
                </a:solidFill>
                <a:latin typeface="Segoe UI"/>
              </a:rPr>
              <a:t>TECHNOLOGY MAP BY TEAM RESPONSIBILITY</a:t>
            </a:r>
          </a:p>
        </p:txBody>
      </p:sp>
      <p:sp>
        <p:nvSpPr>
          <p:cNvPr id="5" name="TextBox 4"/>
          <p:cNvSpPr txBox="1"/>
          <p:nvPr/>
        </p:nvSpPr>
        <p:spPr>
          <a:xfrm>
            <a:off x="566928" y="658368"/>
            <a:ext cx="11057839" cy="420624"/>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0F172A"/>
                </a:solidFill>
                <a:latin typeface="Segoe UI Semibold"/>
              </a:rPr>
              <a:t>Every technology has a job — and a clear owner</a:t>
            </a:r>
          </a:p>
        </p:txBody>
      </p:sp>
      <p:sp>
        <p:nvSpPr>
          <p:cNvPr id="6" name="TextBox 5"/>
          <p:cNvSpPr txBox="1"/>
          <p:nvPr/>
        </p:nvSpPr>
        <p:spPr>
          <a:xfrm>
            <a:off x="566928" y="1207008"/>
            <a:ext cx="10692079" cy="274320"/>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4748B"/>
                </a:solidFill>
                <a:latin typeface="Segoe UI"/>
              </a:rPr>
              <a:t>Each row defines the technology, its purpose and where it appears in the repository.</a:t>
            </a:r>
          </a:p>
        </p:txBody>
      </p:sp>
      <p:sp>
        <p:nvSpPr>
          <p:cNvPr id="7" name="Rounded Rectangle 6"/>
          <p:cNvSpPr/>
          <p:nvPr/>
        </p:nvSpPr>
        <p:spPr>
          <a:xfrm>
            <a:off x="566928" y="1773936"/>
            <a:ext cx="5428335" cy="1865376"/>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66928" y="1773936"/>
            <a:ext cx="5428335" cy="50292"/>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731520" y="1883664"/>
            <a:ext cx="2057400" cy="201168"/>
          </a:xfrm>
          <a:prstGeom prst="roundRect">
            <a:avLst>
              <a:gd name="adj" fmla="val 5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730" b="1" i="0">
                <a:solidFill>
                  <a:srgbClr val="2563EB"/>
                </a:solidFill>
                <a:latin typeface="Segoe UI"/>
              </a:rPr>
              <a:t>PRODUCT &amp; FRONTEND</a:t>
            </a:r>
          </a:p>
        </p:txBody>
      </p:sp>
      <p:sp>
        <p:nvSpPr>
          <p:cNvPr id="10" name="TextBox 9"/>
          <p:cNvSpPr txBox="1"/>
          <p:nvPr/>
        </p:nvSpPr>
        <p:spPr>
          <a:xfrm>
            <a:off x="2898648" y="1883664"/>
            <a:ext cx="2922879" cy="210312"/>
          </a:xfrm>
          <a:prstGeom prst="rect">
            <a:avLst/>
          </a:prstGeom>
          <a:noFill/>
        </p:spPr>
        <p:txBody>
          <a:bodyPr wrap="square" lIns="0" rIns="0" tIns="0" bIns="0" anchor="t">
            <a:spAutoFit/>
          </a:bodyPr>
          <a:lstStyle/>
          <a:p>
            <a:pPr algn="l">
              <a:lnSpc>
                <a:spcPct val="118000"/>
              </a:lnSpc>
              <a:spcBef>
                <a:spcPts val="0"/>
              </a:spcBef>
              <a:spcAft>
                <a:spcPts val="0"/>
              </a:spcAft>
            </a:pPr>
            <a:r>
              <a:rPr sz="900" b="1" i="0">
                <a:solidFill>
                  <a:srgbClr val="0F172A"/>
                </a:solidFill>
                <a:latin typeface="Segoe UI Semibold"/>
              </a:rPr>
              <a:t>Hephzibah Uchechukwu</a:t>
            </a:r>
          </a:p>
        </p:txBody>
      </p:sp>
      <p:sp>
        <p:nvSpPr>
          <p:cNvPr id="11" name="TextBox 10"/>
          <p:cNvSpPr txBox="1"/>
          <p:nvPr/>
        </p:nvSpPr>
        <p:spPr>
          <a:xfrm>
            <a:off x="749808" y="2139696"/>
            <a:ext cx="2011680" cy="128016"/>
          </a:xfrm>
          <a:prstGeom prst="rect">
            <a:avLst/>
          </a:prstGeom>
          <a:noFill/>
        </p:spPr>
        <p:txBody>
          <a:bodyPr wrap="square" lIns="0" rIns="0" tIns="0" bIns="0" anchor="t">
            <a:spAutoFit/>
          </a:bodyPr>
          <a:lstStyle/>
          <a:p>
            <a:pPr algn="l">
              <a:lnSpc>
                <a:spcPct val="118000"/>
              </a:lnSpc>
              <a:spcBef>
                <a:spcPts val="0"/>
              </a:spcBef>
              <a:spcAft>
                <a:spcPts val="0"/>
              </a:spcAft>
            </a:pPr>
            <a:r>
              <a:rPr sz="700" b="1" i="0" cap="all" spc="70">
                <a:solidFill>
                  <a:srgbClr val="94A3B8"/>
                </a:solidFill>
                <a:latin typeface="Segoe UI"/>
              </a:rPr>
              <a:t>TECHNOLOGY</a:t>
            </a:r>
          </a:p>
        </p:txBody>
      </p:sp>
      <p:sp>
        <p:nvSpPr>
          <p:cNvPr id="12" name="TextBox 11"/>
          <p:cNvSpPr txBox="1"/>
          <p:nvPr/>
        </p:nvSpPr>
        <p:spPr>
          <a:xfrm>
            <a:off x="2898648" y="2139696"/>
            <a:ext cx="2913735" cy="128016"/>
          </a:xfrm>
          <a:prstGeom prst="rect">
            <a:avLst/>
          </a:prstGeom>
          <a:noFill/>
        </p:spPr>
        <p:txBody>
          <a:bodyPr wrap="square" lIns="0" rIns="0" tIns="0" bIns="0" anchor="t">
            <a:spAutoFit/>
          </a:bodyPr>
          <a:lstStyle/>
          <a:p>
            <a:pPr algn="l">
              <a:lnSpc>
                <a:spcPct val="118000"/>
              </a:lnSpc>
              <a:spcBef>
                <a:spcPts val="0"/>
              </a:spcBef>
              <a:spcAft>
                <a:spcPts val="0"/>
              </a:spcAft>
            </a:pPr>
            <a:r>
              <a:rPr sz="700" b="1" i="0" cap="all" spc="60">
                <a:solidFill>
                  <a:srgbClr val="94A3B8"/>
                </a:solidFill>
                <a:latin typeface="Segoe UI"/>
              </a:rPr>
              <a:t>PURPOSE · REPOSITORY LOCATION</a:t>
            </a:r>
          </a:p>
        </p:txBody>
      </p:sp>
      <p:sp>
        <p:nvSpPr>
          <p:cNvPr id="13" name="TextBox 12"/>
          <p:cNvSpPr txBox="1"/>
          <p:nvPr/>
        </p:nvSpPr>
        <p:spPr>
          <a:xfrm>
            <a:off x="749808" y="2295144"/>
            <a:ext cx="2048256" cy="297180"/>
          </a:xfrm>
          <a:prstGeom prst="rect">
            <a:avLst/>
          </a:prstGeom>
          <a:noFill/>
        </p:spPr>
        <p:txBody>
          <a:bodyPr wrap="square" lIns="0" rIns="0" tIns="0" bIns="0" anchor="t">
            <a:spAutoFit/>
          </a:bodyPr>
          <a:lstStyle/>
          <a:p>
            <a:pPr algn="l">
              <a:lnSpc>
                <a:spcPct val="105000"/>
              </a:lnSpc>
              <a:spcBef>
                <a:spcPts val="0"/>
              </a:spcBef>
              <a:spcAft>
                <a:spcPts val="0"/>
              </a:spcAft>
            </a:pPr>
            <a:r>
              <a:rPr sz="810" b="1" i="0">
                <a:solidFill>
                  <a:srgbClr val="0F172A"/>
                </a:solidFill>
                <a:latin typeface="Segoe UI"/>
              </a:rPr>
              <a:t>Next.js 16.3.8</a:t>
            </a:r>
          </a:p>
        </p:txBody>
      </p:sp>
      <p:sp>
        <p:nvSpPr>
          <p:cNvPr id="14" name="TextBox 13"/>
          <p:cNvSpPr txBox="1"/>
          <p:nvPr/>
        </p:nvSpPr>
        <p:spPr>
          <a:xfrm>
            <a:off x="2898648" y="2295144"/>
            <a:ext cx="2922879" cy="297180"/>
          </a:xfrm>
          <a:prstGeom prst="rect">
            <a:avLst/>
          </a:prstGeom>
          <a:noFill/>
        </p:spPr>
        <p:txBody>
          <a:bodyPr wrap="square" lIns="0" rIns="0" tIns="0" bIns="0" anchor="t">
            <a:spAutoFit/>
          </a:bodyPr>
          <a:lstStyle/>
          <a:p>
            <a:pPr algn="l">
              <a:lnSpc>
                <a:spcPct val="105000"/>
              </a:lnSpc>
              <a:spcBef>
                <a:spcPts val="0"/>
              </a:spcBef>
              <a:spcAft>
                <a:spcPts val="0"/>
              </a:spcAft>
            </a:pPr>
            <a:r>
              <a:rPr sz="790" b="0" i="0">
                <a:solidFill>
                  <a:srgbClr val="475569"/>
                </a:solidFill>
                <a:latin typeface="Segoe UI"/>
              </a:rPr>
              <a:t>Web framework: App Router and page routing.  app/</a:t>
            </a:r>
          </a:p>
        </p:txBody>
      </p:sp>
      <p:cxnSp>
        <p:nvCxnSpPr>
          <p:cNvPr id="15" name="Connector 14"/>
          <p:cNvCxnSpPr/>
          <p:nvPr/>
        </p:nvCxnSpPr>
        <p:spPr>
          <a:xfrm>
            <a:off x="731520" y="2583180"/>
            <a:ext cx="5099151" cy="0"/>
          </a:xfrm>
          <a:prstGeom prst="line">
            <a:avLst/>
          </a:prstGeom>
          <a:ln w="8890">
            <a:solidFill>
              <a:srgbClr val="F1F5F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49808" y="2606040"/>
            <a:ext cx="2048256" cy="297180"/>
          </a:xfrm>
          <a:prstGeom prst="rect">
            <a:avLst/>
          </a:prstGeom>
          <a:noFill/>
        </p:spPr>
        <p:txBody>
          <a:bodyPr wrap="square" lIns="0" rIns="0" tIns="0" bIns="0" anchor="t">
            <a:spAutoFit/>
          </a:bodyPr>
          <a:lstStyle/>
          <a:p>
            <a:pPr algn="l">
              <a:lnSpc>
                <a:spcPct val="105000"/>
              </a:lnSpc>
              <a:spcBef>
                <a:spcPts val="0"/>
              </a:spcBef>
              <a:spcAft>
                <a:spcPts val="0"/>
              </a:spcAft>
            </a:pPr>
            <a:r>
              <a:rPr sz="810" b="1" i="0">
                <a:solidFill>
                  <a:srgbClr val="0F172A"/>
                </a:solidFill>
                <a:latin typeface="Segoe UI"/>
              </a:rPr>
              <a:t>React 19.2.8 + TypeScript 5</a:t>
            </a:r>
          </a:p>
        </p:txBody>
      </p:sp>
      <p:sp>
        <p:nvSpPr>
          <p:cNvPr id="17" name="TextBox 16"/>
          <p:cNvSpPr txBox="1"/>
          <p:nvPr/>
        </p:nvSpPr>
        <p:spPr>
          <a:xfrm>
            <a:off x="2898648" y="2606040"/>
            <a:ext cx="2922879" cy="297180"/>
          </a:xfrm>
          <a:prstGeom prst="rect">
            <a:avLst/>
          </a:prstGeom>
          <a:noFill/>
        </p:spPr>
        <p:txBody>
          <a:bodyPr wrap="square" lIns="0" rIns="0" tIns="0" bIns="0" anchor="t">
            <a:spAutoFit/>
          </a:bodyPr>
          <a:lstStyle/>
          <a:p>
            <a:pPr algn="l">
              <a:lnSpc>
                <a:spcPct val="105000"/>
              </a:lnSpc>
              <a:spcBef>
                <a:spcPts val="0"/>
              </a:spcBef>
              <a:spcAft>
                <a:spcPts val="0"/>
              </a:spcAft>
            </a:pPr>
            <a:r>
              <a:rPr sz="790" b="0" i="0">
                <a:solidFill>
                  <a:srgbClr val="475569"/>
                </a:solidFill>
                <a:latin typeface="Segoe UI"/>
              </a:rPr>
              <a:t>Component UI plus static types for props and data.  components/ · lib/types.ts</a:t>
            </a:r>
          </a:p>
        </p:txBody>
      </p:sp>
      <p:cxnSp>
        <p:nvCxnSpPr>
          <p:cNvPr id="18" name="Connector 17"/>
          <p:cNvCxnSpPr/>
          <p:nvPr/>
        </p:nvCxnSpPr>
        <p:spPr>
          <a:xfrm>
            <a:off x="731520" y="2894076"/>
            <a:ext cx="5099151" cy="0"/>
          </a:xfrm>
          <a:prstGeom prst="line">
            <a:avLst/>
          </a:prstGeom>
          <a:ln w="8890">
            <a:solidFill>
              <a:srgbClr val="F1F5F9"/>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49808" y="2916936"/>
            <a:ext cx="2048256" cy="297180"/>
          </a:xfrm>
          <a:prstGeom prst="rect">
            <a:avLst/>
          </a:prstGeom>
          <a:noFill/>
        </p:spPr>
        <p:txBody>
          <a:bodyPr wrap="square" lIns="0" rIns="0" tIns="0" bIns="0" anchor="t">
            <a:spAutoFit/>
          </a:bodyPr>
          <a:lstStyle/>
          <a:p>
            <a:pPr algn="l">
              <a:lnSpc>
                <a:spcPct val="105000"/>
              </a:lnSpc>
              <a:spcBef>
                <a:spcPts val="0"/>
              </a:spcBef>
              <a:spcAft>
                <a:spcPts val="0"/>
              </a:spcAft>
            </a:pPr>
            <a:r>
              <a:rPr sz="810" b="1" i="0">
                <a:solidFill>
                  <a:srgbClr val="0F172A"/>
                </a:solidFill>
                <a:latin typeface="Segoe UI"/>
              </a:rPr>
              <a:t>Tailwind CSS 4</a:t>
            </a:r>
          </a:p>
        </p:txBody>
      </p:sp>
      <p:sp>
        <p:nvSpPr>
          <p:cNvPr id="20" name="TextBox 19"/>
          <p:cNvSpPr txBox="1"/>
          <p:nvPr/>
        </p:nvSpPr>
        <p:spPr>
          <a:xfrm>
            <a:off x="2898648" y="2916936"/>
            <a:ext cx="2922879" cy="297180"/>
          </a:xfrm>
          <a:prstGeom prst="rect">
            <a:avLst/>
          </a:prstGeom>
          <a:noFill/>
        </p:spPr>
        <p:txBody>
          <a:bodyPr wrap="square" lIns="0" rIns="0" tIns="0" bIns="0" anchor="t">
            <a:spAutoFit/>
          </a:bodyPr>
          <a:lstStyle/>
          <a:p>
            <a:pPr algn="l">
              <a:lnSpc>
                <a:spcPct val="105000"/>
              </a:lnSpc>
              <a:spcBef>
                <a:spcPts val="0"/>
              </a:spcBef>
              <a:spcAft>
                <a:spcPts val="0"/>
              </a:spcAft>
            </a:pPr>
            <a:r>
              <a:rPr sz="790" b="0" i="0">
                <a:solidFill>
                  <a:srgbClr val="475569"/>
                </a:solidFill>
                <a:latin typeface="Segoe UI"/>
              </a:rPr>
              <a:t>Utility styling for responsive layouts.  app/globals.css · tailwind.config.js</a:t>
            </a:r>
          </a:p>
        </p:txBody>
      </p:sp>
      <p:cxnSp>
        <p:nvCxnSpPr>
          <p:cNvPr id="21" name="Connector 20"/>
          <p:cNvCxnSpPr/>
          <p:nvPr/>
        </p:nvCxnSpPr>
        <p:spPr>
          <a:xfrm>
            <a:off x="731520" y="3204972"/>
            <a:ext cx="5099151" cy="0"/>
          </a:xfrm>
          <a:prstGeom prst="line">
            <a:avLst/>
          </a:prstGeom>
          <a:ln w="8890">
            <a:solidFill>
              <a:srgbClr val="F1F5F9"/>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49808" y="3227832"/>
            <a:ext cx="2048256" cy="297180"/>
          </a:xfrm>
          <a:prstGeom prst="rect">
            <a:avLst/>
          </a:prstGeom>
          <a:noFill/>
        </p:spPr>
        <p:txBody>
          <a:bodyPr wrap="square" lIns="0" rIns="0" tIns="0" bIns="0" anchor="t">
            <a:spAutoFit/>
          </a:bodyPr>
          <a:lstStyle/>
          <a:p>
            <a:pPr algn="l">
              <a:lnSpc>
                <a:spcPct val="105000"/>
              </a:lnSpc>
              <a:spcBef>
                <a:spcPts val="0"/>
              </a:spcBef>
              <a:spcAft>
                <a:spcPts val="0"/>
              </a:spcAft>
            </a:pPr>
            <a:r>
              <a:rPr sz="810" b="1" i="0">
                <a:solidFill>
                  <a:srgbClr val="0F172A"/>
                </a:solidFill>
                <a:latin typeface="Segoe UI"/>
              </a:rPr>
              <a:t>Framer Motion 14 + lucide-react 1.50</a:t>
            </a:r>
          </a:p>
        </p:txBody>
      </p:sp>
      <p:sp>
        <p:nvSpPr>
          <p:cNvPr id="23" name="TextBox 22"/>
          <p:cNvSpPr txBox="1"/>
          <p:nvPr/>
        </p:nvSpPr>
        <p:spPr>
          <a:xfrm>
            <a:off x="2898648" y="3227832"/>
            <a:ext cx="2922879" cy="297180"/>
          </a:xfrm>
          <a:prstGeom prst="rect">
            <a:avLst/>
          </a:prstGeom>
          <a:noFill/>
        </p:spPr>
        <p:txBody>
          <a:bodyPr wrap="square" lIns="0" rIns="0" tIns="0" bIns="0" anchor="t">
            <a:spAutoFit/>
          </a:bodyPr>
          <a:lstStyle/>
          <a:p>
            <a:pPr algn="l">
              <a:lnSpc>
                <a:spcPct val="105000"/>
              </a:lnSpc>
              <a:spcBef>
                <a:spcPts val="0"/>
              </a:spcBef>
              <a:spcAft>
                <a:spcPts val="0"/>
              </a:spcAft>
            </a:pPr>
            <a:r>
              <a:rPr sz="790" b="0" i="0">
                <a:solidFill>
                  <a:srgbClr val="475569"/>
                </a:solidFill>
                <a:latin typeface="Segoe UI"/>
              </a:rPr>
              <a:t>UI transitions and SVG icons.  components/</a:t>
            </a:r>
          </a:p>
        </p:txBody>
      </p:sp>
      <p:sp>
        <p:nvSpPr>
          <p:cNvPr id="24" name="Rounded Rectangle 23"/>
          <p:cNvSpPr/>
          <p:nvPr/>
        </p:nvSpPr>
        <p:spPr>
          <a:xfrm>
            <a:off x="6196431" y="1773936"/>
            <a:ext cx="5428335" cy="1865376"/>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6196431" y="1773936"/>
            <a:ext cx="5428335" cy="50292"/>
          </a:xfrm>
          <a:prstGeom prst="roundRect">
            <a:avLst>
              <a:gd name="adj" fmla="val 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361023" y="1883664"/>
            <a:ext cx="2057400" cy="201168"/>
          </a:xfrm>
          <a:prstGeom prst="roundRect">
            <a:avLst>
              <a:gd name="adj" fmla="val 5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730" b="1" i="0">
                <a:solidFill>
                  <a:srgbClr val="059669"/>
                </a:solidFill>
                <a:latin typeface="Segoe UI"/>
              </a:rPr>
              <a:t>BACKEND · APIs &amp; AUTH</a:t>
            </a:r>
          </a:p>
        </p:txBody>
      </p:sp>
      <p:sp>
        <p:nvSpPr>
          <p:cNvPr id="27" name="TextBox 26"/>
          <p:cNvSpPr txBox="1"/>
          <p:nvPr/>
        </p:nvSpPr>
        <p:spPr>
          <a:xfrm>
            <a:off x="8528151" y="1883664"/>
            <a:ext cx="2922879" cy="210312"/>
          </a:xfrm>
          <a:prstGeom prst="rect">
            <a:avLst/>
          </a:prstGeom>
          <a:noFill/>
        </p:spPr>
        <p:txBody>
          <a:bodyPr wrap="square" lIns="0" rIns="0" tIns="0" bIns="0" anchor="t">
            <a:spAutoFit/>
          </a:bodyPr>
          <a:lstStyle/>
          <a:p>
            <a:pPr algn="l">
              <a:lnSpc>
                <a:spcPct val="118000"/>
              </a:lnSpc>
              <a:spcBef>
                <a:spcPts val="0"/>
              </a:spcBef>
              <a:spcAft>
                <a:spcPts val="0"/>
              </a:spcAft>
            </a:pPr>
            <a:r>
              <a:rPr sz="900" b="1" i="0">
                <a:solidFill>
                  <a:srgbClr val="0F172A"/>
                </a:solidFill>
                <a:latin typeface="Segoe UI Semibold"/>
              </a:rPr>
              <a:t>Chioma Helen Ezeufonna</a:t>
            </a:r>
          </a:p>
        </p:txBody>
      </p:sp>
      <p:sp>
        <p:nvSpPr>
          <p:cNvPr id="28" name="TextBox 27"/>
          <p:cNvSpPr txBox="1"/>
          <p:nvPr/>
        </p:nvSpPr>
        <p:spPr>
          <a:xfrm>
            <a:off x="6379311" y="2139696"/>
            <a:ext cx="2011680" cy="128016"/>
          </a:xfrm>
          <a:prstGeom prst="rect">
            <a:avLst/>
          </a:prstGeom>
          <a:noFill/>
        </p:spPr>
        <p:txBody>
          <a:bodyPr wrap="square" lIns="0" rIns="0" tIns="0" bIns="0" anchor="t">
            <a:spAutoFit/>
          </a:bodyPr>
          <a:lstStyle/>
          <a:p>
            <a:pPr algn="l">
              <a:lnSpc>
                <a:spcPct val="118000"/>
              </a:lnSpc>
              <a:spcBef>
                <a:spcPts val="0"/>
              </a:spcBef>
              <a:spcAft>
                <a:spcPts val="0"/>
              </a:spcAft>
            </a:pPr>
            <a:r>
              <a:rPr sz="700" b="1" i="0" cap="all" spc="70">
                <a:solidFill>
                  <a:srgbClr val="94A3B8"/>
                </a:solidFill>
                <a:latin typeface="Segoe UI"/>
              </a:rPr>
              <a:t>TECHNOLOGY</a:t>
            </a:r>
          </a:p>
        </p:txBody>
      </p:sp>
      <p:sp>
        <p:nvSpPr>
          <p:cNvPr id="29" name="TextBox 28"/>
          <p:cNvSpPr txBox="1"/>
          <p:nvPr/>
        </p:nvSpPr>
        <p:spPr>
          <a:xfrm>
            <a:off x="8528151" y="2139696"/>
            <a:ext cx="2913735" cy="128016"/>
          </a:xfrm>
          <a:prstGeom prst="rect">
            <a:avLst/>
          </a:prstGeom>
          <a:noFill/>
        </p:spPr>
        <p:txBody>
          <a:bodyPr wrap="square" lIns="0" rIns="0" tIns="0" bIns="0" anchor="t">
            <a:spAutoFit/>
          </a:bodyPr>
          <a:lstStyle/>
          <a:p>
            <a:pPr algn="l">
              <a:lnSpc>
                <a:spcPct val="118000"/>
              </a:lnSpc>
              <a:spcBef>
                <a:spcPts val="0"/>
              </a:spcBef>
              <a:spcAft>
                <a:spcPts val="0"/>
              </a:spcAft>
            </a:pPr>
            <a:r>
              <a:rPr sz="700" b="1" i="0" cap="all" spc="60">
                <a:solidFill>
                  <a:srgbClr val="94A3B8"/>
                </a:solidFill>
                <a:latin typeface="Segoe UI"/>
              </a:rPr>
              <a:t>PURPOSE · REPOSITORY LOCATION</a:t>
            </a:r>
          </a:p>
        </p:txBody>
      </p:sp>
      <p:sp>
        <p:nvSpPr>
          <p:cNvPr id="30" name="TextBox 29"/>
          <p:cNvSpPr txBox="1"/>
          <p:nvPr/>
        </p:nvSpPr>
        <p:spPr>
          <a:xfrm>
            <a:off x="6379311" y="2295144"/>
            <a:ext cx="2048256" cy="297180"/>
          </a:xfrm>
          <a:prstGeom prst="rect">
            <a:avLst/>
          </a:prstGeom>
          <a:noFill/>
        </p:spPr>
        <p:txBody>
          <a:bodyPr wrap="square" lIns="0" rIns="0" tIns="0" bIns="0" anchor="t">
            <a:spAutoFit/>
          </a:bodyPr>
          <a:lstStyle/>
          <a:p>
            <a:pPr algn="l">
              <a:lnSpc>
                <a:spcPct val="105000"/>
              </a:lnSpc>
              <a:spcBef>
                <a:spcPts val="0"/>
              </a:spcBef>
              <a:spcAft>
                <a:spcPts val="0"/>
              </a:spcAft>
            </a:pPr>
            <a:r>
              <a:rPr sz="810" b="1" i="0">
                <a:solidFill>
                  <a:srgbClr val="0F172A"/>
                </a:solidFill>
                <a:latin typeface="Segoe UI"/>
              </a:rPr>
              <a:t>Next.js Route Handlers</a:t>
            </a:r>
          </a:p>
        </p:txBody>
      </p:sp>
      <p:sp>
        <p:nvSpPr>
          <p:cNvPr id="31" name="TextBox 30"/>
          <p:cNvSpPr txBox="1"/>
          <p:nvPr/>
        </p:nvSpPr>
        <p:spPr>
          <a:xfrm>
            <a:off x="8528151" y="2295144"/>
            <a:ext cx="2922879" cy="297180"/>
          </a:xfrm>
          <a:prstGeom prst="rect">
            <a:avLst/>
          </a:prstGeom>
          <a:noFill/>
        </p:spPr>
        <p:txBody>
          <a:bodyPr wrap="square" lIns="0" rIns="0" tIns="0" bIns="0" anchor="t">
            <a:spAutoFit/>
          </a:bodyPr>
          <a:lstStyle/>
          <a:p>
            <a:pPr algn="l">
              <a:lnSpc>
                <a:spcPct val="105000"/>
              </a:lnSpc>
              <a:spcBef>
                <a:spcPts val="0"/>
              </a:spcBef>
              <a:spcAft>
                <a:spcPts val="0"/>
              </a:spcAft>
            </a:pPr>
            <a:r>
              <a:rPr sz="790" b="0" i="0">
                <a:solidFill>
                  <a:srgbClr val="475569"/>
                </a:solidFill>
                <a:latin typeface="Segoe UI"/>
              </a:rPr>
              <a:t>HTTP JSON endpoints.  app/api/*/route.ts</a:t>
            </a:r>
          </a:p>
        </p:txBody>
      </p:sp>
      <p:cxnSp>
        <p:nvCxnSpPr>
          <p:cNvPr id="32" name="Connector 31"/>
          <p:cNvCxnSpPr/>
          <p:nvPr/>
        </p:nvCxnSpPr>
        <p:spPr>
          <a:xfrm>
            <a:off x="6361023" y="2583180"/>
            <a:ext cx="5099152" cy="0"/>
          </a:xfrm>
          <a:prstGeom prst="line">
            <a:avLst/>
          </a:prstGeom>
          <a:ln w="8890">
            <a:solidFill>
              <a:srgbClr val="F1F5F9"/>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379311" y="2606040"/>
            <a:ext cx="2048256" cy="297180"/>
          </a:xfrm>
          <a:prstGeom prst="rect">
            <a:avLst/>
          </a:prstGeom>
          <a:noFill/>
        </p:spPr>
        <p:txBody>
          <a:bodyPr wrap="square" lIns="0" rIns="0" tIns="0" bIns="0" anchor="t">
            <a:spAutoFit/>
          </a:bodyPr>
          <a:lstStyle/>
          <a:p>
            <a:pPr algn="l">
              <a:lnSpc>
                <a:spcPct val="105000"/>
              </a:lnSpc>
              <a:spcBef>
                <a:spcPts val="0"/>
              </a:spcBef>
              <a:spcAft>
                <a:spcPts val="0"/>
              </a:spcAft>
            </a:pPr>
            <a:r>
              <a:rPr sz="810" b="1" i="0">
                <a:solidFill>
                  <a:srgbClr val="0F172A"/>
                </a:solidFill>
                <a:latin typeface="Segoe UI"/>
              </a:rPr>
              <a:t>Node.js runtime</a:t>
            </a:r>
          </a:p>
        </p:txBody>
      </p:sp>
      <p:sp>
        <p:nvSpPr>
          <p:cNvPr id="34" name="TextBox 33"/>
          <p:cNvSpPr txBox="1"/>
          <p:nvPr/>
        </p:nvSpPr>
        <p:spPr>
          <a:xfrm>
            <a:off x="8528151" y="2606040"/>
            <a:ext cx="2922879" cy="297180"/>
          </a:xfrm>
          <a:prstGeom prst="rect">
            <a:avLst/>
          </a:prstGeom>
          <a:noFill/>
        </p:spPr>
        <p:txBody>
          <a:bodyPr wrap="square" lIns="0" rIns="0" tIns="0" bIns="0" anchor="t">
            <a:spAutoFit/>
          </a:bodyPr>
          <a:lstStyle/>
          <a:p>
            <a:pPr algn="l">
              <a:lnSpc>
                <a:spcPct val="105000"/>
              </a:lnSpc>
              <a:spcBef>
                <a:spcPts val="0"/>
              </a:spcBef>
              <a:spcAft>
                <a:spcPts val="0"/>
              </a:spcAft>
            </a:pPr>
            <a:r>
              <a:rPr sz="790" b="0" i="0">
                <a:solidFill>
                  <a:srgbClr val="475569"/>
                </a:solidFill>
                <a:latin typeface="Segoe UI"/>
              </a:rPr>
              <a:t>Server-side runtime for the API route code.  runtime = "nodejs"</a:t>
            </a:r>
          </a:p>
        </p:txBody>
      </p:sp>
      <p:cxnSp>
        <p:nvCxnSpPr>
          <p:cNvPr id="35" name="Connector 34"/>
          <p:cNvCxnSpPr/>
          <p:nvPr/>
        </p:nvCxnSpPr>
        <p:spPr>
          <a:xfrm>
            <a:off x="6361023" y="2894076"/>
            <a:ext cx="5099152" cy="0"/>
          </a:xfrm>
          <a:prstGeom prst="line">
            <a:avLst/>
          </a:prstGeom>
          <a:ln w="8890">
            <a:solidFill>
              <a:srgbClr val="F1F5F9"/>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379311" y="2916936"/>
            <a:ext cx="2048256" cy="297180"/>
          </a:xfrm>
          <a:prstGeom prst="rect">
            <a:avLst/>
          </a:prstGeom>
          <a:noFill/>
        </p:spPr>
        <p:txBody>
          <a:bodyPr wrap="square" lIns="0" rIns="0" tIns="0" bIns="0" anchor="t">
            <a:spAutoFit/>
          </a:bodyPr>
          <a:lstStyle/>
          <a:p>
            <a:pPr algn="l">
              <a:lnSpc>
                <a:spcPct val="105000"/>
              </a:lnSpc>
              <a:spcBef>
                <a:spcPts val="0"/>
              </a:spcBef>
              <a:spcAft>
                <a:spcPts val="0"/>
              </a:spcAft>
            </a:pPr>
            <a:r>
              <a:rPr sz="810" b="1" i="0">
                <a:solidFill>
                  <a:srgbClr val="0F172A"/>
                </a:solidFill>
                <a:latin typeface="Segoe UI"/>
              </a:rPr>
              <a:t>bcryptjs 3 + jsonwebtoken 9</a:t>
            </a:r>
          </a:p>
        </p:txBody>
      </p:sp>
      <p:sp>
        <p:nvSpPr>
          <p:cNvPr id="37" name="TextBox 36"/>
          <p:cNvSpPr txBox="1"/>
          <p:nvPr/>
        </p:nvSpPr>
        <p:spPr>
          <a:xfrm>
            <a:off x="8528151" y="2916936"/>
            <a:ext cx="2922879" cy="297180"/>
          </a:xfrm>
          <a:prstGeom prst="rect">
            <a:avLst/>
          </a:prstGeom>
          <a:noFill/>
        </p:spPr>
        <p:txBody>
          <a:bodyPr wrap="square" lIns="0" rIns="0" tIns="0" bIns="0" anchor="t">
            <a:spAutoFit/>
          </a:bodyPr>
          <a:lstStyle/>
          <a:p>
            <a:pPr algn="l">
              <a:lnSpc>
                <a:spcPct val="105000"/>
              </a:lnSpc>
              <a:spcBef>
                <a:spcPts val="0"/>
              </a:spcBef>
              <a:spcAft>
                <a:spcPts val="0"/>
              </a:spcAft>
            </a:pPr>
            <a:r>
              <a:rPr sz="790" b="0" i="0">
                <a:solidFill>
                  <a:srgbClr val="475569"/>
                </a:solidFill>
                <a:latin typeface="Segoe UI"/>
              </a:rPr>
              <a:t>Password hashing + signed JWTs for authenticated API requests.  app/api/auth/</a:t>
            </a:r>
          </a:p>
        </p:txBody>
      </p:sp>
      <p:cxnSp>
        <p:nvCxnSpPr>
          <p:cNvPr id="38" name="Connector 37"/>
          <p:cNvCxnSpPr/>
          <p:nvPr/>
        </p:nvCxnSpPr>
        <p:spPr>
          <a:xfrm>
            <a:off x="6361023" y="3204972"/>
            <a:ext cx="5099152" cy="0"/>
          </a:xfrm>
          <a:prstGeom prst="line">
            <a:avLst/>
          </a:prstGeom>
          <a:ln w="8890">
            <a:solidFill>
              <a:srgbClr val="F1F5F9"/>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379311" y="3227832"/>
            <a:ext cx="2048256" cy="297180"/>
          </a:xfrm>
          <a:prstGeom prst="rect">
            <a:avLst/>
          </a:prstGeom>
          <a:noFill/>
        </p:spPr>
        <p:txBody>
          <a:bodyPr wrap="square" lIns="0" rIns="0" tIns="0" bIns="0" anchor="t">
            <a:spAutoFit/>
          </a:bodyPr>
          <a:lstStyle/>
          <a:p>
            <a:pPr algn="l">
              <a:lnSpc>
                <a:spcPct val="105000"/>
              </a:lnSpc>
              <a:spcBef>
                <a:spcPts val="0"/>
              </a:spcBef>
              <a:spcAft>
                <a:spcPts val="0"/>
              </a:spcAft>
            </a:pPr>
            <a:r>
              <a:rPr sz="810" b="1" i="0">
                <a:solidFill>
                  <a:srgbClr val="0F172A"/>
                </a:solidFill>
                <a:latin typeface="Segoe UI"/>
              </a:rPr>
              <a:t>@neondatabase/serverless 1.2</a:t>
            </a:r>
          </a:p>
        </p:txBody>
      </p:sp>
      <p:sp>
        <p:nvSpPr>
          <p:cNvPr id="40" name="TextBox 39"/>
          <p:cNvSpPr txBox="1"/>
          <p:nvPr/>
        </p:nvSpPr>
        <p:spPr>
          <a:xfrm>
            <a:off x="8528151" y="3227832"/>
            <a:ext cx="2922879" cy="297180"/>
          </a:xfrm>
          <a:prstGeom prst="rect">
            <a:avLst/>
          </a:prstGeom>
          <a:noFill/>
        </p:spPr>
        <p:txBody>
          <a:bodyPr wrap="square" lIns="0" rIns="0" tIns="0" bIns="0" anchor="t">
            <a:spAutoFit/>
          </a:bodyPr>
          <a:lstStyle/>
          <a:p>
            <a:pPr algn="l">
              <a:lnSpc>
                <a:spcPct val="105000"/>
              </a:lnSpc>
              <a:spcBef>
                <a:spcPts val="0"/>
              </a:spcBef>
              <a:spcAft>
                <a:spcPts val="0"/>
              </a:spcAft>
            </a:pPr>
            <a:r>
              <a:rPr sz="790" b="0" i="0">
                <a:solidFill>
                  <a:srgbClr val="475569"/>
                </a:solidFill>
                <a:latin typeface="Segoe UI"/>
              </a:rPr>
              <a:t>HTTP PostgreSQL client used by server-side data code.  db/neon.ts</a:t>
            </a:r>
          </a:p>
        </p:txBody>
      </p:sp>
      <p:sp>
        <p:nvSpPr>
          <p:cNvPr id="41" name="Rounded Rectangle 40"/>
          <p:cNvSpPr/>
          <p:nvPr/>
        </p:nvSpPr>
        <p:spPr>
          <a:xfrm>
            <a:off x="566928" y="3803904"/>
            <a:ext cx="5428335" cy="1865376"/>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a:off x="566928" y="3803904"/>
            <a:ext cx="5428335" cy="50292"/>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ounded Rectangle 42"/>
          <p:cNvSpPr/>
          <p:nvPr/>
        </p:nvSpPr>
        <p:spPr>
          <a:xfrm>
            <a:off x="731520" y="3913632"/>
            <a:ext cx="2057400" cy="201168"/>
          </a:xfrm>
          <a:prstGeom prst="roundRect">
            <a:avLst>
              <a:gd name="adj" fmla="val 5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730" b="1" i="0">
                <a:solidFill>
                  <a:srgbClr val="F59E0B"/>
                </a:solidFill>
                <a:latin typeface="Segoe UI"/>
              </a:rPr>
              <a:t>DATABASE DESIGN</a:t>
            </a:r>
          </a:p>
        </p:txBody>
      </p:sp>
      <p:sp>
        <p:nvSpPr>
          <p:cNvPr id="44" name="TextBox 43"/>
          <p:cNvSpPr txBox="1"/>
          <p:nvPr/>
        </p:nvSpPr>
        <p:spPr>
          <a:xfrm>
            <a:off x="2898648" y="3913632"/>
            <a:ext cx="2922879" cy="210312"/>
          </a:xfrm>
          <a:prstGeom prst="rect">
            <a:avLst/>
          </a:prstGeom>
          <a:noFill/>
        </p:spPr>
        <p:txBody>
          <a:bodyPr wrap="square" lIns="0" rIns="0" tIns="0" bIns="0" anchor="t">
            <a:spAutoFit/>
          </a:bodyPr>
          <a:lstStyle/>
          <a:p>
            <a:pPr algn="l">
              <a:lnSpc>
                <a:spcPct val="118000"/>
              </a:lnSpc>
              <a:spcBef>
                <a:spcPts val="0"/>
              </a:spcBef>
              <a:spcAft>
                <a:spcPts val="0"/>
              </a:spcAft>
            </a:pPr>
            <a:r>
              <a:rPr sz="819" b="1" i="0">
                <a:solidFill>
                  <a:srgbClr val="0F172A"/>
                </a:solidFill>
                <a:latin typeface="Segoe UI Semibold"/>
              </a:rPr>
              <a:t>Uzochukwu Mary Cynthia Enyemakachukwu</a:t>
            </a:r>
          </a:p>
        </p:txBody>
      </p:sp>
      <p:sp>
        <p:nvSpPr>
          <p:cNvPr id="45" name="TextBox 44"/>
          <p:cNvSpPr txBox="1"/>
          <p:nvPr/>
        </p:nvSpPr>
        <p:spPr>
          <a:xfrm>
            <a:off x="749808" y="4169664"/>
            <a:ext cx="2011680" cy="128016"/>
          </a:xfrm>
          <a:prstGeom prst="rect">
            <a:avLst/>
          </a:prstGeom>
          <a:noFill/>
        </p:spPr>
        <p:txBody>
          <a:bodyPr wrap="square" lIns="0" rIns="0" tIns="0" bIns="0" anchor="t">
            <a:spAutoFit/>
          </a:bodyPr>
          <a:lstStyle/>
          <a:p>
            <a:pPr algn="l">
              <a:lnSpc>
                <a:spcPct val="118000"/>
              </a:lnSpc>
              <a:spcBef>
                <a:spcPts val="0"/>
              </a:spcBef>
              <a:spcAft>
                <a:spcPts val="0"/>
              </a:spcAft>
            </a:pPr>
            <a:r>
              <a:rPr sz="700" b="1" i="0" cap="all" spc="70">
                <a:solidFill>
                  <a:srgbClr val="94A3B8"/>
                </a:solidFill>
                <a:latin typeface="Segoe UI"/>
              </a:rPr>
              <a:t>TECHNOLOGY</a:t>
            </a:r>
          </a:p>
        </p:txBody>
      </p:sp>
      <p:sp>
        <p:nvSpPr>
          <p:cNvPr id="46" name="TextBox 45"/>
          <p:cNvSpPr txBox="1"/>
          <p:nvPr/>
        </p:nvSpPr>
        <p:spPr>
          <a:xfrm>
            <a:off x="2898648" y="4169664"/>
            <a:ext cx="2913735" cy="128016"/>
          </a:xfrm>
          <a:prstGeom prst="rect">
            <a:avLst/>
          </a:prstGeom>
          <a:noFill/>
        </p:spPr>
        <p:txBody>
          <a:bodyPr wrap="square" lIns="0" rIns="0" tIns="0" bIns="0" anchor="t">
            <a:spAutoFit/>
          </a:bodyPr>
          <a:lstStyle/>
          <a:p>
            <a:pPr algn="l">
              <a:lnSpc>
                <a:spcPct val="118000"/>
              </a:lnSpc>
              <a:spcBef>
                <a:spcPts val="0"/>
              </a:spcBef>
              <a:spcAft>
                <a:spcPts val="0"/>
              </a:spcAft>
            </a:pPr>
            <a:r>
              <a:rPr sz="700" b="1" i="0" cap="all" spc="60">
                <a:solidFill>
                  <a:srgbClr val="94A3B8"/>
                </a:solidFill>
                <a:latin typeface="Segoe UI"/>
              </a:rPr>
              <a:t>PURPOSE · REPOSITORY LOCATION</a:t>
            </a:r>
          </a:p>
        </p:txBody>
      </p:sp>
      <p:sp>
        <p:nvSpPr>
          <p:cNvPr id="47" name="TextBox 46"/>
          <p:cNvSpPr txBox="1"/>
          <p:nvPr/>
        </p:nvSpPr>
        <p:spPr>
          <a:xfrm>
            <a:off x="749808" y="4325112"/>
            <a:ext cx="2048256" cy="297180"/>
          </a:xfrm>
          <a:prstGeom prst="rect">
            <a:avLst/>
          </a:prstGeom>
          <a:noFill/>
        </p:spPr>
        <p:txBody>
          <a:bodyPr wrap="square" lIns="0" rIns="0" tIns="0" bIns="0" anchor="t">
            <a:spAutoFit/>
          </a:bodyPr>
          <a:lstStyle/>
          <a:p>
            <a:pPr algn="l">
              <a:lnSpc>
                <a:spcPct val="105000"/>
              </a:lnSpc>
              <a:spcBef>
                <a:spcPts val="0"/>
              </a:spcBef>
              <a:spcAft>
                <a:spcPts val="0"/>
              </a:spcAft>
            </a:pPr>
            <a:r>
              <a:rPr sz="810" b="1" i="0">
                <a:solidFill>
                  <a:srgbClr val="0F172A"/>
                </a:solidFill>
                <a:latin typeface="Segoe UI"/>
              </a:rPr>
              <a:t>PostgreSQL</a:t>
            </a:r>
          </a:p>
        </p:txBody>
      </p:sp>
      <p:sp>
        <p:nvSpPr>
          <p:cNvPr id="48" name="TextBox 47"/>
          <p:cNvSpPr txBox="1"/>
          <p:nvPr/>
        </p:nvSpPr>
        <p:spPr>
          <a:xfrm>
            <a:off x="2898648" y="4325112"/>
            <a:ext cx="2922879" cy="297180"/>
          </a:xfrm>
          <a:prstGeom prst="rect">
            <a:avLst/>
          </a:prstGeom>
          <a:noFill/>
        </p:spPr>
        <p:txBody>
          <a:bodyPr wrap="square" lIns="0" rIns="0" tIns="0" bIns="0" anchor="t">
            <a:spAutoFit/>
          </a:bodyPr>
          <a:lstStyle/>
          <a:p>
            <a:pPr algn="l">
              <a:lnSpc>
                <a:spcPct val="105000"/>
              </a:lnSpc>
              <a:spcBef>
                <a:spcPts val="0"/>
              </a:spcBef>
              <a:spcAft>
                <a:spcPts val="0"/>
              </a:spcAft>
            </a:pPr>
            <a:r>
              <a:rPr sz="790" b="0" i="0">
                <a:solidFill>
                  <a:srgbClr val="475569"/>
                </a:solidFill>
                <a:latin typeface="Segoe UI"/>
              </a:rPr>
              <a:t>Relational database: keys, constraints, triggers and indexes.  db/schema.sql</a:t>
            </a:r>
          </a:p>
        </p:txBody>
      </p:sp>
      <p:cxnSp>
        <p:nvCxnSpPr>
          <p:cNvPr id="49" name="Connector 48"/>
          <p:cNvCxnSpPr/>
          <p:nvPr/>
        </p:nvCxnSpPr>
        <p:spPr>
          <a:xfrm>
            <a:off x="731520" y="4613148"/>
            <a:ext cx="5099151" cy="0"/>
          </a:xfrm>
          <a:prstGeom prst="line">
            <a:avLst/>
          </a:prstGeom>
          <a:ln w="8890">
            <a:solidFill>
              <a:srgbClr val="F1F5F9"/>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749808" y="4636008"/>
            <a:ext cx="2048256" cy="297180"/>
          </a:xfrm>
          <a:prstGeom prst="rect">
            <a:avLst/>
          </a:prstGeom>
          <a:noFill/>
        </p:spPr>
        <p:txBody>
          <a:bodyPr wrap="square" lIns="0" rIns="0" tIns="0" bIns="0" anchor="t">
            <a:spAutoFit/>
          </a:bodyPr>
          <a:lstStyle/>
          <a:p>
            <a:pPr algn="l">
              <a:lnSpc>
                <a:spcPct val="105000"/>
              </a:lnSpc>
              <a:spcBef>
                <a:spcPts val="0"/>
              </a:spcBef>
              <a:spcAft>
                <a:spcPts val="0"/>
              </a:spcAft>
            </a:pPr>
            <a:r>
              <a:rPr sz="810" b="1" i="0">
                <a:solidFill>
                  <a:srgbClr val="0F172A"/>
                </a:solidFill>
                <a:latin typeface="Segoe UI"/>
              </a:rPr>
              <a:t>Neon</a:t>
            </a:r>
          </a:p>
        </p:txBody>
      </p:sp>
      <p:sp>
        <p:nvSpPr>
          <p:cNvPr id="51" name="TextBox 50"/>
          <p:cNvSpPr txBox="1"/>
          <p:nvPr/>
        </p:nvSpPr>
        <p:spPr>
          <a:xfrm>
            <a:off x="2898648" y="4636008"/>
            <a:ext cx="2922879" cy="297180"/>
          </a:xfrm>
          <a:prstGeom prst="rect">
            <a:avLst/>
          </a:prstGeom>
          <a:noFill/>
        </p:spPr>
        <p:txBody>
          <a:bodyPr wrap="square" lIns="0" rIns="0" tIns="0" bIns="0" anchor="t">
            <a:spAutoFit/>
          </a:bodyPr>
          <a:lstStyle/>
          <a:p>
            <a:pPr algn="l">
              <a:lnSpc>
                <a:spcPct val="105000"/>
              </a:lnSpc>
              <a:spcBef>
                <a:spcPts val="0"/>
              </a:spcBef>
              <a:spcAft>
                <a:spcPts val="0"/>
              </a:spcAft>
            </a:pPr>
            <a:r>
              <a:rPr sz="790" b="0" i="0">
                <a:solidFill>
                  <a:srgbClr val="475569"/>
                </a:solidFill>
                <a:latin typeface="Segoe UI"/>
              </a:rPr>
              <a:t>Managed serverless PostgreSQL service; the app connects with DATABASE_URL.</a:t>
            </a:r>
          </a:p>
        </p:txBody>
      </p:sp>
      <p:cxnSp>
        <p:nvCxnSpPr>
          <p:cNvPr id="52" name="Connector 51"/>
          <p:cNvCxnSpPr/>
          <p:nvPr/>
        </p:nvCxnSpPr>
        <p:spPr>
          <a:xfrm>
            <a:off x="731520" y="4924044"/>
            <a:ext cx="5099151" cy="0"/>
          </a:xfrm>
          <a:prstGeom prst="line">
            <a:avLst/>
          </a:prstGeom>
          <a:ln w="8890">
            <a:solidFill>
              <a:srgbClr val="F1F5F9"/>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749808" y="4946904"/>
            <a:ext cx="2048256" cy="297180"/>
          </a:xfrm>
          <a:prstGeom prst="rect">
            <a:avLst/>
          </a:prstGeom>
          <a:noFill/>
        </p:spPr>
        <p:txBody>
          <a:bodyPr wrap="square" lIns="0" rIns="0" tIns="0" bIns="0" anchor="t">
            <a:spAutoFit/>
          </a:bodyPr>
          <a:lstStyle/>
          <a:p>
            <a:pPr algn="l">
              <a:lnSpc>
                <a:spcPct val="105000"/>
              </a:lnSpc>
              <a:spcBef>
                <a:spcPts val="0"/>
              </a:spcBef>
              <a:spcAft>
                <a:spcPts val="0"/>
              </a:spcAft>
            </a:pPr>
            <a:r>
              <a:rPr sz="810" b="1" i="0">
                <a:solidFill>
                  <a:srgbClr val="0F172A"/>
                </a:solidFill>
                <a:latin typeface="Segoe UI"/>
              </a:rPr>
              <a:t>SQL schema</a:t>
            </a:r>
          </a:p>
        </p:txBody>
      </p:sp>
      <p:sp>
        <p:nvSpPr>
          <p:cNvPr id="54" name="TextBox 53"/>
          <p:cNvSpPr txBox="1"/>
          <p:nvPr/>
        </p:nvSpPr>
        <p:spPr>
          <a:xfrm>
            <a:off x="2898648" y="4946904"/>
            <a:ext cx="2922879" cy="297180"/>
          </a:xfrm>
          <a:prstGeom prst="rect">
            <a:avLst/>
          </a:prstGeom>
          <a:noFill/>
        </p:spPr>
        <p:txBody>
          <a:bodyPr wrap="square" lIns="0" rIns="0" tIns="0" bIns="0" anchor="t">
            <a:spAutoFit/>
          </a:bodyPr>
          <a:lstStyle/>
          <a:p>
            <a:pPr algn="l">
              <a:lnSpc>
                <a:spcPct val="105000"/>
              </a:lnSpc>
              <a:spcBef>
                <a:spcPts val="0"/>
              </a:spcBef>
              <a:spcAft>
                <a:spcPts val="0"/>
              </a:spcAft>
            </a:pPr>
            <a:r>
              <a:rPr sz="790" b="0" i="0">
                <a:solidFill>
                  <a:srgbClr val="475569"/>
                </a:solidFill>
                <a:latin typeface="Segoe UI"/>
              </a:rPr>
              <a:t>10 tables · 4 enums · 2 triggers · 17 explicit indexes.  db/schema.sql</a:t>
            </a:r>
          </a:p>
        </p:txBody>
      </p:sp>
      <p:cxnSp>
        <p:nvCxnSpPr>
          <p:cNvPr id="55" name="Connector 54"/>
          <p:cNvCxnSpPr/>
          <p:nvPr/>
        </p:nvCxnSpPr>
        <p:spPr>
          <a:xfrm>
            <a:off x="731520" y="5234940"/>
            <a:ext cx="5099151" cy="0"/>
          </a:xfrm>
          <a:prstGeom prst="line">
            <a:avLst/>
          </a:prstGeom>
          <a:ln w="8890">
            <a:solidFill>
              <a:srgbClr val="F1F5F9"/>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49808" y="5257800"/>
            <a:ext cx="2048256" cy="297180"/>
          </a:xfrm>
          <a:prstGeom prst="rect">
            <a:avLst/>
          </a:prstGeom>
          <a:noFill/>
        </p:spPr>
        <p:txBody>
          <a:bodyPr wrap="square" lIns="0" rIns="0" tIns="0" bIns="0" anchor="t">
            <a:spAutoFit/>
          </a:bodyPr>
          <a:lstStyle/>
          <a:p>
            <a:pPr algn="l">
              <a:lnSpc>
                <a:spcPct val="105000"/>
              </a:lnSpc>
              <a:spcBef>
                <a:spcPts val="0"/>
              </a:spcBef>
              <a:spcAft>
                <a:spcPts val="0"/>
              </a:spcAft>
            </a:pPr>
            <a:r>
              <a:rPr sz="810" b="1" i="0">
                <a:solidFill>
                  <a:srgbClr val="0F172A"/>
                </a:solidFill>
                <a:latin typeface="Segoe UI"/>
              </a:rPr>
              <a:t>Migrations</a:t>
            </a:r>
          </a:p>
        </p:txBody>
      </p:sp>
      <p:sp>
        <p:nvSpPr>
          <p:cNvPr id="57" name="TextBox 56"/>
          <p:cNvSpPr txBox="1"/>
          <p:nvPr/>
        </p:nvSpPr>
        <p:spPr>
          <a:xfrm>
            <a:off x="2898648" y="5257800"/>
            <a:ext cx="2922879" cy="297180"/>
          </a:xfrm>
          <a:prstGeom prst="rect">
            <a:avLst/>
          </a:prstGeom>
          <a:noFill/>
        </p:spPr>
        <p:txBody>
          <a:bodyPr wrap="square" lIns="0" rIns="0" tIns="0" bIns="0" anchor="t">
            <a:spAutoFit/>
          </a:bodyPr>
          <a:lstStyle/>
          <a:p>
            <a:pPr algn="l">
              <a:lnSpc>
                <a:spcPct val="105000"/>
              </a:lnSpc>
              <a:spcBef>
                <a:spcPts val="0"/>
              </a:spcBef>
              <a:spcAft>
                <a:spcPts val="0"/>
              </a:spcAft>
            </a:pPr>
            <a:r>
              <a:rPr sz="790" b="0" i="0">
                <a:solidFill>
                  <a:srgbClr val="475569"/>
                </a:solidFill>
                <a:latin typeface="Segoe UI"/>
              </a:rPr>
              <a:t>Guarded schema setup and updates.  db/migrate.ts · db/migrations/</a:t>
            </a:r>
          </a:p>
        </p:txBody>
      </p:sp>
      <p:sp>
        <p:nvSpPr>
          <p:cNvPr id="58" name="Rounded Rectangle 57"/>
          <p:cNvSpPr/>
          <p:nvPr/>
        </p:nvSpPr>
        <p:spPr>
          <a:xfrm>
            <a:off x="6196431" y="3803904"/>
            <a:ext cx="5428335" cy="1865376"/>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ounded Rectangle 58"/>
          <p:cNvSpPr/>
          <p:nvPr/>
        </p:nvSpPr>
        <p:spPr>
          <a:xfrm>
            <a:off x="6196431" y="3803904"/>
            <a:ext cx="5428335" cy="50292"/>
          </a:xfrm>
          <a:prstGeom prst="roundRect">
            <a:avLst>
              <a:gd name="adj" fmla="val 8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ounded Rectangle 59"/>
          <p:cNvSpPr/>
          <p:nvPr/>
        </p:nvSpPr>
        <p:spPr>
          <a:xfrm>
            <a:off x="6361023" y="3913632"/>
            <a:ext cx="2057400" cy="201168"/>
          </a:xfrm>
          <a:prstGeom prst="roundRect">
            <a:avLst>
              <a:gd name="adj" fmla="val 5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730" b="1" i="0">
                <a:solidFill>
                  <a:srgbClr val="E11D48"/>
                </a:solidFill>
                <a:latin typeface="Segoe UI"/>
              </a:rPr>
              <a:t>DEPLOYMENT · TESTING &amp; QA</a:t>
            </a:r>
          </a:p>
        </p:txBody>
      </p:sp>
      <p:sp>
        <p:nvSpPr>
          <p:cNvPr id="61" name="TextBox 60"/>
          <p:cNvSpPr txBox="1"/>
          <p:nvPr/>
        </p:nvSpPr>
        <p:spPr>
          <a:xfrm>
            <a:off x="8528151" y="3913632"/>
            <a:ext cx="2922879" cy="210312"/>
          </a:xfrm>
          <a:prstGeom prst="rect">
            <a:avLst/>
          </a:prstGeom>
          <a:noFill/>
        </p:spPr>
        <p:txBody>
          <a:bodyPr wrap="square" lIns="0" rIns="0" tIns="0" bIns="0" anchor="t">
            <a:spAutoFit/>
          </a:bodyPr>
          <a:lstStyle/>
          <a:p>
            <a:pPr algn="l">
              <a:lnSpc>
                <a:spcPct val="118000"/>
              </a:lnSpc>
              <a:spcBef>
                <a:spcPts val="0"/>
              </a:spcBef>
              <a:spcAft>
                <a:spcPts val="0"/>
              </a:spcAft>
            </a:pPr>
            <a:r>
              <a:rPr sz="900" b="1" i="0">
                <a:solidFill>
                  <a:srgbClr val="0F172A"/>
                </a:solidFill>
                <a:latin typeface="Segoe UI Semibold"/>
              </a:rPr>
              <a:t>Bodman Ebuka Precious</a:t>
            </a:r>
          </a:p>
        </p:txBody>
      </p:sp>
      <p:sp>
        <p:nvSpPr>
          <p:cNvPr id="62" name="TextBox 61"/>
          <p:cNvSpPr txBox="1"/>
          <p:nvPr/>
        </p:nvSpPr>
        <p:spPr>
          <a:xfrm>
            <a:off x="6379311" y="4169664"/>
            <a:ext cx="2011680" cy="128016"/>
          </a:xfrm>
          <a:prstGeom prst="rect">
            <a:avLst/>
          </a:prstGeom>
          <a:noFill/>
        </p:spPr>
        <p:txBody>
          <a:bodyPr wrap="square" lIns="0" rIns="0" tIns="0" bIns="0" anchor="t">
            <a:spAutoFit/>
          </a:bodyPr>
          <a:lstStyle/>
          <a:p>
            <a:pPr algn="l">
              <a:lnSpc>
                <a:spcPct val="118000"/>
              </a:lnSpc>
              <a:spcBef>
                <a:spcPts val="0"/>
              </a:spcBef>
              <a:spcAft>
                <a:spcPts val="0"/>
              </a:spcAft>
            </a:pPr>
            <a:r>
              <a:rPr sz="700" b="1" i="0" cap="all" spc="70">
                <a:solidFill>
                  <a:srgbClr val="94A3B8"/>
                </a:solidFill>
                <a:latin typeface="Segoe UI"/>
              </a:rPr>
              <a:t>TECHNOLOGY</a:t>
            </a:r>
          </a:p>
        </p:txBody>
      </p:sp>
      <p:sp>
        <p:nvSpPr>
          <p:cNvPr id="63" name="TextBox 62"/>
          <p:cNvSpPr txBox="1"/>
          <p:nvPr/>
        </p:nvSpPr>
        <p:spPr>
          <a:xfrm>
            <a:off x="8528151" y="4169664"/>
            <a:ext cx="2913735" cy="128016"/>
          </a:xfrm>
          <a:prstGeom prst="rect">
            <a:avLst/>
          </a:prstGeom>
          <a:noFill/>
        </p:spPr>
        <p:txBody>
          <a:bodyPr wrap="square" lIns="0" rIns="0" tIns="0" bIns="0" anchor="t">
            <a:spAutoFit/>
          </a:bodyPr>
          <a:lstStyle/>
          <a:p>
            <a:pPr algn="l">
              <a:lnSpc>
                <a:spcPct val="118000"/>
              </a:lnSpc>
              <a:spcBef>
                <a:spcPts val="0"/>
              </a:spcBef>
              <a:spcAft>
                <a:spcPts val="0"/>
              </a:spcAft>
            </a:pPr>
            <a:r>
              <a:rPr sz="700" b="1" i="0" cap="all" spc="60">
                <a:solidFill>
                  <a:srgbClr val="94A3B8"/>
                </a:solidFill>
                <a:latin typeface="Segoe UI"/>
              </a:rPr>
              <a:t>PURPOSE · REPOSITORY LOCATION</a:t>
            </a:r>
          </a:p>
        </p:txBody>
      </p:sp>
      <p:sp>
        <p:nvSpPr>
          <p:cNvPr id="64" name="TextBox 63"/>
          <p:cNvSpPr txBox="1"/>
          <p:nvPr/>
        </p:nvSpPr>
        <p:spPr>
          <a:xfrm>
            <a:off x="6379311" y="4325112"/>
            <a:ext cx="2048256" cy="297180"/>
          </a:xfrm>
          <a:prstGeom prst="rect">
            <a:avLst/>
          </a:prstGeom>
          <a:noFill/>
        </p:spPr>
        <p:txBody>
          <a:bodyPr wrap="square" lIns="0" rIns="0" tIns="0" bIns="0" anchor="t">
            <a:spAutoFit/>
          </a:bodyPr>
          <a:lstStyle/>
          <a:p>
            <a:pPr algn="l">
              <a:lnSpc>
                <a:spcPct val="105000"/>
              </a:lnSpc>
              <a:spcBef>
                <a:spcPts val="0"/>
              </a:spcBef>
              <a:spcAft>
                <a:spcPts val="0"/>
              </a:spcAft>
            </a:pPr>
            <a:r>
              <a:rPr sz="810" b="1" i="0">
                <a:solidFill>
                  <a:srgbClr val="0F172A"/>
                </a:solidFill>
                <a:latin typeface="Segoe UI"/>
              </a:rPr>
              <a:t>Vercel</a:t>
            </a:r>
          </a:p>
        </p:txBody>
      </p:sp>
      <p:sp>
        <p:nvSpPr>
          <p:cNvPr id="65" name="TextBox 64"/>
          <p:cNvSpPr txBox="1"/>
          <p:nvPr/>
        </p:nvSpPr>
        <p:spPr>
          <a:xfrm>
            <a:off x="8528151" y="4325112"/>
            <a:ext cx="2922879" cy="297180"/>
          </a:xfrm>
          <a:prstGeom prst="rect">
            <a:avLst/>
          </a:prstGeom>
          <a:noFill/>
        </p:spPr>
        <p:txBody>
          <a:bodyPr wrap="square" lIns="0" rIns="0" tIns="0" bIns="0" anchor="t">
            <a:spAutoFit/>
          </a:bodyPr>
          <a:lstStyle/>
          <a:p>
            <a:pPr algn="l">
              <a:lnSpc>
                <a:spcPct val="105000"/>
              </a:lnSpc>
              <a:spcBef>
                <a:spcPts val="0"/>
              </a:spcBef>
              <a:spcAft>
                <a:spcPts val="0"/>
              </a:spcAft>
            </a:pPr>
            <a:r>
              <a:rPr sz="790" b="0" i="0">
                <a:solidFill>
                  <a:srgbClr val="475569"/>
                </a:solidFill>
                <a:latin typeface="Segoe UI"/>
              </a:rPr>
              <a:t>Hosting/deployment platform for the Next.js app.  README.md</a:t>
            </a:r>
          </a:p>
        </p:txBody>
      </p:sp>
      <p:cxnSp>
        <p:nvCxnSpPr>
          <p:cNvPr id="66" name="Connector 65"/>
          <p:cNvCxnSpPr/>
          <p:nvPr/>
        </p:nvCxnSpPr>
        <p:spPr>
          <a:xfrm>
            <a:off x="6361023" y="4613148"/>
            <a:ext cx="5099152" cy="0"/>
          </a:xfrm>
          <a:prstGeom prst="line">
            <a:avLst/>
          </a:prstGeom>
          <a:ln w="8890">
            <a:solidFill>
              <a:srgbClr val="F1F5F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6379311" y="4636008"/>
            <a:ext cx="2048256" cy="297180"/>
          </a:xfrm>
          <a:prstGeom prst="rect">
            <a:avLst/>
          </a:prstGeom>
          <a:noFill/>
        </p:spPr>
        <p:txBody>
          <a:bodyPr wrap="square" lIns="0" rIns="0" tIns="0" bIns="0" anchor="t">
            <a:spAutoFit/>
          </a:bodyPr>
          <a:lstStyle/>
          <a:p>
            <a:pPr algn="l">
              <a:lnSpc>
                <a:spcPct val="105000"/>
              </a:lnSpc>
              <a:spcBef>
                <a:spcPts val="0"/>
              </a:spcBef>
              <a:spcAft>
                <a:spcPts val="0"/>
              </a:spcAft>
            </a:pPr>
            <a:r>
              <a:rPr sz="810" b="1" i="0">
                <a:solidFill>
                  <a:srgbClr val="0F172A"/>
                </a:solidFill>
                <a:latin typeface="Segoe UI"/>
              </a:rPr>
              <a:t>ESLint 9</a:t>
            </a:r>
          </a:p>
        </p:txBody>
      </p:sp>
      <p:sp>
        <p:nvSpPr>
          <p:cNvPr id="68" name="TextBox 67"/>
          <p:cNvSpPr txBox="1"/>
          <p:nvPr/>
        </p:nvSpPr>
        <p:spPr>
          <a:xfrm>
            <a:off x="8528151" y="4636008"/>
            <a:ext cx="2922879" cy="297180"/>
          </a:xfrm>
          <a:prstGeom prst="rect">
            <a:avLst/>
          </a:prstGeom>
          <a:noFill/>
        </p:spPr>
        <p:txBody>
          <a:bodyPr wrap="square" lIns="0" rIns="0" tIns="0" bIns="0" anchor="t">
            <a:spAutoFit/>
          </a:bodyPr>
          <a:lstStyle/>
          <a:p>
            <a:pPr algn="l">
              <a:lnSpc>
                <a:spcPct val="105000"/>
              </a:lnSpc>
              <a:spcBef>
                <a:spcPts val="0"/>
              </a:spcBef>
              <a:spcAft>
                <a:spcPts val="0"/>
              </a:spcAft>
            </a:pPr>
            <a:r>
              <a:rPr sz="790" b="0" i="0">
                <a:solidFill>
                  <a:srgbClr val="475569"/>
                </a:solidFill>
                <a:latin typeface="Segoe UI"/>
              </a:rPr>
              <a:t>Static lint checks via npm run lint — passed in this inspection.</a:t>
            </a:r>
          </a:p>
        </p:txBody>
      </p:sp>
      <p:cxnSp>
        <p:nvCxnSpPr>
          <p:cNvPr id="69" name="Connector 68"/>
          <p:cNvCxnSpPr/>
          <p:nvPr/>
        </p:nvCxnSpPr>
        <p:spPr>
          <a:xfrm>
            <a:off x="6361023" y="4924044"/>
            <a:ext cx="5099152" cy="0"/>
          </a:xfrm>
          <a:prstGeom prst="line">
            <a:avLst/>
          </a:prstGeom>
          <a:ln w="8890">
            <a:solidFill>
              <a:srgbClr val="F1F5F9"/>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6379311" y="4946904"/>
            <a:ext cx="2048256" cy="297180"/>
          </a:xfrm>
          <a:prstGeom prst="rect">
            <a:avLst/>
          </a:prstGeom>
          <a:noFill/>
        </p:spPr>
        <p:txBody>
          <a:bodyPr wrap="square" lIns="0" rIns="0" tIns="0" bIns="0" anchor="t">
            <a:spAutoFit/>
          </a:bodyPr>
          <a:lstStyle/>
          <a:p>
            <a:pPr algn="l">
              <a:lnSpc>
                <a:spcPct val="105000"/>
              </a:lnSpc>
              <a:spcBef>
                <a:spcPts val="0"/>
              </a:spcBef>
              <a:spcAft>
                <a:spcPts val="0"/>
              </a:spcAft>
            </a:pPr>
            <a:r>
              <a:rPr sz="810" b="1" i="0">
                <a:solidFill>
                  <a:srgbClr val="0F172A"/>
                </a:solidFill>
                <a:latin typeface="Segoe UI"/>
              </a:rPr>
              <a:t>TypeScript compiler</a:t>
            </a:r>
          </a:p>
        </p:txBody>
      </p:sp>
      <p:sp>
        <p:nvSpPr>
          <p:cNvPr id="71" name="TextBox 70"/>
          <p:cNvSpPr txBox="1"/>
          <p:nvPr/>
        </p:nvSpPr>
        <p:spPr>
          <a:xfrm>
            <a:off x="8528151" y="4946904"/>
            <a:ext cx="2922879" cy="297180"/>
          </a:xfrm>
          <a:prstGeom prst="rect">
            <a:avLst/>
          </a:prstGeom>
          <a:noFill/>
        </p:spPr>
        <p:txBody>
          <a:bodyPr wrap="square" lIns="0" rIns="0" tIns="0" bIns="0" anchor="t">
            <a:spAutoFit/>
          </a:bodyPr>
          <a:lstStyle/>
          <a:p>
            <a:pPr algn="l">
              <a:lnSpc>
                <a:spcPct val="105000"/>
              </a:lnSpc>
              <a:spcBef>
                <a:spcPts val="0"/>
              </a:spcBef>
              <a:spcAft>
                <a:spcPts val="0"/>
              </a:spcAft>
            </a:pPr>
            <a:r>
              <a:rPr sz="790" b="0" i="0">
                <a:solidFill>
                  <a:srgbClr val="475569"/>
                </a:solidFill>
                <a:latin typeface="Segoe UI"/>
              </a:rPr>
              <a:t>npx tsc --noEmit — passed in this inspection.</a:t>
            </a:r>
          </a:p>
        </p:txBody>
      </p:sp>
      <p:cxnSp>
        <p:nvCxnSpPr>
          <p:cNvPr id="72" name="Connector 71"/>
          <p:cNvCxnSpPr/>
          <p:nvPr/>
        </p:nvCxnSpPr>
        <p:spPr>
          <a:xfrm>
            <a:off x="6361023" y="5234940"/>
            <a:ext cx="5099152" cy="0"/>
          </a:xfrm>
          <a:prstGeom prst="line">
            <a:avLst/>
          </a:prstGeom>
          <a:ln w="8890">
            <a:solidFill>
              <a:srgbClr val="F1F5F9"/>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379311" y="5257800"/>
            <a:ext cx="2048256" cy="297180"/>
          </a:xfrm>
          <a:prstGeom prst="rect">
            <a:avLst/>
          </a:prstGeom>
          <a:noFill/>
        </p:spPr>
        <p:txBody>
          <a:bodyPr wrap="square" lIns="0" rIns="0" tIns="0" bIns="0" anchor="t">
            <a:spAutoFit/>
          </a:bodyPr>
          <a:lstStyle/>
          <a:p>
            <a:pPr algn="l">
              <a:lnSpc>
                <a:spcPct val="105000"/>
              </a:lnSpc>
              <a:spcBef>
                <a:spcPts val="0"/>
              </a:spcBef>
              <a:spcAft>
                <a:spcPts val="0"/>
              </a:spcAft>
            </a:pPr>
            <a:r>
              <a:rPr sz="810" b="1" i="0">
                <a:solidFill>
                  <a:srgbClr val="0F172A"/>
                </a:solidFill>
                <a:latin typeface="Segoe UI"/>
              </a:rPr>
              <a:t>Production build</a:t>
            </a:r>
          </a:p>
        </p:txBody>
      </p:sp>
      <p:sp>
        <p:nvSpPr>
          <p:cNvPr id="74" name="TextBox 73"/>
          <p:cNvSpPr txBox="1"/>
          <p:nvPr/>
        </p:nvSpPr>
        <p:spPr>
          <a:xfrm>
            <a:off x="8528151" y="5257800"/>
            <a:ext cx="2922879" cy="297180"/>
          </a:xfrm>
          <a:prstGeom prst="rect">
            <a:avLst/>
          </a:prstGeom>
          <a:noFill/>
        </p:spPr>
        <p:txBody>
          <a:bodyPr wrap="square" lIns="0" rIns="0" tIns="0" bIns="0" anchor="t">
            <a:spAutoFit/>
          </a:bodyPr>
          <a:lstStyle/>
          <a:p>
            <a:pPr algn="l">
              <a:lnSpc>
                <a:spcPct val="105000"/>
              </a:lnSpc>
              <a:spcBef>
                <a:spcPts val="0"/>
              </a:spcBef>
              <a:spcAft>
                <a:spcPts val="0"/>
              </a:spcAft>
            </a:pPr>
            <a:r>
              <a:rPr sz="790" b="0" i="0">
                <a:solidFill>
                  <a:srgbClr val="475569"/>
                </a:solidFill>
                <a:latin typeface="Segoe UI"/>
              </a:rPr>
              <a:t>npm run build was blocked here by the Google Fonts network fetch.</a:t>
            </a:r>
          </a:p>
        </p:txBody>
      </p:sp>
      <p:sp>
        <p:nvSpPr>
          <p:cNvPr id="75" name="Rounded Rectangle 74"/>
          <p:cNvSpPr/>
          <p:nvPr/>
        </p:nvSpPr>
        <p:spPr>
          <a:xfrm>
            <a:off x="566928" y="5852160"/>
            <a:ext cx="11057839" cy="438912"/>
          </a:xfrm>
          <a:prstGeom prst="roundRect">
            <a:avLst>
              <a:gd name="adj" fmla="val 6000"/>
            </a:avLst>
          </a:prstGeom>
          <a:solidFill>
            <a:srgbClr val="DBEAFE"/>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TextBox 75"/>
          <p:cNvSpPr txBox="1"/>
          <p:nvPr/>
        </p:nvSpPr>
        <p:spPr>
          <a:xfrm>
            <a:off x="822960" y="5998464"/>
            <a:ext cx="10545775" cy="146303"/>
          </a:xfrm>
          <a:prstGeom prst="rect">
            <a:avLst/>
          </a:prstGeom>
          <a:noFill/>
        </p:spPr>
        <p:txBody>
          <a:bodyPr wrap="square" lIns="0" rIns="0" tIns="0" bIns="0" anchor="ctr">
            <a:spAutoFit/>
          </a:bodyPr>
          <a:lstStyle/>
          <a:p>
            <a:pPr algn="l">
              <a:lnSpc>
                <a:spcPct val="120000"/>
              </a:lnSpc>
            </a:pPr>
            <a:r>
              <a:rPr sz="910" b="1" i="0">
                <a:solidFill>
                  <a:srgbClr val="1E3A8A"/>
                </a:solidFill>
                <a:latin typeface="Segoe UI"/>
              </a:rPr>
              <a:t>Shared handoff:  </a:t>
            </a:r>
            <a:r>
              <a:rPr sz="910" b="0" i="0">
                <a:solidFill>
                  <a:srgbClr val="334155"/>
                </a:solidFill>
                <a:latin typeface="Segoe UI"/>
              </a:rPr>
              <a:t>each member presents only their own card; Bodman leads slide 12.</a:t>
            </a:r>
          </a:p>
        </p:txBody>
      </p:sp>
      <p:cxnSp>
        <p:nvCxnSpPr>
          <p:cNvPr id="77" name="Connector 76"/>
          <p:cNvCxnSpPr/>
          <p:nvPr/>
        </p:nvCxnSpPr>
        <p:spPr>
          <a:xfrm>
            <a:off x="566928" y="6382512"/>
            <a:ext cx="11057839"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66928" y="6473952"/>
            <a:ext cx="9777679" cy="219456"/>
          </a:xfrm>
          <a:prstGeom prst="rect">
            <a:avLst/>
          </a:prstGeom>
          <a:noFill/>
        </p:spPr>
        <p:txBody>
          <a:bodyPr wrap="square" lIns="0" rIns="0" tIns="0" bIns="0" anchor="t">
            <a:spAutoFit/>
          </a:bodyPr>
          <a:lstStyle/>
          <a:p>
            <a:pPr algn="l">
              <a:lnSpc>
                <a:spcPct val="118000"/>
              </a:lnSpc>
              <a:spcBef>
                <a:spcPts val="0"/>
              </a:spcBef>
              <a:spcAft>
                <a:spcPts val="0"/>
              </a:spcAft>
            </a:pPr>
            <a:r>
              <a:rPr sz="880" b="0" i="0">
                <a:solidFill>
                  <a:srgbClr val="94A3B8"/>
                </a:solidFill>
                <a:latin typeface="Segoe UI"/>
              </a:rPr>
              <a:t>Shared handoff · each member presents their own technology row</a:t>
            </a:r>
          </a:p>
        </p:txBody>
      </p:sp>
      <p:sp>
        <p:nvSpPr>
          <p:cNvPr id="79" name="TextBox 78"/>
          <p:cNvSpPr txBox="1"/>
          <p:nvPr/>
        </p:nvSpPr>
        <p:spPr>
          <a:xfrm>
            <a:off x="10436047" y="6473952"/>
            <a:ext cx="1188720" cy="219456"/>
          </a:xfrm>
          <a:prstGeom prst="rect">
            <a:avLst/>
          </a:prstGeom>
          <a:noFill/>
        </p:spPr>
        <p:txBody>
          <a:bodyPr wrap="square" lIns="0" rIns="0" tIns="0" bIns="0" anchor="t">
            <a:spAutoFit/>
          </a:bodyPr>
          <a:lstStyle/>
          <a:p>
            <a:pPr algn="r">
              <a:lnSpc>
                <a:spcPct val="118000"/>
              </a:lnSpc>
              <a:spcBef>
                <a:spcPts val="0"/>
              </a:spcBef>
              <a:spcAft>
                <a:spcPts val="0"/>
              </a:spcAft>
            </a:pPr>
            <a:r>
              <a:rPr sz="950" b="1" i="0">
                <a:solidFill>
                  <a:srgbClr val="94A3B8"/>
                </a:solidFill>
                <a:latin typeface="Segoe UI"/>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420624"/>
            <a:ext cx="50292" cy="173736"/>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384048"/>
            <a:ext cx="5571439" cy="237744"/>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20">
                <a:solidFill>
                  <a:srgbClr val="2563EB"/>
                </a:solidFill>
                <a:latin typeface="Segoe UI"/>
              </a:rPr>
              <a:t>TESTING, QUALITY ASSURANCE &amp; DEPLOYMENT</a:t>
            </a:r>
          </a:p>
        </p:txBody>
      </p:sp>
      <p:sp>
        <p:nvSpPr>
          <p:cNvPr id="5" name="TextBox 4"/>
          <p:cNvSpPr txBox="1"/>
          <p:nvPr/>
        </p:nvSpPr>
        <p:spPr>
          <a:xfrm>
            <a:off x="566928" y="658368"/>
            <a:ext cx="11057839" cy="420624"/>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0F172A"/>
                </a:solidFill>
                <a:latin typeface="Segoe UI Semibold"/>
              </a:rPr>
              <a:t>Evidence, deployment and honest caveats</a:t>
            </a:r>
          </a:p>
        </p:txBody>
      </p:sp>
      <p:sp>
        <p:nvSpPr>
          <p:cNvPr id="6" name="TextBox 5"/>
          <p:cNvSpPr txBox="1"/>
          <p:nvPr/>
        </p:nvSpPr>
        <p:spPr>
          <a:xfrm>
            <a:off x="566928" y="1207008"/>
            <a:ext cx="10692079" cy="274320"/>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4748B"/>
                </a:solidFill>
                <a:latin typeface="Segoe UI"/>
              </a:rPr>
              <a:t>What we actually ran, what we could not run, and the deployment configuration that runs the site today.</a:t>
            </a:r>
          </a:p>
        </p:txBody>
      </p:sp>
      <p:sp>
        <p:nvSpPr>
          <p:cNvPr id="7" name="Rounded Rectangle 6"/>
          <p:cNvSpPr/>
          <p:nvPr/>
        </p:nvSpPr>
        <p:spPr>
          <a:xfrm>
            <a:off x="6321247" y="365760"/>
            <a:ext cx="5303520" cy="246888"/>
          </a:xfrm>
          <a:prstGeom prst="roundRect">
            <a:avLst>
              <a:gd name="adj" fmla="val 50000"/>
            </a:avLst>
          </a:prstGeom>
          <a:solidFill>
            <a:srgbClr val="FFFFFF"/>
          </a:solidFill>
          <a:ln w="1016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lstStyle/>
          <a:p>
            <a:pPr algn="l"/>
            <a:r>
              <a:rPr sz="750" b="1" i="0" cap="all" spc="60">
                <a:solidFill>
                  <a:srgbClr val="64748B"/>
                </a:solidFill>
                <a:latin typeface="Segoe UI"/>
              </a:rPr>
              <a:t>PRESENTER  </a:t>
            </a:r>
            <a:r>
              <a:rPr sz="830" b="1" i="0">
                <a:solidFill>
                  <a:srgbClr val="0F172A"/>
                </a:solidFill>
                <a:latin typeface="Segoe UI"/>
              </a:rPr>
              <a:t>Bodman Ebuka Precious</a:t>
            </a:r>
            <a:r>
              <a:rPr sz="790" b="1" i="0">
                <a:solidFill>
                  <a:srgbClr val="E11D48"/>
                </a:solidFill>
                <a:latin typeface="Segoe UI"/>
              </a:rPr>
              <a:t>  ·  Deployment · Testing &amp; QA</a:t>
            </a:r>
          </a:p>
        </p:txBody>
      </p:sp>
      <p:sp>
        <p:nvSpPr>
          <p:cNvPr id="8" name="Rounded Rectangle 7"/>
          <p:cNvSpPr/>
          <p:nvPr/>
        </p:nvSpPr>
        <p:spPr>
          <a:xfrm>
            <a:off x="566928" y="1879092"/>
            <a:ext cx="41148" cy="146304"/>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94944" y="1847088"/>
            <a:ext cx="5495544" cy="219456"/>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00">
                <a:solidFill>
                  <a:srgbClr val="1E3A8A"/>
                </a:solidFill>
                <a:latin typeface="Segoe UI"/>
              </a:rPr>
              <a:t>WHAT WE ACTUALLY RAN</a:t>
            </a:r>
          </a:p>
        </p:txBody>
      </p:sp>
      <p:sp>
        <p:nvSpPr>
          <p:cNvPr id="10" name="Rounded Rectangle 9"/>
          <p:cNvSpPr/>
          <p:nvPr/>
        </p:nvSpPr>
        <p:spPr>
          <a:xfrm>
            <a:off x="566928" y="2157984"/>
            <a:ext cx="5623560" cy="502920"/>
          </a:xfrm>
          <a:prstGeom prst="roundRect">
            <a:avLst>
              <a:gd name="adj" fmla="val 7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731520" y="2267712"/>
            <a:ext cx="27432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i="0">
                <a:solidFill>
                  <a:srgbClr val="10B981"/>
                </a:solidFill>
                <a:latin typeface="Segoe UI"/>
              </a:rPr>
              <a:t>✓</a:t>
            </a:r>
          </a:p>
        </p:txBody>
      </p:sp>
      <p:sp>
        <p:nvSpPr>
          <p:cNvPr id="12" name="TextBox 11"/>
          <p:cNvSpPr txBox="1"/>
          <p:nvPr/>
        </p:nvSpPr>
        <p:spPr>
          <a:xfrm>
            <a:off x="1115568" y="2231136"/>
            <a:ext cx="2148840"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a:solidFill>
                  <a:srgbClr val="0F172A"/>
                </a:solidFill>
                <a:latin typeface="Segoe UI"/>
              </a:rPr>
              <a:t>npx tsc --noEmit</a:t>
            </a:r>
          </a:p>
        </p:txBody>
      </p:sp>
      <p:sp>
        <p:nvSpPr>
          <p:cNvPr id="13" name="TextBox 12"/>
          <p:cNvSpPr txBox="1"/>
          <p:nvPr/>
        </p:nvSpPr>
        <p:spPr>
          <a:xfrm>
            <a:off x="1115568" y="2423160"/>
            <a:ext cx="4892040" cy="210312"/>
          </a:xfrm>
          <a:prstGeom prst="rect">
            <a:avLst/>
          </a:prstGeom>
          <a:noFill/>
        </p:spPr>
        <p:txBody>
          <a:bodyPr wrap="square" lIns="0" rIns="0" tIns="0" bIns="0" anchor="t">
            <a:spAutoFit/>
          </a:bodyPr>
          <a:lstStyle/>
          <a:p>
            <a:pPr algn="l">
              <a:lnSpc>
                <a:spcPct val="112000"/>
              </a:lnSpc>
              <a:spcBef>
                <a:spcPts val="0"/>
              </a:spcBef>
              <a:spcAft>
                <a:spcPts val="0"/>
              </a:spcAft>
            </a:pPr>
            <a:r>
              <a:rPr sz="850" b="0" i="0">
                <a:solidFill>
                  <a:srgbClr val="475569"/>
                </a:solidFill>
                <a:latin typeface="Segoe UI"/>
              </a:rPr>
              <a:t>Pass in this inspection: strict TypeScript check, no errors.</a:t>
            </a:r>
          </a:p>
        </p:txBody>
      </p:sp>
      <p:sp>
        <p:nvSpPr>
          <p:cNvPr id="14" name="Rounded Rectangle 13"/>
          <p:cNvSpPr/>
          <p:nvPr/>
        </p:nvSpPr>
        <p:spPr>
          <a:xfrm>
            <a:off x="566928" y="2724912"/>
            <a:ext cx="5623560" cy="502920"/>
          </a:xfrm>
          <a:prstGeom prst="roundRect">
            <a:avLst>
              <a:gd name="adj" fmla="val 7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731520" y="2834640"/>
            <a:ext cx="27432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i="0">
                <a:solidFill>
                  <a:srgbClr val="10B981"/>
                </a:solidFill>
                <a:latin typeface="Segoe UI"/>
              </a:rPr>
              <a:t>✓</a:t>
            </a:r>
          </a:p>
        </p:txBody>
      </p:sp>
      <p:sp>
        <p:nvSpPr>
          <p:cNvPr id="16" name="TextBox 15"/>
          <p:cNvSpPr txBox="1"/>
          <p:nvPr/>
        </p:nvSpPr>
        <p:spPr>
          <a:xfrm>
            <a:off x="1115568" y="2798064"/>
            <a:ext cx="2148840"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a:solidFill>
                  <a:srgbClr val="0F172A"/>
                </a:solidFill>
                <a:latin typeface="Segoe UI"/>
              </a:rPr>
              <a:t>npm run lint</a:t>
            </a:r>
          </a:p>
        </p:txBody>
      </p:sp>
      <p:sp>
        <p:nvSpPr>
          <p:cNvPr id="17" name="TextBox 16"/>
          <p:cNvSpPr txBox="1"/>
          <p:nvPr/>
        </p:nvSpPr>
        <p:spPr>
          <a:xfrm>
            <a:off x="1115568" y="2990088"/>
            <a:ext cx="4892040" cy="210312"/>
          </a:xfrm>
          <a:prstGeom prst="rect">
            <a:avLst/>
          </a:prstGeom>
          <a:noFill/>
        </p:spPr>
        <p:txBody>
          <a:bodyPr wrap="square" lIns="0" rIns="0" tIns="0" bIns="0" anchor="t">
            <a:spAutoFit/>
          </a:bodyPr>
          <a:lstStyle/>
          <a:p>
            <a:pPr algn="l">
              <a:lnSpc>
                <a:spcPct val="112000"/>
              </a:lnSpc>
              <a:spcBef>
                <a:spcPts val="0"/>
              </a:spcBef>
              <a:spcAft>
                <a:spcPts val="0"/>
              </a:spcAft>
            </a:pPr>
            <a:r>
              <a:rPr sz="850" b="0" i="0">
                <a:solidFill>
                  <a:srgbClr val="475569"/>
                </a:solidFill>
                <a:latin typeface="Segoe UI"/>
              </a:rPr>
              <a:t>Pass in this inspection: ESLint 9 + Next.js core-web-vitals / TypeScript rules.</a:t>
            </a:r>
          </a:p>
        </p:txBody>
      </p:sp>
      <p:sp>
        <p:nvSpPr>
          <p:cNvPr id="18" name="Rounded Rectangle 17"/>
          <p:cNvSpPr/>
          <p:nvPr/>
        </p:nvSpPr>
        <p:spPr>
          <a:xfrm>
            <a:off x="566928" y="3291840"/>
            <a:ext cx="5623560" cy="502920"/>
          </a:xfrm>
          <a:prstGeom prst="roundRect">
            <a:avLst>
              <a:gd name="adj" fmla="val 7000"/>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731520" y="3401568"/>
            <a:ext cx="27432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i="0">
                <a:solidFill>
                  <a:srgbClr val="F59E0B"/>
                </a:solidFill>
                <a:latin typeface="Segoe UI"/>
              </a:rPr>
              <a:t>!</a:t>
            </a:r>
          </a:p>
        </p:txBody>
      </p:sp>
      <p:sp>
        <p:nvSpPr>
          <p:cNvPr id="20" name="TextBox 19"/>
          <p:cNvSpPr txBox="1"/>
          <p:nvPr/>
        </p:nvSpPr>
        <p:spPr>
          <a:xfrm>
            <a:off x="1115568" y="3364992"/>
            <a:ext cx="2148840"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a:solidFill>
                  <a:srgbClr val="0F172A"/>
                </a:solidFill>
                <a:latin typeface="Segoe UI"/>
              </a:rPr>
              <a:t>npm run build</a:t>
            </a:r>
          </a:p>
        </p:txBody>
      </p:sp>
      <p:sp>
        <p:nvSpPr>
          <p:cNvPr id="21" name="TextBox 20"/>
          <p:cNvSpPr txBox="1"/>
          <p:nvPr/>
        </p:nvSpPr>
        <p:spPr>
          <a:xfrm>
            <a:off x="1115568" y="3557016"/>
            <a:ext cx="4892040" cy="210312"/>
          </a:xfrm>
          <a:prstGeom prst="rect">
            <a:avLst/>
          </a:prstGeom>
          <a:noFill/>
        </p:spPr>
        <p:txBody>
          <a:bodyPr wrap="square" lIns="0" rIns="0" tIns="0" bIns="0" anchor="t">
            <a:spAutoFit/>
          </a:bodyPr>
          <a:lstStyle/>
          <a:p>
            <a:pPr algn="l">
              <a:lnSpc>
                <a:spcPct val="112000"/>
              </a:lnSpc>
              <a:spcBef>
                <a:spcPts val="0"/>
              </a:spcBef>
              <a:spcAft>
                <a:spcPts val="0"/>
              </a:spcAft>
            </a:pPr>
            <a:r>
              <a:rPr sz="850" b="0" i="0">
                <a:solidFill>
                  <a:srgbClr val="475569"/>
                </a:solidFill>
                <a:latin typeface="Segoe UI"/>
              </a:rPr>
              <a:t>Attempted; blocked here when next/font could not fetch Google Fonts (network restriction).</a:t>
            </a:r>
          </a:p>
        </p:txBody>
      </p:sp>
      <p:sp>
        <p:nvSpPr>
          <p:cNvPr id="22" name="Rounded Rectangle 21"/>
          <p:cNvSpPr/>
          <p:nvPr/>
        </p:nvSpPr>
        <p:spPr>
          <a:xfrm>
            <a:off x="566928" y="3858768"/>
            <a:ext cx="5623560" cy="502920"/>
          </a:xfrm>
          <a:prstGeom prst="roundRect">
            <a:avLst>
              <a:gd name="adj" fmla="val 7000"/>
            </a:avLst>
          </a:prstGeom>
          <a:solidFill>
            <a:srgbClr val="FFE4E6"/>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731520" y="3968496"/>
            <a:ext cx="27432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i="0">
                <a:solidFill>
                  <a:srgbClr val="E11D48"/>
                </a:solidFill>
                <a:latin typeface="Segoe UI"/>
              </a:rPr>
              <a:t>!</a:t>
            </a:r>
          </a:p>
        </p:txBody>
      </p:sp>
      <p:sp>
        <p:nvSpPr>
          <p:cNvPr id="24" name="TextBox 23"/>
          <p:cNvSpPr txBox="1"/>
          <p:nvPr/>
        </p:nvSpPr>
        <p:spPr>
          <a:xfrm>
            <a:off x="1115568" y="3931920"/>
            <a:ext cx="2148840"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a:solidFill>
                  <a:srgbClr val="0F172A"/>
                </a:solidFill>
                <a:latin typeface="Segoe UI"/>
              </a:rPr>
              <a:t>Automated tests</a:t>
            </a:r>
          </a:p>
        </p:txBody>
      </p:sp>
      <p:sp>
        <p:nvSpPr>
          <p:cNvPr id="25" name="TextBox 24"/>
          <p:cNvSpPr txBox="1"/>
          <p:nvPr/>
        </p:nvSpPr>
        <p:spPr>
          <a:xfrm>
            <a:off x="1115568" y="4123944"/>
            <a:ext cx="4892040" cy="210312"/>
          </a:xfrm>
          <a:prstGeom prst="rect">
            <a:avLst/>
          </a:prstGeom>
          <a:noFill/>
        </p:spPr>
        <p:txBody>
          <a:bodyPr wrap="square" lIns="0" rIns="0" tIns="0" bIns="0" anchor="t">
            <a:spAutoFit/>
          </a:bodyPr>
          <a:lstStyle/>
          <a:p>
            <a:pPr algn="l">
              <a:lnSpc>
                <a:spcPct val="112000"/>
              </a:lnSpc>
              <a:spcBef>
                <a:spcPts val="0"/>
              </a:spcBef>
              <a:spcAft>
                <a:spcPts val="0"/>
              </a:spcAft>
            </a:pPr>
            <a:r>
              <a:rPr sz="850" b="0" i="0">
                <a:solidFill>
                  <a:srgbClr val="475569"/>
                </a:solidFill>
                <a:latin typeface="Segoe UI"/>
              </a:rPr>
              <a:t>No unit, integration or end-to-end test files or runner config are committed.</a:t>
            </a:r>
          </a:p>
        </p:txBody>
      </p:sp>
      <p:sp>
        <p:nvSpPr>
          <p:cNvPr id="26" name="Rounded Rectangle 25"/>
          <p:cNvSpPr/>
          <p:nvPr/>
        </p:nvSpPr>
        <p:spPr>
          <a:xfrm>
            <a:off x="566928" y="4425696"/>
            <a:ext cx="5623560" cy="502920"/>
          </a:xfrm>
          <a:prstGeom prst="roundRect">
            <a:avLst>
              <a:gd name="adj" fmla="val 7000"/>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731520" y="4535424"/>
            <a:ext cx="27432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i="0">
                <a:solidFill>
                  <a:srgbClr val="F59E0B"/>
                </a:solidFill>
                <a:latin typeface="Segoe UI"/>
              </a:rPr>
              <a:t>!</a:t>
            </a:r>
          </a:p>
        </p:txBody>
      </p:sp>
      <p:sp>
        <p:nvSpPr>
          <p:cNvPr id="28" name="TextBox 27"/>
          <p:cNvSpPr txBox="1"/>
          <p:nvPr/>
        </p:nvSpPr>
        <p:spPr>
          <a:xfrm>
            <a:off x="1115568" y="4498848"/>
            <a:ext cx="2148840"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a:solidFill>
                  <a:srgbClr val="0F172A"/>
                </a:solidFill>
                <a:latin typeface="Segoe UI"/>
              </a:rPr>
              <a:t>Continuous integration</a:t>
            </a:r>
          </a:p>
        </p:txBody>
      </p:sp>
      <p:sp>
        <p:nvSpPr>
          <p:cNvPr id="29" name="TextBox 28"/>
          <p:cNvSpPr txBox="1"/>
          <p:nvPr/>
        </p:nvSpPr>
        <p:spPr>
          <a:xfrm>
            <a:off x="1115568" y="4690872"/>
            <a:ext cx="4892040" cy="210312"/>
          </a:xfrm>
          <a:prstGeom prst="rect">
            <a:avLst/>
          </a:prstGeom>
          <a:noFill/>
        </p:spPr>
        <p:txBody>
          <a:bodyPr wrap="square" lIns="0" rIns="0" tIns="0" bIns="0" anchor="t">
            <a:spAutoFit/>
          </a:bodyPr>
          <a:lstStyle/>
          <a:p>
            <a:pPr algn="l">
              <a:lnSpc>
                <a:spcPct val="112000"/>
              </a:lnSpc>
              <a:spcBef>
                <a:spcPts val="0"/>
              </a:spcBef>
              <a:spcAft>
                <a:spcPts val="0"/>
              </a:spcAft>
            </a:pPr>
            <a:r>
              <a:rPr sz="850" b="0" i="0">
                <a:solidFill>
                  <a:srgbClr val="475569"/>
                </a:solidFill>
                <a:latin typeface="Segoe UI"/>
              </a:rPr>
              <a:t>No GitHub Actions or other CI workflow is present in the repository.</a:t>
            </a:r>
          </a:p>
        </p:txBody>
      </p:sp>
      <p:sp>
        <p:nvSpPr>
          <p:cNvPr id="30" name="Rounded Rectangle 29"/>
          <p:cNvSpPr/>
          <p:nvPr/>
        </p:nvSpPr>
        <p:spPr>
          <a:xfrm>
            <a:off x="566928" y="5038344"/>
            <a:ext cx="5623560" cy="576072"/>
          </a:xfrm>
          <a:prstGeom prst="roundRect">
            <a:avLst>
              <a:gd name="adj" fmla="val 6000"/>
            </a:avLst>
          </a:prstGeom>
          <a:solidFill>
            <a:srgbClr val="FFE4E6"/>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22960" y="5184648"/>
            <a:ext cx="5111496" cy="283464"/>
          </a:xfrm>
          <a:prstGeom prst="rect">
            <a:avLst/>
          </a:prstGeom>
          <a:noFill/>
        </p:spPr>
        <p:txBody>
          <a:bodyPr wrap="square" lIns="0" rIns="0" tIns="0" bIns="0" anchor="ctr">
            <a:spAutoFit/>
          </a:bodyPr>
          <a:lstStyle/>
          <a:p>
            <a:pPr algn="l">
              <a:lnSpc>
                <a:spcPct val="120000"/>
              </a:lnSpc>
            </a:pPr>
            <a:r>
              <a:rPr sz="930" b="1" i="0">
                <a:solidFill>
                  <a:srgbClr val="E11D48"/>
                </a:solidFill>
                <a:latin typeface="Segoe UI"/>
              </a:rPr>
              <a:t>Testing status:  </a:t>
            </a:r>
            <a:r>
              <a:rPr sz="930" b="0" i="0">
                <a:solidFill>
                  <a:srgbClr val="334155"/>
                </a:solidFill>
                <a:latin typeface="Segoe UI"/>
              </a:rPr>
              <a:t>The only checks completed for this deck were TypeScript and ESLint. We do not claim runtime or role-by-role tests. The production build could not finish in this network-restricted sandbox.</a:t>
            </a:r>
          </a:p>
        </p:txBody>
      </p:sp>
      <p:sp>
        <p:nvSpPr>
          <p:cNvPr id="32" name="Rounded Rectangle 31"/>
          <p:cNvSpPr/>
          <p:nvPr/>
        </p:nvSpPr>
        <p:spPr>
          <a:xfrm>
            <a:off x="6464808" y="1879092"/>
            <a:ext cx="41148" cy="146304"/>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592824" y="1847088"/>
            <a:ext cx="5031943" cy="219456"/>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00">
                <a:solidFill>
                  <a:srgbClr val="1E3A8A"/>
                </a:solidFill>
                <a:latin typeface="Segoe UI"/>
              </a:rPr>
              <a:t>DEPLOYMENT CONFIGURATION</a:t>
            </a:r>
          </a:p>
        </p:txBody>
      </p:sp>
      <p:sp>
        <p:nvSpPr>
          <p:cNvPr id="34" name="Rounded Rectangle 33"/>
          <p:cNvSpPr/>
          <p:nvPr/>
        </p:nvSpPr>
        <p:spPr>
          <a:xfrm>
            <a:off x="6464808" y="2157984"/>
            <a:ext cx="5159959" cy="566928"/>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6464808" y="2249424"/>
            <a:ext cx="41148" cy="384048"/>
          </a:xfrm>
          <a:prstGeom prst="roundRect">
            <a:avLst>
              <a:gd name="adj" fmla="val 50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665976" y="2249424"/>
            <a:ext cx="4830775" cy="237744"/>
          </a:xfrm>
          <a:prstGeom prst="rect">
            <a:avLst/>
          </a:prstGeom>
          <a:noFill/>
        </p:spPr>
        <p:txBody>
          <a:bodyPr wrap="square" lIns="0" rIns="0" tIns="0" bIns="0" anchor="t">
            <a:spAutoFit/>
          </a:bodyPr>
          <a:lstStyle/>
          <a:p>
            <a:pPr algn="l">
              <a:lnSpc>
                <a:spcPct val="118000"/>
              </a:lnSpc>
              <a:spcBef>
                <a:spcPts val="0"/>
              </a:spcBef>
              <a:spcAft>
                <a:spcPts val="0"/>
              </a:spcAft>
            </a:pPr>
            <a:r>
              <a:rPr sz="1100" b="1" i="0">
                <a:solidFill>
                  <a:srgbClr val="0F172A"/>
                </a:solidFill>
                <a:latin typeface="Segoe UI"/>
              </a:rPr>
              <a:t>Vercel — zero configuration</a:t>
            </a:r>
          </a:p>
        </p:txBody>
      </p:sp>
      <p:sp>
        <p:nvSpPr>
          <p:cNvPr id="37" name="TextBox 36"/>
          <p:cNvSpPr txBox="1"/>
          <p:nvPr/>
        </p:nvSpPr>
        <p:spPr>
          <a:xfrm>
            <a:off x="6665976" y="2487168"/>
            <a:ext cx="4830775" cy="182880"/>
          </a:xfrm>
          <a:prstGeom prst="rect">
            <a:avLst/>
          </a:prstGeom>
          <a:noFill/>
        </p:spPr>
        <p:txBody>
          <a:bodyPr wrap="square" lIns="0" rIns="0" tIns="0" bIns="0" anchor="t">
            <a:spAutoFit/>
          </a:bodyPr>
          <a:lstStyle/>
          <a:p>
            <a:pPr algn="l">
              <a:lnSpc>
                <a:spcPct val="116000"/>
              </a:lnSpc>
              <a:spcBef>
                <a:spcPts val="0"/>
              </a:spcBef>
              <a:spcAft>
                <a:spcPts val="0"/>
              </a:spcAft>
            </a:pPr>
            <a:r>
              <a:rPr sz="930" b="0" i="0">
                <a:solidFill>
                  <a:srgbClr val="475569"/>
                </a:solidFill>
                <a:latin typeface="Segoe UI"/>
              </a:rPr>
              <a:t>Vercel detects Next.js, runs next build and publishes /api routes as Node functions.</a:t>
            </a:r>
          </a:p>
        </p:txBody>
      </p:sp>
      <p:sp>
        <p:nvSpPr>
          <p:cNvPr id="38" name="Rounded Rectangle 37"/>
          <p:cNvSpPr/>
          <p:nvPr/>
        </p:nvSpPr>
        <p:spPr>
          <a:xfrm>
            <a:off x="6464808" y="2798064"/>
            <a:ext cx="5159959" cy="566928"/>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6464808" y="2889504"/>
            <a:ext cx="41148" cy="38404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665976" y="2889504"/>
            <a:ext cx="4830775" cy="237744"/>
          </a:xfrm>
          <a:prstGeom prst="rect">
            <a:avLst/>
          </a:prstGeom>
          <a:noFill/>
        </p:spPr>
        <p:txBody>
          <a:bodyPr wrap="square" lIns="0" rIns="0" tIns="0" bIns="0" anchor="t">
            <a:spAutoFit/>
          </a:bodyPr>
          <a:lstStyle/>
          <a:p>
            <a:pPr algn="l">
              <a:lnSpc>
                <a:spcPct val="118000"/>
              </a:lnSpc>
              <a:spcBef>
                <a:spcPts val="0"/>
              </a:spcBef>
              <a:spcAft>
                <a:spcPts val="0"/>
              </a:spcAft>
            </a:pPr>
            <a:r>
              <a:rPr sz="1100" b="1" i="0">
                <a:solidFill>
                  <a:srgbClr val="0F172A"/>
                </a:solidFill>
                <a:latin typeface="Segoe UI"/>
              </a:rPr>
              <a:t>Runtime pinning</a:t>
            </a:r>
          </a:p>
        </p:txBody>
      </p:sp>
      <p:sp>
        <p:nvSpPr>
          <p:cNvPr id="41" name="TextBox 40"/>
          <p:cNvSpPr txBox="1"/>
          <p:nvPr/>
        </p:nvSpPr>
        <p:spPr>
          <a:xfrm>
            <a:off x="6665976" y="3127248"/>
            <a:ext cx="4830775" cy="182880"/>
          </a:xfrm>
          <a:prstGeom prst="rect">
            <a:avLst/>
          </a:prstGeom>
          <a:noFill/>
        </p:spPr>
        <p:txBody>
          <a:bodyPr wrap="square" lIns="0" rIns="0" tIns="0" bIns="0" anchor="t">
            <a:spAutoFit/>
          </a:bodyPr>
          <a:lstStyle/>
          <a:p>
            <a:pPr algn="l">
              <a:lnSpc>
                <a:spcPct val="116000"/>
              </a:lnSpc>
              <a:spcBef>
                <a:spcPts val="0"/>
              </a:spcBef>
              <a:spcAft>
                <a:spcPts val="0"/>
              </a:spcAft>
            </a:pPr>
            <a:r>
              <a:rPr sz="930" b="0" i="0">
                <a:solidFill>
                  <a:srgbClr val="475569"/>
                </a:solidFill>
                <a:latin typeface="Segoe UI"/>
              </a:rPr>
              <a:t>runtime = nodejs for route handlers using bcryptjs and jsonwebtoken.</a:t>
            </a:r>
          </a:p>
        </p:txBody>
      </p:sp>
      <p:sp>
        <p:nvSpPr>
          <p:cNvPr id="42" name="Rounded Rectangle 41"/>
          <p:cNvSpPr/>
          <p:nvPr/>
        </p:nvSpPr>
        <p:spPr>
          <a:xfrm>
            <a:off x="6464808" y="3438144"/>
            <a:ext cx="5159959" cy="777240"/>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ounded Rectangle 42"/>
          <p:cNvSpPr/>
          <p:nvPr/>
        </p:nvSpPr>
        <p:spPr>
          <a:xfrm>
            <a:off x="6464808" y="3529584"/>
            <a:ext cx="41148" cy="594359"/>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665976" y="3529584"/>
            <a:ext cx="4830775" cy="237744"/>
          </a:xfrm>
          <a:prstGeom prst="rect">
            <a:avLst/>
          </a:prstGeom>
          <a:noFill/>
        </p:spPr>
        <p:txBody>
          <a:bodyPr wrap="square" lIns="0" rIns="0" tIns="0" bIns="0" anchor="t">
            <a:spAutoFit/>
          </a:bodyPr>
          <a:lstStyle/>
          <a:p>
            <a:pPr algn="l">
              <a:lnSpc>
                <a:spcPct val="118000"/>
              </a:lnSpc>
              <a:spcBef>
                <a:spcPts val="0"/>
              </a:spcBef>
              <a:spcAft>
                <a:spcPts val="0"/>
              </a:spcAft>
            </a:pPr>
            <a:r>
              <a:rPr sz="1100" b="1" i="0">
                <a:solidFill>
                  <a:srgbClr val="0F172A"/>
                </a:solidFill>
                <a:latin typeface="Segoe UI"/>
              </a:rPr>
              <a:t>Environment variables (3 required)</a:t>
            </a:r>
          </a:p>
        </p:txBody>
      </p:sp>
      <p:sp>
        <p:nvSpPr>
          <p:cNvPr id="45" name="TextBox 44"/>
          <p:cNvSpPr txBox="1"/>
          <p:nvPr/>
        </p:nvSpPr>
        <p:spPr>
          <a:xfrm>
            <a:off x="6665976" y="3767328"/>
            <a:ext cx="4830775" cy="393192"/>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475569"/>
                </a:solidFill>
                <a:latin typeface="Segoe UI"/>
              </a:rPr>
              <a:t>DATABASE_URL — pooled Neon connection string
JWT_SECRET — secret used to sign every token
NEXT_PUBLIC_APP_URL — public base URL of the deployment</a:t>
            </a:r>
          </a:p>
        </p:txBody>
      </p:sp>
      <p:sp>
        <p:nvSpPr>
          <p:cNvPr id="46" name="Rounded Rectangle 45"/>
          <p:cNvSpPr/>
          <p:nvPr/>
        </p:nvSpPr>
        <p:spPr>
          <a:xfrm>
            <a:off x="6464808" y="4224528"/>
            <a:ext cx="5159959" cy="694944"/>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6464808" y="4315968"/>
            <a:ext cx="41148" cy="51206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665976" y="4315968"/>
            <a:ext cx="4830775" cy="237744"/>
          </a:xfrm>
          <a:prstGeom prst="rect">
            <a:avLst/>
          </a:prstGeom>
          <a:noFill/>
        </p:spPr>
        <p:txBody>
          <a:bodyPr wrap="square" lIns="0" rIns="0" tIns="0" bIns="0" anchor="t">
            <a:spAutoFit/>
          </a:bodyPr>
          <a:lstStyle/>
          <a:p>
            <a:pPr algn="l">
              <a:lnSpc>
                <a:spcPct val="118000"/>
              </a:lnSpc>
              <a:spcBef>
                <a:spcPts val="0"/>
              </a:spcBef>
              <a:spcAft>
                <a:spcPts val="0"/>
              </a:spcAft>
            </a:pPr>
            <a:r>
              <a:rPr sz="1100" b="1" i="0">
                <a:solidFill>
                  <a:srgbClr val="0F172A"/>
                </a:solidFill>
                <a:latin typeface="Segoe UI"/>
              </a:rPr>
              <a:t>Operational checks in code</a:t>
            </a:r>
          </a:p>
        </p:txBody>
      </p:sp>
      <p:sp>
        <p:nvSpPr>
          <p:cNvPr id="49" name="TextBox 48"/>
          <p:cNvSpPr txBox="1"/>
          <p:nvPr/>
        </p:nvSpPr>
        <p:spPr>
          <a:xfrm>
            <a:off x="6665976" y="4553712"/>
            <a:ext cx="4830775" cy="310896"/>
          </a:xfrm>
          <a:prstGeom prst="rect">
            <a:avLst/>
          </a:prstGeom>
          <a:noFill/>
        </p:spPr>
        <p:txBody>
          <a:bodyPr wrap="square" lIns="0" rIns="0" tIns="0" bIns="0" anchor="t">
            <a:spAutoFit/>
          </a:bodyPr>
          <a:lstStyle/>
          <a:p>
            <a:pPr algn="l">
              <a:lnSpc>
                <a:spcPct val="116000"/>
              </a:lnSpc>
              <a:spcBef>
                <a:spcPts val="0"/>
              </a:spcBef>
              <a:spcAft>
                <a:spcPts val="0"/>
              </a:spcAft>
            </a:pPr>
            <a:r>
              <a:rPr sz="910" b="0" i="0">
                <a:solidFill>
                  <a:srgbClr val="475569"/>
                </a:solidFill>
                <a:latin typeface="Segoe UI"/>
              </a:rPr>
              <a:t>hasDatabase guard · force-dynamic homepage + /api/tutors · 503 when the DB is missing · no vercel.json needed.</a:t>
            </a:r>
          </a:p>
        </p:txBody>
      </p:sp>
      <p:sp>
        <p:nvSpPr>
          <p:cNvPr id="50" name="Rounded Rectangle 49"/>
          <p:cNvSpPr/>
          <p:nvPr/>
        </p:nvSpPr>
        <p:spPr>
          <a:xfrm>
            <a:off x="6464808" y="4969764"/>
            <a:ext cx="41148" cy="146304"/>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6592824" y="4937760"/>
            <a:ext cx="5031943" cy="219456"/>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00">
                <a:solidFill>
                  <a:srgbClr val="1E3A8A"/>
                </a:solidFill>
                <a:latin typeface="Segoe UI"/>
              </a:rPr>
              <a:t>GENUINE CHALLENGES WE HIT</a:t>
            </a:r>
          </a:p>
        </p:txBody>
      </p:sp>
      <p:sp>
        <p:nvSpPr>
          <p:cNvPr id="52" name="Rounded Rectangle 51"/>
          <p:cNvSpPr/>
          <p:nvPr/>
        </p:nvSpPr>
        <p:spPr>
          <a:xfrm>
            <a:off x="6464808" y="5289804"/>
            <a:ext cx="34747" cy="24384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6702552" y="5248656"/>
            <a:ext cx="4922215" cy="335280"/>
          </a:xfrm>
          <a:prstGeom prst="rect">
            <a:avLst/>
          </a:prstGeom>
          <a:noFill/>
        </p:spPr>
        <p:txBody>
          <a:bodyPr wrap="square" lIns="0" rIns="0" tIns="0" bIns="0" anchor="t">
            <a:spAutoFit/>
          </a:bodyPr>
          <a:lstStyle/>
          <a:p>
            <a:pPr algn="l">
              <a:lnSpc>
                <a:spcPct val="120000"/>
              </a:lnSpc>
            </a:pPr>
            <a:r>
              <a:rPr sz="950" b="1" i="0">
                <a:solidFill>
                  <a:srgbClr val="0F172A"/>
                </a:solidFill>
                <a:latin typeface="Segoe UI"/>
              </a:rPr>
              <a:t>Route protection</a:t>
            </a:r>
            <a:r>
              <a:rPr sz="950" b="0" i="0">
                <a:solidFill>
                  <a:srgbClr val="475569"/>
                </a:solidFill>
                <a:latin typeface="Segoe UI"/>
              </a:rPr>
              <a:t>  the dashboards are guarded client-side; the README states Next.js middleware is still required for production.</a:t>
            </a:r>
          </a:p>
        </p:txBody>
      </p:sp>
      <p:sp>
        <p:nvSpPr>
          <p:cNvPr id="54" name="Rounded Rectangle 53"/>
          <p:cNvSpPr/>
          <p:nvPr/>
        </p:nvSpPr>
        <p:spPr>
          <a:xfrm>
            <a:off x="6464808" y="5670804"/>
            <a:ext cx="34747" cy="24384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6702552" y="5629656"/>
            <a:ext cx="4922215" cy="335280"/>
          </a:xfrm>
          <a:prstGeom prst="rect">
            <a:avLst/>
          </a:prstGeom>
          <a:noFill/>
        </p:spPr>
        <p:txBody>
          <a:bodyPr wrap="square" lIns="0" rIns="0" tIns="0" bIns="0" anchor="t">
            <a:spAutoFit/>
          </a:bodyPr>
          <a:lstStyle/>
          <a:p>
            <a:pPr algn="l">
              <a:lnSpc>
                <a:spcPct val="120000"/>
              </a:lnSpc>
            </a:pPr>
            <a:r>
              <a:rPr sz="950" b="1" i="0">
                <a:solidFill>
                  <a:srgbClr val="0F172A"/>
                </a:solidFill>
                <a:latin typeface="Segoe UI"/>
              </a:rPr>
              <a:t>Cold starts</a:t>
            </a:r>
            <a:r>
              <a:rPr sz="950" b="0" i="0">
                <a:solidFill>
                  <a:srgbClr val="475569"/>
                </a:solidFill>
                <a:latin typeface="Segoe UI"/>
              </a:rPr>
              <a:t>  without DATABASE_URL, auth and chat fall back to an in-memory store that resets on redeploy.</a:t>
            </a:r>
          </a:p>
        </p:txBody>
      </p:sp>
      <p:sp>
        <p:nvSpPr>
          <p:cNvPr id="56" name="Rounded Rectangle 55"/>
          <p:cNvSpPr/>
          <p:nvPr/>
        </p:nvSpPr>
        <p:spPr>
          <a:xfrm>
            <a:off x="6464808" y="6051804"/>
            <a:ext cx="34747" cy="24384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702552" y="6010656"/>
            <a:ext cx="4922215" cy="335280"/>
          </a:xfrm>
          <a:prstGeom prst="rect">
            <a:avLst/>
          </a:prstGeom>
          <a:noFill/>
        </p:spPr>
        <p:txBody>
          <a:bodyPr wrap="square" lIns="0" rIns="0" tIns="0" bIns="0" anchor="t">
            <a:spAutoFit/>
          </a:bodyPr>
          <a:lstStyle/>
          <a:p>
            <a:pPr algn="l">
              <a:lnSpc>
                <a:spcPct val="120000"/>
              </a:lnSpc>
            </a:pPr>
            <a:r>
              <a:rPr sz="950" b="1" i="0">
                <a:solidFill>
                  <a:srgbClr val="0F172A"/>
                </a:solidFill>
                <a:latin typeface="Segoe UI"/>
              </a:rPr>
              <a:t>Build-time fonts</a:t>
            </a:r>
            <a:r>
              <a:rPr sz="950" b="0" i="0">
                <a:solidFill>
                  <a:srgbClr val="475569"/>
                </a:solidFill>
                <a:latin typeface="Segoe UI"/>
              </a:rPr>
              <a:t>  next/font fetches from fonts.googleapis.com, so a network-restricted build environment fails early.</a:t>
            </a:r>
          </a:p>
        </p:txBody>
      </p:sp>
      <p:cxnSp>
        <p:nvCxnSpPr>
          <p:cNvPr id="58" name="Connector 57"/>
          <p:cNvCxnSpPr/>
          <p:nvPr/>
        </p:nvCxnSpPr>
        <p:spPr>
          <a:xfrm>
            <a:off x="566928" y="6382512"/>
            <a:ext cx="11057839"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66928" y="6473952"/>
            <a:ext cx="9777679" cy="219456"/>
          </a:xfrm>
          <a:prstGeom prst="rect">
            <a:avLst/>
          </a:prstGeom>
          <a:noFill/>
        </p:spPr>
        <p:txBody>
          <a:bodyPr wrap="square" lIns="0" rIns="0" tIns="0" bIns="0" anchor="t">
            <a:spAutoFit/>
          </a:bodyPr>
          <a:lstStyle/>
          <a:p>
            <a:pPr algn="l">
              <a:lnSpc>
                <a:spcPct val="118000"/>
              </a:lnSpc>
              <a:spcBef>
                <a:spcPts val="0"/>
              </a:spcBef>
              <a:spcAft>
                <a:spcPts val="0"/>
              </a:spcAft>
            </a:pPr>
            <a:r>
              <a:rPr sz="880" b="0" i="0">
                <a:solidFill>
                  <a:srgbClr val="94A3B8"/>
                </a:solidFill>
                <a:latin typeface="Segoe UI"/>
              </a:rPr>
              <a:t>Presenter: Bodman Ebuka Precious · Deployment / Testing / QA</a:t>
            </a:r>
          </a:p>
        </p:txBody>
      </p:sp>
      <p:sp>
        <p:nvSpPr>
          <p:cNvPr id="60" name="TextBox 59"/>
          <p:cNvSpPr txBox="1"/>
          <p:nvPr/>
        </p:nvSpPr>
        <p:spPr>
          <a:xfrm>
            <a:off x="10436047" y="6473952"/>
            <a:ext cx="1188720" cy="219456"/>
          </a:xfrm>
          <a:prstGeom prst="rect">
            <a:avLst/>
          </a:prstGeom>
          <a:noFill/>
        </p:spPr>
        <p:txBody>
          <a:bodyPr wrap="square" lIns="0" rIns="0" tIns="0" bIns="0" anchor="t">
            <a:spAutoFit/>
          </a:bodyPr>
          <a:lstStyle/>
          <a:p>
            <a:pPr algn="r">
              <a:lnSpc>
                <a:spcPct val="118000"/>
              </a:lnSpc>
              <a:spcBef>
                <a:spcPts val="0"/>
              </a:spcBef>
              <a:spcAft>
                <a:spcPts val="0"/>
              </a:spcAft>
            </a:pPr>
            <a:r>
              <a:rPr sz="950" b="1" i="0">
                <a:solidFill>
                  <a:srgbClr val="94A3B8"/>
                </a:solidFill>
                <a:latin typeface="Segoe UI"/>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420624"/>
            <a:ext cx="50292" cy="173736"/>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384048"/>
            <a:ext cx="5571439" cy="237744"/>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20">
                <a:solidFill>
                  <a:srgbClr val="2563EB"/>
                </a:solidFill>
                <a:latin typeface="Segoe UI"/>
              </a:rPr>
              <a:t>REVENUE MODEL</a:t>
            </a:r>
          </a:p>
        </p:txBody>
      </p:sp>
      <p:sp>
        <p:nvSpPr>
          <p:cNvPr id="5" name="TextBox 4"/>
          <p:cNvSpPr txBox="1"/>
          <p:nvPr/>
        </p:nvSpPr>
        <p:spPr>
          <a:xfrm>
            <a:off x="566928" y="658368"/>
            <a:ext cx="11057839" cy="420624"/>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0F172A"/>
                </a:solidFill>
                <a:latin typeface="Segoe UI Semibold"/>
              </a:rPr>
              <a:t>The marketplace is already priced in the product</a:t>
            </a:r>
          </a:p>
        </p:txBody>
      </p:sp>
      <p:sp>
        <p:nvSpPr>
          <p:cNvPr id="6" name="TextBox 5"/>
          <p:cNvSpPr txBox="1"/>
          <p:nvPr/>
        </p:nvSpPr>
        <p:spPr>
          <a:xfrm>
            <a:off x="566928" y="1207008"/>
            <a:ext cx="10692079" cy="274320"/>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4748B"/>
                </a:solidFill>
                <a:latin typeface="Segoe UI"/>
              </a:rPr>
              <a:t>Money is not yet moved by the platform — but the data needed to price it correctly is already stored, validated and displayed.</a:t>
            </a:r>
          </a:p>
        </p:txBody>
      </p:sp>
      <p:sp>
        <p:nvSpPr>
          <p:cNvPr id="7" name="Rounded Rectangle 6"/>
          <p:cNvSpPr/>
          <p:nvPr/>
        </p:nvSpPr>
        <p:spPr>
          <a:xfrm>
            <a:off x="6321247" y="365760"/>
            <a:ext cx="5303520" cy="246888"/>
          </a:xfrm>
          <a:prstGeom prst="roundRect">
            <a:avLst>
              <a:gd name="adj" fmla="val 50000"/>
            </a:avLst>
          </a:prstGeom>
          <a:solidFill>
            <a:srgbClr val="FFFFFF"/>
          </a:solidFill>
          <a:ln w="1016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lstStyle/>
          <a:p>
            <a:pPr algn="l"/>
            <a:r>
              <a:rPr sz="750" b="1" i="0" cap="all" spc="60">
                <a:solidFill>
                  <a:srgbClr val="64748B"/>
                </a:solidFill>
                <a:latin typeface="Segoe UI"/>
              </a:rPr>
              <a:t>PRESENTER  </a:t>
            </a:r>
            <a:r>
              <a:rPr sz="830" b="1" i="0">
                <a:solidFill>
                  <a:srgbClr val="0F172A"/>
                </a:solidFill>
                <a:latin typeface="Segoe UI"/>
              </a:rPr>
              <a:t>Hephzibah Uchechukwu</a:t>
            </a:r>
            <a:r>
              <a:rPr sz="790" b="1" i="0">
                <a:solidFill>
                  <a:srgbClr val="2563EB"/>
                </a:solidFill>
                <a:latin typeface="Segoe UI"/>
              </a:rPr>
              <a:t>  ·  Revenue Model</a:t>
            </a:r>
          </a:p>
        </p:txBody>
      </p:sp>
      <p:sp>
        <p:nvSpPr>
          <p:cNvPr id="8" name="Rounded Rectangle 7"/>
          <p:cNvSpPr/>
          <p:nvPr/>
        </p:nvSpPr>
        <p:spPr>
          <a:xfrm>
            <a:off x="566928" y="1879092"/>
            <a:ext cx="41148" cy="146304"/>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94944" y="1847088"/>
            <a:ext cx="5495544" cy="219456"/>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00">
                <a:solidFill>
                  <a:srgbClr val="1E3A8A"/>
                </a:solidFill>
                <a:latin typeface="Segoe UI"/>
              </a:rPr>
              <a:t>ALREADY IMPLEMENTED IN THE CODE</a:t>
            </a:r>
          </a:p>
        </p:txBody>
      </p:sp>
      <p:sp>
        <p:nvSpPr>
          <p:cNvPr id="10" name="Rounded Rectangle 9"/>
          <p:cNvSpPr/>
          <p:nvPr/>
        </p:nvSpPr>
        <p:spPr>
          <a:xfrm>
            <a:off x="566928" y="2199132"/>
            <a:ext cx="34747" cy="27432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04672" y="2157984"/>
            <a:ext cx="5385816" cy="365759"/>
          </a:xfrm>
          <a:prstGeom prst="rect">
            <a:avLst/>
          </a:prstGeom>
          <a:noFill/>
        </p:spPr>
        <p:txBody>
          <a:bodyPr wrap="square" lIns="0" rIns="0" tIns="0" bIns="0" anchor="t">
            <a:spAutoFit/>
          </a:bodyPr>
          <a:lstStyle/>
          <a:p>
            <a:pPr algn="l">
              <a:lnSpc>
                <a:spcPct val="120000"/>
              </a:lnSpc>
            </a:pPr>
            <a:r>
              <a:rPr sz="1050" b="1" i="0">
                <a:solidFill>
                  <a:srgbClr val="0F172A"/>
                </a:solidFill>
                <a:latin typeface="Segoe UI"/>
              </a:rPr>
              <a:t>Per-tutor pricing</a:t>
            </a:r>
            <a:r>
              <a:rPr sz="1050" b="0" i="0">
                <a:solidFill>
                  <a:srgbClr val="475569"/>
                </a:solidFill>
                <a:latin typeface="Segoe UI"/>
              </a:rPr>
              <a:t>  tutor_profiles.hourly_rate (NUMERIC, default ₦2,000) with currency = 'NGN' — set during signup and editable from the tutor profile form.</a:t>
            </a:r>
          </a:p>
        </p:txBody>
      </p:sp>
      <p:sp>
        <p:nvSpPr>
          <p:cNvPr id="12" name="Rounded Rectangle 11"/>
          <p:cNvSpPr/>
          <p:nvPr/>
        </p:nvSpPr>
        <p:spPr>
          <a:xfrm>
            <a:off x="566928" y="2656332"/>
            <a:ext cx="34747" cy="434339"/>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2" y="2615184"/>
            <a:ext cx="5385816" cy="525780"/>
          </a:xfrm>
          <a:prstGeom prst="rect">
            <a:avLst/>
          </a:prstGeom>
          <a:noFill/>
        </p:spPr>
        <p:txBody>
          <a:bodyPr wrap="square" lIns="0" rIns="0" tIns="0" bIns="0" anchor="t">
            <a:spAutoFit/>
          </a:bodyPr>
          <a:lstStyle/>
          <a:p>
            <a:pPr algn="l">
              <a:lnSpc>
                <a:spcPct val="120000"/>
              </a:lnSpc>
            </a:pPr>
            <a:r>
              <a:rPr sz="1050" b="1" i="0">
                <a:solidFill>
                  <a:srgbClr val="0F172A"/>
                </a:solidFill>
                <a:latin typeface="Segoe UI"/>
              </a:rPr>
              <a:t>Live price estimate</a:t>
            </a:r>
            <a:r>
              <a:rPr sz="1050" b="0" i="0">
                <a:solidFill>
                  <a:srgbClr val="475569"/>
                </a:solidFill>
                <a:latin typeface="Segoe UI"/>
              </a:rPr>
              <a:t>  the modal displays hourly rate × duration. The API currently persists the tutor's hourly_rate as total_price, so the stored total is not duration-adjusted yet.</a:t>
            </a:r>
          </a:p>
        </p:txBody>
      </p:sp>
      <p:sp>
        <p:nvSpPr>
          <p:cNvPr id="14" name="Rounded Rectangle 13"/>
          <p:cNvSpPr/>
          <p:nvPr/>
        </p:nvSpPr>
        <p:spPr>
          <a:xfrm>
            <a:off x="566928" y="3273552"/>
            <a:ext cx="34747" cy="27432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04672" y="3232404"/>
            <a:ext cx="5385816" cy="365759"/>
          </a:xfrm>
          <a:prstGeom prst="rect">
            <a:avLst/>
          </a:prstGeom>
          <a:noFill/>
        </p:spPr>
        <p:txBody>
          <a:bodyPr wrap="square" lIns="0" rIns="0" tIns="0" bIns="0" anchor="t">
            <a:spAutoFit/>
          </a:bodyPr>
          <a:lstStyle/>
          <a:p>
            <a:pPr algn="l">
              <a:lnSpc>
                <a:spcPct val="120000"/>
              </a:lnSpc>
            </a:pPr>
            <a:r>
              <a:rPr sz="1050" b="1" i="0">
                <a:solidFill>
                  <a:srgbClr val="0F172A"/>
                </a:solidFill>
                <a:latin typeface="Segoe UI"/>
              </a:rPr>
              <a:t>Budget as a matching input</a:t>
            </a:r>
            <a:r>
              <a:rPr sz="1050" b="0" i="0">
                <a:solidFill>
                  <a:srgbClr val="475569"/>
                </a:solidFill>
                <a:latin typeface="Segoe UI"/>
              </a:rPr>
              <a:t>  the directory exposes a ₦2,000–₦25,000 / hour filter and Smart Tutor Match treats the maximum hourly budget as a hard gate.</a:t>
            </a:r>
          </a:p>
        </p:txBody>
      </p:sp>
      <p:sp>
        <p:nvSpPr>
          <p:cNvPr id="16" name="Rounded Rectangle 15"/>
          <p:cNvSpPr/>
          <p:nvPr/>
        </p:nvSpPr>
        <p:spPr>
          <a:xfrm>
            <a:off x="566928" y="3730752"/>
            <a:ext cx="34747" cy="27432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04672" y="3689604"/>
            <a:ext cx="5385816" cy="365759"/>
          </a:xfrm>
          <a:prstGeom prst="rect">
            <a:avLst/>
          </a:prstGeom>
          <a:noFill/>
        </p:spPr>
        <p:txBody>
          <a:bodyPr wrap="square" lIns="0" rIns="0" tIns="0" bIns="0" anchor="t">
            <a:spAutoFit/>
          </a:bodyPr>
          <a:lstStyle/>
          <a:p>
            <a:pPr algn="l">
              <a:lnSpc>
                <a:spcPct val="120000"/>
              </a:lnSpc>
            </a:pPr>
            <a:r>
              <a:rPr sz="1050" b="1" i="0">
                <a:solidFill>
                  <a:srgbClr val="0F172A"/>
                </a:solidFill>
                <a:latin typeface="Segoe UI"/>
              </a:rPr>
              <a:t>Admin metric</a:t>
            </a:r>
            <a:r>
              <a:rPr sz="1050" b="0" i="0">
                <a:solidFill>
                  <a:srgbClr val="475569"/>
                </a:solidFill>
                <a:latin typeface="Segoe UI"/>
              </a:rPr>
              <a:t>  the dashboard sums total_price for completed bookings. This is a gross booking-value proxy, not cash received by the platform.</a:t>
            </a:r>
          </a:p>
        </p:txBody>
      </p:sp>
      <p:sp>
        <p:nvSpPr>
          <p:cNvPr id="18" name="Rounded Rectangle 17"/>
          <p:cNvSpPr/>
          <p:nvPr/>
        </p:nvSpPr>
        <p:spPr>
          <a:xfrm>
            <a:off x="566928" y="4187952"/>
            <a:ext cx="34747" cy="27432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04672" y="4146804"/>
            <a:ext cx="5385816" cy="365759"/>
          </a:xfrm>
          <a:prstGeom prst="rect">
            <a:avLst/>
          </a:prstGeom>
          <a:noFill/>
        </p:spPr>
        <p:txBody>
          <a:bodyPr wrap="square" lIns="0" rIns="0" tIns="0" bIns="0" anchor="t">
            <a:spAutoFit/>
          </a:bodyPr>
          <a:lstStyle/>
          <a:p>
            <a:pPr algn="l">
              <a:lnSpc>
                <a:spcPct val="120000"/>
              </a:lnSpc>
            </a:pPr>
            <a:r>
              <a:rPr sz="1050" b="1" i="0">
                <a:solidFill>
                  <a:srgbClr val="0F172A"/>
                </a:solidFill>
                <a:latin typeface="Segoe UI"/>
              </a:rPr>
              <a:t>Mode-aware sessions</a:t>
            </a:r>
            <a:r>
              <a:rPr sz="1050" b="0" i="0">
                <a:solidFill>
                  <a:srgbClr val="475569"/>
                </a:solidFill>
                <a:latin typeface="Segoe UI"/>
              </a:rPr>
              <a:t>  session_mode (online or in_person) is stored per booking, so future pricing can differ by delivery mode.</a:t>
            </a:r>
          </a:p>
        </p:txBody>
      </p:sp>
      <p:sp>
        <p:nvSpPr>
          <p:cNvPr id="20" name="Rounded Rectangle 19"/>
          <p:cNvSpPr/>
          <p:nvPr/>
        </p:nvSpPr>
        <p:spPr>
          <a:xfrm>
            <a:off x="566928" y="4809744"/>
            <a:ext cx="5623560" cy="566928"/>
          </a:xfrm>
          <a:prstGeom prst="roundRect">
            <a:avLst>
              <a:gd name="adj" fmla="val 6000"/>
            </a:avLst>
          </a:prstGeom>
          <a:solidFill>
            <a:srgbClr val="FFE4E6"/>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22960" y="4956048"/>
            <a:ext cx="5111496" cy="274320"/>
          </a:xfrm>
          <a:prstGeom prst="rect">
            <a:avLst/>
          </a:prstGeom>
          <a:noFill/>
        </p:spPr>
        <p:txBody>
          <a:bodyPr wrap="square" lIns="0" rIns="0" tIns="0" bIns="0" anchor="ctr">
            <a:spAutoFit/>
          </a:bodyPr>
          <a:lstStyle/>
          <a:p>
            <a:pPr algn="l">
              <a:lnSpc>
                <a:spcPct val="120000"/>
              </a:lnSpc>
            </a:pPr>
            <a:r>
              <a:rPr sz="1150" b="1" i="0">
                <a:solidFill>
                  <a:srgbClr val="E11D48"/>
                </a:solidFill>
                <a:latin typeface="Segoe UI"/>
              </a:rPr>
              <a:t>Not yet built:  </a:t>
            </a:r>
            <a:r>
              <a:rPr sz="1150" b="0" i="0">
                <a:solidFill>
                  <a:srgbClr val="334155"/>
                </a:solidFill>
                <a:latin typeface="Segoe UI"/>
              </a:rPr>
              <a:t>no payment gateway, escrow, invoice or tutor payout is integrated. The platform does not charge or transfer money today.</a:t>
            </a:r>
          </a:p>
        </p:txBody>
      </p:sp>
      <p:sp>
        <p:nvSpPr>
          <p:cNvPr id="22" name="Rounded Rectangle 21"/>
          <p:cNvSpPr/>
          <p:nvPr/>
        </p:nvSpPr>
        <p:spPr>
          <a:xfrm>
            <a:off x="6483096" y="1879092"/>
            <a:ext cx="41148" cy="146304"/>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611112" y="1847088"/>
            <a:ext cx="5013655" cy="219456"/>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00">
                <a:solidFill>
                  <a:srgbClr val="1E3A8A"/>
                </a:solidFill>
                <a:latin typeface="Segoe UI"/>
              </a:rPr>
              <a:t>PROPOSED MODEL (ROADMAP, NOT IMPLEMENTED)</a:t>
            </a:r>
          </a:p>
        </p:txBody>
      </p:sp>
      <p:sp>
        <p:nvSpPr>
          <p:cNvPr id="24" name="Rounded Rectangle 23"/>
          <p:cNvSpPr/>
          <p:nvPr/>
        </p:nvSpPr>
        <p:spPr>
          <a:xfrm>
            <a:off x="6483096" y="2157984"/>
            <a:ext cx="5141671" cy="841248"/>
          </a:xfrm>
          <a:prstGeom prst="roundRect">
            <a:avLst>
              <a:gd name="adj" fmla="val 7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6483096" y="2157984"/>
            <a:ext cx="45720" cy="841248"/>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684264" y="2258568"/>
            <a:ext cx="4739335" cy="219456"/>
          </a:xfrm>
          <a:prstGeom prst="rect">
            <a:avLst/>
          </a:prstGeom>
          <a:noFill/>
        </p:spPr>
        <p:txBody>
          <a:bodyPr wrap="square" lIns="0" rIns="0" tIns="0" bIns="0" anchor="t">
            <a:spAutoFit/>
          </a:bodyPr>
          <a:lstStyle/>
          <a:p>
            <a:pPr algn="l">
              <a:lnSpc>
                <a:spcPct val="118000"/>
              </a:lnSpc>
              <a:spcBef>
                <a:spcPts val="0"/>
              </a:spcBef>
              <a:spcAft>
                <a:spcPts val="0"/>
              </a:spcAft>
            </a:pPr>
            <a:r>
              <a:rPr sz="1120" b="1" i="0">
                <a:solidFill>
                  <a:srgbClr val="0F172A"/>
                </a:solidFill>
                <a:latin typeface="Segoe UI Semibold"/>
              </a:rPr>
              <a:t>Commission on completed sessions</a:t>
            </a:r>
          </a:p>
        </p:txBody>
      </p:sp>
      <p:sp>
        <p:nvSpPr>
          <p:cNvPr id="27" name="TextBox 26"/>
          <p:cNvSpPr txBox="1"/>
          <p:nvPr/>
        </p:nvSpPr>
        <p:spPr>
          <a:xfrm>
            <a:off x="6684264" y="2505456"/>
            <a:ext cx="4739335" cy="438912"/>
          </a:xfrm>
          <a:prstGeom prst="rect">
            <a:avLst/>
          </a:prstGeom>
          <a:noFill/>
        </p:spPr>
        <p:txBody>
          <a:bodyPr wrap="square" lIns="0" rIns="0" tIns="0" bIns="0" anchor="t">
            <a:spAutoFit/>
          </a:bodyPr>
          <a:lstStyle/>
          <a:p>
            <a:pPr algn="l">
              <a:lnSpc>
                <a:spcPct val="116000"/>
              </a:lnSpc>
              <a:spcBef>
                <a:spcPts val="0"/>
              </a:spcBef>
              <a:spcAft>
                <a:spcPts val="0"/>
              </a:spcAft>
            </a:pPr>
            <a:r>
              <a:rPr sz="880" b="0" i="0">
                <a:solidFill>
                  <a:srgbClr val="475569"/>
                </a:solidFill>
                <a:latin typeface="Segoe UI"/>
              </a:rPr>
              <a:t>Future take-rate on completed sessions. First, calculate duration-based totals server-side and add a payment ledger.</a:t>
            </a:r>
          </a:p>
        </p:txBody>
      </p:sp>
      <p:sp>
        <p:nvSpPr>
          <p:cNvPr id="28" name="Rounded Rectangle 27"/>
          <p:cNvSpPr/>
          <p:nvPr/>
        </p:nvSpPr>
        <p:spPr>
          <a:xfrm>
            <a:off x="6483096" y="3081528"/>
            <a:ext cx="5141671" cy="841248"/>
          </a:xfrm>
          <a:prstGeom prst="roundRect">
            <a:avLst>
              <a:gd name="adj" fmla="val 7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6483096" y="3081528"/>
            <a:ext cx="45720" cy="841248"/>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684264" y="3182112"/>
            <a:ext cx="4739335" cy="219456"/>
          </a:xfrm>
          <a:prstGeom prst="rect">
            <a:avLst/>
          </a:prstGeom>
          <a:noFill/>
        </p:spPr>
        <p:txBody>
          <a:bodyPr wrap="square" lIns="0" rIns="0" tIns="0" bIns="0" anchor="t">
            <a:spAutoFit/>
          </a:bodyPr>
          <a:lstStyle/>
          <a:p>
            <a:pPr algn="l">
              <a:lnSpc>
                <a:spcPct val="118000"/>
              </a:lnSpc>
              <a:spcBef>
                <a:spcPts val="0"/>
              </a:spcBef>
              <a:spcAft>
                <a:spcPts val="0"/>
              </a:spcAft>
            </a:pPr>
            <a:r>
              <a:rPr sz="1120" b="1" i="0">
                <a:solidFill>
                  <a:srgbClr val="0F172A"/>
                </a:solidFill>
                <a:latin typeface="Segoe UI Semibold"/>
              </a:rPr>
              <a:t>Tutor subscription tiers</a:t>
            </a:r>
          </a:p>
        </p:txBody>
      </p:sp>
      <p:sp>
        <p:nvSpPr>
          <p:cNvPr id="31" name="TextBox 30"/>
          <p:cNvSpPr txBox="1"/>
          <p:nvPr/>
        </p:nvSpPr>
        <p:spPr>
          <a:xfrm>
            <a:off x="6684264" y="3429000"/>
            <a:ext cx="4739335" cy="438912"/>
          </a:xfrm>
          <a:prstGeom prst="rect">
            <a:avLst/>
          </a:prstGeom>
          <a:noFill/>
        </p:spPr>
        <p:txBody>
          <a:bodyPr wrap="square" lIns="0" rIns="0" tIns="0" bIns="0" anchor="t">
            <a:spAutoFit/>
          </a:bodyPr>
          <a:lstStyle/>
          <a:p>
            <a:pPr algn="l">
              <a:lnSpc>
                <a:spcPct val="116000"/>
              </a:lnSpc>
              <a:spcBef>
                <a:spcPts val="0"/>
              </a:spcBef>
              <a:spcAft>
                <a:spcPts val="0"/>
              </a:spcAft>
            </a:pPr>
            <a:r>
              <a:rPr sz="880" b="0" i="0">
                <a:solidFill>
                  <a:srgbClr val="475569"/>
                </a:solidFill>
                <a:latin typeface="Segoe UI"/>
              </a:rPr>
              <a:t>Paid visibility for tutors — priority placement, extra profile media, booking analytics. verification_status and is_verified already gate public visibility.</a:t>
            </a:r>
          </a:p>
        </p:txBody>
      </p:sp>
      <p:sp>
        <p:nvSpPr>
          <p:cNvPr id="32" name="Rounded Rectangle 31"/>
          <p:cNvSpPr/>
          <p:nvPr/>
        </p:nvSpPr>
        <p:spPr>
          <a:xfrm>
            <a:off x="6483096" y="4005072"/>
            <a:ext cx="5141671" cy="841248"/>
          </a:xfrm>
          <a:prstGeom prst="roundRect">
            <a:avLst>
              <a:gd name="adj" fmla="val 7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6483096" y="4005072"/>
            <a:ext cx="45720" cy="841248"/>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684264" y="4105656"/>
            <a:ext cx="4739335" cy="219456"/>
          </a:xfrm>
          <a:prstGeom prst="rect">
            <a:avLst/>
          </a:prstGeom>
          <a:noFill/>
        </p:spPr>
        <p:txBody>
          <a:bodyPr wrap="square" lIns="0" rIns="0" tIns="0" bIns="0" anchor="t">
            <a:spAutoFit/>
          </a:bodyPr>
          <a:lstStyle/>
          <a:p>
            <a:pPr algn="l">
              <a:lnSpc>
                <a:spcPct val="118000"/>
              </a:lnSpc>
              <a:spcBef>
                <a:spcPts val="0"/>
              </a:spcBef>
              <a:spcAft>
                <a:spcPts val="0"/>
              </a:spcAft>
            </a:pPr>
            <a:r>
              <a:rPr sz="1120" b="1" i="0">
                <a:solidFill>
                  <a:srgbClr val="0F172A"/>
                </a:solidFill>
                <a:latin typeface="Segoe UI Semibold"/>
              </a:rPr>
              <a:t>Parent premium plan</a:t>
            </a:r>
          </a:p>
        </p:txBody>
      </p:sp>
      <p:sp>
        <p:nvSpPr>
          <p:cNvPr id="35" name="TextBox 34"/>
          <p:cNvSpPr txBox="1"/>
          <p:nvPr/>
        </p:nvSpPr>
        <p:spPr>
          <a:xfrm>
            <a:off x="6684264" y="4352544"/>
            <a:ext cx="4739335" cy="438912"/>
          </a:xfrm>
          <a:prstGeom prst="rect">
            <a:avLst/>
          </a:prstGeom>
          <a:noFill/>
        </p:spPr>
        <p:txBody>
          <a:bodyPr wrap="square" lIns="0" rIns="0" tIns="0" bIns="0" anchor="t">
            <a:spAutoFit/>
          </a:bodyPr>
          <a:lstStyle/>
          <a:p>
            <a:pPr algn="l">
              <a:lnSpc>
                <a:spcPct val="116000"/>
              </a:lnSpc>
              <a:spcBef>
                <a:spcPts val="0"/>
              </a:spcBef>
              <a:spcAft>
                <a:spcPts val="0"/>
              </a:spcAft>
            </a:pPr>
            <a:r>
              <a:rPr sz="880" b="0" i="0">
                <a:solidFill>
                  <a:srgbClr val="475569"/>
                </a:solidFill>
                <a:latin typeface="Segoe UI"/>
              </a:rPr>
              <a:t>Multi-child management, priority tutor matching and session reports. parent_profiles already models one child profile, age, level, budget and learning mode.</a:t>
            </a:r>
          </a:p>
        </p:txBody>
      </p:sp>
      <p:sp>
        <p:nvSpPr>
          <p:cNvPr id="36" name="Rounded Rectangle 35"/>
          <p:cNvSpPr/>
          <p:nvPr/>
        </p:nvSpPr>
        <p:spPr>
          <a:xfrm>
            <a:off x="6483096" y="4928616"/>
            <a:ext cx="5141671" cy="512064"/>
          </a:xfrm>
          <a:prstGeom prst="roundRect">
            <a:avLst>
              <a:gd name="adj" fmla="val 7000"/>
            </a:avLst>
          </a:prstGeom>
          <a:solidFill>
            <a:srgbClr val="1E3A8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684264" y="5001768"/>
            <a:ext cx="4739335" cy="192024"/>
          </a:xfrm>
          <a:prstGeom prst="rect">
            <a:avLst/>
          </a:prstGeom>
          <a:noFill/>
        </p:spPr>
        <p:txBody>
          <a:bodyPr wrap="square" lIns="0" rIns="0" tIns="0" bIns="0" anchor="t">
            <a:spAutoFit/>
          </a:bodyPr>
          <a:lstStyle/>
          <a:p>
            <a:pPr algn="l">
              <a:lnSpc>
                <a:spcPct val="118000"/>
              </a:lnSpc>
              <a:spcBef>
                <a:spcPts val="0"/>
              </a:spcBef>
              <a:spcAft>
                <a:spcPts val="0"/>
              </a:spcAft>
            </a:pPr>
            <a:r>
              <a:rPr sz="1080" b="1" i="0">
                <a:solidFill>
                  <a:srgbClr val="FFFFFF"/>
                </a:solidFill>
                <a:latin typeface="Segoe UI Semibold"/>
              </a:rPr>
              <a:t>Students and parents stay free</a:t>
            </a:r>
          </a:p>
        </p:txBody>
      </p:sp>
      <p:sp>
        <p:nvSpPr>
          <p:cNvPr id="38" name="TextBox 37"/>
          <p:cNvSpPr txBox="1"/>
          <p:nvPr/>
        </p:nvSpPr>
        <p:spPr>
          <a:xfrm>
            <a:off x="6684264" y="5202936"/>
            <a:ext cx="4739335" cy="182880"/>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CBD5E1"/>
                </a:solidFill>
                <a:latin typeface="Segoe UI"/>
              </a:rPr>
              <a:t>Proposed supply-side monetisation; no subscription is currently charged.</a:t>
            </a:r>
          </a:p>
        </p:txBody>
      </p:sp>
      <p:sp>
        <p:nvSpPr>
          <p:cNvPr id="39" name="Rounded Rectangle 38"/>
          <p:cNvSpPr/>
          <p:nvPr/>
        </p:nvSpPr>
        <p:spPr>
          <a:xfrm>
            <a:off x="566928" y="5678424"/>
            <a:ext cx="11057839" cy="530352"/>
          </a:xfrm>
          <a:prstGeom prst="roundRect">
            <a:avLst>
              <a:gd name="adj" fmla="val 6000"/>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22960" y="5824728"/>
            <a:ext cx="10545775" cy="237743"/>
          </a:xfrm>
          <a:prstGeom prst="rect">
            <a:avLst/>
          </a:prstGeom>
          <a:noFill/>
        </p:spPr>
        <p:txBody>
          <a:bodyPr wrap="square" lIns="0" rIns="0" tIns="0" bIns="0" anchor="ctr">
            <a:spAutoFit/>
          </a:bodyPr>
          <a:lstStyle/>
          <a:p>
            <a:pPr algn="l">
              <a:lnSpc>
                <a:spcPct val="120000"/>
              </a:lnSpc>
            </a:pPr>
            <a:r>
              <a:rPr sz="950" b="1" i="0">
                <a:solidFill>
                  <a:srgbClr val="0F172A"/>
                </a:solidFill>
                <a:latin typeface="Segoe UI"/>
              </a:rPr>
              <a:t>Accuracy note:  </a:t>
            </a:r>
            <a:r>
              <a:rPr sz="950" b="0" i="0">
                <a:solidFill>
                  <a:srgbClr val="334155"/>
                </a:solidFill>
                <a:latin typeface="Segoe UI"/>
              </a:rPr>
              <a:t>commission, tiers and premium plans are proposals, not implemented revenue. The current admin tile is a booking-value proxy; no payment transactions are recorded.</a:t>
            </a:r>
          </a:p>
        </p:txBody>
      </p:sp>
      <p:cxnSp>
        <p:nvCxnSpPr>
          <p:cNvPr id="41" name="Connector 40"/>
          <p:cNvCxnSpPr/>
          <p:nvPr/>
        </p:nvCxnSpPr>
        <p:spPr>
          <a:xfrm>
            <a:off x="566928" y="6382512"/>
            <a:ext cx="11057839"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66928" y="6473952"/>
            <a:ext cx="9777679" cy="219456"/>
          </a:xfrm>
          <a:prstGeom prst="rect">
            <a:avLst/>
          </a:prstGeom>
          <a:noFill/>
        </p:spPr>
        <p:txBody>
          <a:bodyPr wrap="square" lIns="0" rIns="0" tIns="0" bIns="0" anchor="t">
            <a:spAutoFit/>
          </a:bodyPr>
          <a:lstStyle/>
          <a:p>
            <a:pPr algn="l">
              <a:lnSpc>
                <a:spcPct val="118000"/>
              </a:lnSpc>
              <a:spcBef>
                <a:spcPts val="0"/>
              </a:spcBef>
              <a:spcAft>
                <a:spcPts val="0"/>
              </a:spcAft>
            </a:pPr>
            <a:r>
              <a:rPr sz="880" b="0" i="0">
                <a:solidFill>
                  <a:srgbClr val="94A3B8"/>
                </a:solidFill>
                <a:latin typeface="Segoe UI"/>
              </a:rPr>
              <a:t>Presenter: Hephzibah Uchechukwu · Revenue model</a:t>
            </a:r>
          </a:p>
        </p:txBody>
      </p:sp>
      <p:sp>
        <p:nvSpPr>
          <p:cNvPr id="43" name="TextBox 42"/>
          <p:cNvSpPr txBox="1"/>
          <p:nvPr/>
        </p:nvSpPr>
        <p:spPr>
          <a:xfrm>
            <a:off x="10436047" y="6473952"/>
            <a:ext cx="1188720" cy="219456"/>
          </a:xfrm>
          <a:prstGeom prst="rect">
            <a:avLst/>
          </a:prstGeom>
          <a:noFill/>
        </p:spPr>
        <p:txBody>
          <a:bodyPr wrap="square" lIns="0" rIns="0" tIns="0" bIns="0" anchor="t">
            <a:spAutoFit/>
          </a:bodyPr>
          <a:lstStyle/>
          <a:p>
            <a:pPr algn="r">
              <a:lnSpc>
                <a:spcPct val="118000"/>
              </a:lnSpc>
              <a:spcBef>
                <a:spcPts val="0"/>
              </a:spcBef>
              <a:spcAft>
                <a:spcPts val="0"/>
              </a:spcAft>
            </a:pPr>
            <a:r>
              <a:rPr sz="950" b="1" i="0">
                <a:solidFill>
                  <a:srgbClr val="94A3B8"/>
                </a:solidFill>
                <a:latin typeface="Segoe UI"/>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420624"/>
            <a:ext cx="50292" cy="173736"/>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384048"/>
            <a:ext cx="10874959" cy="237744"/>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20">
                <a:solidFill>
                  <a:srgbClr val="2563EB"/>
                </a:solidFill>
                <a:latin typeface="Segoe UI"/>
              </a:rPr>
              <a:t>VALUE, LIMITATIONS &amp; POTENTIAL IMPACT</a:t>
            </a:r>
          </a:p>
        </p:txBody>
      </p:sp>
      <p:sp>
        <p:nvSpPr>
          <p:cNvPr id="5" name="TextBox 4"/>
          <p:cNvSpPr txBox="1"/>
          <p:nvPr/>
        </p:nvSpPr>
        <p:spPr>
          <a:xfrm>
            <a:off x="566928" y="658368"/>
            <a:ext cx="11057839" cy="420624"/>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0F172A"/>
                </a:solidFill>
                <a:latin typeface="Segoe UI Semibold"/>
              </a:rPr>
              <a:t>Impact, limits and next steps</a:t>
            </a:r>
          </a:p>
        </p:txBody>
      </p:sp>
      <p:sp>
        <p:nvSpPr>
          <p:cNvPr id="6" name="TextBox 5"/>
          <p:cNvSpPr txBox="1"/>
          <p:nvPr/>
        </p:nvSpPr>
        <p:spPr>
          <a:xfrm>
            <a:off x="566928" y="1207008"/>
            <a:ext cx="10692079" cy="274320"/>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4748B"/>
                </a:solidFill>
                <a:latin typeface="Segoe UI"/>
              </a:rPr>
              <a:t>Judges should be able to trust the rest of this deck because of this slide.</a:t>
            </a:r>
          </a:p>
        </p:txBody>
      </p:sp>
      <p:sp>
        <p:nvSpPr>
          <p:cNvPr id="7" name="Rounded Rectangle 6"/>
          <p:cNvSpPr/>
          <p:nvPr/>
        </p:nvSpPr>
        <p:spPr>
          <a:xfrm>
            <a:off x="566928" y="1847088"/>
            <a:ext cx="3527450" cy="3529584"/>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66928" y="1847088"/>
            <a:ext cx="3527450" cy="54864"/>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68096" y="2048256"/>
            <a:ext cx="3125114" cy="274320"/>
          </a:xfrm>
          <a:prstGeom prst="rect">
            <a:avLst/>
          </a:prstGeom>
          <a:noFill/>
        </p:spPr>
        <p:txBody>
          <a:bodyPr wrap="square" lIns="0" rIns="0" tIns="0" bIns="0" anchor="t">
            <a:spAutoFit/>
          </a:bodyPr>
          <a:lstStyle/>
          <a:p>
            <a:pPr algn="l">
              <a:lnSpc>
                <a:spcPct val="118000"/>
              </a:lnSpc>
              <a:spcBef>
                <a:spcPts val="0"/>
              </a:spcBef>
              <a:spcAft>
                <a:spcPts val="0"/>
              </a:spcAft>
            </a:pPr>
            <a:r>
              <a:rPr sz="1300" b="1" i="0">
                <a:solidFill>
                  <a:srgbClr val="0F172A"/>
                </a:solidFill>
                <a:latin typeface="Segoe UI Semibold"/>
              </a:rPr>
              <a:t>Value delivered</a:t>
            </a:r>
          </a:p>
        </p:txBody>
      </p:sp>
      <p:sp>
        <p:nvSpPr>
          <p:cNvPr id="10" name="Rounded Rectangle 9"/>
          <p:cNvSpPr/>
          <p:nvPr/>
        </p:nvSpPr>
        <p:spPr>
          <a:xfrm>
            <a:off x="786384" y="2500884"/>
            <a:ext cx="91440" cy="9144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87552" y="2436876"/>
            <a:ext cx="2887370"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a:solidFill>
                  <a:srgbClr val="0F172A"/>
                </a:solidFill>
                <a:latin typeface="Segoe UI"/>
              </a:rPr>
              <a:t>Verified supply</a:t>
            </a:r>
          </a:p>
        </p:txBody>
      </p:sp>
      <p:sp>
        <p:nvSpPr>
          <p:cNvPr id="12" name="TextBox 11"/>
          <p:cNvSpPr txBox="1"/>
          <p:nvPr/>
        </p:nvSpPr>
        <p:spPr>
          <a:xfrm>
            <a:off x="987552" y="2624328"/>
            <a:ext cx="2887370" cy="269748"/>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475569"/>
                </a:solidFill>
                <a:latin typeface="Segoe UI"/>
              </a:rPr>
              <a:t>only admin-approved tutors are ever listed, and every listing is read live from PostgreSQL.</a:t>
            </a:r>
          </a:p>
        </p:txBody>
      </p:sp>
      <p:sp>
        <p:nvSpPr>
          <p:cNvPr id="13" name="Rounded Rectangle 12"/>
          <p:cNvSpPr/>
          <p:nvPr/>
        </p:nvSpPr>
        <p:spPr>
          <a:xfrm>
            <a:off x="786384" y="3058668"/>
            <a:ext cx="91440" cy="9144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87552" y="2994660"/>
            <a:ext cx="2887370"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a:solidFill>
                  <a:srgbClr val="0F172A"/>
                </a:solidFill>
                <a:latin typeface="Segoe UI"/>
              </a:rPr>
              <a:t>Zero fabrication</a:t>
            </a:r>
          </a:p>
        </p:txBody>
      </p:sp>
      <p:sp>
        <p:nvSpPr>
          <p:cNvPr id="15" name="TextBox 14"/>
          <p:cNvSpPr txBox="1"/>
          <p:nvPr/>
        </p:nvSpPr>
        <p:spPr>
          <a:xfrm>
            <a:off x="987552" y="3182112"/>
            <a:ext cx="2887370" cy="269748"/>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475569"/>
                </a:solidFill>
                <a:latin typeface="Segoe UI"/>
              </a:rPr>
              <a:t>empty states instead of invented tutors, bookings or ratings — the data is always real.</a:t>
            </a:r>
          </a:p>
        </p:txBody>
      </p:sp>
      <p:sp>
        <p:nvSpPr>
          <p:cNvPr id="16" name="Rounded Rectangle 15"/>
          <p:cNvSpPr/>
          <p:nvPr/>
        </p:nvSpPr>
        <p:spPr>
          <a:xfrm>
            <a:off x="786384" y="3616452"/>
            <a:ext cx="91440" cy="9144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87552" y="3552444"/>
            <a:ext cx="2887370"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a:solidFill>
                  <a:srgbClr val="0F172A"/>
                </a:solidFill>
                <a:latin typeface="Segoe UI"/>
              </a:rPr>
              <a:t>Nigeria-specific</a:t>
            </a:r>
          </a:p>
        </p:txBody>
      </p:sp>
      <p:sp>
        <p:nvSpPr>
          <p:cNvPr id="18" name="TextBox 17"/>
          <p:cNvSpPr txBox="1"/>
          <p:nvPr/>
        </p:nvSpPr>
        <p:spPr>
          <a:xfrm>
            <a:off x="987552" y="3739896"/>
            <a:ext cx="2887370" cy="269748"/>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475569"/>
                </a:solidFill>
                <a:latin typeface="Segoe UI"/>
              </a:rPr>
              <a:t>36 states + FCT, naira pricing, and Nigerian / Cambridge / American curricula.</a:t>
            </a:r>
          </a:p>
        </p:txBody>
      </p:sp>
      <p:sp>
        <p:nvSpPr>
          <p:cNvPr id="19" name="Rounded Rectangle 18"/>
          <p:cNvSpPr/>
          <p:nvPr/>
        </p:nvSpPr>
        <p:spPr>
          <a:xfrm>
            <a:off x="786384" y="4174235"/>
            <a:ext cx="91440" cy="9144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87552" y="4110228"/>
            <a:ext cx="2887370"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a:solidFill>
                  <a:srgbClr val="0F172A"/>
                </a:solidFill>
                <a:latin typeface="Segoe UI"/>
              </a:rPr>
              <a:t>Complete lifecycle</a:t>
            </a:r>
          </a:p>
        </p:txBody>
      </p:sp>
      <p:sp>
        <p:nvSpPr>
          <p:cNvPr id="21" name="TextBox 20"/>
          <p:cNvSpPr txBox="1"/>
          <p:nvPr/>
        </p:nvSpPr>
        <p:spPr>
          <a:xfrm>
            <a:off x="987552" y="4297680"/>
            <a:ext cx="2887370" cy="269748"/>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475569"/>
                </a:solidFill>
                <a:latin typeface="Segoe UI"/>
              </a:rPr>
              <a:t>discover → verify → book → accept → teach → review, all inside one codebase.</a:t>
            </a:r>
          </a:p>
        </p:txBody>
      </p:sp>
      <p:sp>
        <p:nvSpPr>
          <p:cNvPr id="22" name="Rounded Rectangle 21"/>
          <p:cNvSpPr/>
          <p:nvPr/>
        </p:nvSpPr>
        <p:spPr>
          <a:xfrm>
            <a:off x="786384" y="4732020"/>
            <a:ext cx="91440" cy="9144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87552" y="4668012"/>
            <a:ext cx="2887370"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a:solidFill>
                  <a:srgbClr val="0F172A"/>
                </a:solidFill>
                <a:latin typeface="Segoe UI"/>
              </a:rPr>
              <a:t>Explainable matching</a:t>
            </a:r>
          </a:p>
        </p:txBody>
      </p:sp>
      <p:sp>
        <p:nvSpPr>
          <p:cNvPr id="24" name="TextBox 23"/>
          <p:cNvSpPr txBox="1"/>
          <p:nvPr/>
        </p:nvSpPr>
        <p:spPr>
          <a:xfrm>
            <a:off x="987552" y="4855464"/>
            <a:ext cx="2887370" cy="269748"/>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475569"/>
                </a:solidFill>
                <a:latin typeface="Segoe UI"/>
              </a:rPr>
              <a:t>every match carries a score and a human-readable reason.</a:t>
            </a:r>
          </a:p>
        </p:txBody>
      </p:sp>
      <p:sp>
        <p:nvSpPr>
          <p:cNvPr id="25" name="Rounded Rectangle 24"/>
          <p:cNvSpPr/>
          <p:nvPr/>
        </p:nvSpPr>
        <p:spPr>
          <a:xfrm>
            <a:off x="4332122" y="1847088"/>
            <a:ext cx="3527450" cy="3529584"/>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4332122" y="1847088"/>
            <a:ext cx="3527450" cy="54864"/>
          </a:xfrm>
          <a:prstGeom prst="roundRect">
            <a:avLst>
              <a:gd name="adj" fmla="val 8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533290" y="2048256"/>
            <a:ext cx="3125114" cy="274320"/>
          </a:xfrm>
          <a:prstGeom prst="rect">
            <a:avLst/>
          </a:prstGeom>
          <a:noFill/>
        </p:spPr>
        <p:txBody>
          <a:bodyPr wrap="square" lIns="0" rIns="0" tIns="0" bIns="0" anchor="t">
            <a:spAutoFit/>
          </a:bodyPr>
          <a:lstStyle/>
          <a:p>
            <a:pPr algn="l">
              <a:lnSpc>
                <a:spcPct val="118000"/>
              </a:lnSpc>
              <a:spcBef>
                <a:spcPts val="0"/>
              </a:spcBef>
              <a:spcAft>
                <a:spcPts val="0"/>
              </a:spcAft>
            </a:pPr>
            <a:r>
              <a:rPr sz="1300" b="1" i="0">
                <a:solidFill>
                  <a:srgbClr val="0F172A"/>
                </a:solidFill>
                <a:latin typeface="Segoe UI Semibold"/>
              </a:rPr>
              <a:t>Current limitations</a:t>
            </a:r>
          </a:p>
        </p:txBody>
      </p:sp>
      <p:sp>
        <p:nvSpPr>
          <p:cNvPr id="28" name="Rounded Rectangle 27"/>
          <p:cNvSpPr/>
          <p:nvPr/>
        </p:nvSpPr>
        <p:spPr>
          <a:xfrm>
            <a:off x="4551578" y="2500884"/>
            <a:ext cx="91440" cy="91440"/>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752746" y="2436876"/>
            <a:ext cx="2887370"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a:solidFill>
                  <a:srgbClr val="0F172A"/>
                </a:solidFill>
                <a:latin typeface="Segoe UI"/>
              </a:rPr>
              <a:t>Dashboards are not server-protected</a:t>
            </a:r>
          </a:p>
        </p:txBody>
      </p:sp>
      <p:sp>
        <p:nvSpPr>
          <p:cNvPr id="30" name="TextBox 29"/>
          <p:cNvSpPr txBox="1"/>
          <p:nvPr/>
        </p:nvSpPr>
        <p:spPr>
          <a:xfrm>
            <a:off x="4752746" y="2624328"/>
            <a:ext cx="2887370" cy="269748"/>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475569"/>
                </a:solidFill>
                <a:latin typeface="Segoe UI"/>
              </a:rPr>
              <a:t>there is no Next.js middleware yet; role checks live in the client and in the API.</a:t>
            </a:r>
          </a:p>
        </p:txBody>
      </p:sp>
      <p:sp>
        <p:nvSpPr>
          <p:cNvPr id="31" name="Rounded Rectangle 30"/>
          <p:cNvSpPr/>
          <p:nvPr/>
        </p:nvSpPr>
        <p:spPr>
          <a:xfrm>
            <a:off x="4551578" y="3058668"/>
            <a:ext cx="91440" cy="91440"/>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752746" y="2994660"/>
            <a:ext cx="2887370"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a:solidFill>
                  <a:srgbClr val="0F172A"/>
                </a:solidFill>
                <a:latin typeface="Segoe UI"/>
              </a:rPr>
              <a:t>No automated tests</a:t>
            </a:r>
          </a:p>
        </p:txBody>
      </p:sp>
      <p:sp>
        <p:nvSpPr>
          <p:cNvPr id="33" name="TextBox 32"/>
          <p:cNvSpPr txBox="1"/>
          <p:nvPr/>
        </p:nvSpPr>
        <p:spPr>
          <a:xfrm>
            <a:off x="4752746" y="3182112"/>
            <a:ext cx="2887370" cy="269748"/>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475569"/>
                </a:solidFill>
                <a:latin typeface="Segoe UI"/>
              </a:rPr>
              <a:t>no Jest, Vitest or Playwright suite and no CI pipeline are committed.</a:t>
            </a:r>
          </a:p>
        </p:txBody>
      </p:sp>
      <p:sp>
        <p:nvSpPr>
          <p:cNvPr id="34" name="Rounded Rectangle 33"/>
          <p:cNvSpPr/>
          <p:nvPr/>
        </p:nvSpPr>
        <p:spPr>
          <a:xfrm>
            <a:off x="4551578" y="3616452"/>
            <a:ext cx="91440" cy="91440"/>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752746" y="3552444"/>
            <a:ext cx="2887370"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a:solidFill>
                  <a:srgbClr val="0F172A"/>
                </a:solidFill>
                <a:latin typeface="Segoe UI"/>
              </a:rPr>
              <a:t>No payments</a:t>
            </a:r>
          </a:p>
        </p:txBody>
      </p:sp>
      <p:sp>
        <p:nvSpPr>
          <p:cNvPr id="36" name="TextBox 35"/>
          <p:cNvSpPr txBox="1"/>
          <p:nvPr/>
        </p:nvSpPr>
        <p:spPr>
          <a:xfrm>
            <a:off x="4752746" y="3739896"/>
            <a:ext cx="2887370" cy="269748"/>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475569"/>
                </a:solidFill>
                <a:latin typeface="Segoe UI"/>
              </a:rPr>
              <a:t>rates and prices are modelled, but no gateway, escrow or payout exists.</a:t>
            </a:r>
          </a:p>
        </p:txBody>
      </p:sp>
      <p:sp>
        <p:nvSpPr>
          <p:cNvPr id="37" name="Rounded Rectangle 36"/>
          <p:cNvSpPr/>
          <p:nvPr/>
        </p:nvSpPr>
        <p:spPr>
          <a:xfrm>
            <a:off x="4551578" y="4174235"/>
            <a:ext cx="91440" cy="91440"/>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752746" y="4110228"/>
            <a:ext cx="2887370"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a:solidFill>
                  <a:srgbClr val="0F172A"/>
                </a:solidFill>
                <a:latin typeface="Segoe UI"/>
              </a:rPr>
              <a:t>No notifications</a:t>
            </a:r>
          </a:p>
        </p:txBody>
      </p:sp>
      <p:sp>
        <p:nvSpPr>
          <p:cNvPr id="39" name="TextBox 38"/>
          <p:cNvSpPr txBox="1"/>
          <p:nvPr/>
        </p:nvSpPr>
        <p:spPr>
          <a:xfrm>
            <a:off x="4752746" y="4297680"/>
            <a:ext cx="2887370" cy="269748"/>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475569"/>
                </a:solidFill>
                <a:latin typeface="Segoe UI"/>
              </a:rPr>
              <a:t>booking and review events are not pushed by email, SMS or WhatsApp.</a:t>
            </a:r>
          </a:p>
        </p:txBody>
      </p:sp>
      <p:sp>
        <p:nvSpPr>
          <p:cNvPr id="40" name="Rounded Rectangle 39"/>
          <p:cNvSpPr/>
          <p:nvPr/>
        </p:nvSpPr>
        <p:spPr>
          <a:xfrm>
            <a:off x="4551578" y="4732020"/>
            <a:ext cx="91440" cy="91440"/>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752746" y="4668012"/>
            <a:ext cx="2887370"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a:solidFill>
                  <a:srgbClr val="0F172A"/>
                </a:solidFill>
                <a:latin typeface="Segoe UI"/>
              </a:rPr>
              <a:t>Limited reach of the store</a:t>
            </a:r>
          </a:p>
        </p:txBody>
      </p:sp>
      <p:sp>
        <p:nvSpPr>
          <p:cNvPr id="42" name="TextBox 41"/>
          <p:cNvSpPr txBox="1"/>
          <p:nvPr/>
        </p:nvSpPr>
        <p:spPr>
          <a:xfrm>
            <a:off x="4752746" y="4855464"/>
            <a:ext cx="2887370" cy="269748"/>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475569"/>
                </a:solidFill>
                <a:latin typeface="Segoe UI"/>
              </a:rPr>
              <a:t>credentials are stored as base64 data URLs, which is not a production file store.</a:t>
            </a:r>
          </a:p>
        </p:txBody>
      </p:sp>
      <p:sp>
        <p:nvSpPr>
          <p:cNvPr id="43" name="Rounded Rectangle 42"/>
          <p:cNvSpPr/>
          <p:nvPr/>
        </p:nvSpPr>
        <p:spPr>
          <a:xfrm>
            <a:off x="8097316" y="1847088"/>
            <a:ext cx="3527450" cy="3529584"/>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8097316" y="1847088"/>
            <a:ext cx="3527450" cy="54864"/>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8298484" y="2048256"/>
            <a:ext cx="3125114" cy="274320"/>
          </a:xfrm>
          <a:prstGeom prst="rect">
            <a:avLst/>
          </a:prstGeom>
          <a:noFill/>
        </p:spPr>
        <p:txBody>
          <a:bodyPr wrap="square" lIns="0" rIns="0" tIns="0" bIns="0" anchor="t">
            <a:spAutoFit/>
          </a:bodyPr>
          <a:lstStyle/>
          <a:p>
            <a:pPr algn="l">
              <a:lnSpc>
                <a:spcPct val="118000"/>
              </a:lnSpc>
              <a:spcBef>
                <a:spcPts val="0"/>
              </a:spcBef>
              <a:spcAft>
                <a:spcPts val="0"/>
              </a:spcAft>
            </a:pPr>
            <a:r>
              <a:rPr sz="1300" b="1" i="0">
                <a:solidFill>
                  <a:srgbClr val="0F172A"/>
                </a:solidFill>
                <a:latin typeface="Segoe UI Semibold"/>
              </a:rPr>
              <a:t>Potential impact</a:t>
            </a:r>
          </a:p>
        </p:txBody>
      </p:sp>
      <p:sp>
        <p:nvSpPr>
          <p:cNvPr id="46" name="Rounded Rectangle 45"/>
          <p:cNvSpPr/>
          <p:nvPr/>
        </p:nvSpPr>
        <p:spPr>
          <a:xfrm>
            <a:off x="8316772" y="2500884"/>
            <a:ext cx="91440" cy="91440"/>
          </a:xfrm>
          <a:prstGeom prst="roundRect">
            <a:avLst>
              <a:gd name="adj" fmla="val 50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8517940" y="2436876"/>
            <a:ext cx="2887370"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a:solidFill>
                  <a:srgbClr val="0F172A"/>
                </a:solidFill>
                <a:latin typeface="Segoe UI"/>
              </a:rPr>
              <a:t>Subject coverage</a:t>
            </a:r>
          </a:p>
        </p:txBody>
      </p:sp>
      <p:sp>
        <p:nvSpPr>
          <p:cNvPr id="48" name="TextBox 47"/>
          <p:cNvSpPr txBox="1"/>
          <p:nvPr/>
        </p:nvSpPr>
        <p:spPr>
          <a:xfrm>
            <a:off x="8517940" y="2624328"/>
            <a:ext cx="2887370" cy="269748"/>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475569"/>
                </a:solidFill>
                <a:latin typeface="Segoe UI"/>
              </a:rPr>
              <a:t>33 subject options across 8 curriculum areas, from WAEC/JAMB to coding and data analysis.</a:t>
            </a:r>
          </a:p>
        </p:txBody>
      </p:sp>
      <p:sp>
        <p:nvSpPr>
          <p:cNvPr id="49" name="Rounded Rectangle 48"/>
          <p:cNvSpPr/>
          <p:nvPr/>
        </p:nvSpPr>
        <p:spPr>
          <a:xfrm>
            <a:off x="8316772" y="3058668"/>
            <a:ext cx="91440" cy="91440"/>
          </a:xfrm>
          <a:prstGeom prst="roundRect">
            <a:avLst>
              <a:gd name="adj" fmla="val 50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8517940" y="2994660"/>
            <a:ext cx="2887370"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a:solidFill>
                  <a:srgbClr val="0F172A"/>
                </a:solidFill>
                <a:latin typeface="Segoe UI"/>
              </a:rPr>
              <a:t>Nationwide reach</a:t>
            </a:r>
          </a:p>
        </p:txBody>
      </p:sp>
      <p:sp>
        <p:nvSpPr>
          <p:cNvPr id="51" name="TextBox 50"/>
          <p:cNvSpPr txBox="1"/>
          <p:nvPr/>
        </p:nvSpPr>
        <p:spPr>
          <a:xfrm>
            <a:off x="8517940" y="3182112"/>
            <a:ext cx="2887370" cy="269748"/>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475569"/>
                </a:solidFill>
                <a:latin typeface="Segoe UI"/>
              </a:rPr>
              <a:t>state-level search plus a fully remote option for online-only tutors.</a:t>
            </a:r>
          </a:p>
        </p:txBody>
      </p:sp>
      <p:sp>
        <p:nvSpPr>
          <p:cNvPr id="52" name="Rounded Rectangle 51"/>
          <p:cNvSpPr/>
          <p:nvPr/>
        </p:nvSpPr>
        <p:spPr>
          <a:xfrm>
            <a:off x="8316772" y="3616452"/>
            <a:ext cx="91440" cy="91440"/>
          </a:xfrm>
          <a:prstGeom prst="roundRect">
            <a:avLst>
              <a:gd name="adj" fmla="val 50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8517940" y="3552444"/>
            <a:ext cx="2887370"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a:solidFill>
                  <a:srgbClr val="0F172A"/>
                </a:solidFill>
                <a:latin typeface="Segoe UI"/>
              </a:rPr>
              <a:t>Tutor income</a:t>
            </a:r>
          </a:p>
        </p:txBody>
      </p:sp>
      <p:sp>
        <p:nvSpPr>
          <p:cNvPr id="54" name="TextBox 53"/>
          <p:cNvSpPr txBox="1"/>
          <p:nvPr/>
        </p:nvSpPr>
        <p:spPr>
          <a:xfrm>
            <a:off x="8517940" y="3739896"/>
            <a:ext cx="2887370" cy="269748"/>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475569"/>
                </a:solidFill>
                <a:latin typeface="Segoe UI"/>
              </a:rPr>
              <a:t>a verified, professional profile with credentials and reviews — a digital storefront for teaching.</a:t>
            </a:r>
          </a:p>
        </p:txBody>
      </p:sp>
      <p:sp>
        <p:nvSpPr>
          <p:cNvPr id="55" name="Rounded Rectangle 54"/>
          <p:cNvSpPr/>
          <p:nvPr/>
        </p:nvSpPr>
        <p:spPr>
          <a:xfrm>
            <a:off x="8316772" y="4174235"/>
            <a:ext cx="91440" cy="91440"/>
          </a:xfrm>
          <a:prstGeom prst="roundRect">
            <a:avLst>
              <a:gd name="adj" fmla="val 50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8517940" y="4110228"/>
            <a:ext cx="2887370"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a:solidFill>
                  <a:srgbClr val="0F172A"/>
                </a:solidFill>
                <a:latin typeface="Segoe UI"/>
              </a:rPr>
              <a:t>Parent confidence</a:t>
            </a:r>
          </a:p>
        </p:txBody>
      </p:sp>
      <p:sp>
        <p:nvSpPr>
          <p:cNvPr id="57" name="TextBox 56"/>
          <p:cNvSpPr txBox="1"/>
          <p:nvPr/>
        </p:nvSpPr>
        <p:spPr>
          <a:xfrm>
            <a:off x="8517940" y="4297680"/>
            <a:ext cx="2887370" cy="269748"/>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475569"/>
                </a:solidFill>
                <a:latin typeface="Segoe UI"/>
              </a:rPr>
              <a:t>a documented trail: who taught what, when, at what price, and how it was rated.</a:t>
            </a:r>
          </a:p>
        </p:txBody>
      </p:sp>
      <p:sp>
        <p:nvSpPr>
          <p:cNvPr id="58" name="Rounded Rectangle 57"/>
          <p:cNvSpPr/>
          <p:nvPr/>
        </p:nvSpPr>
        <p:spPr>
          <a:xfrm>
            <a:off x="8316772" y="4732020"/>
            <a:ext cx="91440" cy="91440"/>
          </a:xfrm>
          <a:prstGeom prst="roundRect">
            <a:avLst>
              <a:gd name="adj" fmla="val 50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8517940" y="4668012"/>
            <a:ext cx="2887370"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a:solidFill>
                  <a:srgbClr val="0F172A"/>
                </a:solidFill>
                <a:latin typeface="Segoe UI"/>
              </a:rPr>
              <a:t>Extensible base</a:t>
            </a:r>
          </a:p>
        </p:txBody>
      </p:sp>
      <p:sp>
        <p:nvSpPr>
          <p:cNvPr id="60" name="TextBox 59"/>
          <p:cNvSpPr txBox="1"/>
          <p:nvPr/>
        </p:nvSpPr>
        <p:spPr>
          <a:xfrm>
            <a:off x="8517940" y="4855464"/>
            <a:ext cx="2887370" cy="269748"/>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475569"/>
                </a:solidFill>
                <a:latin typeface="Segoe UI"/>
              </a:rPr>
              <a:t>the schema already carries curriculum, teaching mode, documents and verification for future growth.</a:t>
            </a:r>
          </a:p>
        </p:txBody>
      </p:sp>
      <p:sp>
        <p:nvSpPr>
          <p:cNvPr id="61" name="Rounded Rectangle 60"/>
          <p:cNvSpPr/>
          <p:nvPr/>
        </p:nvSpPr>
        <p:spPr>
          <a:xfrm>
            <a:off x="566928" y="5536692"/>
            <a:ext cx="41148" cy="146304"/>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694944" y="5504688"/>
            <a:ext cx="10929823" cy="219456"/>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00">
                <a:solidFill>
                  <a:srgbClr val="1E3A8A"/>
                </a:solidFill>
                <a:latin typeface="Segoe UI"/>
              </a:rPr>
              <a:t>NEXT MILESTONES WE WOULD SHIP FIRST</a:t>
            </a:r>
          </a:p>
        </p:txBody>
      </p:sp>
      <p:sp>
        <p:nvSpPr>
          <p:cNvPr id="63" name="Rounded Rectangle 62"/>
          <p:cNvSpPr/>
          <p:nvPr/>
        </p:nvSpPr>
        <p:spPr>
          <a:xfrm>
            <a:off x="566928" y="5815584"/>
            <a:ext cx="2654731" cy="53035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950" b="1" i="0">
                <a:solidFill>
                  <a:srgbClr val="1E3A8A"/>
                </a:solidFill>
                <a:latin typeface="Segoe UI"/>
              </a:rPr>
              <a:t>Server-side route protection with Next.js middleware</a:t>
            </a:r>
          </a:p>
        </p:txBody>
      </p:sp>
      <p:sp>
        <p:nvSpPr>
          <p:cNvPr id="64" name="Rounded Rectangle 63"/>
          <p:cNvSpPr/>
          <p:nvPr/>
        </p:nvSpPr>
        <p:spPr>
          <a:xfrm>
            <a:off x="566928" y="5815584"/>
            <a:ext cx="2654731" cy="530352"/>
          </a:xfrm>
          <a:prstGeom prst="roundRect">
            <a:avLst>
              <a:gd name="adj" fmla="val 10000"/>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Rounded Rectangle 64"/>
          <p:cNvSpPr/>
          <p:nvPr/>
        </p:nvSpPr>
        <p:spPr>
          <a:xfrm>
            <a:off x="3367963" y="5815584"/>
            <a:ext cx="2654731" cy="53035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950" b="1" i="0">
                <a:solidFill>
                  <a:srgbClr val="1E3A8A"/>
                </a:solidFill>
                <a:latin typeface="Segoe UI"/>
              </a:rPr>
              <a:t>Automated test suite + CI pipeline</a:t>
            </a:r>
          </a:p>
        </p:txBody>
      </p:sp>
      <p:sp>
        <p:nvSpPr>
          <p:cNvPr id="66" name="Rounded Rectangle 65"/>
          <p:cNvSpPr/>
          <p:nvPr/>
        </p:nvSpPr>
        <p:spPr>
          <a:xfrm>
            <a:off x="3367963" y="5815584"/>
            <a:ext cx="2654731" cy="530352"/>
          </a:xfrm>
          <a:prstGeom prst="roundRect">
            <a:avLst>
              <a:gd name="adj" fmla="val 10000"/>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Rounded Rectangle 66"/>
          <p:cNvSpPr/>
          <p:nvPr/>
        </p:nvSpPr>
        <p:spPr>
          <a:xfrm>
            <a:off x="6168999" y="5815584"/>
            <a:ext cx="2654731" cy="53035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950" b="1" i="0">
                <a:solidFill>
                  <a:srgbClr val="1E3A8A"/>
                </a:solidFill>
                <a:latin typeface="Segoe UI"/>
              </a:rPr>
              <a:t>Payment, escrow and tutor payouts</a:t>
            </a:r>
          </a:p>
        </p:txBody>
      </p:sp>
      <p:sp>
        <p:nvSpPr>
          <p:cNvPr id="68" name="Rounded Rectangle 67"/>
          <p:cNvSpPr/>
          <p:nvPr/>
        </p:nvSpPr>
        <p:spPr>
          <a:xfrm>
            <a:off x="6168999" y="5815584"/>
            <a:ext cx="2654731" cy="530352"/>
          </a:xfrm>
          <a:prstGeom prst="roundRect">
            <a:avLst>
              <a:gd name="adj" fmla="val 10000"/>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ounded Rectangle 68"/>
          <p:cNvSpPr/>
          <p:nvPr/>
        </p:nvSpPr>
        <p:spPr>
          <a:xfrm>
            <a:off x="8970035" y="5815584"/>
            <a:ext cx="2654731" cy="53035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950" b="1" i="0">
                <a:solidFill>
                  <a:srgbClr val="1E3A8A"/>
                </a:solidFill>
                <a:latin typeface="Segoe UI"/>
              </a:rPr>
              <a:t>Email / WhatsApp notifications and a tutor earnings dashboard</a:t>
            </a:r>
          </a:p>
        </p:txBody>
      </p:sp>
      <p:sp>
        <p:nvSpPr>
          <p:cNvPr id="70" name="Rounded Rectangle 69"/>
          <p:cNvSpPr/>
          <p:nvPr/>
        </p:nvSpPr>
        <p:spPr>
          <a:xfrm>
            <a:off x="8970035" y="5815584"/>
            <a:ext cx="2654731" cy="530352"/>
          </a:xfrm>
          <a:prstGeom prst="roundRect">
            <a:avLst>
              <a:gd name="adj" fmla="val 10000"/>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1" name="Connector 70"/>
          <p:cNvCxnSpPr/>
          <p:nvPr/>
        </p:nvCxnSpPr>
        <p:spPr>
          <a:xfrm>
            <a:off x="566928" y="6382512"/>
            <a:ext cx="11057839"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66928" y="6473952"/>
            <a:ext cx="9777679" cy="219456"/>
          </a:xfrm>
          <a:prstGeom prst="rect">
            <a:avLst/>
          </a:prstGeom>
          <a:noFill/>
        </p:spPr>
        <p:txBody>
          <a:bodyPr wrap="square" lIns="0" rIns="0" tIns="0" bIns="0" anchor="t">
            <a:spAutoFit/>
          </a:bodyPr>
          <a:lstStyle/>
          <a:p>
            <a:pPr algn="l">
              <a:lnSpc>
                <a:spcPct val="118000"/>
              </a:lnSpc>
              <a:spcBef>
                <a:spcPts val="0"/>
              </a:spcBef>
              <a:spcAft>
                <a:spcPts val="0"/>
              </a:spcAft>
            </a:pPr>
            <a:r>
              <a:rPr sz="880" b="0" i="0">
                <a:solidFill>
                  <a:srgbClr val="94A3B8"/>
                </a:solidFill>
                <a:latin typeface="Segoe UI"/>
              </a:rPr>
              <a:t>Presenter: Hephzibah Uchechukwu · Value &amp; impact</a:t>
            </a:r>
          </a:p>
        </p:txBody>
      </p:sp>
      <p:sp>
        <p:nvSpPr>
          <p:cNvPr id="73" name="TextBox 72"/>
          <p:cNvSpPr txBox="1"/>
          <p:nvPr/>
        </p:nvSpPr>
        <p:spPr>
          <a:xfrm>
            <a:off x="10436047" y="6473952"/>
            <a:ext cx="1188720" cy="219456"/>
          </a:xfrm>
          <a:prstGeom prst="rect">
            <a:avLst/>
          </a:prstGeom>
          <a:noFill/>
        </p:spPr>
        <p:txBody>
          <a:bodyPr wrap="square" lIns="0" rIns="0" tIns="0" bIns="0" anchor="t">
            <a:spAutoFit/>
          </a:bodyPr>
          <a:lstStyle/>
          <a:p>
            <a:pPr algn="r">
              <a:lnSpc>
                <a:spcPct val="118000"/>
              </a:lnSpc>
              <a:spcBef>
                <a:spcPts val="0"/>
              </a:spcBef>
              <a:spcAft>
                <a:spcPts val="0"/>
              </a:spcAft>
            </a:pPr>
            <a:r>
              <a:rPr sz="950" b="1" i="0">
                <a:solidFill>
                  <a:srgbClr val="94A3B8"/>
                </a:solidFill>
                <a:latin typeface="Segoe UI"/>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420624"/>
            <a:ext cx="50292" cy="173736"/>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384048"/>
            <a:ext cx="5571439" cy="237744"/>
          </a:xfrm>
          <a:prstGeom prst="rect">
            <a:avLst/>
          </a:prstGeom>
          <a:noFill/>
        </p:spPr>
        <p:txBody>
          <a:bodyPr wrap="square" lIns="0" rIns="0" tIns="0" bIns="0" anchor="t">
            <a:spAutoFit/>
          </a:bodyPr>
          <a:lstStyle/>
          <a:p>
            <a:pPr algn="l">
              <a:lnSpc>
                <a:spcPct val="118000"/>
              </a:lnSpc>
              <a:spcBef>
                <a:spcPts val="0"/>
              </a:spcBef>
              <a:spcAft>
                <a:spcPts val="0"/>
              </a:spcAft>
            </a:pPr>
            <a:r>
              <a:rPr sz="1050" b="1" i="0" cap="all" spc="120">
                <a:solidFill>
                  <a:srgbClr val="2563EB"/>
                </a:solidFill>
                <a:latin typeface="Segoe UI"/>
              </a:rPr>
              <a:t>CONCLUSION</a:t>
            </a:r>
          </a:p>
        </p:txBody>
      </p:sp>
      <p:sp>
        <p:nvSpPr>
          <p:cNvPr id="5" name="TextBox 4"/>
          <p:cNvSpPr txBox="1"/>
          <p:nvPr/>
        </p:nvSpPr>
        <p:spPr>
          <a:xfrm>
            <a:off x="566928" y="658368"/>
            <a:ext cx="11057839" cy="420624"/>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0F172A"/>
                </a:solidFill>
                <a:latin typeface="Segoe UI Semibold"/>
              </a:rPr>
              <a:t>What we built — and what comes next</a:t>
            </a:r>
          </a:p>
        </p:txBody>
      </p:sp>
      <p:sp>
        <p:nvSpPr>
          <p:cNvPr id="6" name="TextBox 5"/>
          <p:cNvSpPr txBox="1"/>
          <p:nvPr/>
        </p:nvSpPr>
        <p:spPr>
          <a:xfrm>
            <a:off x="566928" y="1207008"/>
            <a:ext cx="10692079" cy="274320"/>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4748B"/>
                </a:solidFill>
                <a:latin typeface="Segoe UI"/>
              </a:rPr>
              <a:t>A complete, deployed marketplace for verified Nigerian tutoring, with every layer written by this team.</a:t>
            </a:r>
          </a:p>
        </p:txBody>
      </p:sp>
      <p:sp>
        <p:nvSpPr>
          <p:cNvPr id="7" name="Rounded Rectangle 6"/>
          <p:cNvSpPr/>
          <p:nvPr/>
        </p:nvSpPr>
        <p:spPr>
          <a:xfrm>
            <a:off x="6321247" y="365760"/>
            <a:ext cx="5303520" cy="246888"/>
          </a:xfrm>
          <a:prstGeom prst="roundRect">
            <a:avLst>
              <a:gd name="adj" fmla="val 50000"/>
            </a:avLst>
          </a:prstGeom>
          <a:solidFill>
            <a:srgbClr val="FFFFFF"/>
          </a:solidFill>
          <a:ln w="1016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lstStyle/>
          <a:p>
            <a:pPr algn="l"/>
            <a:r>
              <a:rPr sz="750" b="1" i="0" cap="all" spc="60">
                <a:solidFill>
                  <a:srgbClr val="64748B"/>
                </a:solidFill>
                <a:latin typeface="Segoe UI"/>
              </a:rPr>
              <a:t>PRESENTER  </a:t>
            </a:r>
            <a:r>
              <a:rPr sz="830" b="1" i="0">
                <a:solidFill>
                  <a:srgbClr val="0F172A"/>
                </a:solidFill>
                <a:latin typeface="Segoe UI"/>
              </a:rPr>
              <a:t>Hephzibah Uchechukwu</a:t>
            </a:r>
            <a:r>
              <a:rPr sz="790" b="1" i="0">
                <a:solidFill>
                  <a:srgbClr val="2563EB"/>
                </a:solidFill>
                <a:latin typeface="Segoe UI"/>
              </a:rPr>
              <a:t>  ·  Closing remarks</a:t>
            </a:r>
          </a:p>
        </p:txBody>
      </p:sp>
      <p:sp>
        <p:nvSpPr>
          <p:cNvPr id="8" name="Rounded Rectangle 7"/>
          <p:cNvSpPr/>
          <p:nvPr/>
        </p:nvSpPr>
        <p:spPr>
          <a:xfrm>
            <a:off x="566928" y="1883664"/>
            <a:ext cx="6537960" cy="859536"/>
          </a:xfrm>
          <a:prstGeom prst="roundRect">
            <a:avLst>
              <a:gd name="adj" fmla="val 7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566928" y="1883664"/>
            <a:ext cx="45720" cy="859536"/>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 y="2029968"/>
            <a:ext cx="6080760" cy="256032"/>
          </a:xfrm>
          <a:prstGeom prst="rect">
            <a:avLst/>
          </a:prstGeom>
          <a:noFill/>
        </p:spPr>
        <p:txBody>
          <a:bodyPr wrap="square" lIns="0" rIns="0" tIns="0" bIns="0" anchor="t">
            <a:spAutoFit/>
          </a:bodyPr>
          <a:lstStyle/>
          <a:p>
            <a:pPr algn="l">
              <a:lnSpc>
                <a:spcPct val="118000"/>
              </a:lnSpc>
              <a:spcBef>
                <a:spcPts val="0"/>
              </a:spcBef>
              <a:spcAft>
                <a:spcPts val="0"/>
              </a:spcAft>
            </a:pPr>
            <a:r>
              <a:rPr sz="1250" b="1" i="0">
                <a:solidFill>
                  <a:srgbClr val="0F172A"/>
                </a:solidFill>
                <a:latin typeface="Segoe UI Semibold"/>
              </a:rPr>
              <a:t>A real product, not a mock-up</a:t>
            </a:r>
          </a:p>
        </p:txBody>
      </p:sp>
      <p:sp>
        <p:nvSpPr>
          <p:cNvPr id="11" name="TextBox 10"/>
          <p:cNvSpPr txBox="1"/>
          <p:nvPr/>
        </p:nvSpPr>
        <p:spPr>
          <a:xfrm>
            <a:off x="804672" y="2313432"/>
            <a:ext cx="6080760" cy="365760"/>
          </a:xfrm>
          <a:prstGeom prst="rect">
            <a:avLst/>
          </a:prstGeom>
          <a:noFill/>
        </p:spPr>
        <p:txBody>
          <a:bodyPr wrap="square" lIns="0" rIns="0" tIns="0" bIns="0" anchor="t">
            <a:spAutoFit/>
          </a:bodyPr>
          <a:lstStyle/>
          <a:p>
            <a:pPr algn="l">
              <a:lnSpc>
                <a:spcPct val="120000"/>
              </a:lnSpc>
              <a:spcBef>
                <a:spcPts val="0"/>
              </a:spcBef>
              <a:spcAft>
                <a:spcPts val="0"/>
              </a:spcAft>
            </a:pPr>
            <a:r>
              <a:rPr sz="1000" b="0" i="0">
                <a:solidFill>
                  <a:srgbClr val="475569"/>
                </a:solidFill>
                <a:latin typeface="Segoe UI"/>
              </a:rPr>
              <a:t>15 routes, 21 components, 5 API routes, 10 database tables and a live deployment — all in this repository.</a:t>
            </a:r>
          </a:p>
        </p:txBody>
      </p:sp>
      <p:sp>
        <p:nvSpPr>
          <p:cNvPr id="12" name="Rounded Rectangle 11"/>
          <p:cNvSpPr/>
          <p:nvPr/>
        </p:nvSpPr>
        <p:spPr>
          <a:xfrm>
            <a:off x="566928" y="2852928"/>
            <a:ext cx="6537960" cy="859536"/>
          </a:xfrm>
          <a:prstGeom prst="roundRect">
            <a:avLst>
              <a:gd name="adj" fmla="val 7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566928" y="2852928"/>
            <a:ext cx="45720" cy="859536"/>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04672" y="2999232"/>
            <a:ext cx="6080760" cy="256032"/>
          </a:xfrm>
          <a:prstGeom prst="rect">
            <a:avLst/>
          </a:prstGeom>
          <a:noFill/>
        </p:spPr>
        <p:txBody>
          <a:bodyPr wrap="square" lIns="0" rIns="0" tIns="0" bIns="0" anchor="t">
            <a:spAutoFit/>
          </a:bodyPr>
          <a:lstStyle/>
          <a:p>
            <a:pPr algn="l">
              <a:lnSpc>
                <a:spcPct val="118000"/>
              </a:lnSpc>
              <a:spcBef>
                <a:spcPts val="0"/>
              </a:spcBef>
              <a:spcAft>
                <a:spcPts val="0"/>
              </a:spcAft>
            </a:pPr>
            <a:r>
              <a:rPr sz="1250" b="1" i="0">
                <a:solidFill>
                  <a:srgbClr val="0F172A"/>
                </a:solidFill>
                <a:latin typeface="Segoe UI Semibold"/>
              </a:rPr>
              <a:t>Trust is designed in</a:t>
            </a:r>
          </a:p>
        </p:txBody>
      </p:sp>
      <p:sp>
        <p:nvSpPr>
          <p:cNvPr id="15" name="TextBox 14"/>
          <p:cNvSpPr txBox="1"/>
          <p:nvPr/>
        </p:nvSpPr>
        <p:spPr>
          <a:xfrm>
            <a:off x="804672" y="3282696"/>
            <a:ext cx="6080760" cy="365760"/>
          </a:xfrm>
          <a:prstGeom prst="rect">
            <a:avLst/>
          </a:prstGeom>
          <a:noFill/>
        </p:spPr>
        <p:txBody>
          <a:bodyPr wrap="square" lIns="0" rIns="0" tIns="0" bIns="0" anchor="t">
            <a:spAutoFit/>
          </a:bodyPr>
          <a:lstStyle/>
          <a:p>
            <a:pPr algn="l">
              <a:lnSpc>
                <a:spcPct val="120000"/>
              </a:lnSpc>
              <a:spcBef>
                <a:spcPts val="0"/>
              </a:spcBef>
              <a:spcAft>
                <a:spcPts val="0"/>
              </a:spcAft>
            </a:pPr>
            <a:r>
              <a:rPr sz="1000" b="0" i="0">
                <a:solidFill>
                  <a:srgbClr val="475569"/>
                </a:solidFill>
                <a:latin typeface="Segoe UI"/>
              </a:rPr>
              <a:t>verification queue, verified badge, reviews bound to completed bookings, and a rating trigger that keeps the score honest.</a:t>
            </a:r>
          </a:p>
        </p:txBody>
      </p:sp>
      <p:sp>
        <p:nvSpPr>
          <p:cNvPr id="16" name="Rounded Rectangle 15"/>
          <p:cNvSpPr/>
          <p:nvPr/>
        </p:nvSpPr>
        <p:spPr>
          <a:xfrm>
            <a:off x="566928" y="3822191"/>
            <a:ext cx="6537960" cy="859536"/>
          </a:xfrm>
          <a:prstGeom prst="roundRect">
            <a:avLst>
              <a:gd name="adj" fmla="val 7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66928" y="3822191"/>
            <a:ext cx="45720" cy="859536"/>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04672" y="3968496"/>
            <a:ext cx="6080760" cy="256032"/>
          </a:xfrm>
          <a:prstGeom prst="rect">
            <a:avLst/>
          </a:prstGeom>
          <a:noFill/>
        </p:spPr>
        <p:txBody>
          <a:bodyPr wrap="square" lIns="0" rIns="0" tIns="0" bIns="0" anchor="t">
            <a:spAutoFit/>
          </a:bodyPr>
          <a:lstStyle/>
          <a:p>
            <a:pPr algn="l">
              <a:lnSpc>
                <a:spcPct val="118000"/>
              </a:lnSpc>
              <a:spcBef>
                <a:spcPts val="0"/>
              </a:spcBef>
              <a:spcAft>
                <a:spcPts val="0"/>
              </a:spcAft>
            </a:pPr>
            <a:r>
              <a:rPr sz="1250" b="1" i="0">
                <a:solidFill>
                  <a:srgbClr val="0F172A"/>
                </a:solidFill>
                <a:latin typeface="Segoe UI Semibold"/>
              </a:rPr>
              <a:t>Matching you can explain</a:t>
            </a:r>
          </a:p>
        </p:txBody>
      </p:sp>
      <p:sp>
        <p:nvSpPr>
          <p:cNvPr id="19" name="TextBox 18"/>
          <p:cNvSpPr txBox="1"/>
          <p:nvPr/>
        </p:nvSpPr>
        <p:spPr>
          <a:xfrm>
            <a:off x="804672" y="4251959"/>
            <a:ext cx="6080760" cy="365760"/>
          </a:xfrm>
          <a:prstGeom prst="rect">
            <a:avLst/>
          </a:prstGeom>
          <a:noFill/>
        </p:spPr>
        <p:txBody>
          <a:bodyPr wrap="square" lIns="0" rIns="0" tIns="0" bIns="0" anchor="t">
            <a:spAutoFit/>
          </a:bodyPr>
          <a:lstStyle/>
          <a:p>
            <a:pPr algn="l">
              <a:lnSpc>
                <a:spcPct val="120000"/>
              </a:lnSpc>
              <a:spcBef>
                <a:spcPts val="0"/>
              </a:spcBef>
              <a:spcAft>
                <a:spcPts val="0"/>
              </a:spcAft>
            </a:pPr>
            <a:r>
              <a:rPr sz="1000" b="0" i="0">
                <a:solidFill>
                  <a:srgbClr val="475569"/>
                </a:solidFill>
                <a:latin typeface="Segoe UI"/>
              </a:rPr>
              <a:t>a deterministic rules engine that filters, scores, ranks and justifies every recommendation.</a:t>
            </a:r>
          </a:p>
        </p:txBody>
      </p:sp>
      <p:sp>
        <p:nvSpPr>
          <p:cNvPr id="20" name="Rounded Rectangle 19"/>
          <p:cNvSpPr/>
          <p:nvPr/>
        </p:nvSpPr>
        <p:spPr>
          <a:xfrm>
            <a:off x="566928" y="4791456"/>
            <a:ext cx="6537960" cy="859536"/>
          </a:xfrm>
          <a:prstGeom prst="roundRect">
            <a:avLst>
              <a:gd name="adj" fmla="val 7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66928" y="4791456"/>
            <a:ext cx="45720" cy="859536"/>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04672" y="4937760"/>
            <a:ext cx="6080760" cy="256032"/>
          </a:xfrm>
          <a:prstGeom prst="rect">
            <a:avLst/>
          </a:prstGeom>
          <a:noFill/>
        </p:spPr>
        <p:txBody>
          <a:bodyPr wrap="square" lIns="0" rIns="0" tIns="0" bIns="0" anchor="t">
            <a:spAutoFit/>
          </a:bodyPr>
          <a:lstStyle/>
          <a:p>
            <a:pPr algn="l">
              <a:lnSpc>
                <a:spcPct val="118000"/>
              </a:lnSpc>
              <a:spcBef>
                <a:spcPts val="0"/>
              </a:spcBef>
              <a:spcAft>
                <a:spcPts val="0"/>
              </a:spcAft>
            </a:pPr>
            <a:r>
              <a:rPr sz="1250" b="1" i="0">
                <a:solidFill>
                  <a:srgbClr val="0F172A"/>
                </a:solidFill>
                <a:latin typeface="Segoe UI Semibold"/>
              </a:rPr>
              <a:t>A clean base to grow from</a:t>
            </a:r>
          </a:p>
        </p:txBody>
      </p:sp>
      <p:sp>
        <p:nvSpPr>
          <p:cNvPr id="23" name="TextBox 22"/>
          <p:cNvSpPr txBox="1"/>
          <p:nvPr/>
        </p:nvSpPr>
        <p:spPr>
          <a:xfrm>
            <a:off x="804672" y="5221224"/>
            <a:ext cx="6080760" cy="365760"/>
          </a:xfrm>
          <a:prstGeom prst="rect">
            <a:avLst/>
          </a:prstGeom>
          <a:noFill/>
        </p:spPr>
        <p:txBody>
          <a:bodyPr wrap="square" lIns="0" rIns="0" tIns="0" bIns="0" anchor="t">
            <a:spAutoFit/>
          </a:bodyPr>
          <a:lstStyle/>
          <a:p>
            <a:pPr algn="l">
              <a:lnSpc>
                <a:spcPct val="120000"/>
              </a:lnSpc>
              <a:spcBef>
                <a:spcPts val="0"/>
              </a:spcBef>
              <a:spcAft>
                <a:spcPts val="0"/>
              </a:spcAft>
            </a:pPr>
            <a:r>
              <a:rPr sz="1000" b="0" i="0">
                <a:solidFill>
                  <a:srgbClr val="475569"/>
                </a:solidFill>
                <a:latin typeface="Segoe UI"/>
              </a:rPr>
              <a:t>the schema, the API and the component library are all documented and ready for the next feature.</a:t>
            </a:r>
          </a:p>
        </p:txBody>
      </p:sp>
      <p:sp>
        <p:nvSpPr>
          <p:cNvPr id="24" name="Rounded Rectangle 23"/>
          <p:cNvSpPr/>
          <p:nvPr/>
        </p:nvSpPr>
        <p:spPr>
          <a:xfrm>
            <a:off x="7397496" y="1883664"/>
            <a:ext cx="4227271" cy="2761488"/>
          </a:xfrm>
          <a:prstGeom prst="roundRect">
            <a:avLst>
              <a:gd name="adj" fmla="val 5000"/>
            </a:avLst>
          </a:prstGeom>
          <a:gradFill rotWithShape="1">
            <a:gsLst>
              <a:gs pos="0">
                <a:srgbClr val="1E3A8A"/>
              </a:gs>
              <a:gs pos="100000">
                <a:srgbClr val="2563EB"/>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71816" y="2121408"/>
            <a:ext cx="3678631" cy="274320"/>
          </a:xfrm>
          <a:prstGeom prst="rect">
            <a:avLst/>
          </a:prstGeom>
          <a:noFill/>
        </p:spPr>
        <p:txBody>
          <a:bodyPr wrap="square" lIns="0" rIns="0" tIns="0" bIns="0" anchor="t">
            <a:spAutoFit/>
          </a:bodyPr>
          <a:lstStyle/>
          <a:p>
            <a:pPr algn="l">
              <a:lnSpc>
                <a:spcPct val="118000"/>
              </a:lnSpc>
              <a:spcBef>
                <a:spcPts val="0"/>
              </a:spcBef>
              <a:spcAft>
                <a:spcPts val="0"/>
              </a:spcAft>
            </a:pPr>
            <a:r>
              <a:rPr sz="1000" b="1" i="0" cap="all" spc="120">
                <a:solidFill>
                  <a:srgbClr val="10B981"/>
                </a:solidFill>
                <a:latin typeface="Segoe UI"/>
              </a:rPr>
              <a:t>OUR NEXT STEP</a:t>
            </a:r>
          </a:p>
        </p:txBody>
      </p:sp>
      <p:sp>
        <p:nvSpPr>
          <p:cNvPr id="26" name="TextBox 25"/>
          <p:cNvSpPr txBox="1"/>
          <p:nvPr/>
        </p:nvSpPr>
        <p:spPr>
          <a:xfrm>
            <a:off x="7671816" y="2450592"/>
            <a:ext cx="3678631" cy="731520"/>
          </a:xfrm>
          <a:prstGeom prst="rect">
            <a:avLst/>
          </a:prstGeom>
          <a:noFill/>
        </p:spPr>
        <p:txBody>
          <a:bodyPr wrap="square" lIns="0" rIns="0" tIns="0" bIns="0" anchor="t">
            <a:spAutoFit/>
          </a:bodyPr>
          <a:lstStyle/>
          <a:p>
            <a:pPr algn="l">
              <a:lnSpc>
                <a:spcPct val="110000"/>
              </a:lnSpc>
              <a:spcBef>
                <a:spcPts val="0"/>
              </a:spcBef>
              <a:spcAft>
                <a:spcPts val="0"/>
              </a:spcAft>
            </a:pPr>
            <a:r>
              <a:rPr sz="1700" b="1" i="0">
                <a:solidFill>
                  <a:srgbClr val="FFFFFF"/>
                </a:solidFill>
                <a:latin typeface="Segoe UI Semibold"/>
              </a:rPr>
              <a:t>From a working platform to a trusted national service.</a:t>
            </a:r>
          </a:p>
        </p:txBody>
      </p:sp>
      <p:sp>
        <p:nvSpPr>
          <p:cNvPr id="27" name="Rounded Rectangle 26"/>
          <p:cNvSpPr/>
          <p:nvPr/>
        </p:nvSpPr>
        <p:spPr>
          <a:xfrm>
            <a:off x="7671816" y="3337560"/>
            <a:ext cx="100584" cy="100584"/>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891271" y="3273552"/>
            <a:ext cx="3440887" cy="274320"/>
          </a:xfrm>
          <a:prstGeom prst="rect">
            <a:avLst/>
          </a:prstGeom>
          <a:noFill/>
        </p:spPr>
        <p:txBody>
          <a:bodyPr wrap="square" lIns="0" rIns="0" tIns="0" bIns="0" anchor="t">
            <a:spAutoFit/>
          </a:bodyPr>
          <a:lstStyle/>
          <a:p>
            <a:pPr algn="l">
              <a:lnSpc>
                <a:spcPct val="116000"/>
              </a:lnSpc>
              <a:spcBef>
                <a:spcPts val="0"/>
              </a:spcBef>
              <a:spcAft>
                <a:spcPts val="0"/>
              </a:spcAft>
            </a:pPr>
            <a:r>
              <a:rPr sz="1000" b="0" i="0">
                <a:solidFill>
                  <a:srgbClr val="E0EAFF"/>
                </a:solidFill>
                <a:latin typeface="Segoe UI"/>
              </a:rPr>
              <a:t>Protect the dashboards with server-side middleware</a:t>
            </a:r>
          </a:p>
        </p:txBody>
      </p:sp>
      <p:sp>
        <p:nvSpPr>
          <p:cNvPr id="29" name="Rounded Rectangle 28"/>
          <p:cNvSpPr/>
          <p:nvPr/>
        </p:nvSpPr>
        <p:spPr>
          <a:xfrm>
            <a:off x="7671816" y="3666744"/>
            <a:ext cx="100584" cy="100584"/>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891271" y="3602736"/>
            <a:ext cx="3440887" cy="274320"/>
          </a:xfrm>
          <a:prstGeom prst="rect">
            <a:avLst/>
          </a:prstGeom>
          <a:noFill/>
        </p:spPr>
        <p:txBody>
          <a:bodyPr wrap="square" lIns="0" rIns="0" tIns="0" bIns="0" anchor="t">
            <a:spAutoFit/>
          </a:bodyPr>
          <a:lstStyle/>
          <a:p>
            <a:pPr algn="l">
              <a:lnSpc>
                <a:spcPct val="116000"/>
              </a:lnSpc>
              <a:spcBef>
                <a:spcPts val="0"/>
              </a:spcBef>
              <a:spcAft>
                <a:spcPts val="0"/>
              </a:spcAft>
            </a:pPr>
            <a:r>
              <a:rPr sz="1000" b="0" i="0">
                <a:solidFill>
                  <a:srgbClr val="E0EAFF"/>
                </a:solidFill>
                <a:latin typeface="Segoe UI"/>
              </a:rPr>
              <a:t>Automate testing and add CI to every pull request</a:t>
            </a:r>
          </a:p>
        </p:txBody>
      </p:sp>
      <p:sp>
        <p:nvSpPr>
          <p:cNvPr id="31" name="Rounded Rectangle 30"/>
          <p:cNvSpPr/>
          <p:nvPr/>
        </p:nvSpPr>
        <p:spPr>
          <a:xfrm>
            <a:off x="7671816" y="3995928"/>
            <a:ext cx="100584" cy="100584"/>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891271" y="3931920"/>
            <a:ext cx="3440887" cy="274320"/>
          </a:xfrm>
          <a:prstGeom prst="rect">
            <a:avLst/>
          </a:prstGeom>
          <a:noFill/>
        </p:spPr>
        <p:txBody>
          <a:bodyPr wrap="square" lIns="0" rIns="0" tIns="0" bIns="0" anchor="t">
            <a:spAutoFit/>
          </a:bodyPr>
          <a:lstStyle/>
          <a:p>
            <a:pPr algn="l">
              <a:lnSpc>
                <a:spcPct val="116000"/>
              </a:lnSpc>
              <a:spcBef>
                <a:spcPts val="0"/>
              </a:spcBef>
              <a:spcAft>
                <a:spcPts val="0"/>
              </a:spcAft>
            </a:pPr>
            <a:r>
              <a:rPr sz="1000" b="0" i="0">
                <a:solidFill>
                  <a:srgbClr val="E0EAFF"/>
                </a:solidFill>
                <a:latin typeface="Segoe UI"/>
              </a:rPr>
              <a:t>Integrate payments, escrow and tutor payouts</a:t>
            </a:r>
          </a:p>
        </p:txBody>
      </p:sp>
      <p:sp>
        <p:nvSpPr>
          <p:cNvPr id="33" name="Rounded Rectangle 32"/>
          <p:cNvSpPr/>
          <p:nvPr/>
        </p:nvSpPr>
        <p:spPr>
          <a:xfrm>
            <a:off x="7671816" y="4325112"/>
            <a:ext cx="100584" cy="100584"/>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891271" y="4261104"/>
            <a:ext cx="3440887" cy="274320"/>
          </a:xfrm>
          <a:prstGeom prst="rect">
            <a:avLst/>
          </a:prstGeom>
          <a:noFill/>
        </p:spPr>
        <p:txBody>
          <a:bodyPr wrap="square" lIns="0" rIns="0" tIns="0" bIns="0" anchor="t">
            <a:spAutoFit/>
          </a:bodyPr>
          <a:lstStyle/>
          <a:p>
            <a:pPr algn="l">
              <a:lnSpc>
                <a:spcPct val="116000"/>
              </a:lnSpc>
              <a:spcBef>
                <a:spcPts val="0"/>
              </a:spcBef>
              <a:spcAft>
                <a:spcPts val="0"/>
              </a:spcAft>
            </a:pPr>
            <a:r>
              <a:rPr sz="1000" b="0" i="0">
                <a:solidFill>
                  <a:srgbClr val="E0EAFF"/>
                </a:solidFill>
                <a:latin typeface="Segoe UI"/>
              </a:rPr>
              <a:t>Add WhatsApp and email notifications for every booking event</a:t>
            </a:r>
          </a:p>
        </p:txBody>
      </p:sp>
      <p:sp>
        <p:nvSpPr>
          <p:cNvPr id="35" name="Rounded Rectangle 34"/>
          <p:cNvSpPr/>
          <p:nvPr/>
        </p:nvSpPr>
        <p:spPr>
          <a:xfrm>
            <a:off x="566928" y="5779008"/>
            <a:ext cx="6537960" cy="658368"/>
          </a:xfrm>
          <a:prstGeom prst="roundRect">
            <a:avLst>
              <a:gd name="adj" fmla="val 6000"/>
            </a:avLst>
          </a:prstGeom>
          <a:solidFill>
            <a:srgbClr val="DBEAFE"/>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2960" y="5925312"/>
            <a:ext cx="6025896" cy="365759"/>
          </a:xfrm>
          <a:prstGeom prst="rect">
            <a:avLst/>
          </a:prstGeom>
          <a:noFill/>
        </p:spPr>
        <p:txBody>
          <a:bodyPr wrap="square" lIns="0" rIns="0" tIns="0" bIns="0" anchor="ctr">
            <a:spAutoFit/>
          </a:bodyPr>
          <a:lstStyle/>
          <a:p>
            <a:pPr algn="l">
              <a:lnSpc>
                <a:spcPct val="120000"/>
              </a:lnSpc>
            </a:pPr>
            <a:r>
              <a:rPr sz="1150" b="1" i="0">
                <a:solidFill>
                  <a:srgbClr val="1E3A8A"/>
                </a:solidFill>
                <a:latin typeface="Segoe UI"/>
              </a:rPr>
              <a:t>Open by design:  </a:t>
            </a:r>
            <a:r>
              <a:rPr sz="1150" b="0" i="0">
                <a:solidFill>
                  <a:srgbClr val="475569"/>
                </a:solidFill>
                <a:latin typeface="Segoe UI"/>
              </a:rPr>
              <a:t>TutorConnect Nigeria is open source under the MIT licence — the code, the schema and the design system are ready to be reused and extended.</a:t>
            </a:r>
          </a:p>
        </p:txBody>
      </p:sp>
      <p:cxnSp>
        <p:nvCxnSpPr>
          <p:cNvPr id="37" name="Connector 36"/>
          <p:cNvCxnSpPr/>
          <p:nvPr/>
        </p:nvCxnSpPr>
        <p:spPr>
          <a:xfrm>
            <a:off x="566928" y="6382512"/>
            <a:ext cx="11057839"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66928" y="6473952"/>
            <a:ext cx="9777679" cy="219456"/>
          </a:xfrm>
          <a:prstGeom prst="rect">
            <a:avLst/>
          </a:prstGeom>
          <a:noFill/>
        </p:spPr>
        <p:txBody>
          <a:bodyPr wrap="square" lIns="0" rIns="0" tIns="0" bIns="0" anchor="t">
            <a:spAutoFit/>
          </a:bodyPr>
          <a:lstStyle/>
          <a:p>
            <a:pPr algn="l">
              <a:lnSpc>
                <a:spcPct val="118000"/>
              </a:lnSpc>
              <a:spcBef>
                <a:spcPts val="0"/>
              </a:spcBef>
              <a:spcAft>
                <a:spcPts val="0"/>
              </a:spcAft>
            </a:pPr>
            <a:r>
              <a:rPr sz="880" b="0" i="0">
                <a:solidFill>
                  <a:srgbClr val="94A3B8"/>
                </a:solidFill>
                <a:latin typeface="Segoe UI"/>
              </a:rPr>
              <a:t>Presenter: Hephzibah Uchechukwu · Conclusion</a:t>
            </a:r>
          </a:p>
        </p:txBody>
      </p:sp>
      <p:sp>
        <p:nvSpPr>
          <p:cNvPr id="39" name="TextBox 38"/>
          <p:cNvSpPr txBox="1"/>
          <p:nvPr/>
        </p:nvSpPr>
        <p:spPr>
          <a:xfrm>
            <a:off x="10436047" y="6473952"/>
            <a:ext cx="1188720" cy="219456"/>
          </a:xfrm>
          <a:prstGeom prst="rect">
            <a:avLst/>
          </a:prstGeom>
          <a:noFill/>
        </p:spPr>
        <p:txBody>
          <a:bodyPr wrap="square" lIns="0" rIns="0" tIns="0" bIns="0" anchor="t">
            <a:spAutoFit/>
          </a:bodyPr>
          <a:lstStyle/>
          <a:p>
            <a:pPr algn="r">
              <a:lnSpc>
                <a:spcPct val="118000"/>
              </a:lnSpc>
              <a:spcBef>
                <a:spcPts val="0"/>
              </a:spcBef>
              <a:spcAft>
                <a:spcPts val="0"/>
              </a:spcAft>
            </a:pPr>
            <a:r>
              <a:rPr sz="950" b="1" i="0">
                <a:solidFill>
                  <a:srgbClr val="94A3B8"/>
                </a:solidFill>
                <a:latin typeface="Segoe UI"/>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111E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 name="Picture 2" descr="hero-tutor.jpg"/>
          <p:cNvPicPr>
            <a:picLocks noChangeAspect="1"/>
          </p:cNvPicPr>
          <p:nvPr/>
        </p:nvPicPr>
        <p:blipFill>
          <a:blip r:embed="rId2"/>
          <a:srcRect t="27343" b="27343"/>
          <a:stretch>
            <a:fillRect/>
          </a:stretch>
        </p:blipFill>
        <p:spPr>
          <a:xfrm>
            <a:off x="0" y="0"/>
            <a:ext cx="12191695" cy="6858000"/>
          </a:xfrm>
          <a:prstGeom prst="rect">
            <a:avLst/>
          </a:prstGeom>
        </p:spPr>
      </p:pic>
      <p:sp>
        <p:nvSpPr>
          <p:cNvPr id="4" name="Rectangle 3"/>
          <p:cNvSpPr/>
          <p:nvPr/>
        </p:nvSpPr>
        <p:spPr>
          <a:xfrm>
            <a:off x="-45720" y="-45720"/>
            <a:ext cx="12283135" cy="6949440"/>
          </a:xfrm>
          <a:prstGeom prst="rect">
            <a:avLst/>
          </a:prstGeom>
          <a:solidFill>
            <a:srgbClr val="111E46">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45720" y="-45720"/>
            <a:ext cx="12283135" cy="6949440"/>
          </a:xfrm>
          <a:prstGeom prst="rect">
            <a:avLst/>
          </a:prstGeom>
          <a:solidFill>
            <a:srgbClr val="1E3A8A">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0" y="0"/>
            <a:ext cx="12191695" cy="82296"/>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7071183" y="0"/>
            <a:ext cx="5120511" cy="82296"/>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0" y="1417320"/>
            <a:ext cx="12191695" cy="310896"/>
          </a:xfrm>
          <a:prstGeom prst="rect">
            <a:avLst/>
          </a:prstGeom>
          <a:noFill/>
        </p:spPr>
        <p:txBody>
          <a:bodyPr wrap="square" lIns="0" rIns="0" tIns="0" bIns="0" anchor="t">
            <a:spAutoFit/>
          </a:bodyPr>
          <a:lstStyle/>
          <a:p>
            <a:pPr algn="ctr">
              <a:lnSpc>
                <a:spcPct val="118000"/>
              </a:lnSpc>
              <a:spcBef>
                <a:spcPts val="0"/>
              </a:spcBef>
              <a:spcAft>
                <a:spcPts val="0"/>
              </a:spcAft>
            </a:pPr>
            <a:r>
              <a:rPr sz="1200" b="1" i="0" cap="all" spc="160">
                <a:solidFill>
                  <a:srgbClr val="10B981"/>
                </a:solidFill>
                <a:latin typeface="Segoe UI"/>
              </a:rPr>
              <a:t>EDUMENTRY AI HACKATHON 1.0</a:t>
            </a:r>
          </a:p>
        </p:txBody>
      </p:sp>
      <p:sp>
        <p:nvSpPr>
          <p:cNvPr id="9" name="TextBox 8"/>
          <p:cNvSpPr txBox="1"/>
          <p:nvPr/>
        </p:nvSpPr>
        <p:spPr>
          <a:xfrm>
            <a:off x="0" y="1874519"/>
            <a:ext cx="12191695" cy="914400"/>
          </a:xfrm>
          <a:prstGeom prst="rect">
            <a:avLst/>
          </a:prstGeom>
          <a:noFill/>
        </p:spPr>
        <p:txBody>
          <a:bodyPr wrap="square" lIns="0" rIns="0" tIns="0" bIns="0" anchor="t">
            <a:spAutoFit/>
          </a:bodyPr>
          <a:lstStyle/>
          <a:p>
            <a:pPr algn="ctr">
              <a:lnSpc>
                <a:spcPct val="100000"/>
              </a:lnSpc>
              <a:spcBef>
                <a:spcPts val="0"/>
              </a:spcBef>
              <a:spcAft>
                <a:spcPts val="0"/>
              </a:spcAft>
            </a:pPr>
            <a:r>
              <a:rPr sz="5800" b="1" i="0">
                <a:solidFill>
                  <a:srgbClr val="FFFFFF"/>
                </a:solidFill>
                <a:latin typeface="Segoe UI Semibold"/>
              </a:rPr>
              <a:t>THANK YOU</a:t>
            </a:r>
          </a:p>
        </p:txBody>
      </p:sp>
      <p:sp>
        <p:nvSpPr>
          <p:cNvPr id="10" name="Rounded Rectangle 9"/>
          <p:cNvSpPr/>
          <p:nvPr/>
        </p:nvSpPr>
        <p:spPr>
          <a:xfrm>
            <a:off x="5410047" y="2926080"/>
            <a:ext cx="1371600" cy="50292"/>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0" y="3182112"/>
            <a:ext cx="12191695" cy="384048"/>
          </a:xfrm>
          <a:prstGeom prst="rect">
            <a:avLst/>
          </a:prstGeom>
          <a:noFill/>
        </p:spPr>
        <p:txBody>
          <a:bodyPr wrap="square" lIns="0" rIns="0" tIns="0" bIns="0" anchor="t">
            <a:spAutoFit/>
          </a:bodyPr>
          <a:lstStyle/>
          <a:p>
            <a:pPr algn="ctr">
              <a:lnSpc>
                <a:spcPct val="118000"/>
              </a:lnSpc>
              <a:spcBef>
                <a:spcPts val="0"/>
              </a:spcBef>
              <a:spcAft>
                <a:spcPts val="0"/>
              </a:spcAft>
            </a:pPr>
            <a:r>
              <a:rPr sz="1700" b="0" i="0">
                <a:solidFill>
                  <a:srgbClr val="BFDBFE"/>
                </a:solidFill>
                <a:latin typeface="Segoe UI"/>
              </a:rPr>
              <a:t>Questions, feedback and collaboration are welcome</a:t>
            </a:r>
          </a:p>
        </p:txBody>
      </p:sp>
      <p:sp>
        <p:nvSpPr>
          <p:cNvPr id="12" name="TextBox 11"/>
          <p:cNvSpPr txBox="1"/>
          <p:nvPr/>
        </p:nvSpPr>
        <p:spPr>
          <a:xfrm>
            <a:off x="0" y="3611880"/>
            <a:ext cx="12191695" cy="310896"/>
          </a:xfrm>
          <a:prstGeom prst="rect">
            <a:avLst/>
          </a:prstGeom>
          <a:noFill/>
        </p:spPr>
        <p:txBody>
          <a:bodyPr wrap="square" lIns="0" rIns="0" tIns="0" bIns="0" anchor="t">
            <a:spAutoFit/>
          </a:bodyPr>
          <a:lstStyle/>
          <a:p>
            <a:pPr algn="ctr">
              <a:lnSpc>
                <a:spcPct val="118000"/>
              </a:lnSpc>
              <a:spcBef>
                <a:spcPts val="0"/>
              </a:spcBef>
              <a:spcAft>
                <a:spcPts val="0"/>
              </a:spcAft>
            </a:pPr>
            <a:r>
              <a:rPr sz="1200" b="0" i="0">
                <a:solidFill>
                  <a:srgbClr val="A9BEE8"/>
                </a:solidFill>
                <a:latin typeface="Segoe UI"/>
              </a:rPr>
              <a:t>TutorConnect Nigeria  ·  A Tutor and Student Matching Platform</a:t>
            </a:r>
          </a:p>
        </p:txBody>
      </p:sp>
      <p:sp>
        <p:nvSpPr>
          <p:cNvPr id="13" name="Rectangle 12"/>
          <p:cNvSpPr/>
          <p:nvPr/>
        </p:nvSpPr>
        <p:spPr>
          <a:xfrm>
            <a:off x="0" y="4315968"/>
            <a:ext cx="12191695" cy="1188720"/>
          </a:xfrm>
          <a:prstGeom prst="rect">
            <a:avLst/>
          </a:prstGeom>
          <a:solidFill>
            <a:srgbClr val="111E46">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4" name="Connector 13"/>
          <p:cNvCxnSpPr/>
          <p:nvPr/>
        </p:nvCxnSpPr>
        <p:spPr>
          <a:xfrm>
            <a:off x="0" y="4315968"/>
            <a:ext cx="12191695" cy="0"/>
          </a:xfrm>
          <a:prstGeom prst="line">
            <a:avLst/>
          </a:prstGeom>
          <a:ln w="12700">
            <a:solidFill>
              <a:srgbClr val="3B528F"/>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77240" y="4535424"/>
            <a:ext cx="2549575" cy="768096"/>
          </a:xfrm>
          <a:prstGeom prst="roundRect">
            <a:avLst>
              <a:gd name="adj" fmla="val 10000"/>
            </a:avLst>
          </a:prstGeom>
          <a:solidFill>
            <a:srgbClr val="142650">
              <a:alpha val="70000"/>
            </a:srgbClr>
          </a:solidFill>
          <a:ln w="9525">
            <a:solidFill>
              <a:srgbClr val="2E44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777240" y="4535424"/>
            <a:ext cx="45720" cy="768096"/>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41832" y="4663440"/>
            <a:ext cx="2238679" cy="365760"/>
          </a:xfrm>
          <a:prstGeom prst="rect">
            <a:avLst/>
          </a:prstGeom>
          <a:noFill/>
        </p:spPr>
        <p:txBody>
          <a:bodyPr wrap="square" lIns="0" rIns="0" tIns="0" bIns="0" anchor="t">
            <a:spAutoFit/>
          </a:bodyPr>
          <a:lstStyle/>
          <a:p>
            <a:pPr algn="l">
              <a:lnSpc>
                <a:spcPct val="110000"/>
              </a:lnSpc>
              <a:spcBef>
                <a:spcPts val="0"/>
              </a:spcBef>
              <a:spcAft>
                <a:spcPts val="0"/>
              </a:spcAft>
            </a:pPr>
            <a:r>
              <a:rPr sz="1050" b="1" i="0">
                <a:solidFill>
                  <a:srgbClr val="FFFFFF"/>
                </a:solidFill>
                <a:latin typeface="Segoe UI"/>
              </a:rPr>
              <a:t>Hephzibah Uchechukwu</a:t>
            </a:r>
          </a:p>
        </p:txBody>
      </p:sp>
      <p:sp>
        <p:nvSpPr>
          <p:cNvPr id="18" name="TextBox 17"/>
          <p:cNvSpPr txBox="1"/>
          <p:nvPr/>
        </p:nvSpPr>
        <p:spPr>
          <a:xfrm>
            <a:off x="941832" y="5029200"/>
            <a:ext cx="2238679" cy="219456"/>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A9BEE8"/>
                </a:solidFill>
                <a:latin typeface="Segoe UI"/>
              </a:rPr>
              <a:t>Team Leader</a:t>
            </a:r>
          </a:p>
        </p:txBody>
      </p:sp>
      <p:sp>
        <p:nvSpPr>
          <p:cNvPr id="19" name="Rounded Rectangle 18"/>
          <p:cNvSpPr/>
          <p:nvPr/>
        </p:nvSpPr>
        <p:spPr>
          <a:xfrm>
            <a:off x="3473119" y="4535424"/>
            <a:ext cx="2549575" cy="768096"/>
          </a:xfrm>
          <a:prstGeom prst="roundRect">
            <a:avLst>
              <a:gd name="adj" fmla="val 10000"/>
            </a:avLst>
          </a:prstGeom>
          <a:solidFill>
            <a:srgbClr val="142650">
              <a:alpha val="70000"/>
            </a:srgbClr>
          </a:solidFill>
          <a:ln w="9525">
            <a:solidFill>
              <a:srgbClr val="2E44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3473119" y="4535424"/>
            <a:ext cx="45720" cy="768096"/>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637711" y="4663440"/>
            <a:ext cx="2238679" cy="365760"/>
          </a:xfrm>
          <a:prstGeom prst="rect">
            <a:avLst/>
          </a:prstGeom>
          <a:noFill/>
        </p:spPr>
        <p:txBody>
          <a:bodyPr wrap="square" lIns="0" rIns="0" tIns="0" bIns="0" anchor="t">
            <a:spAutoFit/>
          </a:bodyPr>
          <a:lstStyle/>
          <a:p>
            <a:pPr algn="l">
              <a:lnSpc>
                <a:spcPct val="110000"/>
              </a:lnSpc>
              <a:spcBef>
                <a:spcPts val="0"/>
              </a:spcBef>
              <a:spcAft>
                <a:spcPts val="0"/>
              </a:spcAft>
            </a:pPr>
            <a:r>
              <a:rPr sz="1050" b="1" i="0">
                <a:solidFill>
                  <a:srgbClr val="FFFFFF"/>
                </a:solidFill>
                <a:latin typeface="Segoe UI"/>
              </a:rPr>
              <a:t>Chioma Helen Ezeufonna</a:t>
            </a:r>
          </a:p>
        </p:txBody>
      </p:sp>
      <p:sp>
        <p:nvSpPr>
          <p:cNvPr id="22" name="TextBox 21"/>
          <p:cNvSpPr txBox="1"/>
          <p:nvPr/>
        </p:nvSpPr>
        <p:spPr>
          <a:xfrm>
            <a:off x="3637711" y="5029200"/>
            <a:ext cx="2238679" cy="219456"/>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A9BEE8"/>
                </a:solidFill>
                <a:latin typeface="Segoe UI"/>
              </a:rPr>
              <a:t>Backend</a:t>
            </a:r>
          </a:p>
        </p:txBody>
      </p:sp>
      <p:sp>
        <p:nvSpPr>
          <p:cNvPr id="23" name="Rounded Rectangle 22"/>
          <p:cNvSpPr/>
          <p:nvPr/>
        </p:nvSpPr>
        <p:spPr>
          <a:xfrm>
            <a:off x="6168999" y="4535424"/>
            <a:ext cx="2549575" cy="768096"/>
          </a:xfrm>
          <a:prstGeom prst="roundRect">
            <a:avLst>
              <a:gd name="adj" fmla="val 10000"/>
            </a:avLst>
          </a:prstGeom>
          <a:solidFill>
            <a:srgbClr val="142650">
              <a:alpha val="70000"/>
            </a:srgbClr>
          </a:solidFill>
          <a:ln w="9525">
            <a:solidFill>
              <a:srgbClr val="2E44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6168999" y="4535424"/>
            <a:ext cx="45720" cy="768096"/>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333591" y="4663440"/>
            <a:ext cx="2238679" cy="365760"/>
          </a:xfrm>
          <a:prstGeom prst="rect">
            <a:avLst/>
          </a:prstGeom>
          <a:noFill/>
        </p:spPr>
        <p:txBody>
          <a:bodyPr wrap="square" lIns="0" rIns="0" tIns="0" bIns="0" anchor="t">
            <a:spAutoFit/>
          </a:bodyPr>
          <a:lstStyle/>
          <a:p>
            <a:pPr algn="l">
              <a:lnSpc>
                <a:spcPct val="110000"/>
              </a:lnSpc>
              <a:spcBef>
                <a:spcPts val="0"/>
              </a:spcBef>
              <a:spcAft>
                <a:spcPts val="0"/>
              </a:spcAft>
            </a:pPr>
            <a:r>
              <a:rPr sz="1050" b="1" i="0">
                <a:solidFill>
                  <a:srgbClr val="FFFFFF"/>
                </a:solidFill>
                <a:latin typeface="Segoe UI"/>
              </a:rPr>
              <a:t>Uzochukwu Mary Cynthia Enyemakachukwu</a:t>
            </a:r>
          </a:p>
        </p:txBody>
      </p:sp>
      <p:sp>
        <p:nvSpPr>
          <p:cNvPr id="26" name="TextBox 25"/>
          <p:cNvSpPr txBox="1"/>
          <p:nvPr/>
        </p:nvSpPr>
        <p:spPr>
          <a:xfrm>
            <a:off x="6333591" y="5029200"/>
            <a:ext cx="2238679" cy="219456"/>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A9BEE8"/>
                </a:solidFill>
                <a:latin typeface="Segoe UI"/>
              </a:rPr>
              <a:t>Database</a:t>
            </a:r>
          </a:p>
        </p:txBody>
      </p:sp>
      <p:sp>
        <p:nvSpPr>
          <p:cNvPr id="27" name="Rounded Rectangle 26"/>
          <p:cNvSpPr/>
          <p:nvPr/>
        </p:nvSpPr>
        <p:spPr>
          <a:xfrm>
            <a:off x="8864879" y="4535424"/>
            <a:ext cx="2549575" cy="768096"/>
          </a:xfrm>
          <a:prstGeom prst="roundRect">
            <a:avLst>
              <a:gd name="adj" fmla="val 10000"/>
            </a:avLst>
          </a:prstGeom>
          <a:solidFill>
            <a:srgbClr val="142650">
              <a:alpha val="70000"/>
            </a:srgbClr>
          </a:solidFill>
          <a:ln w="9525">
            <a:solidFill>
              <a:srgbClr val="2E44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8864879" y="4535424"/>
            <a:ext cx="45720" cy="768096"/>
          </a:xfrm>
          <a:prstGeom prst="roundRect">
            <a:avLst>
              <a:gd name="adj" fmla="val 8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029471" y="4663440"/>
            <a:ext cx="2238679" cy="365760"/>
          </a:xfrm>
          <a:prstGeom prst="rect">
            <a:avLst/>
          </a:prstGeom>
          <a:noFill/>
        </p:spPr>
        <p:txBody>
          <a:bodyPr wrap="square" lIns="0" rIns="0" tIns="0" bIns="0" anchor="t">
            <a:spAutoFit/>
          </a:bodyPr>
          <a:lstStyle/>
          <a:p>
            <a:pPr algn="l">
              <a:lnSpc>
                <a:spcPct val="110000"/>
              </a:lnSpc>
              <a:spcBef>
                <a:spcPts val="0"/>
              </a:spcBef>
              <a:spcAft>
                <a:spcPts val="0"/>
              </a:spcAft>
            </a:pPr>
            <a:r>
              <a:rPr sz="1050" b="1" i="0">
                <a:solidFill>
                  <a:srgbClr val="FFFFFF"/>
                </a:solidFill>
                <a:latin typeface="Segoe UI"/>
              </a:rPr>
              <a:t>Bodman Ebuka Precious</a:t>
            </a:r>
          </a:p>
        </p:txBody>
      </p:sp>
      <p:sp>
        <p:nvSpPr>
          <p:cNvPr id="30" name="TextBox 29"/>
          <p:cNvSpPr txBox="1"/>
          <p:nvPr/>
        </p:nvSpPr>
        <p:spPr>
          <a:xfrm>
            <a:off x="9029471" y="5029200"/>
            <a:ext cx="2238679" cy="219456"/>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A9BEE8"/>
                </a:solidFill>
                <a:latin typeface="Segoe UI"/>
              </a:rPr>
              <a:t>Deployment &amp; QA</a:t>
            </a:r>
          </a:p>
        </p:txBody>
      </p:sp>
      <p:sp>
        <p:nvSpPr>
          <p:cNvPr id="31" name="TextBox 30"/>
          <p:cNvSpPr txBox="1"/>
          <p:nvPr/>
        </p:nvSpPr>
        <p:spPr>
          <a:xfrm>
            <a:off x="0" y="5742432"/>
            <a:ext cx="12191695" cy="274320"/>
          </a:xfrm>
          <a:prstGeom prst="rect">
            <a:avLst/>
          </a:prstGeom>
          <a:noFill/>
        </p:spPr>
        <p:txBody>
          <a:bodyPr wrap="square" lIns="0" rIns="0" tIns="0" bIns="0" anchor="t">
            <a:spAutoFit/>
          </a:bodyPr>
          <a:lstStyle/>
          <a:p>
            <a:pPr algn="ctr">
              <a:lnSpc>
                <a:spcPct val="118000"/>
              </a:lnSpc>
              <a:spcBef>
                <a:spcPts val="0"/>
              </a:spcBef>
              <a:spcAft>
                <a:spcPts val="0"/>
              </a:spcAft>
            </a:pPr>
            <a:r>
              <a:rPr sz="1100" b="0" i="0">
                <a:solidFill>
                  <a:srgbClr val="93A9D4"/>
                </a:solidFill>
                <a:latin typeface="Segoe UI"/>
              </a:rPr>
              <a:t>tutor-connect-ng.vercel.app     ·     github.com/zibahofficial/TutorConnectNg     ·     MIT Licensed</a:t>
            </a:r>
          </a:p>
        </p:txBody>
      </p:sp>
      <p:sp>
        <p:nvSpPr>
          <p:cNvPr id="32" name="TextBox 31"/>
          <p:cNvSpPr txBox="1"/>
          <p:nvPr/>
        </p:nvSpPr>
        <p:spPr>
          <a:xfrm>
            <a:off x="0" y="6126480"/>
            <a:ext cx="12191695" cy="274320"/>
          </a:xfrm>
          <a:prstGeom prst="rect">
            <a:avLst/>
          </a:prstGeom>
          <a:noFill/>
        </p:spPr>
        <p:txBody>
          <a:bodyPr wrap="square" lIns="0" rIns="0" tIns="0" bIns="0" anchor="t">
            <a:spAutoFit/>
          </a:bodyPr>
          <a:lstStyle/>
          <a:p>
            <a:pPr algn="ctr">
              <a:lnSpc>
                <a:spcPct val="118000"/>
              </a:lnSpc>
              <a:spcBef>
                <a:spcPts val="0"/>
              </a:spcBef>
              <a:spcAft>
                <a:spcPts val="0"/>
              </a:spcAft>
            </a:pPr>
            <a:r>
              <a:rPr sz="900" b="0" i="0">
                <a:solidFill>
                  <a:srgbClr val="7C93C2"/>
                </a:solidFill>
                <a:latin typeface="Segoe UI"/>
              </a:rPr>
              <a:t>Next.js 16  ·  React 19  ·  TypeScript  ·  Tailwind CSS 4  ·  Neon Serverless PostgreSQL  ·  JWT  ·  Vercel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