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opens.</a:t>
            </a:r>
          </a:p>
          <a:p/>
          <a:p>
            <a:r>
              <a:t>Good morning judges. We are TutorConnect Nigeria, a full-stack tutoring marketplace we built and deployed during this hackathon. In the next fifteen minutes the four of us will show you what we built, how it works under the hood, and what we honestly have not finished yet.</a:t>
            </a:r>
          </a:p>
          <a:p/>
          <a:p>
            <a:r>
              <a:t>Live site: tutor-connect-ng.vercel.app   |   Repo: github.com/zibahofficial/TutorConnectNg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TutorConnect Nigeria is a marketplace for Nigerian tutoring. Four roles: student, parent, tutor and administrator. The same account system drives all four dashboards, and every record comes from a real PostgreSQL database — we deliberately show empty states rather than fake data, so what you see in the demo is what the system really holds.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Five concrete frictions. Notice the green line on each card — that is the part of our code that answers it. And the amber box on the right is deliberate: we have not run a survey, so we are not going to invent statistics about how many students struggle to find tutors.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Every problem from the previous slide now maps to a shipped feature. Four roles, one platform — and the role is not a cosmetic label: it is a database enum that the API re-checks on every privileged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Walk the judges through the seven steps. Emphasise step 7: the review name comes from the authenticated user, so a reviewer can never impersonate somebody else, and one booking can only be reviewed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frontend section.</a:t>
            </a:r>
          </a:p>
          <a:p/>
          <a:p>
            <a:r>
              <a:t>Point out the 3x2 grid: for every technology, what it is and exactly where we used it. The right-hand panel is the contract with the backend: fetch plus a Bearer JWT, with loading, empty and error states handled in the component. The browser panel below is a clearly labelled explanatory mockup built from the shipped interface, not a live screenshot or tutor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Smart Tutor Match.</a:t>
            </a:r>
          </a:p>
          <a:p/>
          <a:p>
            <a:r>
              <a:t>Six stages left to right. Two criteria are gates (subject and budget); the rest add weighted points, and the result is a percentage plus a plain-English reason list. Be explicit with the judges: this is a rules engine implemented in lib/matching/smart-match.ts, not a trained model — and that is a strength, because every ranking can be explained.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Chioma Helen Ezeufonna (Backend).</a:t>
            </a:r>
          </a:p>
          <a:p/>
          <a:p>
            <a:r>
              <a:t>The architecture is one request path: client → route handler → business rules → Neon → PostgreSQL → JSON. On the left are the five real endpoints. On the right is the security story: bcrypt hashing, a 7-day JWT, role gates on every admin action, ownership checks on every booking change, and parameterised SQL throughout.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Uzochukwu Mary Cynthia Enyemakachukwu (Database).</a:t>
            </a:r>
          </a:p>
          <a:p/>
          <a:p>
            <a:r>
              <a:t>Ten tables built around one identity table. users is the hub; tutor_profiles and parent_profiles extend it one-to-one; bookings ties a student, a tutor and a subject together; reviews attach one-to-one to a completed booking; messages is deliberately decoupled with opaque party keys. Two triggers keep the data honest automatically, and db/migrate.ts lets us add columns safely on an existing production database without a manual migration window.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This is the full dependency list — ten layers, nothing decorative. Each row says what the technology is and where in our code it is actually used, so the judges can verify every claim against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Bodman Ebuka Precious (Deployment, Testing &amp; QA).</a:t>
            </a:r>
          </a:p>
          <a:p/>
          <a:p>
            <a:r>
              <a:t>Distinguish repository evidence from claims. This inspection ran strict TypeScript checking and ESLint successfully. A production build was attempted but stopped when next/font could not reach Google Fonts from the sandbox. No unit, integration, end-to-end or CI suite is committed, so do not claim runtime test coverage. The README documents Vercel's zero-config deployment with DATABASE_URL, JWT_SECRET and NEXT_PUBLIC_APP_URL; the public URL was supplied for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introduces the team.</a:t>
            </a:r>
          </a:p>
          <a:p/>
          <a:p>
            <a:r>
              <a:t>Four members, four owned areas. Then hand over: Chioma for the backend, Cynthia for the database, and Precious for testing and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revenue model.</a:t>
            </a:r>
          </a:p>
          <a:p/>
          <a:p>
            <a:r>
              <a:t>Two halves. On the left, what is genuinely built: hourly rates, live naira estimates, budget filtering and an admin revenue metric over completed bookings. On the right, the proposed model — commission, tutor subscriptions and a parent premium plan — and an honest note that no money actually moves through the platform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Left: what the platform genuinely delivers today. Middle: the honest list of limitations — no server-side route protection, no automated tests, no payments, no notifications, and base64 document storage. Right: where it could go. The four chips at the bottom are our priority order.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closing remarks.</a:t>
            </a:r>
          </a:p>
          <a:p/>
          <a:p>
            <a:r>
              <a:t>Land four messages: this is a real product; trust is designed in; the matching is explainable; and the base is clean. Then name the four of us, thank the judges, and hand over to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members stand for Q&amp;A.</a:t>
            </a:r>
          </a:p>
          <a:p/>
          <a:p>
            <a:r>
              <a:t>Thank the judges and the Edumentry AI Hackathon organisers. Keep the live URL and the repository on screen for anyone who wants to try it or read the code afterwards.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111E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hero-student.jpg"/>
          <p:cNvPicPr>
            <a:picLocks noChangeAspect="1"/>
          </p:cNvPicPr>
          <p:nvPr/>
        </p:nvPicPr>
        <p:blipFill>
          <a:blip r:embed="rId2"/>
          <a:srcRect t="27343" b="27343"/>
          <a:stretch>
            <a:fillRect/>
          </a:stretch>
        </p:blipFill>
        <p:spPr>
          <a:xfrm>
            <a:off x="0" y="0"/>
            <a:ext cx="12191695" cy="6858000"/>
          </a:xfrm>
          <a:prstGeom prst="rect">
            <a:avLst/>
          </a:prstGeom>
        </p:spPr>
      </p:pic>
      <p:sp>
        <p:nvSpPr>
          <p:cNvPr id="4" name="Rectangle 3"/>
          <p:cNvSpPr/>
          <p:nvPr/>
        </p:nvSpPr>
        <p:spPr>
          <a:xfrm>
            <a:off x="-45720" y="-45720"/>
            <a:ext cx="12283135" cy="6949440"/>
          </a:xfrm>
          <a:prstGeom prst="rect">
            <a:avLst/>
          </a:prstGeom>
          <a:solidFill>
            <a:srgbClr val="111E46">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5720" y="-45720"/>
            <a:ext cx="12283135" cy="6949440"/>
          </a:xfrm>
          <a:prstGeom prst="rect">
            <a:avLst/>
          </a:prstGeom>
          <a:solidFill>
            <a:srgbClr val="1E3A8A">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5720" y="-45720"/>
            <a:ext cx="7680960" cy="6949440"/>
          </a:xfrm>
          <a:prstGeom prst="rect">
            <a:avLst/>
          </a:prstGeom>
          <a:gradFill rotWithShape="1">
            <a:gsLst>
              <a:gs pos="0">
                <a:srgbClr val="111E46"/>
              </a:gs>
              <a:gs pos="100000">
                <a:srgbClr val="1E3A8A"/>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0" y="0"/>
            <a:ext cx="12191695" cy="822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0" y="0"/>
            <a:ext cx="5120511" cy="8229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777240" y="713232"/>
            <a:ext cx="3154680" cy="329184"/>
          </a:xfrm>
          <a:prstGeom prst="roundRect">
            <a:avLst>
              <a:gd name="adj" fmla="val 50000"/>
            </a:avLst>
          </a:prstGeom>
          <a:solidFill>
            <a:srgbClr val="1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r>
              <a:rPr sz="1000" b="1" i="0">
                <a:solidFill>
                  <a:srgbClr val="BFDBFE"/>
                </a:solidFill>
                <a:latin typeface="Segoe UI"/>
              </a:rPr>
              <a:t>EDUMENTRY AI HACKATHON 1.0</a:t>
            </a:r>
          </a:p>
        </p:txBody>
      </p:sp>
      <p:sp>
        <p:nvSpPr>
          <p:cNvPr id="10" name="TextBox 9"/>
          <p:cNvSpPr txBox="1"/>
          <p:nvPr/>
        </p:nvSpPr>
        <p:spPr>
          <a:xfrm>
            <a:off x="777240" y="1298448"/>
            <a:ext cx="10058400" cy="868680"/>
          </a:xfrm>
          <a:prstGeom prst="rect">
            <a:avLst/>
          </a:prstGeom>
          <a:noFill/>
        </p:spPr>
        <p:txBody>
          <a:bodyPr wrap="square" lIns="0" rIns="0" tIns="0" bIns="0" anchor="t">
            <a:spAutoFit/>
          </a:bodyPr>
          <a:lstStyle/>
          <a:p>
            <a:pPr algn="l">
              <a:lnSpc>
                <a:spcPct val="100000"/>
              </a:lnSpc>
              <a:spcBef>
                <a:spcPts val="0"/>
              </a:spcBef>
              <a:spcAft>
                <a:spcPts val="0"/>
              </a:spcAft>
            </a:pPr>
            <a:r>
              <a:rPr sz="5400" b="1" i="0">
                <a:solidFill>
                  <a:srgbClr val="FFFFFF"/>
                </a:solidFill>
                <a:latin typeface="Segoe UI Semibold"/>
              </a:rPr>
              <a:t>TUTORCONNECT NIGERIA</a:t>
            </a:r>
          </a:p>
        </p:txBody>
      </p:sp>
      <p:sp>
        <p:nvSpPr>
          <p:cNvPr id="11" name="Rounded Rectangle 10"/>
          <p:cNvSpPr/>
          <p:nvPr/>
        </p:nvSpPr>
        <p:spPr>
          <a:xfrm>
            <a:off x="777240" y="2304288"/>
            <a:ext cx="1417320" cy="5029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77240" y="2542032"/>
            <a:ext cx="8229600" cy="411480"/>
          </a:xfrm>
          <a:prstGeom prst="rect">
            <a:avLst/>
          </a:prstGeom>
          <a:noFill/>
        </p:spPr>
        <p:txBody>
          <a:bodyPr wrap="square" lIns="0" rIns="0" tIns="0" bIns="0" anchor="t">
            <a:spAutoFit/>
          </a:bodyPr>
          <a:lstStyle/>
          <a:p>
            <a:pPr algn="l">
              <a:lnSpc>
                <a:spcPct val="118000"/>
              </a:lnSpc>
              <a:spcBef>
                <a:spcPts val="0"/>
              </a:spcBef>
              <a:spcAft>
                <a:spcPts val="0"/>
              </a:spcAft>
            </a:pPr>
            <a:r>
              <a:rPr sz="2200" b="0" i="0">
                <a:solidFill>
                  <a:srgbClr val="BFDBFE"/>
                </a:solidFill>
                <a:latin typeface="Segoe UI Semibold"/>
              </a:rPr>
              <a:t>A Tutor and Student Matching Platform</a:t>
            </a:r>
          </a:p>
        </p:txBody>
      </p:sp>
      <p:sp>
        <p:nvSpPr>
          <p:cNvPr id="13" name="TextBox 12"/>
          <p:cNvSpPr txBox="1"/>
          <p:nvPr/>
        </p:nvSpPr>
        <p:spPr>
          <a:xfrm>
            <a:off x="777240" y="3072384"/>
            <a:ext cx="6675120" cy="960120"/>
          </a:xfrm>
          <a:prstGeom prst="rect">
            <a:avLst/>
          </a:prstGeom>
          <a:noFill/>
        </p:spPr>
        <p:txBody>
          <a:bodyPr wrap="square" lIns="0" rIns="0" tIns="0" bIns="0" anchor="t">
            <a:spAutoFit/>
          </a:bodyPr>
          <a:lstStyle/>
          <a:p>
            <a:pPr algn="l">
              <a:lnSpc>
                <a:spcPct val="134000"/>
              </a:lnSpc>
              <a:spcBef>
                <a:spcPts val="0"/>
              </a:spcBef>
              <a:spcAft>
                <a:spcPts val="0"/>
              </a:spcAft>
            </a:pPr>
            <a:r>
              <a:rPr sz="1250" b="0" i="0">
                <a:solidFill>
                  <a:srgbClr val="CBD5E1"/>
                </a:solidFill>
                <a:latin typeface="Segoe UI"/>
              </a:rPr>
              <a:t>A full-stack EdTech marketplace that connects Nigerian students and parents with admin-verified tutors — with a rules-based Smart Tutor Match engine, a managed booking lifecycle, private messaging and verified reviews.</a:t>
            </a:r>
          </a:p>
        </p:txBody>
      </p:sp>
      <p:sp>
        <p:nvSpPr>
          <p:cNvPr id="14" name="Rectangle 13"/>
          <p:cNvSpPr/>
          <p:nvPr/>
        </p:nvSpPr>
        <p:spPr>
          <a:xfrm>
            <a:off x="0" y="4498848"/>
            <a:ext cx="12191695" cy="1572768"/>
          </a:xfrm>
          <a:prstGeom prst="rect">
            <a:avLst/>
          </a:prstGeom>
          <a:solidFill>
            <a:srgbClr val="111E46">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5" name="Connector 14"/>
          <p:cNvCxnSpPr/>
          <p:nvPr/>
        </p:nvCxnSpPr>
        <p:spPr>
          <a:xfrm>
            <a:off x="0" y="4498848"/>
            <a:ext cx="12191695" cy="0"/>
          </a:xfrm>
          <a:prstGeom prst="line">
            <a:avLst/>
          </a:prstGeom>
          <a:ln w="12700">
            <a:solidFill>
              <a:srgbClr val="3B528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4645152"/>
            <a:ext cx="5486400" cy="237744"/>
          </a:xfrm>
          <a:prstGeom prst="rect">
            <a:avLst/>
          </a:prstGeom>
          <a:noFill/>
        </p:spPr>
        <p:txBody>
          <a:bodyPr wrap="square" lIns="0" rIns="0" tIns="0" bIns="0" anchor="t">
            <a:spAutoFit/>
          </a:bodyPr>
          <a:lstStyle/>
          <a:p>
            <a:pPr algn="l">
              <a:lnSpc>
                <a:spcPct val="118000"/>
              </a:lnSpc>
              <a:spcBef>
                <a:spcPts val="0"/>
              </a:spcBef>
              <a:spcAft>
                <a:spcPts val="0"/>
              </a:spcAft>
            </a:pPr>
            <a:r>
              <a:rPr sz="1000" b="1" i="0" cap="all" spc="140">
                <a:solidFill>
                  <a:srgbClr val="10B981"/>
                </a:solidFill>
                <a:latin typeface="Segoe UI"/>
              </a:rPr>
              <a:t>THE TEAM</a:t>
            </a:r>
          </a:p>
        </p:txBody>
      </p:sp>
      <p:sp>
        <p:nvSpPr>
          <p:cNvPr id="17" name="Rounded Rectangle 16"/>
          <p:cNvSpPr/>
          <p:nvPr/>
        </p:nvSpPr>
        <p:spPr>
          <a:xfrm>
            <a:off x="777240"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777240" y="4956048"/>
            <a:ext cx="45720" cy="87782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60120"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Hephzibah Uchechukwu</a:t>
            </a:r>
          </a:p>
        </p:txBody>
      </p:sp>
      <p:sp>
        <p:nvSpPr>
          <p:cNvPr id="20" name="TextBox 19"/>
          <p:cNvSpPr txBox="1"/>
          <p:nvPr/>
        </p:nvSpPr>
        <p:spPr>
          <a:xfrm>
            <a:off x="960120"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Team Leader · Frontend, UI, Smart Tutor Match, Revenue Model</a:t>
            </a:r>
          </a:p>
        </p:txBody>
      </p:sp>
      <p:sp>
        <p:nvSpPr>
          <p:cNvPr id="21" name="Rounded Rectangle 20"/>
          <p:cNvSpPr/>
          <p:nvPr/>
        </p:nvSpPr>
        <p:spPr>
          <a:xfrm>
            <a:off x="3511296"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511296" y="4956048"/>
            <a:ext cx="45720" cy="877824"/>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94176"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Chioma Helen Ezeufonna</a:t>
            </a:r>
          </a:p>
        </p:txBody>
      </p:sp>
      <p:sp>
        <p:nvSpPr>
          <p:cNvPr id="24" name="TextBox 23"/>
          <p:cNvSpPr txBox="1"/>
          <p:nvPr/>
        </p:nvSpPr>
        <p:spPr>
          <a:xfrm>
            <a:off x="3694176"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Backend · API Routes, Server-Side Logic, Auth &amp; Roles</a:t>
            </a:r>
          </a:p>
        </p:txBody>
      </p:sp>
      <p:sp>
        <p:nvSpPr>
          <p:cNvPr id="25" name="Rounded Rectangle 24"/>
          <p:cNvSpPr/>
          <p:nvPr/>
        </p:nvSpPr>
        <p:spPr>
          <a:xfrm>
            <a:off x="6245352"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45352" y="4956048"/>
            <a:ext cx="45720" cy="877824"/>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28232"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Uzochukwu Mary Cynthia Enyemakachukwu</a:t>
            </a:r>
          </a:p>
        </p:txBody>
      </p:sp>
      <p:sp>
        <p:nvSpPr>
          <p:cNvPr id="28" name="TextBox 27"/>
          <p:cNvSpPr txBox="1"/>
          <p:nvPr/>
        </p:nvSpPr>
        <p:spPr>
          <a:xfrm>
            <a:off x="6428232"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Database · Schema, Structure, Data Relationships</a:t>
            </a:r>
          </a:p>
        </p:txBody>
      </p:sp>
      <p:sp>
        <p:nvSpPr>
          <p:cNvPr id="29" name="Rounded Rectangle 28"/>
          <p:cNvSpPr/>
          <p:nvPr/>
        </p:nvSpPr>
        <p:spPr>
          <a:xfrm>
            <a:off x="8979408"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8979408" y="4956048"/>
            <a:ext cx="45720" cy="877824"/>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62288"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Bodman Ebuka Precious</a:t>
            </a:r>
          </a:p>
        </p:txBody>
      </p:sp>
      <p:sp>
        <p:nvSpPr>
          <p:cNvPr id="32" name="TextBox 31"/>
          <p:cNvSpPr txBox="1"/>
          <p:nvPr/>
        </p:nvSpPr>
        <p:spPr>
          <a:xfrm>
            <a:off x="9162288"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Deployment · System Inspection, Testing &amp; QA, Ops Checks</a:t>
            </a:r>
          </a:p>
        </p:txBody>
      </p:sp>
      <p:sp>
        <p:nvSpPr>
          <p:cNvPr id="33" name="TextBox 32"/>
          <p:cNvSpPr txBox="1"/>
          <p:nvPr/>
        </p:nvSpPr>
        <p:spPr>
          <a:xfrm>
            <a:off x="777240" y="6035040"/>
            <a:ext cx="6583680" cy="237744"/>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3A9D4"/>
                </a:solidFill>
                <a:latin typeface="Segoe UI"/>
              </a:rPr>
              <a:t>Live:  tutor-connect-ng.vercel.app        Repository:  github.com/zibahofficial/TutorConnectNg</a:t>
            </a:r>
          </a:p>
        </p:txBody>
      </p:sp>
      <p:sp>
        <p:nvSpPr>
          <p:cNvPr id="34" name="TextBox 33"/>
          <p:cNvSpPr txBox="1"/>
          <p:nvPr/>
        </p:nvSpPr>
        <p:spPr>
          <a:xfrm>
            <a:off x="7315200" y="6035040"/>
            <a:ext cx="4069080" cy="237744"/>
          </a:xfrm>
          <a:prstGeom prst="rect">
            <a:avLst/>
          </a:prstGeom>
          <a:noFill/>
        </p:spPr>
        <p:txBody>
          <a:bodyPr wrap="square" lIns="0" rIns="0" tIns="0" bIns="0" anchor="t">
            <a:spAutoFit/>
          </a:bodyPr>
          <a:lstStyle/>
          <a:p>
            <a:pPr algn="r">
              <a:lnSpc>
                <a:spcPct val="118000"/>
              </a:lnSpc>
              <a:spcBef>
                <a:spcPts val="0"/>
              </a:spcBef>
              <a:spcAft>
                <a:spcPts val="0"/>
              </a:spcAft>
            </a:pPr>
            <a:r>
              <a:rPr sz="950" b="0" i="0">
                <a:solidFill>
                  <a:srgbClr val="93A9D4"/>
                </a:solidFill>
                <a:latin typeface="Segoe UI"/>
              </a:rPr>
              <a:t>MIT License  ·  Built with Next.js 16 + Neon Postgres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WHAT WE BUILT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Project Overview</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A working marketplace, not a prototype: a live PostgreSQL database, role-based dashboards, and a full booking lifecycle.</a:t>
            </a:r>
          </a:p>
        </p:txBody>
      </p:sp>
      <p:sp>
        <p:nvSpPr>
          <p:cNvPr id="7" name="TextBox 6"/>
          <p:cNvSpPr txBox="1"/>
          <p:nvPr/>
        </p:nvSpPr>
        <p:spPr>
          <a:xfrm>
            <a:off x="566928" y="1517904"/>
            <a:ext cx="11057839" cy="27432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75569"/>
                </a:solidFill>
                <a:latin typeface="Segoe UI"/>
              </a:rPr>
              <a:t>TutorConnect Nigeria is a web platform that lets students and parents find, compare and book verified tutors across Nigeria — in person or online — and gives tutors the tools to manage their sessions.</a:t>
            </a:r>
          </a:p>
        </p:txBody>
      </p:sp>
      <p:sp>
        <p:nvSpPr>
          <p:cNvPr id="8" name="Rounded Rectangle 7"/>
          <p:cNvSpPr/>
          <p:nvPr/>
        </p:nvSpPr>
        <p:spPr>
          <a:xfrm>
            <a:off x="566928"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938528"/>
            <a:ext cx="2651760" cy="50292"/>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86384" y="2194560"/>
            <a:ext cx="475488" cy="475488"/>
          </a:xfrm>
          <a:prstGeom prst="roundRect">
            <a:avLst>
              <a:gd name="adj" fmla="val 2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2563EB"/>
                </a:solidFill>
                <a:latin typeface="Segoe UI"/>
              </a:rPr>
              <a:t>⌘</a:t>
            </a:r>
          </a:p>
        </p:txBody>
      </p:sp>
      <p:sp>
        <p:nvSpPr>
          <p:cNvPr id="11" name="TextBox 10"/>
          <p:cNvSpPr txBox="1"/>
          <p:nvPr/>
        </p:nvSpPr>
        <p:spPr>
          <a:xfrm>
            <a:off x="1371600"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Student</a:t>
            </a:r>
          </a:p>
        </p:txBody>
      </p:sp>
      <p:sp>
        <p:nvSpPr>
          <p:cNvPr id="12" name="TextBox 11"/>
          <p:cNvSpPr txBox="1"/>
          <p:nvPr/>
        </p:nvSpPr>
        <p:spPr>
          <a:xfrm>
            <a:off x="786384"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Search the tutor directory, save favourites, request sessions, track status, join online lessons, and review a completed session.</a:t>
            </a:r>
          </a:p>
        </p:txBody>
      </p:sp>
      <p:sp>
        <p:nvSpPr>
          <p:cNvPr id="13" name="Rounded Rectangle 12"/>
          <p:cNvSpPr/>
          <p:nvPr/>
        </p:nvSpPr>
        <p:spPr>
          <a:xfrm>
            <a:off x="3392424"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3392424" y="1938528"/>
            <a:ext cx="2651760" cy="50292"/>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3611880" y="2194560"/>
            <a:ext cx="475488" cy="475488"/>
          </a:xfrm>
          <a:prstGeom prst="roundRect">
            <a:avLst>
              <a:gd name="adj" fmla="val 28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10B981"/>
                </a:solidFill>
                <a:latin typeface="Segoe UI"/>
              </a:rPr>
              <a:t>◉</a:t>
            </a:r>
          </a:p>
        </p:txBody>
      </p:sp>
      <p:sp>
        <p:nvSpPr>
          <p:cNvPr id="16" name="TextBox 15"/>
          <p:cNvSpPr txBox="1"/>
          <p:nvPr/>
        </p:nvSpPr>
        <p:spPr>
          <a:xfrm>
            <a:off x="4197096"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Parent</a:t>
            </a:r>
          </a:p>
        </p:txBody>
      </p:sp>
      <p:sp>
        <p:nvSpPr>
          <p:cNvPr id="17" name="TextBox 16"/>
          <p:cNvSpPr txBox="1"/>
          <p:nvPr/>
        </p:nvSpPr>
        <p:spPr>
          <a:xfrm>
            <a:off x="3611880"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Register with a learner's details and budget, manage that learner profile, request sessions, and follow bookings and reviews from one dashboard.</a:t>
            </a:r>
          </a:p>
        </p:txBody>
      </p:sp>
      <p:sp>
        <p:nvSpPr>
          <p:cNvPr id="18" name="Rounded Rectangle 17"/>
          <p:cNvSpPr/>
          <p:nvPr/>
        </p:nvSpPr>
        <p:spPr>
          <a:xfrm>
            <a:off x="6217920"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217920" y="1938528"/>
            <a:ext cx="2651760" cy="50292"/>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437376" y="2194560"/>
            <a:ext cx="475488" cy="475488"/>
          </a:xfrm>
          <a:prstGeom prst="roundRect">
            <a:avLst>
              <a:gd name="adj" fmla="val 2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59E0B"/>
                </a:solidFill>
                <a:latin typeface="Segoe UI"/>
              </a:rPr>
              <a:t>✦</a:t>
            </a:r>
          </a:p>
        </p:txBody>
      </p:sp>
      <p:sp>
        <p:nvSpPr>
          <p:cNvPr id="21" name="TextBox 20"/>
          <p:cNvSpPr txBox="1"/>
          <p:nvPr/>
        </p:nvSpPr>
        <p:spPr>
          <a:xfrm>
            <a:off x="7022592"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Tutor</a:t>
            </a:r>
          </a:p>
        </p:txBody>
      </p:sp>
      <p:sp>
        <p:nvSpPr>
          <p:cNvPr id="22" name="TextBox 21"/>
          <p:cNvSpPr txBox="1"/>
          <p:nvPr/>
        </p:nvSpPr>
        <p:spPr>
          <a:xfrm>
            <a:off x="6437376"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Publish a profile, upload credentials for verification, set weekly availability, accept or decline session requests, and keep history.</a:t>
            </a:r>
          </a:p>
        </p:txBody>
      </p:sp>
      <p:sp>
        <p:nvSpPr>
          <p:cNvPr id="23" name="Rounded Rectangle 22"/>
          <p:cNvSpPr/>
          <p:nvPr/>
        </p:nvSpPr>
        <p:spPr>
          <a:xfrm>
            <a:off x="9043415"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9043415" y="1938528"/>
            <a:ext cx="2651760" cy="50292"/>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9262872" y="2194560"/>
            <a:ext cx="475488" cy="475488"/>
          </a:xfrm>
          <a:prstGeom prst="roundRect">
            <a:avLst>
              <a:gd name="adj" fmla="val 2800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E11D48"/>
                </a:solidFill>
                <a:latin typeface="Segoe UI"/>
              </a:rPr>
              <a:t>◆</a:t>
            </a:r>
          </a:p>
        </p:txBody>
      </p:sp>
      <p:sp>
        <p:nvSpPr>
          <p:cNvPr id="26" name="TextBox 25"/>
          <p:cNvSpPr txBox="1"/>
          <p:nvPr/>
        </p:nvSpPr>
        <p:spPr>
          <a:xfrm>
            <a:off x="9848088"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Administrator</a:t>
            </a:r>
          </a:p>
        </p:txBody>
      </p:sp>
      <p:sp>
        <p:nvSpPr>
          <p:cNvPr id="27" name="TextBox 26"/>
          <p:cNvSpPr txBox="1"/>
          <p:nvPr/>
        </p:nvSpPr>
        <p:spPr>
          <a:xfrm>
            <a:off x="9262872"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Review credential applications, approve or suspend accounts, monitor booking metrics, and see gross platform revenue.</a:t>
            </a:r>
          </a:p>
        </p:txBody>
      </p:sp>
      <p:sp>
        <p:nvSpPr>
          <p:cNvPr id="28" name="Rounded Rectangle 27"/>
          <p:cNvSpPr/>
          <p:nvPr/>
        </p:nvSpPr>
        <p:spPr>
          <a:xfrm>
            <a:off x="566928" y="4201668"/>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4944" y="4169664"/>
            <a:ext cx="535838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HOW THE PARTS WORK TOGETHER</a:t>
            </a:r>
          </a:p>
        </p:txBody>
      </p:sp>
      <p:sp>
        <p:nvSpPr>
          <p:cNvPr id="30" name="Chevron 29"/>
          <p:cNvSpPr/>
          <p:nvPr/>
        </p:nvSpPr>
        <p:spPr>
          <a:xfrm>
            <a:off x="566928" y="4498848"/>
            <a:ext cx="2286000" cy="658368"/>
          </a:xfrm>
          <a:prstGeom prst="chevron">
            <a:avLst/>
          </a:prstGeom>
          <a:solidFill>
            <a:srgbClr val="172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Register &amp; sign in</a:t>
            </a:r>
          </a:p>
        </p:txBody>
      </p:sp>
      <p:sp>
        <p:nvSpPr>
          <p:cNvPr id="31" name="Chevron 30"/>
          <p:cNvSpPr/>
          <p:nvPr/>
        </p:nvSpPr>
        <p:spPr>
          <a:xfrm>
            <a:off x="2798064" y="4498848"/>
            <a:ext cx="2286000" cy="658368"/>
          </a:xfrm>
          <a:prstGeom prst="chevron">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Role dashboard</a:t>
            </a:r>
          </a:p>
        </p:txBody>
      </p:sp>
      <p:sp>
        <p:nvSpPr>
          <p:cNvPr id="32" name="Chevron 31"/>
          <p:cNvSpPr/>
          <p:nvPr/>
        </p:nvSpPr>
        <p:spPr>
          <a:xfrm>
            <a:off x="5029200" y="4498848"/>
            <a:ext cx="2286000" cy="658368"/>
          </a:xfrm>
          <a:prstGeom prst="chevron">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Discover tutors</a:t>
            </a:r>
          </a:p>
        </p:txBody>
      </p:sp>
      <p:sp>
        <p:nvSpPr>
          <p:cNvPr id="33" name="Chevron 32"/>
          <p:cNvSpPr/>
          <p:nvPr/>
        </p:nvSpPr>
        <p:spPr>
          <a:xfrm>
            <a:off x="7260336" y="4498848"/>
            <a:ext cx="2286000" cy="658368"/>
          </a:xfrm>
          <a:prstGeom prst="chevron">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Request a booking</a:t>
            </a:r>
          </a:p>
        </p:txBody>
      </p:sp>
      <p:sp>
        <p:nvSpPr>
          <p:cNvPr id="34" name="Chevron 33"/>
          <p:cNvSpPr/>
          <p:nvPr/>
        </p:nvSpPr>
        <p:spPr>
          <a:xfrm>
            <a:off x="9491472" y="4498848"/>
            <a:ext cx="2286000" cy="658368"/>
          </a:xfrm>
          <a:prstGeom prst="chevron">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Session, review &amp; chat</a:t>
            </a:r>
          </a:p>
        </p:txBody>
      </p:sp>
      <p:sp>
        <p:nvSpPr>
          <p:cNvPr id="35" name="Rounded Rectangle 34"/>
          <p:cNvSpPr/>
          <p:nvPr/>
        </p:nvSpPr>
        <p:spPr>
          <a:xfrm>
            <a:off x="566928" y="5340096"/>
            <a:ext cx="11057839" cy="713232"/>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2960" y="5486400"/>
            <a:ext cx="10545775" cy="420624"/>
          </a:xfrm>
          <a:prstGeom prst="rect">
            <a:avLst/>
          </a:prstGeom>
          <a:noFill/>
        </p:spPr>
        <p:txBody>
          <a:bodyPr wrap="square" lIns="0" rIns="0" tIns="0" bIns="0" anchor="ctr">
            <a:spAutoFit/>
          </a:bodyPr>
          <a:lstStyle/>
          <a:p>
            <a:pPr algn="l">
              <a:lnSpc>
                <a:spcPct val="120000"/>
              </a:lnSpc>
            </a:pPr>
            <a:r>
              <a:rPr sz="1150" b="1" i="0">
                <a:solidFill>
                  <a:srgbClr val="1E3A8A"/>
                </a:solidFill>
                <a:latin typeface="Segoe UI"/>
              </a:rPr>
              <a:t>Truth in the data:  </a:t>
            </a:r>
            <a:r>
              <a:rPr sz="1150" b="0" i="0">
                <a:solidFill>
                  <a:srgbClr val="334155"/>
                </a:solidFill>
                <a:latin typeface="Segoe UI"/>
              </a:rPr>
              <a:t>every tutor listing, booking, review and message is read live from PostgreSQL. When the database is not configured the screens show an explicit empty state — the app never invents tutors, bookings or ratings.</a:t>
            </a:r>
          </a:p>
        </p:txBody>
      </p:sp>
      <p:cxnSp>
        <p:nvCxnSpPr>
          <p:cNvPr id="37" name="Connector 36"/>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39" name="TextBox 38"/>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THE PROBLEM</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The challenge: finding and booking a tutor</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problems below are the frictions our features were built to remove — each one is mapped to something that actually exists in the codebase.</a:t>
            </a:r>
          </a:p>
        </p:txBody>
      </p:sp>
      <p:sp>
        <p:nvSpPr>
          <p:cNvPr id="7" name="Rounded Rectangle 6"/>
          <p:cNvSpPr/>
          <p:nvPr/>
        </p:nvSpPr>
        <p:spPr>
          <a:xfrm>
            <a:off x="566928" y="190195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90195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02996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01</a:t>
            </a:r>
          </a:p>
        </p:txBody>
      </p:sp>
      <p:sp>
        <p:nvSpPr>
          <p:cNvPr id="10" name="TextBox 9"/>
          <p:cNvSpPr txBox="1"/>
          <p:nvPr/>
        </p:nvSpPr>
        <p:spPr>
          <a:xfrm>
            <a:off x="1243584" y="202082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Finding a tutor for a specific subject</a:t>
            </a:r>
          </a:p>
        </p:txBody>
      </p:sp>
      <p:sp>
        <p:nvSpPr>
          <p:cNvPr id="11" name="TextBox 10"/>
          <p:cNvSpPr txBox="1"/>
          <p:nvPr/>
        </p:nvSpPr>
        <p:spPr>
          <a:xfrm>
            <a:off x="1243584" y="228600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Word of mouth can miss the exact subject or syllabus; there is no shared searchable tutor directory.</a:t>
            </a:r>
          </a:p>
        </p:txBody>
      </p:sp>
      <p:sp>
        <p:nvSpPr>
          <p:cNvPr id="12" name="TextBox 11"/>
          <p:cNvSpPr txBox="1"/>
          <p:nvPr/>
        </p:nvSpPr>
        <p:spPr>
          <a:xfrm>
            <a:off x="1243584" y="263347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Subject filter + Smart Tutor Match across 33 subject options</a:t>
            </a:r>
          </a:p>
        </p:txBody>
      </p:sp>
      <p:sp>
        <p:nvSpPr>
          <p:cNvPr id="13" name="Rounded Rectangle 12"/>
          <p:cNvSpPr/>
          <p:nvPr/>
        </p:nvSpPr>
        <p:spPr>
          <a:xfrm>
            <a:off x="566928" y="299923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66928" y="299923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12724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02</a:t>
            </a:r>
          </a:p>
        </p:txBody>
      </p:sp>
      <p:sp>
        <p:nvSpPr>
          <p:cNvPr id="16" name="TextBox 15"/>
          <p:cNvSpPr txBox="1"/>
          <p:nvPr/>
        </p:nvSpPr>
        <p:spPr>
          <a:xfrm>
            <a:off x="1243584" y="311810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Comparing tutors on evidence, not claims</a:t>
            </a:r>
          </a:p>
        </p:txBody>
      </p:sp>
      <p:sp>
        <p:nvSpPr>
          <p:cNvPr id="17" name="TextBox 16"/>
          <p:cNvSpPr txBox="1"/>
          <p:nvPr/>
        </p:nvSpPr>
        <p:spPr>
          <a:xfrm>
            <a:off x="1243584" y="338328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Without a common profile, families struggle to compare credentials, experience, ratings and reviews.</a:t>
            </a:r>
          </a:p>
        </p:txBody>
      </p:sp>
      <p:sp>
        <p:nvSpPr>
          <p:cNvPr id="18" name="TextBox 17"/>
          <p:cNvSpPr txBox="1"/>
          <p:nvPr/>
        </p:nvSpPr>
        <p:spPr>
          <a:xfrm>
            <a:off x="1243584" y="373075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Admin review, ID + degree uploads, verified badge and ratings</a:t>
            </a:r>
          </a:p>
        </p:txBody>
      </p:sp>
      <p:sp>
        <p:nvSpPr>
          <p:cNvPr id="19" name="Rounded Rectangle 18"/>
          <p:cNvSpPr/>
          <p:nvPr/>
        </p:nvSpPr>
        <p:spPr>
          <a:xfrm>
            <a:off x="566928" y="409651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66928" y="409651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6384" y="422452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03</a:t>
            </a:r>
          </a:p>
        </p:txBody>
      </p:sp>
      <p:sp>
        <p:nvSpPr>
          <p:cNvPr id="22" name="TextBox 21"/>
          <p:cNvSpPr txBox="1"/>
          <p:nvPr/>
        </p:nvSpPr>
        <p:spPr>
          <a:xfrm>
            <a:off x="1243584" y="421538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Matching availability and fee to a real budget</a:t>
            </a:r>
          </a:p>
        </p:txBody>
      </p:sp>
      <p:sp>
        <p:nvSpPr>
          <p:cNvPr id="23" name="TextBox 22"/>
          <p:cNvSpPr txBox="1"/>
          <p:nvPr/>
        </p:nvSpPr>
        <p:spPr>
          <a:xfrm>
            <a:off x="1243584" y="448056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Rates and weekly availability are often discovered only after a time-consuming phone call.</a:t>
            </a:r>
          </a:p>
        </p:txBody>
      </p:sp>
      <p:sp>
        <p:nvSpPr>
          <p:cNvPr id="24" name="TextBox 23"/>
          <p:cNvSpPr txBox="1"/>
          <p:nvPr/>
        </p:nvSpPr>
        <p:spPr>
          <a:xfrm>
            <a:off x="1243584" y="482803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₦2k–₦25k budget, weekday/weekend, curriculum and location filters</a:t>
            </a:r>
          </a:p>
        </p:txBody>
      </p:sp>
      <p:sp>
        <p:nvSpPr>
          <p:cNvPr id="25" name="Rounded Rectangle 24"/>
          <p:cNvSpPr/>
          <p:nvPr/>
        </p:nvSpPr>
        <p:spPr>
          <a:xfrm>
            <a:off x="6254496" y="190195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54496" y="190195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73952" y="202996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04</a:t>
            </a:r>
          </a:p>
        </p:txBody>
      </p:sp>
      <p:sp>
        <p:nvSpPr>
          <p:cNvPr id="28" name="TextBox 27"/>
          <p:cNvSpPr txBox="1"/>
          <p:nvPr/>
        </p:nvSpPr>
        <p:spPr>
          <a:xfrm>
            <a:off x="6931152" y="202082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Coordinating lessons and bookings</a:t>
            </a:r>
          </a:p>
        </p:txBody>
      </p:sp>
      <p:sp>
        <p:nvSpPr>
          <p:cNvPr id="29" name="TextBox 28"/>
          <p:cNvSpPr txBox="1"/>
          <p:nvPr/>
        </p:nvSpPr>
        <p:spPr>
          <a:xfrm>
            <a:off x="6931152" y="228600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Agreeing date, time, mode and fee over chat makes a request easy to lose or leave unconfirmed.</a:t>
            </a:r>
          </a:p>
        </p:txBody>
      </p:sp>
      <p:sp>
        <p:nvSpPr>
          <p:cNvPr id="30" name="TextBox 29"/>
          <p:cNvSpPr txBox="1"/>
          <p:nvPr/>
        </p:nvSpPr>
        <p:spPr>
          <a:xfrm>
            <a:off x="6931152" y="263347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Booking request → tutor decision → managed status lifecycle</a:t>
            </a:r>
          </a:p>
        </p:txBody>
      </p:sp>
      <p:sp>
        <p:nvSpPr>
          <p:cNvPr id="31" name="Rounded Rectangle 30"/>
          <p:cNvSpPr/>
          <p:nvPr/>
        </p:nvSpPr>
        <p:spPr>
          <a:xfrm>
            <a:off x="6254496" y="299923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54496" y="299923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73952" y="312724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05</a:t>
            </a:r>
          </a:p>
        </p:txBody>
      </p:sp>
      <p:sp>
        <p:nvSpPr>
          <p:cNvPr id="34" name="TextBox 33"/>
          <p:cNvSpPr txBox="1"/>
          <p:nvPr/>
        </p:nvSpPr>
        <p:spPr>
          <a:xfrm>
            <a:off x="6931152" y="311810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Getting feedback and a paper trail</a:t>
            </a:r>
          </a:p>
        </p:txBody>
      </p:sp>
      <p:sp>
        <p:nvSpPr>
          <p:cNvPr id="35" name="TextBox 34"/>
          <p:cNvSpPr txBox="1"/>
          <p:nvPr/>
        </p:nvSpPr>
        <p:spPr>
          <a:xfrm>
            <a:off x="6931152" y="338328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After class, learners need a structured way to rate a tutor and leave a record for later comparison.</a:t>
            </a:r>
          </a:p>
        </p:txBody>
      </p:sp>
      <p:sp>
        <p:nvSpPr>
          <p:cNvPr id="36" name="TextBox 35"/>
          <p:cNvSpPr txBox="1"/>
          <p:nvPr/>
        </p:nvSpPr>
        <p:spPr>
          <a:xfrm>
            <a:off x="6931152" y="373075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One review per completed booking; rating shown on the tutor profile</a:t>
            </a:r>
          </a:p>
        </p:txBody>
      </p:sp>
      <p:sp>
        <p:nvSpPr>
          <p:cNvPr id="37" name="Rounded Rectangle 36"/>
          <p:cNvSpPr/>
          <p:nvPr/>
        </p:nvSpPr>
        <p:spPr>
          <a:xfrm>
            <a:off x="6254496" y="4096512"/>
            <a:ext cx="5394960" cy="1060704"/>
          </a:xfrm>
          <a:prstGeom prst="roundRect">
            <a:avLst>
              <a:gd name="adj" fmla="val 6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6254496" y="4096512"/>
            <a:ext cx="45720" cy="1060704"/>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73952" y="4224528"/>
            <a:ext cx="4937760" cy="274320"/>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What we have NOT measured</a:t>
            </a:r>
          </a:p>
        </p:txBody>
      </p:sp>
      <p:sp>
        <p:nvSpPr>
          <p:cNvPr id="40" name="TextBox 39"/>
          <p:cNvSpPr txBox="1"/>
          <p:nvPr/>
        </p:nvSpPr>
        <p:spPr>
          <a:xfrm>
            <a:off x="6473952" y="4498848"/>
            <a:ext cx="4937760" cy="530352"/>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334155"/>
                </a:solidFill>
                <a:latin typeface="Segoe UI"/>
              </a:rPr>
              <a:t>We ran no user survey, no market-sizing study and no usability test. These problems are inferred from the friction our own features are designed to remove — they are not quantified claims.</a:t>
            </a:r>
          </a:p>
        </p:txBody>
      </p:sp>
      <p:sp>
        <p:nvSpPr>
          <p:cNvPr id="41" name="Rounded Rectangle 40"/>
          <p:cNvSpPr/>
          <p:nvPr/>
        </p:nvSpPr>
        <p:spPr>
          <a:xfrm>
            <a:off x="566928" y="5266944"/>
            <a:ext cx="11057839" cy="566928"/>
          </a:xfrm>
          <a:prstGeom prst="roundRect">
            <a:avLst>
              <a:gd name="adj" fmla="val 6000"/>
            </a:avLst>
          </a:prstGeom>
          <a:solidFill>
            <a:srgbClr val="D1FAE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22960" y="5413248"/>
            <a:ext cx="10545775" cy="274320"/>
          </a:xfrm>
          <a:prstGeom prst="rect">
            <a:avLst/>
          </a:prstGeom>
          <a:noFill/>
        </p:spPr>
        <p:txBody>
          <a:bodyPr wrap="square" lIns="0" rIns="0" tIns="0" bIns="0" anchor="ctr">
            <a:spAutoFit/>
          </a:bodyPr>
          <a:lstStyle/>
          <a:p>
            <a:pPr algn="l">
              <a:lnSpc>
                <a:spcPct val="120000"/>
              </a:lnSpc>
            </a:pPr>
            <a:r>
              <a:rPr sz="1150" b="1" i="0">
                <a:solidFill>
                  <a:srgbClr val="059669"/>
                </a:solidFill>
                <a:latin typeface="Segoe UI"/>
              </a:rPr>
              <a:t>Evidence:  </a:t>
            </a:r>
            <a:r>
              <a:rPr sz="1150" b="0" i="0">
                <a:solidFill>
                  <a:srgbClr val="334155"/>
                </a:solidFill>
                <a:latin typeface="Segoe UI"/>
              </a:rPr>
              <a:t>every problem above is addressed by a screen that ships in the repository — no concept-only features are presented as working.</a:t>
            </a:r>
          </a:p>
        </p:txBody>
      </p:sp>
      <p:cxnSp>
        <p:nvCxnSpPr>
          <p:cNvPr id="43" name="Connector 42"/>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45" name="TextBox 44"/>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OUR SOLUTION</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One platform, four roles, one source of truth</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TutorConnect Nigeria turns the five problems into a single flow: discover, verify, book, teach, review.</a:t>
            </a:r>
          </a:p>
        </p:txBody>
      </p:sp>
      <p:sp>
        <p:nvSpPr>
          <p:cNvPr id="7" name="Rounded Rectangle 6"/>
          <p:cNvSpPr/>
          <p:nvPr/>
        </p:nvSpPr>
        <p:spPr>
          <a:xfrm>
            <a:off x="56692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847088"/>
            <a:ext cx="586130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HOW EACH PROBLEM IS ANSWERED</a:t>
            </a:r>
          </a:p>
        </p:txBody>
      </p:sp>
      <p:sp>
        <p:nvSpPr>
          <p:cNvPr id="9" name="Rounded Rectangle 8"/>
          <p:cNvSpPr/>
          <p:nvPr/>
        </p:nvSpPr>
        <p:spPr>
          <a:xfrm>
            <a:off x="566928" y="21579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49808" y="22585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2563EB"/>
                </a:solidFill>
                <a:latin typeface="Segoe UI"/>
              </a:rPr>
              <a:t>✓</a:t>
            </a:r>
          </a:p>
        </p:txBody>
      </p:sp>
      <p:sp>
        <p:nvSpPr>
          <p:cNvPr id="11" name="TextBox 10"/>
          <p:cNvSpPr txBox="1"/>
          <p:nvPr/>
        </p:nvSpPr>
        <p:spPr>
          <a:xfrm>
            <a:off x="1335024" y="22494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Searchable supply</a:t>
            </a:r>
          </a:p>
        </p:txBody>
      </p:sp>
      <p:sp>
        <p:nvSpPr>
          <p:cNvPr id="12" name="TextBox 11"/>
          <p:cNvSpPr txBox="1"/>
          <p:nvPr/>
        </p:nvSpPr>
        <p:spPr>
          <a:xfrm>
            <a:off x="1335024" y="24780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A filterable directory of admin-approved tutors plus a preference-driven Smart Tutor Match.</a:t>
            </a:r>
          </a:p>
        </p:txBody>
      </p:sp>
      <p:sp>
        <p:nvSpPr>
          <p:cNvPr id="13" name="Rounded Rectangle 12"/>
          <p:cNvSpPr/>
          <p:nvPr/>
        </p:nvSpPr>
        <p:spPr>
          <a:xfrm>
            <a:off x="566928" y="28437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749808" y="29443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10B981"/>
                </a:solidFill>
                <a:latin typeface="Segoe UI"/>
              </a:rPr>
              <a:t>✓</a:t>
            </a:r>
          </a:p>
        </p:txBody>
      </p:sp>
      <p:sp>
        <p:nvSpPr>
          <p:cNvPr id="15" name="TextBox 14"/>
          <p:cNvSpPr txBox="1"/>
          <p:nvPr/>
        </p:nvSpPr>
        <p:spPr>
          <a:xfrm>
            <a:off x="1335024" y="29352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Trust signals</a:t>
            </a:r>
          </a:p>
        </p:txBody>
      </p:sp>
      <p:sp>
        <p:nvSpPr>
          <p:cNvPr id="16" name="TextBox 15"/>
          <p:cNvSpPr txBox="1"/>
          <p:nvPr/>
        </p:nvSpPr>
        <p:spPr>
          <a:xfrm>
            <a:off x="1335024" y="31638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Credential upload, admin review, verified badge, ratings and reviews attached to the tutor profile.</a:t>
            </a:r>
          </a:p>
        </p:txBody>
      </p:sp>
      <p:sp>
        <p:nvSpPr>
          <p:cNvPr id="17" name="Rounded Rectangle 16"/>
          <p:cNvSpPr/>
          <p:nvPr/>
        </p:nvSpPr>
        <p:spPr>
          <a:xfrm>
            <a:off x="566928" y="35295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749808" y="36301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59E0B"/>
                </a:solidFill>
                <a:latin typeface="Segoe UI"/>
              </a:rPr>
              <a:t>✓</a:t>
            </a:r>
          </a:p>
        </p:txBody>
      </p:sp>
      <p:sp>
        <p:nvSpPr>
          <p:cNvPr id="19" name="TextBox 18"/>
          <p:cNvSpPr txBox="1"/>
          <p:nvPr/>
        </p:nvSpPr>
        <p:spPr>
          <a:xfrm>
            <a:off x="1335024" y="36210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Price &amp; schedule clarity</a:t>
            </a:r>
          </a:p>
        </p:txBody>
      </p:sp>
      <p:sp>
        <p:nvSpPr>
          <p:cNvPr id="20" name="TextBox 19"/>
          <p:cNvSpPr txBox="1"/>
          <p:nvPr/>
        </p:nvSpPr>
        <p:spPr>
          <a:xfrm>
            <a:off x="1335024" y="38496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Hourly rate, budget slider, weekly availability slots and a live ₦ estimate at booking time.</a:t>
            </a:r>
          </a:p>
        </p:txBody>
      </p:sp>
      <p:sp>
        <p:nvSpPr>
          <p:cNvPr id="21" name="Rounded Rectangle 20"/>
          <p:cNvSpPr/>
          <p:nvPr/>
        </p:nvSpPr>
        <p:spPr>
          <a:xfrm>
            <a:off x="566928" y="42153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749808" y="43159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E11D48"/>
                </a:solidFill>
                <a:latin typeface="Segoe UI"/>
              </a:rPr>
              <a:t>✓</a:t>
            </a:r>
          </a:p>
        </p:txBody>
      </p:sp>
      <p:sp>
        <p:nvSpPr>
          <p:cNvPr id="23" name="TextBox 22"/>
          <p:cNvSpPr txBox="1"/>
          <p:nvPr/>
        </p:nvSpPr>
        <p:spPr>
          <a:xfrm>
            <a:off x="1335024" y="43068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Managed bookings</a:t>
            </a:r>
          </a:p>
        </p:txBody>
      </p:sp>
      <p:sp>
        <p:nvSpPr>
          <p:cNvPr id="24" name="TextBox 23"/>
          <p:cNvSpPr txBox="1"/>
          <p:nvPr/>
        </p:nvSpPr>
        <p:spPr>
          <a:xfrm>
            <a:off x="1335024" y="45354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pending → accepted / rejected → completed / cancelled, with ownership checks on every change.</a:t>
            </a:r>
          </a:p>
        </p:txBody>
      </p:sp>
      <p:sp>
        <p:nvSpPr>
          <p:cNvPr id="25" name="Rounded Rectangle 24"/>
          <p:cNvSpPr/>
          <p:nvPr/>
        </p:nvSpPr>
        <p:spPr>
          <a:xfrm>
            <a:off x="566928" y="49011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749808" y="50017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1E3A8A"/>
                </a:solidFill>
                <a:latin typeface="Segoe UI"/>
              </a:rPr>
              <a:t>✓</a:t>
            </a:r>
          </a:p>
        </p:txBody>
      </p:sp>
      <p:sp>
        <p:nvSpPr>
          <p:cNvPr id="27" name="TextBox 26"/>
          <p:cNvSpPr txBox="1"/>
          <p:nvPr/>
        </p:nvSpPr>
        <p:spPr>
          <a:xfrm>
            <a:off x="1335024" y="49926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Private channel</a:t>
            </a:r>
          </a:p>
        </p:txBody>
      </p:sp>
      <p:sp>
        <p:nvSpPr>
          <p:cNvPr id="28" name="TextBox 27"/>
          <p:cNvSpPr txBox="1"/>
          <p:nvPr/>
        </p:nvSpPr>
        <p:spPr>
          <a:xfrm>
            <a:off x="1335024" y="52212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Authenticated 1-to-1 messaging between a signed-in user and an eligible different-role contact.</a:t>
            </a:r>
          </a:p>
        </p:txBody>
      </p:sp>
      <p:sp>
        <p:nvSpPr>
          <p:cNvPr id="29" name="Rounded Rectangle 28"/>
          <p:cNvSpPr/>
          <p:nvPr/>
        </p:nvSpPr>
        <p:spPr>
          <a:xfrm>
            <a:off x="6885432"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013448" y="1847088"/>
            <a:ext cx="4611319"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WHO USES IT</a:t>
            </a:r>
          </a:p>
        </p:txBody>
      </p:sp>
      <p:cxnSp>
        <p:nvCxnSpPr>
          <p:cNvPr id="31" name="Connector 30"/>
          <p:cNvCxnSpPr/>
          <p:nvPr/>
        </p:nvCxnSpPr>
        <p:spPr>
          <a:xfrm flipH="1" flipV="1">
            <a:off x="7822692" y="3127248"/>
            <a:ext cx="1432407" cy="420624"/>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255099" y="3127248"/>
            <a:ext cx="1432408" cy="420624"/>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7822692" y="4919472"/>
            <a:ext cx="1432407" cy="164592"/>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55099" y="4919472"/>
            <a:ext cx="1432408" cy="164592"/>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569299" y="3547872"/>
            <a:ext cx="1371600" cy="137160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Segoe UI Semibold"/>
              </a:rPr>
              <a:t>TutorConnect</a:t>
            </a:r>
          </a:p>
          <a:p>
            <a:pPr algn="ctr">
              <a:lnSpc>
                <a:spcPct val="118000"/>
              </a:lnSpc>
              <a:spcBef>
                <a:spcPts val="0"/>
              </a:spcBef>
              <a:spcAft>
                <a:spcPts val="0"/>
              </a:spcAft>
            </a:pPr>
            <a:r>
              <a:rPr sz="1200" b="1" i="0">
                <a:solidFill>
                  <a:srgbClr val="10B981"/>
                </a:solidFill>
                <a:latin typeface="Segoe UI"/>
              </a:rPr>
              <a:t>NIGERIA</a:t>
            </a:r>
          </a:p>
          <a:p>
            <a:pPr algn="ctr">
              <a:lnSpc>
                <a:spcPct val="118000"/>
              </a:lnSpc>
              <a:spcBef>
                <a:spcPts val="0"/>
              </a:spcBef>
              <a:spcAft>
                <a:spcPts val="0"/>
              </a:spcAft>
            </a:pPr>
            <a:r>
              <a:rPr sz="800" b="0" i="0">
                <a:solidFill>
                  <a:srgbClr val="CBD5E1"/>
                </a:solidFill>
                <a:latin typeface="Segoe UI"/>
              </a:rPr>
              <a:t>one platform</a:t>
            </a:r>
          </a:p>
        </p:txBody>
      </p:sp>
      <p:sp>
        <p:nvSpPr>
          <p:cNvPr id="36" name="Rounded Rectangle 35"/>
          <p:cNvSpPr/>
          <p:nvPr/>
        </p:nvSpPr>
        <p:spPr>
          <a:xfrm>
            <a:off x="6885432" y="2176272"/>
            <a:ext cx="1874519" cy="950976"/>
          </a:xfrm>
          <a:prstGeom prst="roundRect">
            <a:avLst>
              <a:gd name="adj" fmla="val 9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6885432" y="2176272"/>
            <a:ext cx="1874519"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031736" y="2414015"/>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Student</a:t>
            </a:r>
          </a:p>
        </p:txBody>
      </p:sp>
      <p:sp>
        <p:nvSpPr>
          <p:cNvPr id="39" name="TextBox 38"/>
          <p:cNvSpPr txBox="1"/>
          <p:nvPr/>
        </p:nvSpPr>
        <p:spPr>
          <a:xfrm>
            <a:off x="7031736" y="2706624"/>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2563EB"/>
                </a:solidFill>
                <a:latin typeface="Segoe UI"/>
              </a:rPr>
              <a:t>book · review</a:t>
            </a:r>
          </a:p>
        </p:txBody>
      </p:sp>
      <p:sp>
        <p:nvSpPr>
          <p:cNvPr id="40" name="Rounded Rectangle 39"/>
          <p:cNvSpPr/>
          <p:nvPr/>
        </p:nvSpPr>
        <p:spPr>
          <a:xfrm>
            <a:off x="9750247" y="2176272"/>
            <a:ext cx="1874519" cy="950976"/>
          </a:xfrm>
          <a:prstGeom prst="roundRect">
            <a:avLst>
              <a:gd name="adj" fmla="val 9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9750247" y="2176272"/>
            <a:ext cx="1874519"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896551" y="2414015"/>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Parent</a:t>
            </a:r>
          </a:p>
        </p:txBody>
      </p:sp>
      <p:sp>
        <p:nvSpPr>
          <p:cNvPr id="43" name="TextBox 42"/>
          <p:cNvSpPr txBox="1"/>
          <p:nvPr/>
        </p:nvSpPr>
        <p:spPr>
          <a:xfrm>
            <a:off x="9896551" y="2706624"/>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10B981"/>
                </a:solidFill>
                <a:latin typeface="Segoe UI"/>
              </a:rPr>
              <a:t>learner · bookings</a:t>
            </a:r>
          </a:p>
        </p:txBody>
      </p:sp>
      <p:sp>
        <p:nvSpPr>
          <p:cNvPr id="44" name="Rounded Rectangle 43"/>
          <p:cNvSpPr/>
          <p:nvPr/>
        </p:nvSpPr>
        <p:spPr>
          <a:xfrm>
            <a:off x="6885432" y="5084064"/>
            <a:ext cx="1874519" cy="950976"/>
          </a:xfrm>
          <a:prstGeom prst="roundRect">
            <a:avLst>
              <a:gd name="adj" fmla="val 9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6885432" y="5084064"/>
            <a:ext cx="1874519"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031736" y="5321808"/>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Tutor</a:t>
            </a:r>
          </a:p>
        </p:txBody>
      </p:sp>
      <p:sp>
        <p:nvSpPr>
          <p:cNvPr id="47" name="TextBox 46"/>
          <p:cNvSpPr txBox="1"/>
          <p:nvPr/>
        </p:nvSpPr>
        <p:spPr>
          <a:xfrm>
            <a:off x="7031736" y="5614416"/>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F59E0B"/>
                </a:solidFill>
                <a:latin typeface="Segoe UI"/>
              </a:rPr>
              <a:t>teach · manage</a:t>
            </a:r>
          </a:p>
        </p:txBody>
      </p:sp>
      <p:sp>
        <p:nvSpPr>
          <p:cNvPr id="48" name="Rounded Rectangle 47"/>
          <p:cNvSpPr/>
          <p:nvPr/>
        </p:nvSpPr>
        <p:spPr>
          <a:xfrm>
            <a:off x="9750247" y="5084064"/>
            <a:ext cx="1874519" cy="950976"/>
          </a:xfrm>
          <a:prstGeom prst="roundRect">
            <a:avLst>
              <a:gd name="adj" fmla="val 9000"/>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ounded Rectangle 48"/>
          <p:cNvSpPr/>
          <p:nvPr/>
        </p:nvSpPr>
        <p:spPr>
          <a:xfrm>
            <a:off x="9750247" y="5084064"/>
            <a:ext cx="1874519" cy="4572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896551" y="5321808"/>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Administrator</a:t>
            </a:r>
          </a:p>
        </p:txBody>
      </p:sp>
      <p:sp>
        <p:nvSpPr>
          <p:cNvPr id="51" name="TextBox 50"/>
          <p:cNvSpPr txBox="1"/>
          <p:nvPr/>
        </p:nvSpPr>
        <p:spPr>
          <a:xfrm>
            <a:off x="9896551" y="5614416"/>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E11D48"/>
                </a:solidFill>
                <a:latin typeface="Segoe UI"/>
              </a:rPr>
              <a:t>verify · govern</a:t>
            </a:r>
          </a:p>
        </p:txBody>
      </p:sp>
      <p:sp>
        <p:nvSpPr>
          <p:cNvPr id="52" name="Rounded Rectangle 51"/>
          <p:cNvSpPr/>
          <p:nvPr/>
        </p:nvSpPr>
        <p:spPr>
          <a:xfrm>
            <a:off x="566928" y="5696712"/>
            <a:ext cx="5989320" cy="530352"/>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22960" y="5843016"/>
            <a:ext cx="5477256" cy="237743"/>
          </a:xfrm>
          <a:prstGeom prst="rect">
            <a:avLst/>
          </a:prstGeom>
          <a:noFill/>
        </p:spPr>
        <p:txBody>
          <a:bodyPr wrap="square" lIns="0" rIns="0" tIns="0" bIns="0" anchor="ctr">
            <a:spAutoFit/>
          </a:bodyPr>
          <a:lstStyle/>
          <a:p>
            <a:pPr algn="l">
              <a:lnSpc>
                <a:spcPct val="120000"/>
              </a:lnSpc>
            </a:pPr>
            <a:r>
              <a:rPr sz="1150" b="1" i="0">
                <a:solidFill>
                  <a:srgbClr val="1E3A8A"/>
                </a:solidFill>
                <a:latin typeface="Segoe UI"/>
              </a:rPr>
              <a:t>Access model:  </a:t>
            </a:r>
            <a:r>
              <a:rPr sz="1150" b="0" i="0">
                <a:solidFill>
                  <a:srgbClr val="475569"/>
                </a:solidFill>
                <a:latin typeface="Segoe UI"/>
              </a:rPr>
              <a:t>roles are stored in the users.role enum and checked by protected API actions. Dashboard routes are still client-guarded; server middleware is a stated production hardening task.</a:t>
            </a:r>
          </a:p>
        </p:txBody>
      </p:sp>
      <p:cxnSp>
        <p:nvCxnSpPr>
          <p:cNvPr id="54" name="Connector 53"/>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56" name="TextBox 55"/>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USER JOURNEY</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How the website works, end to end</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Seven steps, all of them real screens and real API calls in the repository.</a:t>
            </a:r>
          </a:p>
        </p:txBody>
      </p:sp>
      <p:sp>
        <p:nvSpPr>
          <p:cNvPr id="7" name="Rounded Rectangle 6"/>
          <p:cNvSpPr/>
          <p:nvPr/>
        </p:nvSpPr>
        <p:spPr>
          <a:xfrm>
            <a:off x="566928"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31520" y="1984248"/>
            <a:ext cx="365760" cy="3657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1</a:t>
            </a:r>
          </a:p>
        </p:txBody>
      </p:sp>
      <p:sp>
        <p:nvSpPr>
          <p:cNvPr id="9" name="TextBox 8"/>
          <p:cNvSpPr txBox="1"/>
          <p:nvPr/>
        </p:nvSpPr>
        <p:spPr>
          <a:xfrm>
            <a:off x="1207007"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Register or sign in</a:t>
            </a:r>
          </a:p>
        </p:txBody>
      </p:sp>
      <p:sp>
        <p:nvSpPr>
          <p:cNvPr id="10" name="TextBox 9"/>
          <p:cNvSpPr txBox="1"/>
          <p:nvPr/>
        </p:nvSpPr>
        <p:spPr>
          <a:xfrm>
            <a:off x="749808"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2563EB"/>
                </a:solidFill>
                <a:latin typeface="Segoe UI"/>
              </a:rPr>
              <a:t>/signup  ·  /login</a:t>
            </a:r>
          </a:p>
        </p:txBody>
      </p:sp>
      <p:sp>
        <p:nvSpPr>
          <p:cNvPr id="11" name="TextBox 10"/>
          <p:cNvSpPr txBox="1"/>
          <p:nvPr/>
        </p:nvSpPr>
        <p:spPr>
          <a:xfrm>
            <a:off x="749808"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Role-aware signup (student, parent, tutor) validated server-side: Gmail address, 8+ character password with upper, lower, digit and symbol. bcrypt hash + JWT issued on success.</a:t>
            </a:r>
          </a:p>
        </p:txBody>
      </p:sp>
      <p:sp>
        <p:nvSpPr>
          <p:cNvPr id="12" name="Right Arrow 11"/>
          <p:cNvSpPr/>
          <p:nvPr/>
        </p:nvSpPr>
        <p:spPr>
          <a:xfrm>
            <a:off x="3236976" y="2596896"/>
            <a:ext cx="137160" cy="137160"/>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2424"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3557016" y="198424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2</a:t>
            </a:r>
          </a:p>
        </p:txBody>
      </p:sp>
      <p:sp>
        <p:nvSpPr>
          <p:cNvPr id="15" name="TextBox 14"/>
          <p:cNvSpPr txBox="1"/>
          <p:nvPr/>
        </p:nvSpPr>
        <p:spPr>
          <a:xfrm>
            <a:off x="4032504"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Land on the right dashboard</a:t>
            </a:r>
          </a:p>
        </p:txBody>
      </p:sp>
      <p:sp>
        <p:nvSpPr>
          <p:cNvPr id="16" name="TextBox 15"/>
          <p:cNvSpPr txBox="1"/>
          <p:nvPr/>
        </p:nvSpPr>
        <p:spPr>
          <a:xfrm>
            <a:off x="3575304"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10B981"/>
                </a:solidFill>
                <a:latin typeface="Segoe UI"/>
              </a:rPr>
              <a:t>/dashboard/student | parent | tutor | admin</a:t>
            </a:r>
          </a:p>
        </p:txBody>
      </p:sp>
      <p:sp>
        <p:nvSpPr>
          <p:cNvPr id="17" name="TextBox 16"/>
          <p:cNvSpPr txBox="1"/>
          <p:nvPr/>
        </p:nvSpPr>
        <p:spPr>
          <a:xfrm>
            <a:off x="3575304"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The JWT payload carries the role; each dashboard reads it and redirects if the role does not match. Tutors get a 3-step readiness checklist.</a:t>
            </a:r>
          </a:p>
        </p:txBody>
      </p:sp>
      <p:sp>
        <p:nvSpPr>
          <p:cNvPr id="18" name="Right Arrow 17"/>
          <p:cNvSpPr/>
          <p:nvPr/>
        </p:nvSpPr>
        <p:spPr>
          <a:xfrm>
            <a:off x="6062471" y="2596896"/>
            <a:ext cx="137160" cy="137160"/>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0"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2512" y="198424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3</a:t>
            </a:r>
          </a:p>
        </p:txBody>
      </p:sp>
      <p:sp>
        <p:nvSpPr>
          <p:cNvPr id="21" name="TextBox 20"/>
          <p:cNvSpPr txBox="1"/>
          <p:nvPr/>
        </p:nvSpPr>
        <p:spPr>
          <a:xfrm>
            <a:off x="6858000"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Discover tutors</a:t>
            </a:r>
          </a:p>
        </p:txBody>
      </p:sp>
      <p:sp>
        <p:nvSpPr>
          <p:cNvPr id="22" name="TextBox 21"/>
          <p:cNvSpPr txBox="1"/>
          <p:nvPr/>
        </p:nvSpPr>
        <p:spPr>
          <a:xfrm>
            <a:off x="6400800"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F59E0B"/>
                </a:solidFill>
                <a:latin typeface="Segoe UI"/>
              </a:rPr>
              <a:t>/tutors  ·  /smart-match</a:t>
            </a:r>
          </a:p>
        </p:txBody>
      </p:sp>
      <p:sp>
        <p:nvSpPr>
          <p:cNvPr id="23" name="TextBox 22"/>
          <p:cNvSpPr txBox="1"/>
          <p:nvPr/>
        </p:nvSpPr>
        <p:spPr>
          <a:xfrm>
            <a:off x="6400800"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Filter the directory by subject, state, ₦ budget, availability and curriculum — or state your preferences and let Smart Tutor Match rank the results for you.</a:t>
            </a:r>
          </a:p>
        </p:txBody>
      </p:sp>
      <p:sp>
        <p:nvSpPr>
          <p:cNvPr id="24" name="Right Arrow 23"/>
          <p:cNvSpPr/>
          <p:nvPr/>
        </p:nvSpPr>
        <p:spPr>
          <a:xfrm>
            <a:off x="8887967" y="2596896"/>
            <a:ext cx="137160" cy="137160"/>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43415"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9208007" y="1984248"/>
            <a:ext cx="365760" cy="365760"/>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4</a:t>
            </a:r>
          </a:p>
        </p:txBody>
      </p:sp>
      <p:sp>
        <p:nvSpPr>
          <p:cNvPr id="27" name="TextBox 26"/>
          <p:cNvSpPr txBox="1"/>
          <p:nvPr/>
        </p:nvSpPr>
        <p:spPr>
          <a:xfrm>
            <a:off x="9683495"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Open the tutor profile</a:t>
            </a:r>
          </a:p>
        </p:txBody>
      </p:sp>
      <p:sp>
        <p:nvSpPr>
          <p:cNvPr id="28" name="TextBox 27"/>
          <p:cNvSpPr txBox="1"/>
          <p:nvPr/>
        </p:nvSpPr>
        <p:spPr>
          <a:xfrm>
            <a:off x="9226295"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E11D48"/>
                </a:solidFill>
                <a:latin typeface="Segoe UI"/>
              </a:rPr>
              <a:t>/tutors/[id]</a:t>
            </a:r>
          </a:p>
        </p:txBody>
      </p:sp>
      <p:sp>
        <p:nvSpPr>
          <p:cNvPr id="29" name="TextBox 28"/>
          <p:cNvSpPr txBox="1"/>
          <p:nvPr/>
        </p:nvSpPr>
        <p:spPr>
          <a:xfrm>
            <a:off x="9226295"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Verified badge, headline, bio, subjects, curriculum, rating, reviews and an interactive weekly availability calendar. Only admin-verified tutors are reachable here.</a:t>
            </a:r>
          </a:p>
        </p:txBody>
      </p:sp>
      <p:sp>
        <p:nvSpPr>
          <p:cNvPr id="30" name="Down Arrow 29"/>
          <p:cNvSpPr/>
          <p:nvPr/>
        </p:nvSpPr>
        <p:spPr>
          <a:xfrm>
            <a:off x="10314431" y="3497579"/>
            <a:ext cx="146304" cy="16459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43415" y="3657600"/>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9208007" y="3794760"/>
            <a:ext cx="365760" cy="36576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5</a:t>
            </a:r>
          </a:p>
        </p:txBody>
      </p:sp>
      <p:sp>
        <p:nvSpPr>
          <p:cNvPr id="33" name="TextBox 32"/>
          <p:cNvSpPr txBox="1"/>
          <p:nvPr/>
        </p:nvSpPr>
        <p:spPr>
          <a:xfrm>
            <a:off x="9683495" y="3822191"/>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Request a booking</a:t>
            </a:r>
          </a:p>
        </p:txBody>
      </p:sp>
      <p:sp>
        <p:nvSpPr>
          <p:cNvPr id="34" name="TextBox 33"/>
          <p:cNvSpPr txBox="1"/>
          <p:nvPr/>
        </p:nvSpPr>
        <p:spPr>
          <a:xfrm>
            <a:off x="9226295" y="4251960"/>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1E3A8A"/>
                </a:solidFill>
                <a:latin typeface="Segoe UI"/>
              </a:rPr>
              <a:t>BookingModal → POST /api/bookings</a:t>
            </a:r>
          </a:p>
        </p:txBody>
      </p:sp>
      <p:sp>
        <p:nvSpPr>
          <p:cNvPr id="35" name="TextBox 34"/>
          <p:cNvSpPr txBox="1"/>
          <p:nvPr/>
        </p:nvSpPr>
        <p:spPr>
          <a:xfrm>
            <a:off x="9226295" y="4526280"/>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Grade level, subject, date, time slot, online or in-person mode, notes and a live ₦ estimate. The row is created with status = pending.</a:t>
            </a:r>
          </a:p>
        </p:txBody>
      </p:sp>
      <p:sp>
        <p:nvSpPr>
          <p:cNvPr id="36" name="Left Arrow 35"/>
          <p:cNvSpPr/>
          <p:nvPr/>
        </p:nvSpPr>
        <p:spPr>
          <a:xfrm>
            <a:off x="8878824" y="4407408"/>
            <a:ext cx="137160" cy="137160"/>
          </a:xfrm>
          <a:prstGeom prst="lef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17920" y="3657600"/>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6382512" y="3794760"/>
            <a:ext cx="365760" cy="3657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6</a:t>
            </a:r>
          </a:p>
        </p:txBody>
      </p:sp>
      <p:sp>
        <p:nvSpPr>
          <p:cNvPr id="39" name="TextBox 38"/>
          <p:cNvSpPr txBox="1"/>
          <p:nvPr/>
        </p:nvSpPr>
        <p:spPr>
          <a:xfrm>
            <a:off x="6858000" y="3822191"/>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Tutor decides, session happens</a:t>
            </a:r>
          </a:p>
        </p:txBody>
      </p:sp>
      <p:sp>
        <p:nvSpPr>
          <p:cNvPr id="40" name="TextBox 39"/>
          <p:cNvSpPr txBox="1"/>
          <p:nvPr/>
        </p:nvSpPr>
        <p:spPr>
          <a:xfrm>
            <a:off x="6400800" y="4251960"/>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2563EB"/>
                </a:solidFill>
                <a:latin typeface="Segoe UI"/>
              </a:rPr>
              <a:t>PATCH /api/bookings</a:t>
            </a:r>
          </a:p>
        </p:txBody>
      </p:sp>
      <p:sp>
        <p:nvSpPr>
          <p:cNvPr id="41" name="TextBox 40"/>
          <p:cNvSpPr txBox="1"/>
          <p:nvPr/>
        </p:nvSpPr>
        <p:spPr>
          <a:xfrm>
            <a:off x="6400800" y="4526280"/>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The tutor accepts (pasting a Google Meet / Zoom link) or declines. Students can edit or cancel while the request is still pending; the tutor marks it completed afterwards.</a:t>
            </a:r>
          </a:p>
        </p:txBody>
      </p:sp>
      <p:sp>
        <p:nvSpPr>
          <p:cNvPr id="42" name="Left Arrow 41"/>
          <p:cNvSpPr/>
          <p:nvPr/>
        </p:nvSpPr>
        <p:spPr>
          <a:xfrm>
            <a:off x="6053328" y="4407408"/>
            <a:ext cx="137160" cy="137160"/>
          </a:xfrm>
          <a:prstGeom prst="lef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392424" y="3657600"/>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3557016" y="379476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7</a:t>
            </a:r>
          </a:p>
        </p:txBody>
      </p:sp>
      <p:sp>
        <p:nvSpPr>
          <p:cNvPr id="45" name="TextBox 44"/>
          <p:cNvSpPr txBox="1"/>
          <p:nvPr/>
        </p:nvSpPr>
        <p:spPr>
          <a:xfrm>
            <a:off x="4032504" y="3822191"/>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Review and keep in touch</a:t>
            </a:r>
          </a:p>
        </p:txBody>
      </p:sp>
      <p:sp>
        <p:nvSpPr>
          <p:cNvPr id="46" name="TextBox 45"/>
          <p:cNvSpPr txBox="1"/>
          <p:nvPr/>
        </p:nvSpPr>
        <p:spPr>
          <a:xfrm>
            <a:off x="3575304" y="4251960"/>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10B981"/>
                </a:solidFill>
                <a:latin typeface="Segoe UI"/>
              </a:rPr>
              <a:t>/api/reviews  ·  /api/messages</a:t>
            </a:r>
          </a:p>
        </p:txBody>
      </p:sp>
      <p:sp>
        <p:nvSpPr>
          <p:cNvPr id="47" name="TextBox 46"/>
          <p:cNvSpPr txBox="1"/>
          <p:nvPr/>
        </p:nvSpPr>
        <p:spPr>
          <a:xfrm>
            <a:off x="3575304" y="4526280"/>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Students and parents can leave one 1–5 star review after a completed booking. Authenticated users can start private 1-to-1 chats with eligible contacts.</a:t>
            </a:r>
          </a:p>
        </p:txBody>
      </p:sp>
      <p:sp>
        <p:nvSpPr>
          <p:cNvPr id="48" name="Rounded Rectangle 47"/>
          <p:cNvSpPr/>
          <p:nvPr/>
        </p:nvSpPr>
        <p:spPr>
          <a:xfrm>
            <a:off x="566928" y="5632704"/>
            <a:ext cx="11057839" cy="566928"/>
          </a:xfrm>
          <a:prstGeom prst="roundRect">
            <a:avLst>
              <a:gd name="adj" fmla="val 6000"/>
            </a:avLst>
          </a:prstGeom>
          <a:solidFill>
            <a:srgbClr val="D1FAE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22960" y="5779008"/>
            <a:ext cx="10545775" cy="274320"/>
          </a:xfrm>
          <a:prstGeom prst="rect">
            <a:avLst/>
          </a:prstGeom>
          <a:noFill/>
        </p:spPr>
        <p:txBody>
          <a:bodyPr wrap="square" lIns="0" rIns="0" tIns="0" bIns="0" anchor="ctr">
            <a:spAutoFit/>
          </a:bodyPr>
          <a:lstStyle/>
          <a:p>
            <a:pPr algn="l">
              <a:lnSpc>
                <a:spcPct val="120000"/>
              </a:lnSpc>
            </a:pPr>
            <a:r>
              <a:rPr sz="1150" b="1" i="0">
                <a:solidFill>
                  <a:srgbClr val="059669"/>
                </a:solidFill>
                <a:latin typeface="Segoe UI"/>
              </a:rPr>
              <a:t>Booking lifecycle:  </a:t>
            </a:r>
            <a:r>
              <a:rPr sz="1150" b="0" i="0">
                <a:solidFill>
                  <a:srgbClr val="334155"/>
                </a:solidFill>
                <a:latin typeface="Segoe UI"/>
              </a:rPr>
              <a:t>pending → accepted / rejected → completed / cancelled. Only a completed booking can be reviewed, and the reviewer name is read from the users table — never from the request body.</a:t>
            </a:r>
          </a:p>
        </p:txBody>
      </p:sp>
      <p:cxnSp>
        <p:nvCxnSpPr>
          <p:cNvPr id="50" name="Connector 49"/>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52" name="TextBox 51"/>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FRONTEND DEVELOPMENT &amp; USER EXPERIENCE</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Responsive UI, reusable components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frontend is the part of the product students and parents actually touch — so it is where most of our design effort went.</a:t>
            </a:r>
          </a:p>
        </p:txBody>
      </p:sp>
      <p:sp>
        <p:nvSpPr>
          <p:cNvPr id="7" name="Rounded Rectangle 6"/>
          <p:cNvSpPr/>
          <p:nvPr/>
        </p:nvSpPr>
        <p:spPr>
          <a:xfrm>
            <a:off x="7418527" y="365760"/>
            <a:ext cx="4206240" cy="329184"/>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bIns="0"/>
          <a:lstStyle/>
          <a:p>
            <a:pPr algn="l"/>
            <a:r>
              <a:rPr sz="850" b="1" i="0" cap="all" spc="80">
                <a:solidFill>
                  <a:srgbClr val="94A3B8"/>
                </a:solidFill>
                <a:latin typeface="Segoe UI"/>
              </a:rPr>
              <a:t>Presenter  </a:t>
            </a:r>
            <a:r>
              <a:rPr sz="1050" b="1" i="0">
                <a:solidFill>
                  <a:srgbClr val="1E3A8A"/>
                </a:solidFill>
                <a:latin typeface="Segoe UI"/>
              </a:rPr>
              <a:t>Hephzibah Uchechukwu</a:t>
            </a:r>
          </a:p>
        </p:txBody>
      </p:sp>
      <p:sp>
        <p:nvSpPr>
          <p:cNvPr id="8" name="Rounded Rectangle 7"/>
          <p:cNvSpPr/>
          <p:nvPr/>
        </p:nvSpPr>
        <p:spPr>
          <a:xfrm>
            <a:off x="566928" y="1847088"/>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847088"/>
            <a:ext cx="2212848"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9808" y="1965960"/>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Next.js 16 · App Router</a:t>
            </a:r>
          </a:p>
        </p:txBody>
      </p:sp>
      <p:sp>
        <p:nvSpPr>
          <p:cNvPr id="11" name="TextBox 10"/>
          <p:cNvSpPr txBox="1"/>
          <p:nvPr/>
        </p:nvSpPr>
        <p:spPr>
          <a:xfrm>
            <a:off x="749808" y="2295144"/>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File routes, server-rendered pages and API handlers.</a:t>
            </a:r>
          </a:p>
        </p:txBody>
      </p:sp>
      <p:sp>
        <p:nvSpPr>
          <p:cNvPr id="12" name="TextBox 11"/>
          <p:cNvSpPr txBox="1"/>
          <p:nvPr/>
        </p:nvSpPr>
        <p:spPr>
          <a:xfrm>
            <a:off x="749808" y="2596896"/>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app/: 15 page routes plus /api handlers.</a:t>
            </a:r>
          </a:p>
        </p:txBody>
      </p:sp>
      <p:sp>
        <p:nvSpPr>
          <p:cNvPr id="13" name="Rounded Rectangle 12"/>
          <p:cNvSpPr/>
          <p:nvPr/>
        </p:nvSpPr>
        <p:spPr>
          <a:xfrm>
            <a:off x="2926080" y="1847088"/>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926080" y="1847088"/>
            <a:ext cx="2212848"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108960" y="1965960"/>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React 19 · TypeScript 5</a:t>
            </a:r>
          </a:p>
        </p:txBody>
      </p:sp>
      <p:sp>
        <p:nvSpPr>
          <p:cNvPr id="16" name="TextBox 15"/>
          <p:cNvSpPr txBox="1"/>
          <p:nvPr/>
        </p:nvSpPr>
        <p:spPr>
          <a:xfrm>
            <a:off x="3108960" y="2295144"/>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Component UI with strict static type-checking.</a:t>
            </a:r>
          </a:p>
        </p:txBody>
      </p:sp>
      <p:sp>
        <p:nvSpPr>
          <p:cNvPr id="17" name="TextBox 16"/>
          <p:cNvSpPr txBox="1"/>
          <p:nvPr/>
        </p:nvSpPr>
        <p:spPr>
          <a:xfrm>
            <a:off x="3108960" y="2596896"/>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21 shared components; domain types in lib/types.ts.</a:t>
            </a:r>
          </a:p>
        </p:txBody>
      </p:sp>
      <p:sp>
        <p:nvSpPr>
          <p:cNvPr id="18" name="Rounded Rectangle 17"/>
          <p:cNvSpPr/>
          <p:nvPr/>
        </p:nvSpPr>
        <p:spPr>
          <a:xfrm>
            <a:off x="5285232" y="1847088"/>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285232" y="1847088"/>
            <a:ext cx="2212848"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68112" y="1965960"/>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Tailwind CSS 4</a:t>
            </a:r>
          </a:p>
        </p:txBody>
      </p:sp>
      <p:sp>
        <p:nvSpPr>
          <p:cNvPr id="21" name="TextBox 20"/>
          <p:cNvSpPr txBox="1"/>
          <p:nvPr/>
        </p:nvSpPr>
        <p:spPr>
          <a:xfrm>
            <a:off x="5468112" y="2295144"/>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Utility CSS with brand tokens and responsive breakpoints.</a:t>
            </a:r>
          </a:p>
        </p:txBody>
      </p:sp>
      <p:sp>
        <p:nvSpPr>
          <p:cNvPr id="22" name="TextBox 21"/>
          <p:cNvSpPr txBox="1"/>
          <p:nvPr/>
        </p:nvSpPr>
        <p:spPr>
          <a:xfrm>
            <a:off x="5468112" y="2596896"/>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tailwind.config.js: palette, shadows and keyframes.</a:t>
            </a:r>
          </a:p>
        </p:txBody>
      </p:sp>
      <p:sp>
        <p:nvSpPr>
          <p:cNvPr id="23" name="Rounded Rectangle 22"/>
          <p:cNvSpPr/>
          <p:nvPr/>
        </p:nvSpPr>
        <p:spPr>
          <a:xfrm>
            <a:off x="566928" y="3163824"/>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66928" y="3163824"/>
            <a:ext cx="2212848" cy="4572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9808" y="3282696"/>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Framer Motion 14</a:t>
            </a:r>
          </a:p>
        </p:txBody>
      </p:sp>
      <p:sp>
        <p:nvSpPr>
          <p:cNvPr id="26" name="TextBox 25"/>
          <p:cNvSpPr txBox="1"/>
          <p:nvPr/>
        </p:nvSpPr>
        <p:spPr>
          <a:xfrm>
            <a:off x="749808" y="3611880"/>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Declarative transitions for animated interface states.</a:t>
            </a:r>
          </a:p>
        </p:txBody>
      </p:sp>
      <p:sp>
        <p:nvSpPr>
          <p:cNvPr id="27" name="TextBox 26"/>
          <p:cNvSpPr txBox="1"/>
          <p:nvPr/>
        </p:nvSpPr>
        <p:spPr>
          <a:xfrm>
            <a:off x="749808" y="3913632"/>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HeroSlider, BookingModal and tutor-grid transitions.</a:t>
            </a:r>
          </a:p>
        </p:txBody>
      </p:sp>
      <p:sp>
        <p:nvSpPr>
          <p:cNvPr id="28" name="Rounded Rectangle 27"/>
          <p:cNvSpPr/>
          <p:nvPr/>
        </p:nvSpPr>
        <p:spPr>
          <a:xfrm>
            <a:off x="2926080" y="3163824"/>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2926080" y="3163824"/>
            <a:ext cx="2212848"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108960" y="3282696"/>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lucide-react</a:t>
            </a:r>
          </a:p>
        </p:txBody>
      </p:sp>
      <p:sp>
        <p:nvSpPr>
          <p:cNvPr id="31" name="TextBox 30"/>
          <p:cNvSpPr txBox="1"/>
          <p:nvPr/>
        </p:nvSpPr>
        <p:spPr>
          <a:xfrm>
            <a:off x="3108960" y="3611880"/>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A tree-shakeable SVG icon set, styled with Tailwind.</a:t>
            </a:r>
          </a:p>
        </p:txBody>
      </p:sp>
      <p:sp>
        <p:nvSpPr>
          <p:cNvPr id="32" name="TextBox 31"/>
          <p:cNvSpPr txBox="1"/>
          <p:nvPr/>
        </p:nvSpPr>
        <p:spPr>
          <a:xfrm>
            <a:off x="3108960" y="3913632"/>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Navbar, verified badges, search, budget and status icons.</a:t>
            </a:r>
          </a:p>
        </p:txBody>
      </p:sp>
      <p:sp>
        <p:nvSpPr>
          <p:cNvPr id="33" name="Rounded Rectangle 32"/>
          <p:cNvSpPr/>
          <p:nvPr/>
        </p:nvSpPr>
        <p:spPr>
          <a:xfrm>
            <a:off x="5285232" y="3163824"/>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5285232" y="3163824"/>
            <a:ext cx="2212848"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68112" y="3282696"/>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next/font + design tokens</a:t>
            </a:r>
          </a:p>
        </p:txBody>
      </p:sp>
      <p:sp>
        <p:nvSpPr>
          <p:cNvPr id="36" name="TextBox 35"/>
          <p:cNvSpPr txBox="1"/>
          <p:nvPr/>
        </p:nvSpPr>
        <p:spPr>
          <a:xfrm>
            <a:off x="5468112" y="3611880"/>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Self-hosted fonts, loaded without layout shift.</a:t>
            </a:r>
          </a:p>
        </p:txBody>
      </p:sp>
      <p:sp>
        <p:nvSpPr>
          <p:cNvPr id="37" name="TextBox 36"/>
          <p:cNvSpPr txBox="1"/>
          <p:nvPr/>
        </p:nvSpPr>
        <p:spPr>
          <a:xfrm>
            <a:off x="5468112" y="3913632"/>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app/layout.tsx: Inter body + Plus Jakarta Sans headings.</a:t>
            </a:r>
          </a:p>
        </p:txBody>
      </p:sp>
      <p:sp>
        <p:nvSpPr>
          <p:cNvPr id="38" name="Rounded Rectangle 37"/>
          <p:cNvSpPr/>
          <p:nvPr/>
        </p:nvSpPr>
        <p:spPr>
          <a:xfrm>
            <a:off x="7699248" y="1847088"/>
            <a:ext cx="3925519" cy="1207008"/>
          </a:xfrm>
          <a:prstGeom prst="roundRect">
            <a:avLst>
              <a:gd name="adj" fmla="val 7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900416" y="1993392"/>
            <a:ext cx="3523183" cy="274320"/>
          </a:xfrm>
          <a:prstGeom prst="rect">
            <a:avLst/>
          </a:prstGeom>
          <a:noFill/>
        </p:spPr>
        <p:txBody>
          <a:bodyPr wrap="square" lIns="0" rIns="0" tIns="0" bIns="0" anchor="t">
            <a:spAutoFit/>
          </a:bodyPr>
          <a:lstStyle/>
          <a:p>
            <a:pPr algn="l">
              <a:lnSpc>
                <a:spcPct val="118000"/>
              </a:lnSpc>
              <a:spcBef>
                <a:spcPts val="0"/>
              </a:spcBef>
              <a:spcAft>
                <a:spcPts val="0"/>
              </a:spcAft>
            </a:pPr>
            <a:r>
              <a:rPr sz="1000" b="1" i="0" cap="all" spc="110">
                <a:solidFill>
                  <a:srgbClr val="10B981"/>
                </a:solidFill>
                <a:latin typeface="Segoe UI"/>
              </a:rPr>
              <a:t>FRONTEND → BACKEND</a:t>
            </a:r>
          </a:p>
        </p:txBody>
      </p:sp>
      <p:sp>
        <p:nvSpPr>
          <p:cNvPr id="40" name="TextBox 39"/>
          <p:cNvSpPr txBox="1"/>
          <p:nvPr/>
        </p:nvSpPr>
        <p:spPr>
          <a:xfrm>
            <a:off x="7900416" y="2286000"/>
            <a:ext cx="3523183" cy="713232"/>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CBD5E1"/>
                </a:solidFill>
                <a:latin typeface="Segoe UI"/>
              </a:rPr>
              <a:t>Client components call the API with fetch() and send the JWT as an Authorization: Bearer header from localStorage. Responses are parsed into React state; loading, empty and error states are handled in the component itself.</a:t>
            </a:r>
          </a:p>
        </p:txBody>
      </p:sp>
      <p:sp>
        <p:nvSpPr>
          <p:cNvPr id="41" name="Rounded Rectangle 40"/>
          <p:cNvSpPr/>
          <p:nvPr/>
        </p:nvSpPr>
        <p:spPr>
          <a:xfrm>
            <a:off x="7699248" y="3163824"/>
            <a:ext cx="3925519" cy="1207008"/>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900416" y="3310128"/>
            <a:ext cx="3523183" cy="256032"/>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Responsive by default</a:t>
            </a:r>
          </a:p>
        </p:txBody>
      </p:sp>
      <p:sp>
        <p:nvSpPr>
          <p:cNvPr id="43" name="TextBox 42"/>
          <p:cNvSpPr txBox="1"/>
          <p:nvPr/>
        </p:nvSpPr>
        <p:spPr>
          <a:xfrm>
            <a:off x="7900416" y="3584448"/>
            <a:ext cx="3523183" cy="731520"/>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75569"/>
                </a:solidFill>
                <a:latin typeface="Segoe UI"/>
              </a:rPr>
              <a:t>Tailwind breakpoints drive a sticky, blurred navbar, a slide-in mobile filter drawer, a 1→2→4 column homepage grid, a 1→2→3 column directory and bottom-sheet booking modals on small screens.</a:t>
            </a:r>
          </a:p>
        </p:txBody>
      </p:sp>
      <p:sp>
        <p:nvSpPr>
          <p:cNvPr id="44" name="Rounded Rectangle 43"/>
          <p:cNvSpPr/>
          <p:nvPr/>
        </p:nvSpPr>
        <p:spPr>
          <a:xfrm>
            <a:off x="566928" y="4567428"/>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4944" y="4535424"/>
            <a:ext cx="1092982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PRODUCT UI ILLUSTRATION — REFLECTS SHIPPED COMPONENTS, NOT A LIVE SCREENSHOT</a:t>
            </a:r>
          </a:p>
        </p:txBody>
      </p:sp>
      <p:sp>
        <p:nvSpPr>
          <p:cNvPr id="46" name="Rounded Rectangle 45"/>
          <p:cNvSpPr/>
          <p:nvPr/>
        </p:nvSpPr>
        <p:spPr>
          <a:xfrm>
            <a:off x="566928" y="4809744"/>
            <a:ext cx="11057839" cy="1261872"/>
          </a:xfrm>
          <a:prstGeom prst="roundRect">
            <a:avLst>
              <a:gd name="adj" fmla="val 6000"/>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566928" y="4809744"/>
            <a:ext cx="11057839" cy="219456"/>
          </a:xfrm>
          <a:prstGeom prst="roundRect">
            <a:avLst>
              <a:gd name="adj" fmla="val 6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694944" y="4850892"/>
            <a:ext cx="137160" cy="13716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700" b="1" i="0">
                <a:solidFill>
                  <a:srgbClr val="FFFFFF"/>
                </a:solidFill>
                <a:latin typeface="Segoe UI"/>
              </a:rPr>
              <a:t>✦</a:t>
            </a:r>
          </a:p>
        </p:txBody>
      </p:sp>
      <p:sp>
        <p:nvSpPr>
          <p:cNvPr id="49" name="TextBox 48"/>
          <p:cNvSpPr txBox="1"/>
          <p:nvPr/>
        </p:nvSpPr>
        <p:spPr>
          <a:xfrm>
            <a:off x="886968" y="4850892"/>
            <a:ext cx="1508760"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FFFFFF"/>
                </a:solidFill>
                <a:latin typeface="Segoe UI"/>
              </a:rPr>
              <a:t>TutorConnect NG</a:t>
            </a:r>
          </a:p>
        </p:txBody>
      </p:sp>
      <p:sp>
        <p:nvSpPr>
          <p:cNvPr id="50" name="TextBox 49"/>
          <p:cNvSpPr txBox="1"/>
          <p:nvPr/>
        </p:nvSpPr>
        <p:spPr>
          <a:xfrm>
            <a:off x="2487168" y="4850892"/>
            <a:ext cx="2194560" cy="146304"/>
          </a:xfrm>
          <a:prstGeom prst="rect">
            <a:avLst/>
          </a:prstGeom>
          <a:noFill/>
        </p:spPr>
        <p:txBody>
          <a:bodyPr wrap="square" lIns="0" rIns="0" tIns="0" bIns="0" anchor="t">
            <a:spAutoFit/>
          </a:bodyPr>
          <a:lstStyle/>
          <a:p>
            <a:pPr algn="l">
              <a:lnSpc>
                <a:spcPct val="118000"/>
              </a:lnSpc>
              <a:spcBef>
                <a:spcPts val="0"/>
              </a:spcBef>
              <a:spcAft>
                <a:spcPts val="0"/>
              </a:spcAft>
            </a:pPr>
            <a:r>
              <a:rPr sz="750" b="0" i="0">
                <a:solidFill>
                  <a:srgbClr val="D8E4FF"/>
                </a:solidFill>
                <a:latin typeface="Segoe UI"/>
              </a:rPr>
              <a:t>Tutors   Parents &amp; Students</a:t>
            </a:r>
          </a:p>
        </p:txBody>
      </p:sp>
      <p:sp>
        <p:nvSpPr>
          <p:cNvPr id="51" name="Rounded Rectangle 50"/>
          <p:cNvSpPr/>
          <p:nvPr/>
        </p:nvSpPr>
        <p:spPr>
          <a:xfrm>
            <a:off x="9539935" y="4846320"/>
            <a:ext cx="804672" cy="14630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20" b="1" i="0">
                <a:solidFill>
                  <a:srgbClr val="1E3A8A"/>
                </a:solidFill>
                <a:latin typeface="Segoe UI"/>
              </a:rPr>
              <a:t>Log in</a:t>
            </a:r>
          </a:p>
        </p:txBody>
      </p:sp>
      <p:sp>
        <p:nvSpPr>
          <p:cNvPr id="52" name="Rounded Rectangle 51"/>
          <p:cNvSpPr/>
          <p:nvPr/>
        </p:nvSpPr>
        <p:spPr>
          <a:xfrm>
            <a:off x="10481767" y="4846320"/>
            <a:ext cx="987552" cy="14630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20" b="1" i="0">
                <a:solidFill>
                  <a:srgbClr val="FFFFFF"/>
                </a:solidFill>
                <a:latin typeface="Segoe UI"/>
              </a:rPr>
              <a:t>Sign up</a:t>
            </a:r>
          </a:p>
        </p:txBody>
      </p:sp>
      <p:sp>
        <p:nvSpPr>
          <p:cNvPr id="53" name="Rounded Rectangle 52"/>
          <p:cNvSpPr/>
          <p:nvPr/>
        </p:nvSpPr>
        <p:spPr>
          <a:xfrm>
            <a:off x="694944" y="5120640"/>
            <a:ext cx="1417320"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86384" y="5193792"/>
            <a:ext cx="1234440" cy="146304"/>
          </a:xfrm>
          <a:prstGeom prst="rect">
            <a:avLst/>
          </a:prstGeom>
          <a:noFill/>
        </p:spPr>
        <p:txBody>
          <a:bodyPr wrap="square" lIns="0" rIns="0" tIns="0" bIns="0" anchor="t">
            <a:spAutoFit/>
          </a:bodyPr>
          <a:lstStyle/>
          <a:p>
            <a:pPr algn="l">
              <a:lnSpc>
                <a:spcPct val="118000"/>
              </a:lnSpc>
              <a:spcBef>
                <a:spcPts val="0"/>
              </a:spcBef>
              <a:spcAft>
                <a:spcPts val="0"/>
              </a:spcAft>
            </a:pPr>
            <a:r>
              <a:rPr sz="720" b="1" i="0" cap="all" spc="70">
                <a:solidFill>
                  <a:srgbClr val="1E3A8A"/>
                </a:solidFill>
                <a:latin typeface="Segoe UI"/>
              </a:rPr>
              <a:t>FILTERS</a:t>
            </a:r>
          </a:p>
        </p:txBody>
      </p:sp>
      <p:sp>
        <p:nvSpPr>
          <p:cNvPr id="55" name="TextBox 54"/>
          <p:cNvSpPr txBox="1"/>
          <p:nvPr/>
        </p:nvSpPr>
        <p:spPr>
          <a:xfrm>
            <a:off x="786384" y="537667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Subject  ▾</a:t>
            </a:r>
          </a:p>
        </p:txBody>
      </p:sp>
      <p:sp>
        <p:nvSpPr>
          <p:cNvPr id="56" name="Rectangle 55"/>
          <p:cNvSpPr/>
          <p:nvPr/>
        </p:nvSpPr>
        <p:spPr>
          <a:xfrm>
            <a:off x="786384" y="5513831"/>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551383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State / location  ▾</a:t>
            </a:r>
          </a:p>
        </p:txBody>
      </p:sp>
      <p:sp>
        <p:nvSpPr>
          <p:cNvPr id="58" name="Rectangle 57"/>
          <p:cNvSpPr/>
          <p:nvPr/>
        </p:nvSpPr>
        <p:spPr>
          <a:xfrm>
            <a:off x="786384" y="5650992"/>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86384" y="565099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Budget  ₦2k–₦25k</a:t>
            </a:r>
          </a:p>
        </p:txBody>
      </p:sp>
      <p:sp>
        <p:nvSpPr>
          <p:cNvPr id="60" name="Rectangle 59"/>
          <p:cNvSpPr/>
          <p:nvPr/>
        </p:nvSpPr>
        <p:spPr>
          <a:xfrm>
            <a:off x="786384" y="5788151"/>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786384" y="578815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Availability  ▾</a:t>
            </a:r>
          </a:p>
        </p:txBody>
      </p:sp>
      <p:sp>
        <p:nvSpPr>
          <p:cNvPr id="62" name="Rectangle 61"/>
          <p:cNvSpPr/>
          <p:nvPr/>
        </p:nvSpPr>
        <p:spPr>
          <a:xfrm>
            <a:off x="786384" y="5925312"/>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ounded Rectangle 62"/>
          <p:cNvSpPr/>
          <p:nvPr/>
        </p:nvSpPr>
        <p:spPr>
          <a:xfrm>
            <a:off x="2276856" y="5120640"/>
            <a:ext cx="2987954"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4" name="Picture 63" descr="tutor-02.jpg"/>
          <p:cNvPicPr>
            <a:picLocks noChangeAspect="1"/>
          </p:cNvPicPr>
          <p:nvPr/>
        </p:nvPicPr>
        <p:blipFill>
          <a:blip r:embed="rId2"/>
          <a:srcRect l="12857" r="12857"/>
          <a:stretch>
            <a:fillRect/>
          </a:stretch>
        </p:blipFill>
        <p:spPr>
          <a:xfrm>
            <a:off x="2340864" y="5193792"/>
            <a:ext cx="475488" cy="640080"/>
          </a:xfrm>
          <a:prstGeom prst="rect">
            <a:avLst/>
          </a:prstGeom>
        </p:spPr>
      </p:pic>
      <p:sp>
        <p:nvSpPr>
          <p:cNvPr id="65" name="TextBox 64"/>
          <p:cNvSpPr txBox="1"/>
          <p:nvPr/>
        </p:nvSpPr>
        <p:spPr>
          <a:xfrm>
            <a:off x="2898648" y="5193792"/>
            <a:ext cx="2274722" cy="146304"/>
          </a:xfrm>
          <a:prstGeom prst="rect">
            <a:avLst/>
          </a:prstGeom>
          <a:noFill/>
        </p:spPr>
        <p:txBody>
          <a:bodyPr wrap="square" lIns="0" rIns="0" tIns="0" bIns="0" anchor="t">
            <a:spAutoFit/>
          </a:bodyPr>
          <a:lstStyle/>
          <a:p>
            <a:pPr algn="l">
              <a:lnSpc>
                <a:spcPct val="118000"/>
              </a:lnSpc>
              <a:spcBef>
                <a:spcPts val="0"/>
              </a:spcBef>
              <a:spcAft>
                <a:spcPts val="0"/>
              </a:spcAft>
            </a:pPr>
            <a:r>
              <a:rPr sz="700" b="1" i="0">
                <a:solidFill>
                  <a:srgbClr val="0F172A"/>
                </a:solidFill>
                <a:latin typeface="Segoe UI"/>
              </a:rPr>
              <a:t>Verified tutor</a:t>
            </a:r>
          </a:p>
        </p:txBody>
      </p:sp>
      <p:sp>
        <p:nvSpPr>
          <p:cNvPr id="66" name="TextBox 65"/>
          <p:cNvSpPr txBox="1"/>
          <p:nvPr/>
        </p:nvSpPr>
        <p:spPr>
          <a:xfrm>
            <a:off x="2898648" y="5349240"/>
            <a:ext cx="2274722" cy="128016"/>
          </a:xfrm>
          <a:prstGeom prst="rect">
            <a:avLst/>
          </a:prstGeom>
          <a:noFill/>
        </p:spPr>
        <p:txBody>
          <a:bodyPr wrap="square" lIns="0" rIns="0" tIns="0" bIns="0" anchor="t">
            <a:spAutoFit/>
          </a:bodyPr>
          <a:lstStyle/>
          <a:p>
            <a:pPr algn="l">
              <a:lnSpc>
                <a:spcPct val="118000"/>
              </a:lnSpc>
              <a:spcBef>
                <a:spcPts val="0"/>
              </a:spcBef>
              <a:spcAft>
                <a:spcPts val="0"/>
              </a:spcAft>
            </a:pPr>
            <a:r>
              <a:rPr sz="630" b="0" i="0">
                <a:solidFill>
                  <a:srgbClr val="64748B"/>
                </a:solidFill>
                <a:latin typeface="Segoe UI"/>
              </a:rPr>
              <a:t>Subject · curriculum</a:t>
            </a:r>
          </a:p>
        </p:txBody>
      </p:sp>
      <p:sp>
        <p:nvSpPr>
          <p:cNvPr id="67" name="Rounded Rectangle 66"/>
          <p:cNvSpPr/>
          <p:nvPr/>
        </p:nvSpPr>
        <p:spPr>
          <a:xfrm>
            <a:off x="2898648" y="5513831"/>
            <a:ext cx="713232" cy="155448"/>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640" b="1" i="0">
                <a:solidFill>
                  <a:srgbClr val="1E3A8A"/>
                </a:solidFill>
                <a:latin typeface="Segoe UI"/>
              </a:rPr>
              <a:t>₦ / hour</a:t>
            </a:r>
          </a:p>
        </p:txBody>
      </p:sp>
      <p:sp>
        <p:nvSpPr>
          <p:cNvPr id="68" name="TextBox 67"/>
          <p:cNvSpPr txBox="1"/>
          <p:nvPr/>
        </p:nvSpPr>
        <p:spPr>
          <a:xfrm>
            <a:off x="2898648" y="5715000"/>
            <a:ext cx="2274722" cy="118872"/>
          </a:xfrm>
          <a:prstGeom prst="rect">
            <a:avLst/>
          </a:prstGeom>
          <a:noFill/>
        </p:spPr>
        <p:txBody>
          <a:bodyPr wrap="square" lIns="0" rIns="0" tIns="0" bIns="0" anchor="t">
            <a:spAutoFit/>
          </a:bodyPr>
          <a:lstStyle/>
          <a:p>
            <a:pPr algn="l">
              <a:lnSpc>
                <a:spcPct val="118000"/>
              </a:lnSpc>
              <a:spcBef>
                <a:spcPts val="0"/>
              </a:spcBef>
              <a:spcAft>
                <a:spcPts val="0"/>
              </a:spcAft>
            </a:pPr>
            <a:r>
              <a:rPr sz="660" b="1" i="0">
                <a:solidFill>
                  <a:srgbClr val="059669"/>
                </a:solidFill>
                <a:latin typeface="Segoe UI"/>
              </a:rPr>
              <a:t>Profile   ·   Book</a:t>
            </a:r>
          </a:p>
        </p:txBody>
      </p:sp>
      <p:sp>
        <p:nvSpPr>
          <p:cNvPr id="69" name="Rounded Rectangle 68"/>
          <p:cNvSpPr/>
          <p:nvPr/>
        </p:nvSpPr>
        <p:spPr>
          <a:xfrm>
            <a:off x="5374538" y="5120640"/>
            <a:ext cx="2987954"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0" name="Picture 69" descr="tutor-05.jpg"/>
          <p:cNvPicPr>
            <a:picLocks noChangeAspect="1"/>
          </p:cNvPicPr>
          <p:nvPr/>
        </p:nvPicPr>
        <p:blipFill>
          <a:blip r:embed="rId3"/>
          <a:srcRect l="12857" r="12857"/>
          <a:stretch>
            <a:fillRect/>
          </a:stretch>
        </p:blipFill>
        <p:spPr>
          <a:xfrm>
            <a:off x="5438546" y="5193792"/>
            <a:ext cx="475488" cy="640080"/>
          </a:xfrm>
          <a:prstGeom prst="rect">
            <a:avLst/>
          </a:prstGeom>
        </p:spPr>
      </p:pic>
      <p:sp>
        <p:nvSpPr>
          <p:cNvPr id="71" name="TextBox 70"/>
          <p:cNvSpPr txBox="1"/>
          <p:nvPr/>
        </p:nvSpPr>
        <p:spPr>
          <a:xfrm>
            <a:off x="5996330" y="5193792"/>
            <a:ext cx="2274722" cy="146304"/>
          </a:xfrm>
          <a:prstGeom prst="rect">
            <a:avLst/>
          </a:prstGeom>
          <a:noFill/>
        </p:spPr>
        <p:txBody>
          <a:bodyPr wrap="square" lIns="0" rIns="0" tIns="0" bIns="0" anchor="t">
            <a:spAutoFit/>
          </a:bodyPr>
          <a:lstStyle/>
          <a:p>
            <a:pPr algn="l">
              <a:lnSpc>
                <a:spcPct val="118000"/>
              </a:lnSpc>
              <a:spcBef>
                <a:spcPts val="0"/>
              </a:spcBef>
              <a:spcAft>
                <a:spcPts val="0"/>
              </a:spcAft>
            </a:pPr>
            <a:r>
              <a:rPr sz="700" b="1" i="0">
                <a:solidFill>
                  <a:srgbClr val="0F172A"/>
                </a:solidFill>
                <a:latin typeface="Segoe UI"/>
              </a:rPr>
              <a:t>Verified tutor</a:t>
            </a:r>
          </a:p>
        </p:txBody>
      </p:sp>
      <p:sp>
        <p:nvSpPr>
          <p:cNvPr id="72" name="TextBox 71"/>
          <p:cNvSpPr txBox="1"/>
          <p:nvPr/>
        </p:nvSpPr>
        <p:spPr>
          <a:xfrm>
            <a:off x="5996330" y="5349240"/>
            <a:ext cx="2274722" cy="128016"/>
          </a:xfrm>
          <a:prstGeom prst="rect">
            <a:avLst/>
          </a:prstGeom>
          <a:noFill/>
        </p:spPr>
        <p:txBody>
          <a:bodyPr wrap="square" lIns="0" rIns="0" tIns="0" bIns="0" anchor="t">
            <a:spAutoFit/>
          </a:bodyPr>
          <a:lstStyle/>
          <a:p>
            <a:pPr algn="l">
              <a:lnSpc>
                <a:spcPct val="118000"/>
              </a:lnSpc>
              <a:spcBef>
                <a:spcPts val="0"/>
              </a:spcBef>
              <a:spcAft>
                <a:spcPts val="0"/>
              </a:spcAft>
            </a:pPr>
            <a:r>
              <a:rPr sz="630" b="0" i="0">
                <a:solidFill>
                  <a:srgbClr val="64748B"/>
                </a:solidFill>
                <a:latin typeface="Segoe UI"/>
              </a:rPr>
              <a:t>Subject · curriculum</a:t>
            </a:r>
          </a:p>
        </p:txBody>
      </p:sp>
      <p:sp>
        <p:nvSpPr>
          <p:cNvPr id="73" name="Rounded Rectangle 72"/>
          <p:cNvSpPr/>
          <p:nvPr/>
        </p:nvSpPr>
        <p:spPr>
          <a:xfrm>
            <a:off x="5996330" y="5513831"/>
            <a:ext cx="713232" cy="155448"/>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640" b="1" i="0">
                <a:solidFill>
                  <a:srgbClr val="1E3A8A"/>
                </a:solidFill>
                <a:latin typeface="Segoe UI"/>
              </a:rPr>
              <a:t>₦ / hour</a:t>
            </a:r>
          </a:p>
        </p:txBody>
      </p:sp>
      <p:sp>
        <p:nvSpPr>
          <p:cNvPr id="74" name="TextBox 73"/>
          <p:cNvSpPr txBox="1"/>
          <p:nvPr/>
        </p:nvSpPr>
        <p:spPr>
          <a:xfrm>
            <a:off x="5996330" y="5715000"/>
            <a:ext cx="2274722" cy="118872"/>
          </a:xfrm>
          <a:prstGeom prst="rect">
            <a:avLst/>
          </a:prstGeom>
          <a:noFill/>
        </p:spPr>
        <p:txBody>
          <a:bodyPr wrap="square" lIns="0" rIns="0" tIns="0" bIns="0" anchor="t">
            <a:spAutoFit/>
          </a:bodyPr>
          <a:lstStyle/>
          <a:p>
            <a:pPr algn="l">
              <a:lnSpc>
                <a:spcPct val="118000"/>
              </a:lnSpc>
              <a:spcBef>
                <a:spcPts val="0"/>
              </a:spcBef>
              <a:spcAft>
                <a:spcPts val="0"/>
              </a:spcAft>
            </a:pPr>
            <a:r>
              <a:rPr sz="660" b="1" i="0">
                <a:solidFill>
                  <a:srgbClr val="059669"/>
                </a:solidFill>
                <a:latin typeface="Segoe UI"/>
              </a:rPr>
              <a:t>Profile   ·   Book</a:t>
            </a:r>
          </a:p>
        </p:txBody>
      </p:sp>
      <p:sp>
        <p:nvSpPr>
          <p:cNvPr id="75" name="Rounded Rectangle 74"/>
          <p:cNvSpPr/>
          <p:nvPr/>
        </p:nvSpPr>
        <p:spPr>
          <a:xfrm>
            <a:off x="8472220" y="5120640"/>
            <a:ext cx="2987954"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6" name="Picture 75" descr="tutor-08.jpg"/>
          <p:cNvPicPr>
            <a:picLocks noChangeAspect="1"/>
          </p:cNvPicPr>
          <p:nvPr/>
        </p:nvPicPr>
        <p:blipFill>
          <a:blip r:embed="rId4"/>
          <a:srcRect l="12857" r="12857"/>
          <a:stretch>
            <a:fillRect/>
          </a:stretch>
        </p:blipFill>
        <p:spPr>
          <a:xfrm>
            <a:off x="8536228" y="5193792"/>
            <a:ext cx="475488" cy="640080"/>
          </a:xfrm>
          <a:prstGeom prst="rect">
            <a:avLst/>
          </a:prstGeom>
        </p:spPr>
      </p:pic>
      <p:sp>
        <p:nvSpPr>
          <p:cNvPr id="77" name="TextBox 76"/>
          <p:cNvSpPr txBox="1"/>
          <p:nvPr/>
        </p:nvSpPr>
        <p:spPr>
          <a:xfrm>
            <a:off x="9094012" y="5193792"/>
            <a:ext cx="2274722" cy="146304"/>
          </a:xfrm>
          <a:prstGeom prst="rect">
            <a:avLst/>
          </a:prstGeom>
          <a:noFill/>
        </p:spPr>
        <p:txBody>
          <a:bodyPr wrap="square" lIns="0" rIns="0" tIns="0" bIns="0" anchor="t">
            <a:spAutoFit/>
          </a:bodyPr>
          <a:lstStyle/>
          <a:p>
            <a:pPr algn="l">
              <a:lnSpc>
                <a:spcPct val="118000"/>
              </a:lnSpc>
              <a:spcBef>
                <a:spcPts val="0"/>
              </a:spcBef>
              <a:spcAft>
                <a:spcPts val="0"/>
              </a:spcAft>
            </a:pPr>
            <a:r>
              <a:rPr sz="700" b="1" i="0">
                <a:solidFill>
                  <a:srgbClr val="0F172A"/>
                </a:solidFill>
                <a:latin typeface="Segoe UI"/>
              </a:rPr>
              <a:t>Verified tutor</a:t>
            </a:r>
          </a:p>
        </p:txBody>
      </p:sp>
      <p:sp>
        <p:nvSpPr>
          <p:cNvPr id="78" name="TextBox 77"/>
          <p:cNvSpPr txBox="1"/>
          <p:nvPr/>
        </p:nvSpPr>
        <p:spPr>
          <a:xfrm>
            <a:off x="9094012" y="5349240"/>
            <a:ext cx="2274722" cy="128016"/>
          </a:xfrm>
          <a:prstGeom prst="rect">
            <a:avLst/>
          </a:prstGeom>
          <a:noFill/>
        </p:spPr>
        <p:txBody>
          <a:bodyPr wrap="square" lIns="0" rIns="0" tIns="0" bIns="0" anchor="t">
            <a:spAutoFit/>
          </a:bodyPr>
          <a:lstStyle/>
          <a:p>
            <a:pPr algn="l">
              <a:lnSpc>
                <a:spcPct val="118000"/>
              </a:lnSpc>
              <a:spcBef>
                <a:spcPts val="0"/>
              </a:spcBef>
              <a:spcAft>
                <a:spcPts val="0"/>
              </a:spcAft>
            </a:pPr>
            <a:r>
              <a:rPr sz="630" b="0" i="0">
                <a:solidFill>
                  <a:srgbClr val="64748B"/>
                </a:solidFill>
                <a:latin typeface="Segoe UI"/>
              </a:rPr>
              <a:t>Subject · curriculum</a:t>
            </a:r>
          </a:p>
        </p:txBody>
      </p:sp>
      <p:sp>
        <p:nvSpPr>
          <p:cNvPr id="79" name="Rounded Rectangle 78"/>
          <p:cNvSpPr/>
          <p:nvPr/>
        </p:nvSpPr>
        <p:spPr>
          <a:xfrm>
            <a:off x="9094012" y="5513831"/>
            <a:ext cx="713232" cy="155448"/>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640" b="1" i="0">
                <a:solidFill>
                  <a:srgbClr val="1E3A8A"/>
                </a:solidFill>
                <a:latin typeface="Segoe UI"/>
              </a:rPr>
              <a:t>₦ / hour</a:t>
            </a:r>
          </a:p>
        </p:txBody>
      </p:sp>
      <p:sp>
        <p:nvSpPr>
          <p:cNvPr id="80" name="TextBox 79"/>
          <p:cNvSpPr txBox="1"/>
          <p:nvPr/>
        </p:nvSpPr>
        <p:spPr>
          <a:xfrm>
            <a:off x="9094012" y="5715000"/>
            <a:ext cx="2274722" cy="118872"/>
          </a:xfrm>
          <a:prstGeom prst="rect">
            <a:avLst/>
          </a:prstGeom>
          <a:noFill/>
        </p:spPr>
        <p:txBody>
          <a:bodyPr wrap="square" lIns="0" rIns="0" tIns="0" bIns="0" anchor="t">
            <a:spAutoFit/>
          </a:bodyPr>
          <a:lstStyle/>
          <a:p>
            <a:pPr algn="l">
              <a:lnSpc>
                <a:spcPct val="118000"/>
              </a:lnSpc>
              <a:spcBef>
                <a:spcPts val="0"/>
              </a:spcBef>
              <a:spcAft>
                <a:spcPts val="0"/>
              </a:spcAft>
            </a:pPr>
            <a:r>
              <a:rPr sz="660" b="1" i="0">
                <a:solidFill>
                  <a:srgbClr val="059669"/>
                </a:solidFill>
                <a:latin typeface="Segoe UI"/>
              </a:rPr>
              <a:t>Profile   ·   Book</a:t>
            </a:r>
          </a:p>
        </p:txBody>
      </p:sp>
      <p:sp>
        <p:nvSpPr>
          <p:cNvPr id="81" name="TextBox 80"/>
          <p:cNvSpPr txBox="1"/>
          <p:nvPr/>
        </p:nvSpPr>
        <p:spPr>
          <a:xfrm>
            <a:off x="566928" y="6089904"/>
            <a:ext cx="11057839"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1">
                <a:solidFill>
                  <a:srgbClr val="94A3B8"/>
                </a:solidFill>
                <a:latin typeface="Segoe UI"/>
              </a:rPr>
              <a:t>Illustration only — it is not a website screenshot and contains no live tutor data. The layout represents the shipped Navbar, filters, TutorCard and booking actions.</a:t>
            </a:r>
          </a:p>
        </p:txBody>
      </p:sp>
      <p:cxnSp>
        <p:nvCxnSpPr>
          <p:cNvPr id="82" name="Connector 81"/>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84" name="TextBox 83"/>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SMART TUTOR MATCHING &amp; TUTOR DISCOVERY</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Transparent, rules-based tutor matching</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learner states what they need; the engine filters eligible tutors, scores each one against their preferences and explains every match.</a:t>
            </a:r>
          </a:p>
        </p:txBody>
      </p:sp>
      <p:sp>
        <p:nvSpPr>
          <p:cNvPr id="7" name="Rounded Rectangle 6"/>
          <p:cNvSpPr/>
          <p:nvPr/>
        </p:nvSpPr>
        <p:spPr>
          <a:xfrm>
            <a:off x="7418527" y="365760"/>
            <a:ext cx="4206240" cy="329184"/>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bIns="0"/>
          <a:lstStyle/>
          <a:p>
            <a:pPr algn="l"/>
            <a:r>
              <a:rPr sz="850" b="1" i="0" cap="all" spc="80">
                <a:solidFill>
                  <a:srgbClr val="94A3B8"/>
                </a:solidFill>
                <a:latin typeface="Segoe UI"/>
              </a:rPr>
              <a:t>Presenter  </a:t>
            </a:r>
            <a:r>
              <a:rPr sz="1050" b="1" i="0">
                <a:solidFill>
                  <a:srgbClr val="1E3A8A"/>
                </a:solidFill>
                <a:latin typeface="Segoe UI"/>
              </a:rPr>
              <a:t>Hephzibah Uchechukwu</a:t>
            </a:r>
          </a:p>
        </p:txBody>
      </p:sp>
      <p:sp>
        <p:nvSpPr>
          <p:cNvPr id="8" name="Rounded Rectangle 7"/>
          <p:cNvSpPr/>
          <p:nvPr/>
        </p:nvSpPr>
        <p:spPr>
          <a:xfrm>
            <a:off x="566928" y="1792224"/>
            <a:ext cx="1719072" cy="1188720"/>
          </a:xfrm>
          <a:prstGeom prst="roundRect">
            <a:avLst>
              <a:gd name="adj" fmla="val 8000"/>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792224"/>
            <a:ext cx="1719072"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271016" y="1911096"/>
            <a:ext cx="310896" cy="310896"/>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1</a:t>
            </a:r>
          </a:p>
        </p:txBody>
      </p:sp>
      <p:sp>
        <p:nvSpPr>
          <p:cNvPr id="11" name="TextBox 10"/>
          <p:cNvSpPr txBox="1"/>
          <p:nvPr/>
        </p:nvSpPr>
        <p:spPr>
          <a:xfrm>
            <a:off x="658368"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Learner's needs</a:t>
            </a:r>
          </a:p>
        </p:txBody>
      </p:sp>
      <p:sp>
        <p:nvSpPr>
          <p:cNvPr id="12" name="TextBox 11"/>
          <p:cNvSpPr txBox="1"/>
          <p:nvPr/>
        </p:nvSpPr>
        <p:spPr>
          <a:xfrm>
            <a:off x="658368"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Subject, budget, curriculum,  location, availability</a:t>
            </a:r>
          </a:p>
        </p:txBody>
      </p:sp>
      <p:sp>
        <p:nvSpPr>
          <p:cNvPr id="13" name="Right Arrow 12"/>
          <p:cNvSpPr/>
          <p:nvPr/>
        </p:nvSpPr>
        <p:spPr>
          <a:xfrm>
            <a:off x="2290572"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404872" y="1792224"/>
            <a:ext cx="1719072" cy="1188720"/>
          </a:xfrm>
          <a:prstGeom prst="roundRect">
            <a:avLst>
              <a:gd name="adj" fmla="val 8000"/>
            </a:avLst>
          </a:prstGeom>
          <a:solidFill>
            <a:srgbClr val="FFFFFF"/>
          </a:solidFill>
          <a:ln w="12700">
            <a:solidFill>
              <a:srgbClr val="172B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2404872" y="1792224"/>
            <a:ext cx="1719072" cy="45720"/>
          </a:xfrm>
          <a:prstGeom prst="roundRect">
            <a:avLst>
              <a:gd name="adj" fmla="val 8000"/>
            </a:avLst>
          </a:prstGeom>
          <a:solidFill>
            <a:srgbClr val="172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108960" y="1911096"/>
            <a:ext cx="310896" cy="310896"/>
          </a:xfrm>
          <a:prstGeom prst="ellipse">
            <a:avLst/>
          </a:prstGeom>
          <a:solidFill>
            <a:srgbClr val="172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2</a:t>
            </a:r>
          </a:p>
        </p:txBody>
      </p:sp>
      <p:sp>
        <p:nvSpPr>
          <p:cNvPr id="17" name="TextBox 16"/>
          <p:cNvSpPr txBox="1"/>
          <p:nvPr/>
        </p:nvSpPr>
        <p:spPr>
          <a:xfrm>
            <a:off x="2496312"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Preference form</a:t>
            </a:r>
          </a:p>
        </p:txBody>
      </p:sp>
      <p:sp>
        <p:nvSpPr>
          <p:cNvPr id="18" name="TextBox 17"/>
          <p:cNvSpPr txBox="1"/>
          <p:nvPr/>
        </p:nvSpPr>
        <p:spPr>
          <a:xfrm>
            <a:off x="2496312"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/smart-match  5 criteria collected</a:t>
            </a:r>
          </a:p>
        </p:txBody>
      </p:sp>
      <p:sp>
        <p:nvSpPr>
          <p:cNvPr id="19" name="Right Arrow 18"/>
          <p:cNvSpPr/>
          <p:nvPr/>
        </p:nvSpPr>
        <p:spPr>
          <a:xfrm>
            <a:off x="4128515"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42816" y="1792224"/>
            <a:ext cx="1719072" cy="1188720"/>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4242816" y="1792224"/>
            <a:ext cx="1719072"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946904" y="1911096"/>
            <a:ext cx="310896" cy="310896"/>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3</a:t>
            </a:r>
          </a:p>
        </p:txBody>
      </p:sp>
      <p:sp>
        <p:nvSpPr>
          <p:cNvPr id="23" name="TextBox 22"/>
          <p:cNvSpPr txBox="1"/>
          <p:nvPr/>
        </p:nvSpPr>
        <p:spPr>
          <a:xfrm>
            <a:off x="4334255"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Hard filter</a:t>
            </a:r>
          </a:p>
        </p:txBody>
      </p:sp>
      <p:sp>
        <p:nvSpPr>
          <p:cNvPr id="24" name="TextBox 23"/>
          <p:cNvSpPr txBox="1"/>
          <p:nvPr/>
        </p:nvSpPr>
        <p:spPr>
          <a:xfrm>
            <a:off x="4334255"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Subject + budget  must be satisfied</a:t>
            </a:r>
          </a:p>
        </p:txBody>
      </p:sp>
      <p:sp>
        <p:nvSpPr>
          <p:cNvPr id="25" name="Right Arrow 24"/>
          <p:cNvSpPr/>
          <p:nvPr/>
        </p:nvSpPr>
        <p:spPr>
          <a:xfrm>
            <a:off x="5966459"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80759" y="1792224"/>
            <a:ext cx="1719072" cy="1188720"/>
          </a:xfrm>
          <a:prstGeom prst="roundRect">
            <a:avLst>
              <a:gd name="adj" fmla="val 8000"/>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080759" y="1792224"/>
            <a:ext cx="1719072" cy="4572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6784848" y="1911096"/>
            <a:ext cx="310896" cy="310896"/>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4</a:t>
            </a:r>
          </a:p>
        </p:txBody>
      </p:sp>
      <p:sp>
        <p:nvSpPr>
          <p:cNvPr id="29" name="TextBox 28"/>
          <p:cNvSpPr txBox="1"/>
          <p:nvPr/>
        </p:nvSpPr>
        <p:spPr>
          <a:xfrm>
            <a:off x="6172199"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Weighted score</a:t>
            </a:r>
          </a:p>
        </p:txBody>
      </p:sp>
      <p:sp>
        <p:nvSpPr>
          <p:cNvPr id="30" name="TextBox 29"/>
          <p:cNvSpPr txBox="1"/>
          <p:nvPr/>
        </p:nvSpPr>
        <p:spPr>
          <a:xfrm>
            <a:off x="6172199"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Curriculum 30 · Location 20  Availability 10 · Verified 5</a:t>
            </a:r>
          </a:p>
        </p:txBody>
      </p:sp>
      <p:sp>
        <p:nvSpPr>
          <p:cNvPr id="31" name="Right Arrow 30"/>
          <p:cNvSpPr/>
          <p:nvPr/>
        </p:nvSpPr>
        <p:spPr>
          <a:xfrm>
            <a:off x="7804404"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918703" y="1792224"/>
            <a:ext cx="1719072" cy="1188720"/>
          </a:xfrm>
          <a:prstGeom prst="roundRect">
            <a:avLst>
              <a:gd name="adj" fmla="val 8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918703" y="1792224"/>
            <a:ext cx="1719072"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8622791" y="1911096"/>
            <a:ext cx="310896" cy="3108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5</a:t>
            </a:r>
          </a:p>
        </p:txBody>
      </p:sp>
      <p:sp>
        <p:nvSpPr>
          <p:cNvPr id="35" name="TextBox 34"/>
          <p:cNvSpPr txBox="1"/>
          <p:nvPr/>
        </p:nvSpPr>
        <p:spPr>
          <a:xfrm>
            <a:off x="8010143"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Ranked results</a:t>
            </a:r>
          </a:p>
        </p:txBody>
      </p:sp>
      <p:sp>
        <p:nvSpPr>
          <p:cNvPr id="36" name="TextBox 35"/>
          <p:cNvSpPr txBox="1"/>
          <p:nvPr/>
        </p:nvSpPr>
        <p:spPr>
          <a:xfrm>
            <a:off x="8010143"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Score → rating → price  with reasons shown</a:t>
            </a:r>
          </a:p>
        </p:txBody>
      </p:sp>
      <p:sp>
        <p:nvSpPr>
          <p:cNvPr id="37" name="Right Arrow 36"/>
          <p:cNvSpPr/>
          <p:nvPr/>
        </p:nvSpPr>
        <p:spPr>
          <a:xfrm>
            <a:off x="9642348"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756647" y="1792224"/>
            <a:ext cx="1719072" cy="1188720"/>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9756647" y="1792224"/>
            <a:ext cx="1719072"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10460735" y="1911096"/>
            <a:ext cx="310896" cy="3108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6</a:t>
            </a:r>
          </a:p>
        </p:txBody>
      </p:sp>
      <p:sp>
        <p:nvSpPr>
          <p:cNvPr id="41" name="TextBox 40"/>
          <p:cNvSpPr txBox="1"/>
          <p:nvPr/>
        </p:nvSpPr>
        <p:spPr>
          <a:xfrm>
            <a:off x="9848087"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Profile &amp; book</a:t>
            </a:r>
          </a:p>
        </p:txBody>
      </p:sp>
      <p:sp>
        <p:nvSpPr>
          <p:cNvPr id="42" name="TextBox 41"/>
          <p:cNvSpPr txBox="1"/>
          <p:nvPr/>
        </p:nvSpPr>
        <p:spPr>
          <a:xfrm>
            <a:off x="9848087"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Open profile, save tutor,  or request a session</a:t>
            </a:r>
          </a:p>
        </p:txBody>
      </p:sp>
      <p:sp>
        <p:nvSpPr>
          <p:cNvPr id="43" name="Rounded Rectangle 42"/>
          <p:cNvSpPr/>
          <p:nvPr/>
        </p:nvSpPr>
        <p:spPr>
          <a:xfrm>
            <a:off x="566928" y="3177540"/>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94944" y="3145536"/>
            <a:ext cx="567842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MATCHING CRITERIA ACTUALLY IMPLEMENTED</a:t>
            </a:r>
          </a:p>
        </p:txBody>
      </p:sp>
      <p:sp>
        <p:nvSpPr>
          <p:cNvPr id="45" name="Rectangle 44"/>
          <p:cNvSpPr/>
          <p:nvPr/>
        </p:nvSpPr>
        <p:spPr>
          <a:xfrm>
            <a:off x="566928" y="3419856"/>
            <a:ext cx="5806440" cy="24688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31520" y="3474720"/>
            <a:ext cx="274320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CRITERION</a:t>
            </a:r>
          </a:p>
        </p:txBody>
      </p:sp>
      <p:sp>
        <p:nvSpPr>
          <p:cNvPr id="47" name="TextBox 46"/>
          <p:cNvSpPr txBox="1"/>
          <p:nvPr/>
        </p:nvSpPr>
        <p:spPr>
          <a:xfrm>
            <a:off x="3538728" y="3474720"/>
            <a:ext cx="210312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RULE</a:t>
            </a:r>
          </a:p>
        </p:txBody>
      </p:sp>
      <p:sp>
        <p:nvSpPr>
          <p:cNvPr id="48" name="TextBox 47"/>
          <p:cNvSpPr txBox="1"/>
          <p:nvPr/>
        </p:nvSpPr>
        <p:spPr>
          <a:xfrm>
            <a:off x="5504688" y="3474720"/>
            <a:ext cx="731520" cy="182880"/>
          </a:xfrm>
          <a:prstGeom prst="rect">
            <a:avLst/>
          </a:prstGeom>
          <a:noFill/>
        </p:spPr>
        <p:txBody>
          <a:bodyPr wrap="square" lIns="0" rIns="0" tIns="0" bIns="0" anchor="t">
            <a:spAutoFit/>
          </a:bodyPr>
          <a:lstStyle/>
          <a:p>
            <a:pPr algn="r">
              <a:lnSpc>
                <a:spcPct val="118000"/>
              </a:lnSpc>
              <a:spcBef>
                <a:spcPts val="0"/>
              </a:spcBef>
              <a:spcAft>
                <a:spcPts val="0"/>
              </a:spcAft>
            </a:pPr>
            <a:r>
              <a:rPr sz="850" b="1" i="0" cap="all" spc="80">
                <a:solidFill>
                  <a:srgbClr val="FFFFFF"/>
                </a:solidFill>
                <a:latin typeface="Segoe UI"/>
              </a:rPr>
              <a:t>POINTS</a:t>
            </a:r>
          </a:p>
        </p:txBody>
      </p:sp>
      <p:sp>
        <p:nvSpPr>
          <p:cNvPr id="49" name="Rectangle 48"/>
          <p:cNvSpPr/>
          <p:nvPr/>
        </p:nvSpPr>
        <p:spPr>
          <a:xfrm>
            <a:off x="566928" y="3666744"/>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31520" y="3707891"/>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Subject  (required)</a:t>
            </a:r>
          </a:p>
        </p:txBody>
      </p:sp>
      <p:sp>
        <p:nvSpPr>
          <p:cNvPr id="51" name="TextBox 50"/>
          <p:cNvSpPr txBox="1"/>
          <p:nvPr/>
        </p:nvSpPr>
        <p:spPr>
          <a:xfrm>
            <a:off x="3538728" y="3707891"/>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Hard filter — must teach selected subject</a:t>
            </a:r>
          </a:p>
        </p:txBody>
      </p:sp>
      <p:sp>
        <p:nvSpPr>
          <p:cNvPr id="52" name="TextBox 51"/>
          <p:cNvSpPr txBox="1"/>
          <p:nvPr/>
        </p:nvSpPr>
        <p:spPr>
          <a:xfrm>
            <a:off x="5504688" y="3707891"/>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2563EB"/>
                </a:solidFill>
                <a:latin typeface="Segoe UI"/>
              </a:rPr>
              <a:t>gate</a:t>
            </a:r>
          </a:p>
        </p:txBody>
      </p:sp>
      <p:sp>
        <p:nvSpPr>
          <p:cNvPr id="53" name="Rectangle 52"/>
          <p:cNvSpPr/>
          <p:nvPr/>
        </p:nvSpPr>
        <p:spPr>
          <a:xfrm>
            <a:off x="566928" y="3913631"/>
            <a:ext cx="5806440" cy="24688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31520" y="3954779"/>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Max hourly budget ₦  (required)</a:t>
            </a:r>
          </a:p>
        </p:txBody>
      </p:sp>
      <p:sp>
        <p:nvSpPr>
          <p:cNvPr id="55" name="TextBox 54"/>
          <p:cNvSpPr txBox="1"/>
          <p:nvPr/>
        </p:nvSpPr>
        <p:spPr>
          <a:xfrm>
            <a:off x="3538728" y="3954779"/>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Hard filter — hourly_rate ≤ maxBudget</a:t>
            </a:r>
          </a:p>
        </p:txBody>
      </p:sp>
      <p:sp>
        <p:nvSpPr>
          <p:cNvPr id="56" name="TextBox 55"/>
          <p:cNvSpPr txBox="1"/>
          <p:nvPr/>
        </p:nvSpPr>
        <p:spPr>
          <a:xfrm>
            <a:off x="5504688" y="3954779"/>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2563EB"/>
                </a:solidFill>
                <a:latin typeface="Segoe UI"/>
              </a:rPr>
              <a:t>gate</a:t>
            </a:r>
          </a:p>
        </p:txBody>
      </p:sp>
      <p:sp>
        <p:nvSpPr>
          <p:cNvPr id="57" name="Rectangle 56"/>
          <p:cNvSpPr/>
          <p:nvPr/>
        </p:nvSpPr>
        <p:spPr>
          <a:xfrm>
            <a:off x="566928" y="4160519"/>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731520" y="4201667"/>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Preferred curriculum</a:t>
            </a:r>
          </a:p>
        </p:txBody>
      </p:sp>
      <p:sp>
        <p:nvSpPr>
          <p:cNvPr id="59" name="TextBox 58"/>
          <p:cNvSpPr txBox="1"/>
          <p:nvPr/>
        </p:nvSpPr>
        <p:spPr>
          <a:xfrm>
            <a:off x="3538728" y="4201667"/>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Exact tutor curriculum match</a:t>
            </a:r>
          </a:p>
        </p:txBody>
      </p:sp>
      <p:sp>
        <p:nvSpPr>
          <p:cNvPr id="60" name="TextBox 59"/>
          <p:cNvSpPr txBox="1"/>
          <p:nvPr/>
        </p:nvSpPr>
        <p:spPr>
          <a:xfrm>
            <a:off x="5504688" y="4201667"/>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10B981"/>
                </a:solidFill>
                <a:latin typeface="Segoe UI"/>
              </a:rPr>
              <a:t>30</a:t>
            </a:r>
          </a:p>
        </p:txBody>
      </p:sp>
      <p:sp>
        <p:nvSpPr>
          <p:cNvPr id="61" name="Rectangle 60"/>
          <p:cNvSpPr/>
          <p:nvPr/>
        </p:nvSpPr>
        <p:spPr>
          <a:xfrm>
            <a:off x="566928" y="4407407"/>
            <a:ext cx="5806440" cy="24688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731520" y="4448555"/>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Preferred location</a:t>
            </a:r>
          </a:p>
        </p:txBody>
      </p:sp>
      <p:sp>
        <p:nvSpPr>
          <p:cNvPr id="63" name="TextBox 62"/>
          <p:cNvSpPr txBox="1"/>
          <p:nvPr/>
        </p:nvSpPr>
        <p:spPr>
          <a:xfrm>
            <a:off x="3538728" y="4448555"/>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State / area match, or online mode</a:t>
            </a:r>
          </a:p>
        </p:txBody>
      </p:sp>
      <p:sp>
        <p:nvSpPr>
          <p:cNvPr id="64" name="TextBox 63"/>
          <p:cNvSpPr txBox="1"/>
          <p:nvPr/>
        </p:nvSpPr>
        <p:spPr>
          <a:xfrm>
            <a:off x="5504688" y="4448555"/>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10B981"/>
                </a:solidFill>
                <a:latin typeface="Segoe UI"/>
              </a:rPr>
              <a:t>20</a:t>
            </a:r>
          </a:p>
        </p:txBody>
      </p:sp>
      <p:sp>
        <p:nvSpPr>
          <p:cNvPr id="65" name="Rectangle 64"/>
          <p:cNvSpPr/>
          <p:nvPr/>
        </p:nvSpPr>
        <p:spPr>
          <a:xfrm>
            <a:off x="566928" y="4654295"/>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731520" y="4695443"/>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Preferred availability</a:t>
            </a:r>
          </a:p>
        </p:txBody>
      </p:sp>
      <p:sp>
        <p:nvSpPr>
          <p:cNvPr id="67" name="TextBox 66"/>
          <p:cNvSpPr txBox="1"/>
          <p:nvPr/>
        </p:nvSpPr>
        <p:spPr>
          <a:xfrm>
            <a:off x="3538728" y="4695443"/>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Weekday or weekend slot overlap</a:t>
            </a:r>
          </a:p>
        </p:txBody>
      </p:sp>
      <p:sp>
        <p:nvSpPr>
          <p:cNvPr id="68" name="TextBox 67"/>
          <p:cNvSpPr txBox="1"/>
          <p:nvPr/>
        </p:nvSpPr>
        <p:spPr>
          <a:xfrm>
            <a:off x="5504688" y="4695443"/>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10B981"/>
                </a:solidFill>
                <a:latin typeface="Segoe UI"/>
              </a:rPr>
              <a:t>10</a:t>
            </a:r>
          </a:p>
        </p:txBody>
      </p:sp>
      <p:sp>
        <p:nvSpPr>
          <p:cNvPr id="69" name="Rectangle 68"/>
          <p:cNvSpPr/>
          <p:nvPr/>
        </p:nvSpPr>
        <p:spPr>
          <a:xfrm>
            <a:off x="566928" y="4901183"/>
            <a:ext cx="5806440" cy="24688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731520" y="4942331"/>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Verified tutor</a:t>
            </a:r>
          </a:p>
        </p:txBody>
      </p:sp>
      <p:sp>
        <p:nvSpPr>
          <p:cNvPr id="71" name="TextBox 70"/>
          <p:cNvSpPr txBox="1"/>
          <p:nvPr/>
        </p:nvSpPr>
        <p:spPr>
          <a:xfrm>
            <a:off x="3538728" y="4942331"/>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tutor_profiles.is_verified = TRUE</a:t>
            </a:r>
          </a:p>
        </p:txBody>
      </p:sp>
      <p:sp>
        <p:nvSpPr>
          <p:cNvPr id="72" name="TextBox 71"/>
          <p:cNvSpPr txBox="1"/>
          <p:nvPr/>
        </p:nvSpPr>
        <p:spPr>
          <a:xfrm>
            <a:off x="5504688" y="4942331"/>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F59E0B"/>
                </a:solidFill>
                <a:latin typeface="Segoe UI"/>
              </a:rPr>
              <a:t>5</a:t>
            </a:r>
          </a:p>
        </p:txBody>
      </p:sp>
      <p:sp>
        <p:nvSpPr>
          <p:cNvPr id="73" name="Rectangle 72"/>
          <p:cNvSpPr/>
          <p:nvPr/>
        </p:nvSpPr>
        <p:spPr>
          <a:xfrm>
            <a:off x="566928" y="5148071"/>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31520" y="5189219"/>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Rating ≥ 4</a:t>
            </a:r>
          </a:p>
        </p:txBody>
      </p:sp>
      <p:sp>
        <p:nvSpPr>
          <p:cNvPr id="75" name="TextBox 74"/>
          <p:cNvSpPr txBox="1"/>
          <p:nvPr/>
        </p:nvSpPr>
        <p:spPr>
          <a:xfrm>
            <a:off x="3538728" y="5189219"/>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rating_avg ≥ 4; total_reviews &gt; 0</a:t>
            </a:r>
          </a:p>
        </p:txBody>
      </p:sp>
      <p:sp>
        <p:nvSpPr>
          <p:cNvPr id="76" name="TextBox 75"/>
          <p:cNvSpPr txBox="1"/>
          <p:nvPr/>
        </p:nvSpPr>
        <p:spPr>
          <a:xfrm>
            <a:off x="5504688" y="5189219"/>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F59E0B"/>
                </a:solidFill>
                <a:latin typeface="Segoe UI"/>
              </a:rPr>
              <a:t>5</a:t>
            </a:r>
          </a:p>
        </p:txBody>
      </p:sp>
      <p:cxnSp>
        <p:nvCxnSpPr>
          <p:cNvPr id="77" name="Connector 76"/>
          <p:cNvCxnSpPr/>
          <p:nvPr/>
        </p:nvCxnSpPr>
        <p:spPr>
          <a:xfrm>
            <a:off x="566928" y="5394959"/>
            <a:ext cx="5806440"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6647688" y="3419856"/>
            <a:ext cx="4977079" cy="1975104"/>
          </a:xfrm>
          <a:prstGeom prst="roundRect">
            <a:avLst>
              <a:gd name="adj" fmla="val 5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tIns="109728" bIns="73152"/>
          <a:lstStyle/>
          <a:p>
            <a:pPr algn="ctr">
              <a:lnSpc>
                <a:spcPct val="110000"/>
              </a:lnSpc>
            </a:pPr>
            <a:r>
              <a:rPr sz="950" b="1" i="0">
                <a:solidFill>
                  <a:srgbClr val="10B981"/>
                </a:solidFill>
                <a:latin typeface="Segoe UI"/>
              </a:rPr>
              <a:t>HOW THE ENGINE WORKS</a:t>
            </a:r>
          </a:p>
          <a:p>
            <a:pPr>
              <a:lnSpc>
                <a:spcPct val="122000"/>
              </a:lnSpc>
              <a:spcBef>
                <a:spcPts val="100"/>
              </a:spcBef>
            </a:pPr>
            <a:r>
              <a:rPr sz="900" b="1" i="0">
                <a:solidFill>
                  <a:srgbClr val="F59E0B"/>
                </a:solidFill>
                <a:latin typeface="Segoe UI"/>
              </a:rPr>
              <a:t>lib/matching/smart-match.ts</a:t>
            </a:r>
            <a:r>
              <a:rPr sz="900" b="0" i="0">
                <a:solidFill>
                  <a:srgbClr val="E2E8F0"/>
                </a:solidFill>
                <a:latin typeface="Segoe UI"/>
              </a:rPr>
              <a:t/>
            </a:r>
          </a:p>
          <a:p>
            <a:pPr>
              <a:lnSpc>
                <a:spcPct val="122000"/>
              </a:lnSpc>
              <a:spcBef>
                <a:spcPts val="100"/>
              </a:spcBef>
            </a:pPr>
            <a:r>
              <a:rPr sz="900" b="1" i="0">
                <a:solidFill>
                  <a:srgbClr val="F59E0B"/>
                </a:solidFill>
                <a:latin typeface="Segoe UI"/>
              </a:rPr>
              <a:t/>
            </a:r>
            <a:r>
              <a:rPr sz="900" b="0" i="0">
                <a:solidFill>
                  <a:srgbClr val="E2E8F0"/>
                </a:solidFill>
                <a:latin typeface="Segoe UI"/>
              </a:rPr>
              <a:t/>
            </a:r>
          </a:p>
          <a:p>
            <a:pPr>
              <a:lnSpc>
                <a:spcPct val="122000"/>
              </a:lnSpc>
              <a:spcBef>
                <a:spcPts val="100"/>
              </a:spcBef>
            </a:pPr>
            <a:r>
              <a:rPr sz="900" b="1" i="0">
                <a:solidFill>
                  <a:srgbClr val="F59E0B"/>
                </a:solidFill>
                <a:latin typeface="Segoe UI"/>
              </a:rPr>
              <a:t>normalize()</a:t>
            </a:r>
            <a:r>
              <a:rPr sz="900" b="0" i="0">
                <a:solidFill>
                  <a:srgbClr val="E2E8F0"/>
                </a:solidFill>
                <a:latin typeface="Segoe UI"/>
              </a:rPr>
              <a:t>  → NFKD, lower-case, strip emoji</a:t>
            </a:r>
          </a:p>
          <a:p>
            <a:pPr>
              <a:lnSpc>
                <a:spcPct val="122000"/>
              </a:lnSpc>
              <a:spcBef>
                <a:spcPts val="100"/>
              </a:spcBef>
            </a:pPr>
            <a:r>
              <a:rPr sz="900" b="1" i="0">
                <a:solidFill>
                  <a:srgbClr val="F59E0B"/>
                </a:solidFill>
                <a:latin typeface="Segoe UI"/>
              </a:rPr>
              <a:t>SUBJECT_GROUPS</a:t>
            </a:r>
            <a:r>
              <a:rPr sz="900" b="0" i="0">
                <a:solidFill>
                  <a:srgbClr val="E2E8F0"/>
                </a:solidFill>
                <a:latin typeface="Segoe UI"/>
              </a:rPr>
              <a:t>  → 6 subject families + synonyms</a:t>
            </a:r>
          </a:p>
          <a:p>
            <a:pPr>
              <a:lnSpc>
                <a:spcPct val="122000"/>
              </a:lnSpc>
              <a:spcBef>
                <a:spcPts val="100"/>
              </a:spcBef>
            </a:pPr>
            <a:r>
              <a:rPr sz="900" b="1" i="0">
                <a:solidFill>
                  <a:srgbClr val="F59E0B"/>
                </a:solidFill>
                <a:latin typeface="Segoe UI"/>
              </a:rPr>
              <a:t/>
            </a:r>
            <a:r>
              <a:rPr sz="900" b="0" i="0">
                <a:solidFill>
                  <a:srgbClr val="E2E8F0"/>
                </a:solidFill>
                <a:latin typeface="Segoe UI"/>
              </a:rPr>
              <a:t>    ("maths" ≡ "mathematics" ≡</a:t>
            </a:r>
          </a:p>
          <a:p>
            <a:pPr>
              <a:lnSpc>
                <a:spcPct val="122000"/>
              </a:lnSpc>
              <a:spcBef>
                <a:spcPts val="100"/>
              </a:spcBef>
            </a:pPr>
            <a:r>
              <a:rPr sz="900" b="1" i="0">
                <a:solidFill>
                  <a:srgbClr val="F59E0B"/>
                </a:solidFill>
                <a:latin typeface="Segoe UI"/>
              </a:rPr>
              <a:t/>
            </a:r>
            <a:r>
              <a:rPr sz="900" b="0" i="0">
                <a:solidFill>
                  <a:srgbClr val="E2E8F0"/>
                </a:solidFill>
                <a:latin typeface="Segoe UI"/>
              </a:rPr>
              <a:t>     "further mathematics")</a:t>
            </a:r>
          </a:p>
          <a:p>
            <a:pPr>
              <a:lnSpc>
                <a:spcPct val="122000"/>
              </a:lnSpc>
              <a:spcBef>
                <a:spcPts val="100"/>
              </a:spcBef>
            </a:pPr>
            <a:r>
              <a:rPr sz="900" b="1" i="0">
                <a:solidFill>
                  <a:srgbClr val="F59E0B"/>
                </a:solidFill>
                <a:latin typeface="Segoe UI"/>
              </a:rPr>
              <a:t/>
            </a:r>
            <a:r>
              <a:rPr sz="900" b="0" i="0">
                <a:solidFill>
                  <a:srgbClr val="E2E8F0"/>
                </a:solidFill>
                <a:latin typeface="Segoe UI"/>
              </a:rPr>
              <a:t/>
            </a:r>
          </a:p>
          <a:p>
            <a:pPr>
              <a:lnSpc>
                <a:spcPct val="122000"/>
              </a:lnSpc>
              <a:spcBef>
                <a:spcPts val="100"/>
              </a:spcBef>
            </a:pPr>
            <a:r>
              <a:rPr sz="900" b="1" i="0">
                <a:solidFill>
                  <a:srgbClr val="F59E0B"/>
                </a:solidFill>
                <a:latin typeface="Segoe UI"/>
              </a:rPr>
              <a:t>filter()</a:t>
            </a:r>
            <a:r>
              <a:rPr sz="900" b="0" i="0">
                <a:solidFill>
                  <a:srgbClr val="E2E8F0"/>
                </a:solidFill>
                <a:latin typeface="Segoe UI"/>
              </a:rPr>
              <a:t>  → subject + budget are gates</a:t>
            </a:r>
          </a:p>
          <a:p>
            <a:pPr>
              <a:lnSpc>
                <a:spcPct val="122000"/>
              </a:lnSpc>
              <a:spcBef>
                <a:spcPts val="100"/>
              </a:spcBef>
            </a:pPr>
            <a:r>
              <a:rPr sz="900" b="1" i="0">
                <a:solidFill>
                  <a:srgbClr val="F59E0B"/>
                </a:solidFill>
                <a:latin typeface="Segoe UI"/>
              </a:rPr>
              <a:t>map()</a:t>
            </a:r>
            <a:r>
              <a:rPr sz="900" b="0" i="0">
                <a:solidFill>
                  <a:srgbClr val="E2E8F0"/>
                </a:solidFill>
                <a:latin typeface="Segoe UI"/>
              </a:rPr>
              <a:t>  → weighted points + reasons[]</a:t>
            </a:r>
          </a:p>
          <a:p>
            <a:pPr>
              <a:lnSpc>
                <a:spcPct val="122000"/>
              </a:lnSpc>
              <a:spcBef>
                <a:spcPts val="100"/>
              </a:spcBef>
            </a:pPr>
            <a:r>
              <a:rPr sz="900" b="1" i="0">
                <a:solidFill>
                  <a:srgbClr val="F59E0B"/>
                </a:solidFill>
                <a:latin typeface="Segoe UI"/>
              </a:rPr>
              <a:t>sort()</a:t>
            </a:r>
            <a:r>
              <a:rPr sz="900" b="0" i="0">
                <a:solidFill>
                  <a:srgbClr val="E2E8F0"/>
                </a:solidFill>
                <a:latin typeface="Segoe UI"/>
              </a:rPr>
              <a:t>  → score ↓, rating ↓, price ↑</a:t>
            </a:r>
          </a:p>
          <a:p>
            <a:pPr>
              <a:lnSpc>
                <a:spcPct val="122000"/>
              </a:lnSpc>
              <a:spcBef>
                <a:spcPts val="100"/>
              </a:spcBef>
            </a:pPr>
            <a:r>
              <a:rPr sz="900" b="1" i="0">
                <a:solidFill>
                  <a:srgbClr val="F59E0B"/>
                </a:solidFill>
                <a:latin typeface="Segoe UI"/>
              </a:rPr>
              <a:t/>
            </a:r>
            <a:r>
              <a:rPr sz="900" b="0" i="0">
                <a:solidFill>
                  <a:srgbClr val="E2E8F0"/>
                </a:solidFill>
                <a:latin typeface="Segoe UI"/>
              </a:rPr>
              <a:t/>
            </a:r>
          </a:p>
          <a:p>
            <a:pPr>
              <a:lnSpc>
                <a:spcPct val="122000"/>
              </a:lnSpc>
              <a:spcBef>
                <a:spcPts val="100"/>
              </a:spcBef>
            </a:pPr>
            <a:r>
              <a:rPr sz="900" b="1" i="0">
                <a:solidFill>
                  <a:srgbClr val="F59E0B"/>
                </a:solidFill>
                <a:latin typeface="Segoe UI"/>
              </a:rPr>
              <a:t>score = round(earned / possible × 100)</a:t>
            </a:r>
            <a:r>
              <a:rPr sz="900" b="0" i="0">
                <a:solidFill>
                  <a:srgbClr val="E2E8F0"/>
                </a:solidFill>
                <a:latin typeface="Segoe UI"/>
              </a:rPr>
              <a:t/>
            </a:r>
          </a:p>
        </p:txBody>
      </p:sp>
      <p:sp>
        <p:nvSpPr>
          <p:cNvPr id="79" name="Rounded Rectangle 78"/>
          <p:cNvSpPr/>
          <p:nvPr/>
        </p:nvSpPr>
        <p:spPr>
          <a:xfrm>
            <a:off x="566928" y="5449824"/>
            <a:ext cx="11057839" cy="621792"/>
          </a:xfrm>
          <a:prstGeom prst="roundRect">
            <a:avLst>
              <a:gd name="adj" fmla="val 6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822960" y="5596128"/>
            <a:ext cx="10545775" cy="329184"/>
          </a:xfrm>
          <a:prstGeom prst="rect">
            <a:avLst/>
          </a:prstGeom>
          <a:noFill/>
        </p:spPr>
        <p:txBody>
          <a:bodyPr wrap="square" lIns="0" rIns="0" tIns="0" bIns="0" anchor="ctr">
            <a:spAutoFit/>
          </a:bodyPr>
          <a:lstStyle/>
          <a:p>
            <a:pPr algn="l">
              <a:lnSpc>
                <a:spcPct val="120000"/>
              </a:lnSpc>
            </a:pPr>
            <a:r>
              <a:rPr sz="1150" b="1" i="0">
                <a:solidFill>
                  <a:srgbClr val="0F172A"/>
                </a:solidFill>
                <a:latin typeface="Segoe UI"/>
              </a:rPr>
              <a:t>Accuracy note:  </a:t>
            </a:r>
            <a:r>
              <a:rPr sz="1150" b="0" i="0">
                <a:solidFill>
                  <a:srgbClr val="334155"/>
                </a:solidFill>
                <a:latin typeface="Segoe UI"/>
              </a:rPr>
              <a:t>No ML model, LLM, embeddings or predictive service appears in the dependencies. ‘Smart’ is a deterministic rules engine; every result exposes its score and reasons.</a:t>
            </a:r>
          </a:p>
        </p:txBody>
      </p:sp>
      <p:cxnSp>
        <p:nvCxnSpPr>
          <p:cNvPr id="81" name="Connector 80"/>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83" name="TextBox 82"/>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BACKEND DEVELOPMENT &amp; API ARCHITECTURE</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How a request moves through our system</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backend is a set of HTTP route handlers that validate, authorise, query PostgreSQL and return JSON.</a:t>
            </a:r>
          </a:p>
        </p:txBody>
      </p:sp>
      <p:sp>
        <p:nvSpPr>
          <p:cNvPr id="7" name="Rounded Rectangle 6"/>
          <p:cNvSpPr/>
          <p:nvPr/>
        </p:nvSpPr>
        <p:spPr>
          <a:xfrm>
            <a:off x="7418527" y="365760"/>
            <a:ext cx="4206240" cy="329184"/>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bIns="0"/>
          <a:lstStyle/>
          <a:p>
            <a:pPr algn="l"/>
            <a:r>
              <a:rPr sz="850" b="1" i="0" cap="all" spc="80">
                <a:solidFill>
                  <a:srgbClr val="94A3B8"/>
                </a:solidFill>
                <a:latin typeface="Segoe UI"/>
              </a:rPr>
              <a:t>Presenter  </a:t>
            </a:r>
            <a:r>
              <a:rPr sz="1050" b="1" i="0">
                <a:solidFill>
                  <a:srgbClr val="1E3A8A"/>
                </a:solidFill>
                <a:latin typeface="Segoe UI"/>
              </a:rPr>
              <a:t>Chioma Helen Ezeufonna</a:t>
            </a:r>
          </a:p>
        </p:txBody>
      </p:sp>
      <p:sp>
        <p:nvSpPr>
          <p:cNvPr id="8" name="Rounded Rectangle 7"/>
          <p:cNvSpPr/>
          <p:nvPr/>
        </p:nvSpPr>
        <p:spPr>
          <a:xfrm>
            <a:off x="566928" y="1828800"/>
            <a:ext cx="1975104" cy="1133856"/>
          </a:xfrm>
          <a:prstGeom prst="roundRect">
            <a:avLst>
              <a:gd name="adj" fmla="val 8000"/>
            </a:avLst>
          </a:prstGeom>
          <a:solidFill>
            <a:srgbClr val="FFFFFF"/>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828800"/>
            <a:ext cx="1975104" cy="50292"/>
          </a:xfrm>
          <a:prstGeom prst="roundRect">
            <a:avLst>
              <a:gd name="adj" fmla="val 8000"/>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React client</a:t>
            </a:r>
          </a:p>
        </p:txBody>
      </p:sp>
      <p:sp>
        <p:nvSpPr>
          <p:cNvPr id="11" name="TextBox 10"/>
          <p:cNvSpPr txBox="1"/>
          <p:nvPr/>
        </p:nvSpPr>
        <p:spPr>
          <a:xfrm>
            <a:off x="676656"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Browser — client components
in app/ and components/</a:t>
            </a:r>
          </a:p>
        </p:txBody>
      </p:sp>
      <p:sp>
        <p:nvSpPr>
          <p:cNvPr id="12" name="Right Arrow 11"/>
          <p:cNvSpPr/>
          <p:nvPr/>
        </p:nvSpPr>
        <p:spPr>
          <a:xfrm>
            <a:off x="2587752"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828800"/>
            <a:ext cx="1975104" cy="1133856"/>
          </a:xfrm>
          <a:prstGeom prst="roundRect">
            <a:avLst>
              <a:gd name="adj" fmla="val 8000"/>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834640" y="1828800"/>
            <a:ext cx="1975104" cy="50292"/>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62656"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Route handlers</a:t>
            </a:r>
          </a:p>
        </p:txBody>
      </p:sp>
      <p:sp>
        <p:nvSpPr>
          <p:cNvPr id="16" name="TextBox 15"/>
          <p:cNvSpPr txBox="1"/>
          <p:nvPr/>
        </p:nvSpPr>
        <p:spPr>
          <a:xfrm>
            <a:off x="2944368"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app/api/*/route.ts
runtime = "nodejs"</a:t>
            </a:r>
          </a:p>
        </p:txBody>
      </p:sp>
      <p:sp>
        <p:nvSpPr>
          <p:cNvPr id="17" name="Right Arrow 16"/>
          <p:cNvSpPr/>
          <p:nvPr/>
        </p:nvSpPr>
        <p:spPr>
          <a:xfrm>
            <a:off x="4855464"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2352" y="1828800"/>
            <a:ext cx="1975104" cy="1133856"/>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102352" y="1828800"/>
            <a:ext cx="1975104" cy="50292"/>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30368"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Business rules</a:t>
            </a:r>
          </a:p>
        </p:txBody>
      </p:sp>
      <p:sp>
        <p:nvSpPr>
          <p:cNvPr id="21" name="TextBox 20"/>
          <p:cNvSpPr txBox="1"/>
          <p:nvPr/>
        </p:nvSpPr>
        <p:spPr>
          <a:xfrm>
            <a:off x="5212080"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Validation, role checks,
ownership checks</a:t>
            </a:r>
          </a:p>
        </p:txBody>
      </p:sp>
      <p:sp>
        <p:nvSpPr>
          <p:cNvPr id="22" name="Right Arrow 21"/>
          <p:cNvSpPr/>
          <p:nvPr/>
        </p:nvSpPr>
        <p:spPr>
          <a:xfrm>
            <a:off x="7123176"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70063" y="1828800"/>
            <a:ext cx="1975104" cy="1133856"/>
          </a:xfrm>
          <a:prstGeom prst="roundRect">
            <a:avLst>
              <a:gd name="adj" fmla="val 8000"/>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7370063" y="1828800"/>
            <a:ext cx="1975104" cy="50292"/>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98079"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Neon SQL client</a:t>
            </a:r>
          </a:p>
        </p:txBody>
      </p:sp>
      <p:sp>
        <p:nvSpPr>
          <p:cNvPr id="26" name="TextBox 25"/>
          <p:cNvSpPr txBox="1"/>
          <p:nvPr/>
        </p:nvSpPr>
        <p:spPr>
          <a:xfrm>
            <a:off x="7479791"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neon() tagged template
over HTTP</a:t>
            </a:r>
          </a:p>
        </p:txBody>
      </p:sp>
      <p:sp>
        <p:nvSpPr>
          <p:cNvPr id="27" name="Right Arrow 26"/>
          <p:cNvSpPr/>
          <p:nvPr/>
        </p:nvSpPr>
        <p:spPr>
          <a:xfrm>
            <a:off x="9390888"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637776" y="1828800"/>
            <a:ext cx="1975104" cy="1133856"/>
          </a:xfrm>
          <a:prstGeom prst="roundRect">
            <a:avLst>
              <a:gd name="adj" fmla="val 8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9637776" y="1828800"/>
            <a:ext cx="1975104" cy="5029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65792"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PostgreSQL</a:t>
            </a:r>
          </a:p>
        </p:txBody>
      </p:sp>
      <p:sp>
        <p:nvSpPr>
          <p:cNvPr id="31" name="TextBox 30"/>
          <p:cNvSpPr txBox="1"/>
          <p:nvPr/>
        </p:nvSpPr>
        <p:spPr>
          <a:xfrm>
            <a:off x="9747503"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10 tables, 4 enums,
2 triggers, 17 explicit indexes</a:t>
            </a:r>
          </a:p>
        </p:txBody>
      </p:sp>
      <p:sp>
        <p:nvSpPr>
          <p:cNvPr id="32" name="Rounded Rectangle 31"/>
          <p:cNvSpPr/>
          <p:nvPr/>
        </p:nvSpPr>
        <p:spPr>
          <a:xfrm>
            <a:off x="1024128" y="3054096"/>
            <a:ext cx="10143439" cy="329184"/>
          </a:xfrm>
          <a:prstGeom prst="roundRect">
            <a:avLst>
              <a:gd name="adj" fmla="val 3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24128" y="3122676"/>
            <a:ext cx="10143439"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1E3A8A"/>
                </a:solidFill>
                <a:latin typeface="Segoe UI"/>
              </a:rPr>
              <a:t>Response path:  JSON body  →  client state update   ·   status codes 200 · 201 · 400 · 401 · 403 · 404 · 409 · 413 · 500 · 503</a:t>
            </a:r>
          </a:p>
        </p:txBody>
      </p:sp>
      <p:sp>
        <p:nvSpPr>
          <p:cNvPr id="34" name="Rounded Rectangle 33"/>
          <p:cNvSpPr/>
          <p:nvPr/>
        </p:nvSpPr>
        <p:spPr>
          <a:xfrm>
            <a:off x="566928" y="3634740"/>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4944" y="3602736"/>
            <a:ext cx="540410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REAL ENDPOINTS IN THE REPOSITORY</a:t>
            </a:r>
          </a:p>
        </p:txBody>
      </p:sp>
      <p:sp>
        <p:nvSpPr>
          <p:cNvPr id="36" name="Rectangle 35"/>
          <p:cNvSpPr/>
          <p:nvPr/>
        </p:nvSpPr>
        <p:spPr>
          <a:xfrm>
            <a:off x="566928" y="3913632"/>
            <a:ext cx="5532120" cy="256032"/>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3232" y="3954780"/>
            <a:ext cx="137160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METHOD + PATH</a:t>
            </a:r>
          </a:p>
        </p:txBody>
      </p:sp>
      <p:sp>
        <p:nvSpPr>
          <p:cNvPr id="38" name="TextBox 37"/>
          <p:cNvSpPr txBox="1"/>
          <p:nvPr/>
        </p:nvSpPr>
        <p:spPr>
          <a:xfrm>
            <a:off x="2441448" y="3954780"/>
            <a:ext cx="347472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WHAT IT DOES</a:t>
            </a:r>
          </a:p>
        </p:txBody>
      </p:sp>
      <p:sp>
        <p:nvSpPr>
          <p:cNvPr id="39" name="Rectangle 38"/>
          <p:cNvSpPr/>
          <p:nvPr/>
        </p:nvSpPr>
        <p:spPr>
          <a:xfrm>
            <a:off x="566928" y="4169663"/>
            <a:ext cx="55321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566928" y="4169663"/>
            <a:ext cx="36576" cy="42062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13232" y="4261103"/>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/api/tutors</a:t>
            </a:r>
          </a:p>
        </p:txBody>
      </p:sp>
      <p:sp>
        <p:nvSpPr>
          <p:cNvPr id="42" name="TextBox 41"/>
          <p:cNvSpPr txBox="1"/>
          <p:nvPr/>
        </p:nvSpPr>
        <p:spPr>
          <a:xfrm>
            <a:off x="2441448" y="4261103"/>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Filterable public directory — only admin-verified tutors</a:t>
            </a:r>
          </a:p>
        </p:txBody>
      </p:sp>
      <p:sp>
        <p:nvSpPr>
          <p:cNvPr id="43" name="Rectangle 42"/>
          <p:cNvSpPr/>
          <p:nvPr/>
        </p:nvSpPr>
        <p:spPr>
          <a:xfrm>
            <a:off x="566928" y="4590288"/>
            <a:ext cx="5532120" cy="420624"/>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566928" y="4590288"/>
            <a:ext cx="36576" cy="420624"/>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13232" y="4681727"/>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 POST · PATCH · DELETE  /api/bookings</a:t>
            </a:r>
          </a:p>
        </p:txBody>
      </p:sp>
      <p:sp>
        <p:nvSpPr>
          <p:cNvPr id="46" name="TextBox 45"/>
          <p:cNvSpPr txBox="1"/>
          <p:nvPr/>
        </p:nvSpPr>
        <p:spPr>
          <a:xfrm>
            <a:off x="2441448" y="4681727"/>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Create, list, edit (pending only) and decide bookings</a:t>
            </a:r>
          </a:p>
        </p:txBody>
      </p:sp>
      <p:sp>
        <p:nvSpPr>
          <p:cNvPr id="47" name="Rectangle 46"/>
          <p:cNvSpPr/>
          <p:nvPr/>
        </p:nvSpPr>
        <p:spPr>
          <a:xfrm>
            <a:off x="566928" y="5010912"/>
            <a:ext cx="55321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566928" y="5010912"/>
            <a:ext cx="36576" cy="420624"/>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13232" y="5102351"/>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POST · GET · PUT · DELETE  /api/auth</a:t>
            </a:r>
          </a:p>
        </p:txBody>
      </p:sp>
      <p:sp>
        <p:nvSpPr>
          <p:cNvPr id="50" name="TextBox 49"/>
          <p:cNvSpPr txBox="1"/>
          <p:nvPr/>
        </p:nvSpPr>
        <p:spPr>
          <a:xfrm>
            <a:off x="2441448" y="5102351"/>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Signup/login, profile, admin review, documents, availability</a:t>
            </a:r>
          </a:p>
        </p:txBody>
      </p:sp>
      <p:sp>
        <p:nvSpPr>
          <p:cNvPr id="51" name="Rectangle 50"/>
          <p:cNvSpPr/>
          <p:nvPr/>
        </p:nvSpPr>
        <p:spPr>
          <a:xfrm>
            <a:off x="566928" y="5431536"/>
            <a:ext cx="5532120" cy="420624"/>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ounded Rectangle 51"/>
          <p:cNvSpPr/>
          <p:nvPr/>
        </p:nvSpPr>
        <p:spPr>
          <a:xfrm>
            <a:off x="566928" y="5431536"/>
            <a:ext cx="36576" cy="420624"/>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13232" y="5522975"/>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 POST  /api/reviews</a:t>
            </a:r>
          </a:p>
        </p:txBody>
      </p:sp>
      <p:sp>
        <p:nvSpPr>
          <p:cNvPr id="54" name="TextBox 53"/>
          <p:cNvSpPr txBox="1"/>
          <p:nvPr/>
        </p:nvSpPr>
        <p:spPr>
          <a:xfrm>
            <a:off x="2441448" y="5522975"/>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One review per completed booking; rating validated 1–5</a:t>
            </a:r>
          </a:p>
        </p:txBody>
      </p:sp>
      <p:sp>
        <p:nvSpPr>
          <p:cNvPr id="55" name="Rectangle 54"/>
          <p:cNvSpPr/>
          <p:nvPr/>
        </p:nvSpPr>
        <p:spPr>
          <a:xfrm>
            <a:off x="566928" y="5852159"/>
            <a:ext cx="55321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ounded Rectangle 55"/>
          <p:cNvSpPr/>
          <p:nvPr/>
        </p:nvSpPr>
        <p:spPr>
          <a:xfrm>
            <a:off x="566928" y="5852159"/>
            <a:ext cx="36576" cy="42062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13232" y="5943599"/>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 POST  /api/messages</a:t>
            </a:r>
          </a:p>
        </p:txBody>
      </p:sp>
      <p:sp>
        <p:nvSpPr>
          <p:cNvPr id="58" name="TextBox 57"/>
          <p:cNvSpPr txBox="1"/>
          <p:nvPr/>
        </p:nvSpPr>
        <p:spPr>
          <a:xfrm>
            <a:off x="2441448" y="5943599"/>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Private 1-to-1 threads, scoped to the signed-in account</a:t>
            </a:r>
          </a:p>
        </p:txBody>
      </p:sp>
      <p:sp>
        <p:nvSpPr>
          <p:cNvPr id="59" name="Rounded Rectangle 58"/>
          <p:cNvSpPr/>
          <p:nvPr/>
        </p:nvSpPr>
        <p:spPr>
          <a:xfrm>
            <a:off x="6391656" y="3634740"/>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519672" y="3602736"/>
            <a:ext cx="5105095"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AUTHENTICATION, AUTHORISATION &amp; ERROR HANDLING</a:t>
            </a:r>
          </a:p>
        </p:txBody>
      </p:sp>
      <p:sp>
        <p:nvSpPr>
          <p:cNvPr id="61" name="Rounded Rectangle 60"/>
          <p:cNvSpPr/>
          <p:nvPr/>
        </p:nvSpPr>
        <p:spPr>
          <a:xfrm>
            <a:off x="6391656" y="3973068"/>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629400" y="3931920"/>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Passwords</a:t>
            </a:r>
            <a:r>
              <a:rPr sz="900" b="0" i="0">
                <a:solidFill>
                  <a:srgbClr val="475569"/>
                </a:solidFill>
                <a:latin typeface="Segoe UI"/>
              </a:rPr>
              <a:t>  bcryptjs hashes use a 10-round cost factor.</a:t>
            </a:r>
          </a:p>
        </p:txBody>
      </p:sp>
      <p:sp>
        <p:nvSpPr>
          <p:cNvPr id="63" name="Rounded Rectangle 62"/>
          <p:cNvSpPr/>
          <p:nvPr/>
        </p:nvSpPr>
        <p:spPr>
          <a:xfrm>
            <a:off x="6391656" y="417880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6629400" y="413765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JWT</a:t>
            </a:r>
            <a:r>
              <a:rPr sz="900" b="0" i="0">
                <a:solidFill>
                  <a:srgbClr val="475569"/>
                </a:solidFill>
                <a:latin typeface="Segoe UI"/>
              </a:rPr>
              <a:t>  Signed with JWT_SECRET; expires in 7 days; sent as a Bearer token.</a:t>
            </a:r>
          </a:p>
        </p:txBody>
      </p:sp>
      <p:sp>
        <p:nvSpPr>
          <p:cNvPr id="65" name="Rounded Rectangle 64"/>
          <p:cNvSpPr/>
          <p:nvPr/>
        </p:nvSpPr>
        <p:spPr>
          <a:xfrm>
            <a:off x="6391656" y="438454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629400" y="434339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Role gates</a:t>
            </a:r>
            <a:r>
              <a:rPr sz="900" b="0" i="0">
                <a:solidFill>
                  <a:srgbClr val="475569"/>
                </a:solidFill>
                <a:latin typeface="Segoe UI"/>
              </a:rPr>
              <a:t>  Admin actions check role; unauthenticated = 401, wrong role = 403.</a:t>
            </a:r>
          </a:p>
        </p:txBody>
      </p:sp>
      <p:sp>
        <p:nvSpPr>
          <p:cNvPr id="67" name="Rounded Rectangle 66"/>
          <p:cNvSpPr/>
          <p:nvPr/>
        </p:nvSpPr>
        <p:spPr>
          <a:xfrm>
            <a:off x="6391656" y="459028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629400" y="454913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Ownership</a:t>
            </a:r>
            <a:r>
              <a:rPr sz="900" b="0" i="0">
                <a:solidFill>
                  <a:srgbClr val="475569"/>
                </a:solidFill>
                <a:latin typeface="Segoe UI"/>
              </a:rPr>
              <a:t>  Booking edits and decisions verify student, tutor or admin ownership.</a:t>
            </a:r>
          </a:p>
        </p:txBody>
      </p:sp>
      <p:sp>
        <p:nvSpPr>
          <p:cNvPr id="69" name="Rounded Rectangle 68"/>
          <p:cNvSpPr/>
          <p:nvPr/>
        </p:nvSpPr>
        <p:spPr>
          <a:xfrm>
            <a:off x="6391656" y="479602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629400" y="475487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Validation</a:t>
            </a:r>
            <a:r>
              <a:rPr sz="900" b="0" i="0">
                <a:solidFill>
                  <a:srgbClr val="475569"/>
                </a:solidFill>
                <a:latin typeface="Segoe UI"/>
              </a:rPr>
              <a:t>  400 for malformed JSON, missing fields, weak password or bad status.</a:t>
            </a:r>
          </a:p>
        </p:txBody>
      </p:sp>
      <p:sp>
        <p:nvSpPr>
          <p:cNvPr id="71" name="Rounded Rectangle 70"/>
          <p:cNvSpPr/>
          <p:nvPr/>
        </p:nvSpPr>
        <p:spPr>
          <a:xfrm>
            <a:off x="6391656" y="500176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6629400" y="496061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Parameterized SQL</a:t>
            </a:r>
            <a:r>
              <a:rPr sz="900" b="0" i="0">
                <a:solidFill>
                  <a:srgbClr val="475569"/>
                </a:solidFill>
                <a:latin typeface="Segoe UI"/>
              </a:rPr>
              <a:t>  neon() tagged templates parameterise supplied values.</a:t>
            </a:r>
          </a:p>
        </p:txBody>
      </p:sp>
      <p:sp>
        <p:nvSpPr>
          <p:cNvPr id="73" name="Rounded Rectangle 72"/>
          <p:cNvSpPr/>
          <p:nvPr/>
        </p:nvSpPr>
        <p:spPr>
          <a:xfrm>
            <a:off x="6391656" y="520750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629400" y="516635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No database</a:t>
            </a:r>
            <a:r>
              <a:rPr sz="900" b="0" i="0">
                <a:solidFill>
                  <a:srgbClr val="475569"/>
                </a:solidFill>
                <a:latin typeface="Segoe UI"/>
              </a:rPr>
              <a:t>  DATABASE_URL absent → 503 for booking/chat; tutor list is empty.</a:t>
            </a:r>
          </a:p>
        </p:txBody>
      </p:sp>
      <p:cxnSp>
        <p:nvCxnSpPr>
          <p:cNvPr id="75" name="Connector 74"/>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77" name="TextBox 76"/>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DATABASE DESIGN &amp; DATA MANAGEMENT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PostgreSQL data model: 10 connected tables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PostgreSQL is the relational database that stores the data; Neon is the managed hosting service that runs it and exposes it over HTTP.</a:t>
            </a:r>
          </a:p>
        </p:txBody>
      </p:sp>
      <p:sp>
        <p:nvSpPr>
          <p:cNvPr id="7" name="Rounded Rectangle 6"/>
          <p:cNvSpPr/>
          <p:nvPr/>
        </p:nvSpPr>
        <p:spPr>
          <a:xfrm>
            <a:off x="6869887" y="292608"/>
            <a:ext cx="4754880" cy="329184"/>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bIns="0"/>
          <a:lstStyle/>
          <a:p>
            <a:pPr algn="l"/>
            <a:r>
              <a:rPr sz="850" b="1" i="0" cap="all" spc="80">
                <a:solidFill>
                  <a:srgbClr val="94A3B8"/>
                </a:solidFill>
                <a:latin typeface="Segoe UI"/>
              </a:rPr>
              <a:t>Presenter  </a:t>
            </a:r>
            <a:r>
              <a:rPr sz="950" b="1" i="0">
                <a:solidFill>
                  <a:srgbClr val="1E3A8A"/>
                </a:solidFill>
                <a:latin typeface="Segoe UI"/>
              </a:rPr>
              <a:t>Uzochukwu Mary Cynthia Enyemakachukwu</a:t>
            </a:r>
          </a:p>
        </p:txBody>
      </p:sp>
      <p:sp>
        <p:nvSpPr>
          <p:cNvPr id="8" name="Rounded Rectangle 7"/>
          <p:cNvSpPr/>
          <p:nvPr/>
        </p:nvSpPr>
        <p:spPr>
          <a:xfrm>
            <a:off x="566928" y="1792224"/>
            <a:ext cx="1783080" cy="658368"/>
          </a:xfrm>
          <a:prstGeom prst="roundRect">
            <a:avLst>
              <a:gd name="adj" fmla="val 8000"/>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792224"/>
            <a:ext cx="1783080"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91109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users</a:t>
            </a:r>
          </a:p>
        </p:txBody>
      </p:sp>
      <p:sp>
        <p:nvSpPr>
          <p:cNvPr id="11" name="TextBox 10"/>
          <p:cNvSpPr txBox="1"/>
          <p:nvPr/>
        </p:nvSpPr>
        <p:spPr>
          <a:xfrm>
            <a:off x="640080" y="213969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role · account_status
email · state · city</a:t>
            </a:r>
          </a:p>
        </p:txBody>
      </p:sp>
      <p:sp>
        <p:nvSpPr>
          <p:cNvPr id="12" name="Rounded Rectangle 11"/>
          <p:cNvSpPr/>
          <p:nvPr/>
        </p:nvSpPr>
        <p:spPr>
          <a:xfrm>
            <a:off x="2834640" y="1792224"/>
            <a:ext cx="1965960" cy="658368"/>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834640" y="1792224"/>
            <a:ext cx="1965960"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26080" y="1911096"/>
            <a:ext cx="178308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tutor_profiles</a:t>
            </a:r>
          </a:p>
        </p:txBody>
      </p:sp>
      <p:sp>
        <p:nvSpPr>
          <p:cNvPr id="15" name="TextBox 14"/>
          <p:cNvSpPr txBox="1"/>
          <p:nvPr/>
        </p:nvSpPr>
        <p:spPr>
          <a:xfrm>
            <a:off x="2907792" y="2139696"/>
            <a:ext cx="181965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hourly_rate · curriculum
is_verified · rating_avg</a:t>
            </a:r>
          </a:p>
        </p:txBody>
      </p:sp>
      <p:sp>
        <p:nvSpPr>
          <p:cNvPr id="16" name="Rounded Rectangle 15"/>
          <p:cNvSpPr/>
          <p:nvPr/>
        </p:nvSpPr>
        <p:spPr>
          <a:xfrm>
            <a:off x="5285232" y="1792224"/>
            <a:ext cx="1874519" cy="658368"/>
          </a:xfrm>
          <a:prstGeom prst="roundRect">
            <a:avLst>
              <a:gd name="adj" fmla="val 8000"/>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285232" y="1792224"/>
            <a:ext cx="1874519" cy="4572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76672" y="1911096"/>
            <a:ext cx="1691639"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bookings</a:t>
            </a:r>
          </a:p>
        </p:txBody>
      </p:sp>
      <p:sp>
        <p:nvSpPr>
          <p:cNvPr id="19" name="TextBox 18"/>
          <p:cNvSpPr txBox="1"/>
          <p:nvPr/>
        </p:nvSpPr>
        <p:spPr>
          <a:xfrm>
            <a:off x="5358384" y="2139696"/>
            <a:ext cx="172821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student_id · tutor_id
status · date · total_price</a:t>
            </a:r>
          </a:p>
        </p:txBody>
      </p:sp>
      <p:sp>
        <p:nvSpPr>
          <p:cNvPr id="20" name="Rounded Rectangle 19"/>
          <p:cNvSpPr/>
          <p:nvPr/>
        </p:nvSpPr>
        <p:spPr>
          <a:xfrm>
            <a:off x="7644383" y="1792224"/>
            <a:ext cx="1783080" cy="658368"/>
          </a:xfrm>
          <a:prstGeom prst="roundRect">
            <a:avLst>
              <a:gd name="adj" fmla="val 8000"/>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7644383" y="1792224"/>
            <a:ext cx="1783080" cy="4572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35823" y="191109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reviews</a:t>
            </a:r>
          </a:p>
        </p:txBody>
      </p:sp>
      <p:sp>
        <p:nvSpPr>
          <p:cNvPr id="23" name="TextBox 22"/>
          <p:cNvSpPr txBox="1"/>
          <p:nvPr/>
        </p:nvSpPr>
        <p:spPr>
          <a:xfrm>
            <a:off x="7717536" y="213969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rating 1–5 · comment
UNIQUE booking_id</a:t>
            </a:r>
          </a:p>
        </p:txBody>
      </p:sp>
      <p:sp>
        <p:nvSpPr>
          <p:cNvPr id="24" name="Rounded Rectangle 23"/>
          <p:cNvSpPr/>
          <p:nvPr/>
        </p:nvSpPr>
        <p:spPr>
          <a:xfrm>
            <a:off x="9912096" y="1792224"/>
            <a:ext cx="1709928" cy="658368"/>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9912096" y="1792224"/>
            <a:ext cx="1709928"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003536" y="1911096"/>
            <a:ext cx="1527048"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messages</a:t>
            </a:r>
          </a:p>
        </p:txBody>
      </p:sp>
      <p:sp>
        <p:nvSpPr>
          <p:cNvPr id="27" name="TextBox 26"/>
          <p:cNvSpPr txBox="1"/>
          <p:nvPr/>
        </p:nvSpPr>
        <p:spPr>
          <a:xfrm>
            <a:off x="9985248" y="2139696"/>
            <a:ext cx="1563624"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sender / recipient keys
body · created_at</a:t>
            </a:r>
          </a:p>
        </p:txBody>
      </p:sp>
      <p:sp>
        <p:nvSpPr>
          <p:cNvPr id="28" name="Rounded Rectangle 27"/>
          <p:cNvSpPr/>
          <p:nvPr/>
        </p:nvSpPr>
        <p:spPr>
          <a:xfrm>
            <a:off x="566928" y="2798064"/>
            <a:ext cx="1783080" cy="658368"/>
          </a:xfrm>
          <a:prstGeom prst="roundRect">
            <a:avLst>
              <a:gd name="adj" fmla="val 8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66928" y="2798064"/>
            <a:ext cx="1783080"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291693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parent_profiles</a:t>
            </a:r>
          </a:p>
        </p:txBody>
      </p:sp>
      <p:sp>
        <p:nvSpPr>
          <p:cNvPr id="31" name="TextBox 30"/>
          <p:cNvSpPr txBox="1"/>
          <p:nvPr/>
        </p:nvSpPr>
        <p:spPr>
          <a:xfrm>
            <a:off x="640080" y="314553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one child profile · age
budget · level · learning mode</a:t>
            </a:r>
          </a:p>
        </p:txBody>
      </p:sp>
      <p:sp>
        <p:nvSpPr>
          <p:cNvPr id="32" name="Rounded Rectangle 31"/>
          <p:cNvSpPr/>
          <p:nvPr/>
        </p:nvSpPr>
        <p:spPr>
          <a:xfrm>
            <a:off x="2834640" y="2798064"/>
            <a:ext cx="1965960" cy="658368"/>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2834640" y="2798064"/>
            <a:ext cx="1965960"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926080" y="2916936"/>
            <a:ext cx="178308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tutor_subjects</a:t>
            </a:r>
          </a:p>
        </p:txBody>
      </p:sp>
      <p:sp>
        <p:nvSpPr>
          <p:cNvPr id="35" name="TextBox 34"/>
          <p:cNvSpPr txBox="1"/>
          <p:nvPr/>
        </p:nvSpPr>
        <p:spPr>
          <a:xfrm>
            <a:off x="2907792" y="3145536"/>
            <a:ext cx="181965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subject_name · level
many subjects per tutor</a:t>
            </a:r>
          </a:p>
        </p:txBody>
      </p:sp>
      <p:sp>
        <p:nvSpPr>
          <p:cNvPr id="36" name="Rounded Rectangle 35"/>
          <p:cNvSpPr/>
          <p:nvPr/>
        </p:nvSpPr>
        <p:spPr>
          <a:xfrm>
            <a:off x="5285232" y="2798064"/>
            <a:ext cx="1874519" cy="658368"/>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5285232" y="2798064"/>
            <a:ext cx="1874519"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76672" y="2916936"/>
            <a:ext cx="1691639"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tutor_availability</a:t>
            </a:r>
          </a:p>
        </p:txBody>
      </p:sp>
      <p:sp>
        <p:nvSpPr>
          <p:cNvPr id="39" name="TextBox 38"/>
          <p:cNvSpPr txBox="1"/>
          <p:nvPr/>
        </p:nvSpPr>
        <p:spPr>
          <a:xfrm>
            <a:off x="5358384" y="3145536"/>
            <a:ext cx="172821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day_of_week 0–6
start_time · end_time</a:t>
            </a:r>
          </a:p>
        </p:txBody>
      </p:sp>
      <p:sp>
        <p:nvSpPr>
          <p:cNvPr id="40" name="Rounded Rectangle 39"/>
          <p:cNvSpPr/>
          <p:nvPr/>
        </p:nvSpPr>
        <p:spPr>
          <a:xfrm>
            <a:off x="7644383" y="2798064"/>
            <a:ext cx="1783080" cy="658368"/>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7644383" y="2798064"/>
            <a:ext cx="1783080"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735823" y="291693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tutor_documents</a:t>
            </a:r>
          </a:p>
        </p:txBody>
      </p:sp>
      <p:sp>
        <p:nvSpPr>
          <p:cNvPr id="43" name="TextBox 42"/>
          <p:cNvSpPr txBox="1"/>
          <p:nvPr/>
        </p:nvSpPr>
        <p:spPr>
          <a:xfrm>
            <a:off x="7717536" y="314553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user_id · doc_type
file_data · photo</a:t>
            </a:r>
          </a:p>
        </p:txBody>
      </p:sp>
      <p:sp>
        <p:nvSpPr>
          <p:cNvPr id="44" name="Rounded Rectangle 43"/>
          <p:cNvSpPr/>
          <p:nvPr/>
        </p:nvSpPr>
        <p:spPr>
          <a:xfrm>
            <a:off x="9912096" y="2798064"/>
            <a:ext cx="1709928" cy="658368"/>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9912096" y="2798064"/>
            <a:ext cx="1709928"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003536" y="2916936"/>
            <a:ext cx="1527048"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tutor_verifications</a:t>
            </a:r>
          </a:p>
        </p:txBody>
      </p:sp>
      <p:sp>
        <p:nvSpPr>
          <p:cNvPr id="47" name="TextBox 46"/>
          <p:cNvSpPr txBox="1"/>
          <p:nvPr/>
        </p:nvSpPr>
        <p:spPr>
          <a:xfrm>
            <a:off x="9985248" y="3145536"/>
            <a:ext cx="1563624"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user_id PK · status
pending / approved / declined</a:t>
            </a:r>
          </a:p>
        </p:txBody>
      </p:sp>
      <p:cxnSp>
        <p:nvCxnSpPr>
          <p:cNvPr id="48" name="Connector 47"/>
          <p:cNvCxnSpPr/>
          <p:nvPr/>
        </p:nvCxnSpPr>
        <p:spPr>
          <a:xfrm>
            <a:off x="2350008" y="2121408"/>
            <a:ext cx="484632"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304288" y="1847088"/>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1:1</a:t>
            </a:r>
          </a:p>
        </p:txBody>
      </p:sp>
      <p:cxnSp>
        <p:nvCxnSpPr>
          <p:cNvPr id="50" name="Connector 49"/>
          <p:cNvCxnSpPr/>
          <p:nvPr/>
        </p:nvCxnSpPr>
        <p:spPr>
          <a:xfrm>
            <a:off x="1463040" y="2450592"/>
            <a:ext cx="0" cy="347472"/>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517904" y="250545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1:1</a:t>
            </a:r>
          </a:p>
        </p:txBody>
      </p:sp>
      <p:cxnSp>
        <p:nvCxnSpPr>
          <p:cNvPr id="52" name="Connector 51"/>
          <p:cNvCxnSpPr/>
          <p:nvPr/>
        </p:nvCxnSpPr>
        <p:spPr>
          <a:xfrm>
            <a:off x="3813048" y="2450592"/>
            <a:ext cx="0" cy="347472"/>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3858768" y="250545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1:N</a:t>
            </a:r>
          </a:p>
        </p:txBody>
      </p:sp>
      <p:cxnSp>
        <p:nvCxnSpPr>
          <p:cNvPr id="54" name="Connector 53"/>
          <p:cNvCxnSpPr/>
          <p:nvPr/>
        </p:nvCxnSpPr>
        <p:spPr>
          <a:xfrm>
            <a:off x="4590288" y="2450592"/>
            <a:ext cx="1371600" cy="347472"/>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882896" y="250545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1:N</a:t>
            </a:r>
          </a:p>
        </p:txBody>
      </p:sp>
      <p:cxnSp>
        <p:nvCxnSpPr>
          <p:cNvPr id="56" name="Connector 55"/>
          <p:cNvCxnSpPr/>
          <p:nvPr/>
        </p:nvCxnSpPr>
        <p:spPr>
          <a:xfrm>
            <a:off x="4800600" y="1956816"/>
            <a:ext cx="484632"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828032" y="168249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1:N</a:t>
            </a:r>
          </a:p>
        </p:txBody>
      </p:sp>
      <p:cxnSp>
        <p:nvCxnSpPr>
          <p:cNvPr id="58" name="Connector 57"/>
          <p:cNvCxnSpPr/>
          <p:nvPr/>
        </p:nvCxnSpPr>
        <p:spPr>
          <a:xfrm>
            <a:off x="7159752" y="2121408"/>
            <a:ext cx="484631"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168896" y="1847088"/>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1:1</a:t>
            </a:r>
          </a:p>
        </p:txBody>
      </p:sp>
      <p:sp>
        <p:nvSpPr>
          <p:cNvPr id="60" name="TextBox 59"/>
          <p:cNvSpPr txBox="1"/>
          <p:nvPr/>
        </p:nvSpPr>
        <p:spPr>
          <a:xfrm>
            <a:off x="9912096" y="2542032"/>
            <a:ext cx="1709928" cy="201168"/>
          </a:xfrm>
          <a:prstGeom prst="rect">
            <a:avLst/>
          </a:prstGeom>
          <a:noFill/>
        </p:spPr>
        <p:txBody>
          <a:bodyPr wrap="square" lIns="0" rIns="0" tIns="0" bIns="0" anchor="t">
            <a:spAutoFit/>
          </a:bodyPr>
          <a:lstStyle/>
          <a:p>
            <a:pPr algn="ctr">
              <a:lnSpc>
                <a:spcPct val="118000"/>
              </a:lnSpc>
              <a:spcBef>
                <a:spcPts val="0"/>
              </a:spcBef>
              <a:spcAft>
                <a:spcPts val="0"/>
              </a:spcAft>
            </a:pPr>
            <a:r>
              <a:rPr sz="750" b="0" i="1">
                <a:solidFill>
                  <a:srgbClr val="94A3B8"/>
                </a:solidFill>
                <a:latin typeface="Segoe UI"/>
              </a:rPr>
              <a:t>opaque party keys</a:t>
            </a:r>
          </a:p>
        </p:txBody>
      </p:sp>
      <p:sp>
        <p:nvSpPr>
          <p:cNvPr id="61" name="Rounded Rectangle 60"/>
          <p:cNvSpPr/>
          <p:nvPr/>
        </p:nvSpPr>
        <p:spPr>
          <a:xfrm>
            <a:off x="566928" y="3621024"/>
            <a:ext cx="3527450" cy="24323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ounded Rectangle 61"/>
          <p:cNvSpPr/>
          <p:nvPr/>
        </p:nvSpPr>
        <p:spPr>
          <a:xfrm>
            <a:off x="566928" y="3621024"/>
            <a:ext cx="3527450"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49808" y="3767328"/>
            <a:ext cx="3161690" cy="23774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0F172A"/>
                </a:solidFill>
                <a:latin typeface="Segoe UI Semibold"/>
              </a:rPr>
              <a:t>Table responsibilities</a:t>
            </a:r>
          </a:p>
        </p:txBody>
      </p:sp>
      <p:sp>
        <p:nvSpPr>
          <p:cNvPr id="64" name="TextBox 63"/>
          <p:cNvSpPr txBox="1"/>
          <p:nvPr/>
        </p:nvSpPr>
        <p:spPr>
          <a:xfrm>
            <a:off x="749808" y="4059935"/>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users  ·  </a:t>
            </a:r>
            <a:r>
              <a:rPr sz="760" b="0" i="0">
                <a:solidFill>
                  <a:srgbClr val="475569"/>
                </a:solidFill>
                <a:latin typeface="Segoe UI"/>
              </a:rPr>
              <a:t>every account + role + review state</a:t>
            </a:r>
          </a:p>
        </p:txBody>
      </p:sp>
      <p:sp>
        <p:nvSpPr>
          <p:cNvPr id="65" name="TextBox 64"/>
          <p:cNvSpPr txBox="1"/>
          <p:nvPr/>
        </p:nvSpPr>
        <p:spPr>
          <a:xfrm>
            <a:off x="749808" y="4238244"/>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tutor_profiles  ·  </a:t>
            </a:r>
            <a:r>
              <a:rPr sz="760" b="0" i="0">
                <a:solidFill>
                  <a:srgbClr val="475569"/>
                </a:solidFill>
                <a:latin typeface="Segoe UI"/>
              </a:rPr>
              <a:t>1:1 tutor data, rate, verification</a:t>
            </a:r>
          </a:p>
        </p:txBody>
      </p:sp>
      <p:sp>
        <p:nvSpPr>
          <p:cNvPr id="66" name="TextBox 65"/>
          <p:cNvSpPr txBox="1"/>
          <p:nvPr/>
        </p:nvSpPr>
        <p:spPr>
          <a:xfrm>
            <a:off x="749808" y="4416552"/>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parent_profiles  ·  </a:t>
            </a:r>
            <a:r>
              <a:rPr sz="760" b="0" i="0">
                <a:solidFill>
                  <a:srgbClr val="475569"/>
                </a:solidFill>
                <a:latin typeface="Segoe UI"/>
              </a:rPr>
              <a:t>one child profile, budget, learning mode</a:t>
            </a:r>
          </a:p>
        </p:txBody>
      </p:sp>
      <p:sp>
        <p:nvSpPr>
          <p:cNvPr id="67" name="TextBox 66"/>
          <p:cNvSpPr txBox="1"/>
          <p:nvPr/>
        </p:nvSpPr>
        <p:spPr>
          <a:xfrm>
            <a:off x="749808" y="4594860"/>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tutor_subjects  ·  </a:t>
            </a:r>
            <a:r>
              <a:rPr sz="760" b="0" i="0">
                <a:solidFill>
                  <a:srgbClr val="475569"/>
                </a:solidFill>
                <a:latin typeface="Segoe UI"/>
              </a:rPr>
              <a:t>many subjects per tutor, with level</a:t>
            </a:r>
          </a:p>
        </p:txBody>
      </p:sp>
      <p:sp>
        <p:nvSpPr>
          <p:cNvPr id="68" name="TextBox 67"/>
          <p:cNvSpPr txBox="1"/>
          <p:nvPr/>
        </p:nvSpPr>
        <p:spPr>
          <a:xfrm>
            <a:off x="749808" y="4773168"/>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tutor_availability  ·  </a:t>
            </a:r>
            <a:r>
              <a:rPr sz="760" b="0" i="0">
                <a:solidFill>
                  <a:srgbClr val="475569"/>
                </a:solidFill>
                <a:latin typeface="Segoe UI"/>
              </a:rPr>
              <a:t>recurring weekly time slots</a:t>
            </a:r>
          </a:p>
        </p:txBody>
      </p:sp>
      <p:sp>
        <p:nvSpPr>
          <p:cNvPr id="69" name="TextBox 68"/>
          <p:cNvSpPr txBox="1"/>
          <p:nvPr/>
        </p:nvSpPr>
        <p:spPr>
          <a:xfrm>
            <a:off x="749808" y="4951476"/>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bookings  ·  </a:t>
            </a:r>
            <a:r>
              <a:rPr sz="760" b="0" i="0">
                <a:solidFill>
                  <a:srgbClr val="475569"/>
                </a:solidFill>
                <a:latin typeface="Segoe UI"/>
              </a:rPr>
              <a:t>session requests + status + price</a:t>
            </a:r>
          </a:p>
        </p:txBody>
      </p:sp>
      <p:sp>
        <p:nvSpPr>
          <p:cNvPr id="70" name="TextBox 69"/>
          <p:cNvSpPr txBox="1"/>
          <p:nvPr/>
        </p:nvSpPr>
        <p:spPr>
          <a:xfrm>
            <a:off x="749808" y="5129784"/>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reviews  ·  </a:t>
            </a:r>
            <a:r>
              <a:rPr sz="760" b="0" i="0">
                <a:solidFill>
                  <a:srgbClr val="475569"/>
                </a:solidFill>
                <a:latin typeface="Segoe UI"/>
              </a:rPr>
              <a:t>booking-linked; admin may post unlinked feedback</a:t>
            </a:r>
          </a:p>
        </p:txBody>
      </p:sp>
      <p:sp>
        <p:nvSpPr>
          <p:cNvPr id="71" name="TextBox 70"/>
          <p:cNvSpPr txBox="1"/>
          <p:nvPr/>
        </p:nvSpPr>
        <p:spPr>
          <a:xfrm>
            <a:off x="749808" y="5308092"/>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messages  ·  </a:t>
            </a:r>
            <a:r>
              <a:rPr sz="760" b="0" i="0">
                <a:solidFill>
                  <a:srgbClr val="475569"/>
                </a:solidFill>
                <a:latin typeface="Segoe UI"/>
              </a:rPr>
              <a:t>private threads between two parties</a:t>
            </a:r>
          </a:p>
        </p:txBody>
      </p:sp>
      <p:sp>
        <p:nvSpPr>
          <p:cNvPr id="72" name="TextBox 71"/>
          <p:cNvSpPr txBox="1"/>
          <p:nvPr/>
        </p:nvSpPr>
        <p:spPr>
          <a:xfrm>
            <a:off x="749808" y="5486400"/>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tutor_documents  ·  </a:t>
            </a:r>
            <a:r>
              <a:rPr sz="760" b="0" i="0">
                <a:solidFill>
                  <a:srgbClr val="475569"/>
                </a:solidFill>
                <a:latin typeface="Segoe UI"/>
              </a:rPr>
              <a:t>uploaded credential photos</a:t>
            </a:r>
          </a:p>
        </p:txBody>
      </p:sp>
      <p:sp>
        <p:nvSpPr>
          <p:cNvPr id="73" name="TextBox 72"/>
          <p:cNvSpPr txBox="1"/>
          <p:nvPr/>
        </p:nvSpPr>
        <p:spPr>
          <a:xfrm>
            <a:off x="749808" y="5664708"/>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tutor_verifications  ·  </a:t>
            </a:r>
            <a:r>
              <a:rPr sz="760" b="0" i="0">
                <a:solidFill>
                  <a:srgbClr val="475569"/>
                </a:solidFill>
                <a:latin typeface="Segoe UI"/>
              </a:rPr>
              <a:t>admin review outcome per tutor</a:t>
            </a:r>
          </a:p>
        </p:txBody>
      </p:sp>
      <p:sp>
        <p:nvSpPr>
          <p:cNvPr id="74" name="Rounded Rectangle 73"/>
          <p:cNvSpPr/>
          <p:nvPr/>
        </p:nvSpPr>
        <p:spPr>
          <a:xfrm>
            <a:off x="4332122" y="3621024"/>
            <a:ext cx="3527450" cy="24323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Rounded Rectangle 74"/>
          <p:cNvSpPr/>
          <p:nvPr/>
        </p:nvSpPr>
        <p:spPr>
          <a:xfrm>
            <a:off x="4332122" y="3621024"/>
            <a:ext cx="3527450"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4515002" y="3767328"/>
            <a:ext cx="3161690" cy="23774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0F172A"/>
                </a:solidFill>
                <a:latin typeface="Segoe UI Semibold"/>
              </a:rPr>
              <a:t>Schema objects &amp; constraints</a:t>
            </a:r>
          </a:p>
        </p:txBody>
      </p:sp>
      <p:sp>
        <p:nvSpPr>
          <p:cNvPr id="77" name="TextBox 76"/>
          <p:cNvSpPr txBox="1"/>
          <p:nvPr/>
        </p:nvSpPr>
        <p:spPr>
          <a:xfrm>
            <a:off x="4496714" y="4059935"/>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4 enums</a:t>
            </a:r>
          </a:p>
        </p:txBody>
      </p:sp>
      <p:sp>
        <p:nvSpPr>
          <p:cNvPr id="78" name="TextBox 77"/>
          <p:cNvSpPr txBox="1"/>
          <p:nvPr/>
        </p:nvSpPr>
        <p:spPr>
          <a:xfrm>
            <a:off x="5447690" y="4059935"/>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role · status · session mode · curriculum</a:t>
            </a:r>
          </a:p>
        </p:txBody>
      </p:sp>
      <p:sp>
        <p:nvSpPr>
          <p:cNvPr id="79" name="TextBox 78"/>
          <p:cNvSpPr txBox="1"/>
          <p:nvPr/>
        </p:nvSpPr>
        <p:spPr>
          <a:xfrm>
            <a:off x="4496714" y="4280611"/>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2 triggers</a:t>
            </a:r>
          </a:p>
        </p:txBody>
      </p:sp>
      <p:sp>
        <p:nvSpPr>
          <p:cNvPr id="80" name="TextBox 79"/>
          <p:cNvSpPr txBox="1"/>
          <p:nvPr/>
        </p:nvSpPr>
        <p:spPr>
          <a:xfrm>
            <a:off x="5447690" y="4280611"/>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rating totals on review; updated_at on booking</a:t>
            </a:r>
          </a:p>
        </p:txBody>
      </p:sp>
      <p:sp>
        <p:nvSpPr>
          <p:cNvPr id="81" name="TextBox 80"/>
          <p:cNvSpPr txBox="1"/>
          <p:nvPr/>
        </p:nvSpPr>
        <p:spPr>
          <a:xfrm>
            <a:off x="4496714" y="4501286"/>
            <a:ext cx="950976" cy="313334"/>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17 indexes</a:t>
            </a:r>
          </a:p>
        </p:txBody>
      </p:sp>
      <p:sp>
        <p:nvSpPr>
          <p:cNvPr id="82" name="TextBox 81"/>
          <p:cNvSpPr txBox="1"/>
          <p:nvPr/>
        </p:nvSpPr>
        <p:spPr>
          <a:xfrm>
            <a:off x="5447690" y="4501286"/>
            <a:ext cx="2384450" cy="313334"/>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role/state · subject · rate · booking · chat lookups</a:t>
            </a:r>
          </a:p>
        </p:txBody>
      </p:sp>
      <p:sp>
        <p:nvSpPr>
          <p:cNvPr id="83" name="TextBox 82"/>
          <p:cNvSpPr txBox="1"/>
          <p:nvPr/>
        </p:nvSpPr>
        <p:spPr>
          <a:xfrm>
            <a:off x="4496714" y="4832908"/>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UUID keys</a:t>
            </a:r>
          </a:p>
        </p:txBody>
      </p:sp>
      <p:sp>
        <p:nvSpPr>
          <p:cNvPr id="84" name="TextBox 83"/>
          <p:cNvSpPr txBox="1"/>
          <p:nvPr/>
        </p:nvSpPr>
        <p:spPr>
          <a:xfrm>
            <a:off x="5447690" y="4832908"/>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pgcrypto · gen_random_uuid()</a:t>
            </a:r>
          </a:p>
        </p:txBody>
      </p:sp>
      <p:sp>
        <p:nvSpPr>
          <p:cNvPr id="85" name="TextBox 84"/>
          <p:cNvSpPr txBox="1"/>
          <p:nvPr/>
        </p:nvSpPr>
        <p:spPr>
          <a:xfrm>
            <a:off x="4496714" y="5053584"/>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Foreign keys</a:t>
            </a:r>
          </a:p>
        </p:txBody>
      </p:sp>
      <p:sp>
        <p:nvSpPr>
          <p:cNvPr id="86" name="TextBox 85"/>
          <p:cNvSpPr txBox="1"/>
          <p:nvPr/>
        </p:nvSpPr>
        <p:spPr>
          <a:xfrm>
            <a:off x="5447690" y="5053584"/>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CASCADE; SET NULL for optional subject</a:t>
            </a:r>
          </a:p>
        </p:txBody>
      </p:sp>
      <p:sp>
        <p:nvSpPr>
          <p:cNvPr id="87" name="TextBox 86"/>
          <p:cNvSpPr txBox="1"/>
          <p:nvPr/>
        </p:nvSpPr>
        <p:spPr>
          <a:xfrm>
            <a:off x="4496714" y="5274259"/>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CHECKs</a:t>
            </a:r>
          </a:p>
        </p:txBody>
      </p:sp>
      <p:sp>
        <p:nvSpPr>
          <p:cNvPr id="88" name="TextBox 87"/>
          <p:cNvSpPr txBox="1"/>
          <p:nvPr/>
        </p:nvSpPr>
        <p:spPr>
          <a:xfrm>
            <a:off x="5447690" y="5274259"/>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rating 1–5 · day 0–6 · end &gt; start</a:t>
            </a:r>
          </a:p>
        </p:txBody>
      </p:sp>
      <p:sp>
        <p:nvSpPr>
          <p:cNvPr id="89" name="TextBox 88"/>
          <p:cNvSpPr txBox="1"/>
          <p:nvPr/>
        </p:nvSpPr>
        <p:spPr>
          <a:xfrm>
            <a:off x="4496714" y="5494934"/>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Money</a:t>
            </a:r>
          </a:p>
        </p:txBody>
      </p:sp>
      <p:sp>
        <p:nvSpPr>
          <p:cNvPr id="90" name="TextBox 89"/>
          <p:cNvSpPr txBox="1"/>
          <p:nvPr/>
        </p:nvSpPr>
        <p:spPr>
          <a:xfrm>
            <a:off x="5447690" y="5494934"/>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hourly_rate + total_price: NUMERIC(10,2)</a:t>
            </a:r>
          </a:p>
        </p:txBody>
      </p:sp>
      <p:sp>
        <p:nvSpPr>
          <p:cNvPr id="91" name="Rounded Rectangle 90"/>
          <p:cNvSpPr/>
          <p:nvPr/>
        </p:nvSpPr>
        <p:spPr>
          <a:xfrm>
            <a:off x="8097316" y="3621024"/>
            <a:ext cx="3527450" cy="24323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Rounded Rectangle 91"/>
          <p:cNvSpPr/>
          <p:nvPr/>
        </p:nvSpPr>
        <p:spPr>
          <a:xfrm>
            <a:off x="8097316" y="3621024"/>
            <a:ext cx="3527450"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8280196" y="3767328"/>
            <a:ext cx="3161690" cy="23774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0F172A"/>
                </a:solidFill>
                <a:latin typeface="Segoe UI Semibold"/>
              </a:rPr>
              <a:t>How the app reads and writes</a:t>
            </a:r>
          </a:p>
        </p:txBody>
      </p:sp>
      <p:sp>
        <p:nvSpPr>
          <p:cNvPr id="94" name="TextBox 93"/>
          <p:cNvSpPr txBox="1"/>
          <p:nvPr/>
        </p:nvSpPr>
        <p:spPr>
          <a:xfrm>
            <a:off x="8261908" y="4059935"/>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db/neon.ts</a:t>
            </a:r>
          </a:p>
        </p:txBody>
      </p:sp>
      <p:sp>
        <p:nvSpPr>
          <p:cNvPr id="95" name="TextBox 94"/>
          <p:cNvSpPr txBox="1"/>
          <p:nvPr/>
        </p:nvSpPr>
        <p:spPr>
          <a:xfrm>
            <a:off x="9212884" y="4059935"/>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one HTTP neon() client; hasDatabase guard</a:t>
            </a:r>
          </a:p>
        </p:txBody>
      </p:sp>
      <p:sp>
        <p:nvSpPr>
          <p:cNvPr id="96" name="TextBox 95"/>
          <p:cNvSpPr txBox="1"/>
          <p:nvPr/>
        </p:nvSpPr>
        <p:spPr>
          <a:xfrm>
            <a:off x="8261908" y="4280611"/>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db/tutors.ts</a:t>
            </a:r>
          </a:p>
        </p:txBody>
      </p:sp>
      <p:sp>
        <p:nvSpPr>
          <p:cNvPr id="97" name="TextBox 96"/>
          <p:cNvSpPr txBox="1"/>
          <p:nvPr/>
        </p:nvSpPr>
        <p:spPr>
          <a:xfrm>
            <a:off x="9212884" y="4280611"/>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approved-tutor reads + homepage aggregates</a:t>
            </a:r>
          </a:p>
        </p:txBody>
      </p:sp>
      <p:sp>
        <p:nvSpPr>
          <p:cNvPr id="98" name="TextBox 97"/>
          <p:cNvSpPr txBox="1"/>
          <p:nvPr/>
        </p:nvSpPr>
        <p:spPr>
          <a:xfrm>
            <a:off x="8261908" y="4501286"/>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db/bookings.ts</a:t>
            </a:r>
          </a:p>
        </p:txBody>
      </p:sp>
      <p:sp>
        <p:nvSpPr>
          <p:cNvPr id="99" name="TextBox 98"/>
          <p:cNvSpPr txBox="1"/>
          <p:nvPr/>
        </p:nvSpPr>
        <p:spPr>
          <a:xfrm>
            <a:off x="9212884" y="4501286"/>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maps SQL rows to the shared Booking type</a:t>
            </a:r>
          </a:p>
        </p:txBody>
      </p:sp>
      <p:sp>
        <p:nvSpPr>
          <p:cNvPr id="100" name="TextBox 99"/>
          <p:cNvSpPr txBox="1"/>
          <p:nvPr/>
        </p:nvSpPr>
        <p:spPr>
          <a:xfrm>
            <a:off x="8261908" y="4721961"/>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db/migrate.ts</a:t>
            </a:r>
          </a:p>
        </p:txBody>
      </p:sp>
      <p:sp>
        <p:nvSpPr>
          <p:cNvPr id="101" name="TextBox 100"/>
          <p:cNvSpPr txBox="1"/>
          <p:nvPr/>
        </p:nvSpPr>
        <p:spPr>
          <a:xfrm>
            <a:off x="9212884" y="4721961"/>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lazy, non-destructive schema guards</a:t>
            </a:r>
          </a:p>
        </p:txBody>
      </p:sp>
      <p:sp>
        <p:nvSpPr>
          <p:cNvPr id="102" name="TextBox 101"/>
          <p:cNvSpPr txBox="1"/>
          <p:nvPr/>
        </p:nvSpPr>
        <p:spPr>
          <a:xfrm>
            <a:off x="8261908" y="4942636"/>
            <a:ext cx="950976" cy="313334"/>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Neon service</a:t>
            </a:r>
          </a:p>
        </p:txBody>
      </p:sp>
      <p:sp>
        <p:nvSpPr>
          <p:cNvPr id="103" name="TextBox 102"/>
          <p:cNvSpPr txBox="1"/>
          <p:nvPr/>
        </p:nvSpPr>
        <p:spPr>
          <a:xfrm>
            <a:off x="9212884" y="4942636"/>
            <a:ext cx="2384450" cy="313334"/>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Neon hosts managed PostgreSQL and exposes an HTTP driver for serverless.</a:t>
            </a:r>
          </a:p>
        </p:txBody>
      </p:sp>
      <p:cxnSp>
        <p:nvCxnSpPr>
          <p:cNvPr id="104" name="Connector 103"/>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106" name="TextBox 105"/>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TECHNOLOGIES, FRAMEWORKS &amp; TOOLING</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The technology stack</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No framework was added “just in case”. Each dependency below earns its place in a specific screen or route.</a:t>
            </a:r>
          </a:p>
        </p:txBody>
      </p:sp>
      <p:sp>
        <p:nvSpPr>
          <p:cNvPr id="7" name="Rounded Rectangle 6"/>
          <p:cNvSpPr/>
          <p:nvPr/>
        </p:nvSpPr>
        <p:spPr>
          <a:xfrm>
            <a:off x="566928" y="1847088"/>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47088"/>
            <a:ext cx="45720" cy="68580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731520" y="1956816"/>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FRAMEWORK</a:t>
            </a:r>
          </a:p>
        </p:txBody>
      </p:sp>
      <p:sp>
        <p:nvSpPr>
          <p:cNvPr id="10" name="TextBox 9"/>
          <p:cNvSpPr txBox="1"/>
          <p:nvPr/>
        </p:nvSpPr>
        <p:spPr>
          <a:xfrm>
            <a:off x="1755648" y="1947672"/>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Next.js 16.3.8 · App Router</a:t>
            </a:r>
          </a:p>
        </p:txBody>
      </p:sp>
      <p:sp>
        <p:nvSpPr>
          <p:cNvPr id="11" name="TextBox 10"/>
          <p:cNvSpPr txBox="1"/>
          <p:nvPr/>
        </p:nvSpPr>
        <p:spPr>
          <a:xfrm>
            <a:off x="731520" y="2185416"/>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Routing, server components and API route handlers in one deployable app.</a:t>
            </a:r>
          </a:p>
        </p:txBody>
      </p:sp>
      <p:sp>
        <p:nvSpPr>
          <p:cNvPr id="12" name="TextBox 11"/>
          <p:cNvSpPr txBox="1"/>
          <p:nvPr/>
        </p:nvSpPr>
        <p:spPr>
          <a:xfrm>
            <a:off x="731520" y="2368296"/>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1E3A8A"/>
                </a:solidFill>
                <a:latin typeface="Segoe UI"/>
              </a:rPr>
              <a:t>Used in:  app/ routes + app/api/*/route.ts</a:t>
            </a:r>
          </a:p>
        </p:txBody>
      </p:sp>
      <p:sp>
        <p:nvSpPr>
          <p:cNvPr id="13" name="Rounded Rectangle 12"/>
          <p:cNvSpPr/>
          <p:nvPr/>
        </p:nvSpPr>
        <p:spPr>
          <a:xfrm>
            <a:off x="566928" y="2606040"/>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66928" y="2606040"/>
            <a:ext cx="45720" cy="68580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731520" y="2715768"/>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UI RUNTIME</a:t>
            </a:r>
          </a:p>
        </p:txBody>
      </p:sp>
      <p:sp>
        <p:nvSpPr>
          <p:cNvPr id="16" name="TextBox 15"/>
          <p:cNvSpPr txBox="1"/>
          <p:nvPr/>
        </p:nvSpPr>
        <p:spPr>
          <a:xfrm>
            <a:off x="1755648" y="2706624"/>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React 19.2.8</a:t>
            </a:r>
          </a:p>
        </p:txBody>
      </p:sp>
      <p:sp>
        <p:nvSpPr>
          <p:cNvPr id="17" name="TextBox 16"/>
          <p:cNvSpPr txBox="1"/>
          <p:nvPr/>
        </p:nvSpPr>
        <p:spPr>
          <a:xfrm>
            <a:off x="731520" y="2944368"/>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Component model for interactive screens; 'use client' marks the interactive ones.</a:t>
            </a:r>
          </a:p>
        </p:txBody>
      </p:sp>
      <p:sp>
        <p:nvSpPr>
          <p:cNvPr id="18" name="TextBox 17"/>
          <p:cNvSpPr txBox="1"/>
          <p:nvPr/>
        </p:nvSpPr>
        <p:spPr>
          <a:xfrm>
            <a:off x="731520" y="3127248"/>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2563EB"/>
                </a:solidFill>
                <a:latin typeface="Segoe UI"/>
              </a:rPr>
              <a:t>Used in:  21 components; dashboards, booking modal, chat</a:t>
            </a:r>
          </a:p>
        </p:txBody>
      </p:sp>
      <p:sp>
        <p:nvSpPr>
          <p:cNvPr id="19" name="Rounded Rectangle 18"/>
          <p:cNvSpPr/>
          <p:nvPr/>
        </p:nvSpPr>
        <p:spPr>
          <a:xfrm>
            <a:off x="566928" y="3364991"/>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66928" y="3364991"/>
            <a:ext cx="45720" cy="6858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731520" y="3474720"/>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LANGUAGE</a:t>
            </a:r>
          </a:p>
        </p:txBody>
      </p:sp>
      <p:sp>
        <p:nvSpPr>
          <p:cNvPr id="22" name="TextBox 21"/>
          <p:cNvSpPr txBox="1"/>
          <p:nvPr/>
        </p:nvSpPr>
        <p:spPr>
          <a:xfrm>
            <a:off x="1755648" y="3465575"/>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TypeScript 5 (strict)</a:t>
            </a:r>
          </a:p>
        </p:txBody>
      </p:sp>
      <p:sp>
        <p:nvSpPr>
          <p:cNvPr id="23" name="TextBox 22"/>
          <p:cNvSpPr txBox="1"/>
          <p:nvPr/>
        </p:nvSpPr>
        <p:spPr>
          <a:xfrm>
            <a:off x="731520" y="3703320"/>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Static type safety across domain types, API payloads and React props.</a:t>
            </a:r>
          </a:p>
        </p:txBody>
      </p:sp>
      <p:sp>
        <p:nvSpPr>
          <p:cNvPr id="24" name="TextBox 23"/>
          <p:cNvSpPr txBox="1"/>
          <p:nvPr/>
        </p:nvSpPr>
        <p:spPr>
          <a:xfrm>
            <a:off x="731520" y="3886200"/>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10B981"/>
                </a:solidFill>
                <a:latin typeface="Segoe UI"/>
              </a:rPr>
              <a:t>Used in:  lib/types.ts, typed sql row mappers, strict tsconfig</a:t>
            </a:r>
          </a:p>
        </p:txBody>
      </p:sp>
      <p:sp>
        <p:nvSpPr>
          <p:cNvPr id="25" name="Rounded Rectangle 24"/>
          <p:cNvSpPr/>
          <p:nvPr/>
        </p:nvSpPr>
        <p:spPr>
          <a:xfrm>
            <a:off x="566928" y="4123944"/>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66928" y="4123944"/>
            <a:ext cx="45720" cy="68580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520" y="4233672"/>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STYLING</a:t>
            </a:r>
          </a:p>
        </p:txBody>
      </p:sp>
      <p:sp>
        <p:nvSpPr>
          <p:cNvPr id="28" name="TextBox 27"/>
          <p:cNvSpPr txBox="1"/>
          <p:nvPr/>
        </p:nvSpPr>
        <p:spPr>
          <a:xfrm>
            <a:off x="1755648" y="4224528"/>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Tailwind CSS v4</a:t>
            </a:r>
          </a:p>
        </p:txBody>
      </p:sp>
      <p:sp>
        <p:nvSpPr>
          <p:cNvPr id="29" name="TextBox 28"/>
          <p:cNvSpPr txBox="1"/>
          <p:nvPr/>
        </p:nvSpPr>
        <p:spPr>
          <a:xfrm>
            <a:off x="731520" y="4462272"/>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Utility-first CSS driven by design tokens instead of a custom stylesheet.</a:t>
            </a:r>
          </a:p>
        </p:txBody>
      </p:sp>
      <p:sp>
        <p:nvSpPr>
          <p:cNvPr id="30" name="TextBox 29"/>
          <p:cNvSpPr txBox="1"/>
          <p:nvPr/>
        </p:nvSpPr>
        <p:spPr>
          <a:xfrm>
            <a:off x="731520" y="4645152"/>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059669"/>
                </a:solidFill>
                <a:latin typeface="Segoe UI"/>
              </a:rPr>
              <a:t>Used in:  tailwind.config.js palette, shadows, keyframes</a:t>
            </a:r>
          </a:p>
        </p:txBody>
      </p:sp>
      <p:sp>
        <p:nvSpPr>
          <p:cNvPr id="31" name="Rounded Rectangle 30"/>
          <p:cNvSpPr/>
          <p:nvPr/>
        </p:nvSpPr>
        <p:spPr>
          <a:xfrm>
            <a:off x="566928" y="4882896"/>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66928" y="4882896"/>
            <a:ext cx="45720" cy="68580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520" y="4992624"/>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ANIMATION</a:t>
            </a:r>
          </a:p>
        </p:txBody>
      </p:sp>
      <p:sp>
        <p:nvSpPr>
          <p:cNvPr id="34" name="TextBox 33"/>
          <p:cNvSpPr txBox="1"/>
          <p:nvPr/>
        </p:nvSpPr>
        <p:spPr>
          <a:xfrm>
            <a:off x="1755648" y="4983480"/>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Framer Motion 14</a:t>
            </a:r>
          </a:p>
        </p:txBody>
      </p:sp>
      <p:sp>
        <p:nvSpPr>
          <p:cNvPr id="35" name="TextBox 34"/>
          <p:cNvSpPr txBox="1"/>
          <p:nvPr/>
        </p:nvSpPr>
        <p:spPr>
          <a:xfrm>
            <a:off x="731520" y="5221224"/>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Declarative, interruptible transitions without hand-written CSS animation.</a:t>
            </a:r>
          </a:p>
        </p:txBody>
      </p:sp>
      <p:sp>
        <p:nvSpPr>
          <p:cNvPr id="36" name="TextBox 35"/>
          <p:cNvSpPr txBox="1"/>
          <p:nvPr/>
        </p:nvSpPr>
        <p:spPr>
          <a:xfrm>
            <a:off x="731520" y="5404104"/>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F59E0B"/>
                </a:solidFill>
                <a:latin typeface="Segoe UI"/>
              </a:rPr>
              <a:t>Used in:  HeroSlider, BookingModal, tutor grid layout</a:t>
            </a:r>
          </a:p>
        </p:txBody>
      </p:sp>
      <p:sp>
        <p:nvSpPr>
          <p:cNvPr id="37" name="Rounded Rectangle 36"/>
          <p:cNvSpPr/>
          <p:nvPr/>
        </p:nvSpPr>
        <p:spPr>
          <a:xfrm>
            <a:off x="6233007" y="1847088"/>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6233007" y="1847088"/>
            <a:ext cx="45720" cy="68580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6397599" y="1956816"/>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ICONS</a:t>
            </a:r>
          </a:p>
        </p:txBody>
      </p:sp>
      <p:sp>
        <p:nvSpPr>
          <p:cNvPr id="40" name="TextBox 39"/>
          <p:cNvSpPr txBox="1"/>
          <p:nvPr/>
        </p:nvSpPr>
        <p:spPr>
          <a:xfrm>
            <a:off x="7421727" y="1947672"/>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lucide-react 1.50</a:t>
            </a:r>
          </a:p>
        </p:txBody>
      </p:sp>
      <p:sp>
        <p:nvSpPr>
          <p:cNvPr id="41" name="TextBox 40"/>
          <p:cNvSpPr txBox="1"/>
          <p:nvPr/>
        </p:nvSpPr>
        <p:spPr>
          <a:xfrm>
            <a:off x="6397599" y="2185416"/>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Consistent, accessible SVG icon set that inherits Tailwind colour tokens.</a:t>
            </a:r>
          </a:p>
        </p:txBody>
      </p:sp>
      <p:sp>
        <p:nvSpPr>
          <p:cNvPr id="42" name="TextBox 41"/>
          <p:cNvSpPr txBox="1"/>
          <p:nvPr/>
        </p:nvSpPr>
        <p:spPr>
          <a:xfrm>
            <a:off x="6397599" y="2368296"/>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E11D48"/>
                </a:solidFill>
                <a:latin typeface="Segoe UI"/>
              </a:rPr>
              <a:t>Used in:  Navbar, badges, empty states, dashboards</a:t>
            </a:r>
          </a:p>
        </p:txBody>
      </p:sp>
      <p:sp>
        <p:nvSpPr>
          <p:cNvPr id="43" name="Rounded Rectangle 42"/>
          <p:cNvSpPr/>
          <p:nvPr/>
        </p:nvSpPr>
        <p:spPr>
          <a:xfrm>
            <a:off x="6233007" y="2606040"/>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6233007" y="2606040"/>
            <a:ext cx="45720" cy="685800"/>
          </a:xfrm>
          <a:prstGeom prst="roundRect">
            <a:avLst>
              <a:gd name="adj" fmla="val 8000"/>
            </a:avLst>
          </a:prstGeom>
          <a:solidFill>
            <a:srgbClr val="172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6397599" y="2715768"/>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DATABASE</a:t>
            </a:r>
          </a:p>
        </p:txBody>
      </p:sp>
      <p:sp>
        <p:nvSpPr>
          <p:cNvPr id="46" name="TextBox 45"/>
          <p:cNvSpPr txBox="1"/>
          <p:nvPr/>
        </p:nvSpPr>
        <p:spPr>
          <a:xfrm>
            <a:off x="7421727" y="2706624"/>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@neondatabase/serverless 1.2</a:t>
            </a:r>
          </a:p>
        </p:txBody>
      </p:sp>
      <p:sp>
        <p:nvSpPr>
          <p:cNvPr id="47" name="TextBox 46"/>
          <p:cNvSpPr txBox="1"/>
          <p:nvPr/>
        </p:nvSpPr>
        <p:spPr>
          <a:xfrm>
            <a:off x="6397599" y="2944368"/>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HTTP-based Postgres driver — no TCP socket pooling in a serverless runtime.</a:t>
            </a:r>
          </a:p>
        </p:txBody>
      </p:sp>
      <p:sp>
        <p:nvSpPr>
          <p:cNvPr id="48" name="TextBox 47"/>
          <p:cNvSpPr txBox="1"/>
          <p:nvPr/>
        </p:nvSpPr>
        <p:spPr>
          <a:xfrm>
            <a:off x="6397599" y="3127248"/>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172B63"/>
                </a:solidFill>
                <a:latin typeface="Segoe UI"/>
              </a:rPr>
              <a:t>Used in:  db/neon.ts, db/tutors.ts, db/bookings.ts</a:t>
            </a:r>
          </a:p>
        </p:txBody>
      </p:sp>
      <p:sp>
        <p:nvSpPr>
          <p:cNvPr id="49" name="Rounded Rectangle 48"/>
          <p:cNvSpPr/>
          <p:nvPr/>
        </p:nvSpPr>
        <p:spPr>
          <a:xfrm>
            <a:off x="6233007" y="3364991"/>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ounded Rectangle 49"/>
          <p:cNvSpPr/>
          <p:nvPr/>
        </p:nvSpPr>
        <p:spPr>
          <a:xfrm>
            <a:off x="6233007" y="3364991"/>
            <a:ext cx="45720" cy="68580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ounded Rectangle 50"/>
          <p:cNvSpPr/>
          <p:nvPr/>
        </p:nvSpPr>
        <p:spPr>
          <a:xfrm>
            <a:off x="6397599" y="3474720"/>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AUTH</a:t>
            </a:r>
          </a:p>
        </p:txBody>
      </p:sp>
      <p:sp>
        <p:nvSpPr>
          <p:cNvPr id="52" name="TextBox 51"/>
          <p:cNvSpPr txBox="1"/>
          <p:nvPr/>
        </p:nvSpPr>
        <p:spPr>
          <a:xfrm>
            <a:off x="7421727" y="3465575"/>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bcryptjs 3 · jsonwebtoken 9</a:t>
            </a:r>
          </a:p>
        </p:txBody>
      </p:sp>
      <p:sp>
        <p:nvSpPr>
          <p:cNvPr id="53" name="TextBox 52"/>
          <p:cNvSpPr txBox="1"/>
          <p:nvPr/>
        </p:nvSpPr>
        <p:spPr>
          <a:xfrm>
            <a:off x="6397599" y="3703320"/>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Password hashing and stateless signed tokens.</a:t>
            </a:r>
          </a:p>
        </p:txBody>
      </p:sp>
      <p:sp>
        <p:nvSpPr>
          <p:cNvPr id="54" name="TextBox 53"/>
          <p:cNvSpPr txBox="1"/>
          <p:nvPr/>
        </p:nvSpPr>
        <p:spPr>
          <a:xfrm>
            <a:off x="6397599" y="3886200"/>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2563EB"/>
                </a:solidFill>
                <a:latin typeface="Segoe UI"/>
              </a:rPr>
              <a:t>Used in:  app/api/auth/route.ts — signup, login, role gates</a:t>
            </a:r>
          </a:p>
        </p:txBody>
      </p:sp>
      <p:sp>
        <p:nvSpPr>
          <p:cNvPr id="55" name="Rounded Rectangle 54"/>
          <p:cNvSpPr/>
          <p:nvPr/>
        </p:nvSpPr>
        <p:spPr>
          <a:xfrm>
            <a:off x="6233007" y="4123944"/>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ounded Rectangle 55"/>
          <p:cNvSpPr/>
          <p:nvPr/>
        </p:nvSpPr>
        <p:spPr>
          <a:xfrm>
            <a:off x="6233007" y="4123944"/>
            <a:ext cx="45720" cy="6858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ounded Rectangle 56"/>
          <p:cNvSpPr/>
          <p:nvPr/>
        </p:nvSpPr>
        <p:spPr>
          <a:xfrm>
            <a:off x="6397599" y="4233672"/>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DEPLOYMENT</a:t>
            </a:r>
          </a:p>
        </p:txBody>
      </p:sp>
      <p:sp>
        <p:nvSpPr>
          <p:cNvPr id="58" name="TextBox 57"/>
          <p:cNvSpPr txBox="1"/>
          <p:nvPr/>
        </p:nvSpPr>
        <p:spPr>
          <a:xfrm>
            <a:off x="7421727" y="4224528"/>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Vercel (zero config)</a:t>
            </a:r>
          </a:p>
        </p:txBody>
      </p:sp>
      <p:sp>
        <p:nvSpPr>
          <p:cNvPr id="59" name="TextBox 58"/>
          <p:cNvSpPr txBox="1"/>
          <p:nvPr/>
        </p:nvSpPr>
        <p:spPr>
          <a:xfrm>
            <a:off x="6397599" y="4462272"/>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Detects Next.js, runs next build, deploys /api as serverless Node functions.</a:t>
            </a:r>
          </a:p>
        </p:txBody>
      </p:sp>
      <p:sp>
        <p:nvSpPr>
          <p:cNvPr id="60" name="TextBox 59"/>
          <p:cNvSpPr txBox="1"/>
          <p:nvPr/>
        </p:nvSpPr>
        <p:spPr>
          <a:xfrm>
            <a:off x="6397599" y="4645152"/>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10B981"/>
                </a:solidFill>
                <a:latin typeface="Segoe UI"/>
              </a:rPr>
              <a:t>Used in:  runtime = "nodejs" on every route</a:t>
            </a:r>
          </a:p>
        </p:txBody>
      </p:sp>
      <p:sp>
        <p:nvSpPr>
          <p:cNvPr id="61" name="Rounded Rectangle 60"/>
          <p:cNvSpPr/>
          <p:nvPr/>
        </p:nvSpPr>
        <p:spPr>
          <a:xfrm>
            <a:off x="6233007" y="4882896"/>
            <a:ext cx="5391759" cy="6858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ounded Rectangle 61"/>
          <p:cNvSpPr/>
          <p:nvPr/>
        </p:nvSpPr>
        <p:spPr>
          <a:xfrm>
            <a:off x="6233007" y="4882896"/>
            <a:ext cx="45720" cy="685800"/>
          </a:xfrm>
          <a:prstGeom prst="roundRect">
            <a:avLst>
              <a:gd name="adj" fmla="val 8000"/>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ounded Rectangle 62"/>
          <p:cNvSpPr/>
          <p:nvPr/>
        </p:nvSpPr>
        <p:spPr>
          <a:xfrm>
            <a:off x="6397599" y="4992624"/>
            <a:ext cx="932688" cy="182880"/>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50" b="1" i="0">
                <a:solidFill>
                  <a:srgbClr val="475569"/>
                </a:solidFill>
                <a:latin typeface="Segoe UI"/>
              </a:rPr>
              <a:t>QUALITY</a:t>
            </a:r>
          </a:p>
        </p:txBody>
      </p:sp>
      <p:sp>
        <p:nvSpPr>
          <p:cNvPr id="64" name="TextBox 63"/>
          <p:cNvSpPr txBox="1"/>
          <p:nvPr/>
        </p:nvSpPr>
        <p:spPr>
          <a:xfrm>
            <a:off x="7421727" y="4983480"/>
            <a:ext cx="4020159" cy="2286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Semibold"/>
              </a:rPr>
              <a:t>ESLint 9 + eslint-config-next</a:t>
            </a:r>
          </a:p>
        </p:txBody>
      </p:sp>
      <p:sp>
        <p:nvSpPr>
          <p:cNvPr id="65" name="TextBox 64"/>
          <p:cNvSpPr txBox="1"/>
          <p:nvPr/>
        </p:nvSpPr>
        <p:spPr>
          <a:xfrm>
            <a:off x="6397599" y="5221224"/>
            <a:ext cx="5062575" cy="173736"/>
          </a:xfrm>
          <a:prstGeom prst="rect">
            <a:avLst/>
          </a:prstGeom>
          <a:noFill/>
        </p:spPr>
        <p:txBody>
          <a:bodyPr wrap="square" lIns="0" rIns="0" tIns="0" bIns="0" anchor="t">
            <a:spAutoFit/>
          </a:bodyPr>
          <a:lstStyle/>
          <a:p>
            <a:pPr algn="l">
              <a:lnSpc>
                <a:spcPct val="112000"/>
              </a:lnSpc>
              <a:spcBef>
                <a:spcPts val="0"/>
              </a:spcBef>
              <a:spcAft>
                <a:spcPts val="0"/>
              </a:spcAft>
            </a:pPr>
            <a:r>
              <a:rPr sz="880" b="0" i="0">
                <a:solidFill>
                  <a:srgbClr val="475569"/>
                </a:solidFill>
                <a:latin typeface="Segoe UI"/>
              </a:rPr>
              <a:t>Static analysis for React and TypeScript correctness, run as npm run lint.</a:t>
            </a:r>
          </a:p>
        </p:txBody>
      </p:sp>
      <p:sp>
        <p:nvSpPr>
          <p:cNvPr id="66" name="TextBox 65"/>
          <p:cNvSpPr txBox="1"/>
          <p:nvPr/>
        </p:nvSpPr>
        <p:spPr>
          <a:xfrm>
            <a:off x="6397599" y="5404104"/>
            <a:ext cx="5062575"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334155"/>
                </a:solidFill>
                <a:latin typeface="Segoe UI"/>
              </a:rPr>
              <a:t>Used in:  eslint.config.mjs (core-web-vitals + typescript)</a:t>
            </a:r>
          </a:p>
        </p:txBody>
      </p:sp>
      <p:sp>
        <p:nvSpPr>
          <p:cNvPr id="67" name="Rounded Rectangle 66"/>
          <p:cNvSpPr/>
          <p:nvPr/>
        </p:nvSpPr>
        <p:spPr>
          <a:xfrm>
            <a:off x="566928" y="5650992"/>
            <a:ext cx="11057839" cy="530352"/>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22960" y="5797296"/>
            <a:ext cx="10545775" cy="237743"/>
          </a:xfrm>
          <a:prstGeom prst="rect">
            <a:avLst/>
          </a:prstGeom>
          <a:noFill/>
        </p:spPr>
        <p:txBody>
          <a:bodyPr wrap="square" lIns="0" rIns="0" tIns="0" bIns="0" anchor="ctr">
            <a:spAutoFit/>
          </a:bodyPr>
          <a:lstStyle/>
          <a:p>
            <a:pPr algn="l">
              <a:lnSpc>
                <a:spcPct val="120000"/>
              </a:lnSpc>
            </a:pPr>
            <a:r>
              <a:rPr sz="940" b="1" i="0">
                <a:solidFill>
                  <a:srgbClr val="1E3A8A"/>
                </a:solidFill>
                <a:latin typeface="Segoe UI"/>
              </a:rPr>
              <a:t>Versions in package.json:  </a:t>
            </a:r>
            <a:r>
              <a:rPr sz="940" b="0" i="0">
                <a:solidFill>
                  <a:srgbClr val="475569"/>
                </a:solidFill>
                <a:latin typeface="Segoe UI"/>
              </a:rPr>
              <a:t>Next 16.3.8 · React 19.2.8 · TypeScript 5 · Tailwind 4 · Motion 14 · lucide-react 1.50 · Neon driver 1.2 · bcryptjs 3 · JWT 9 · ESLint 9</a:t>
            </a:r>
          </a:p>
        </p:txBody>
      </p:sp>
      <p:cxnSp>
        <p:nvCxnSpPr>
          <p:cNvPr id="69" name="Connector 68"/>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71" name="TextBox 70"/>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TESTING, QUALITY ASSURANCE &amp; DEPLOYMENT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Evidence, deployment and honest caveats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What we actually ran, what we could not run, and the deployment configuration that runs the site today.</a:t>
            </a:r>
          </a:p>
        </p:txBody>
      </p:sp>
      <p:sp>
        <p:nvSpPr>
          <p:cNvPr id="7" name="Rounded Rectangle 6"/>
          <p:cNvSpPr/>
          <p:nvPr/>
        </p:nvSpPr>
        <p:spPr>
          <a:xfrm>
            <a:off x="7418527" y="365760"/>
            <a:ext cx="4206240" cy="329184"/>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bIns="0"/>
          <a:lstStyle/>
          <a:p>
            <a:pPr algn="l"/>
            <a:r>
              <a:rPr sz="850" b="1" i="0" cap="all" spc="80">
                <a:solidFill>
                  <a:srgbClr val="94A3B8"/>
                </a:solidFill>
                <a:latin typeface="Segoe UI"/>
              </a:rPr>
              <a:t>Presenter  </a:t>
            </a:r>
            <a:r>
              <a:rPr sz="1050" b="1" i="0">
                <a:solidFill>
                  <a:srgbClr val="1E3A8A"/>
                </a:solidFill>
                <a:latin typeface="Segoe UI"/>
              </a:rPr>
              <a:t>Bodman Ebuka Precious</a:t>
            </a:r>
          </a:p>
        </p:txBody>
      </p:sp>
      <p:sp>
        <p:nvSpPr>
          <p:cNvPr id="8" name="Rounded Rectangle 7"/>
          <p:cNvSpPr/>
          <p:nvPr/>
        </p:nvSpPr>
        <p:spPr>
          <a:xfrm>
            <a:off x="56692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1847088"/>
            <a:ext cx="549554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WHAT WE ACTUALLY RAN</a:t>
            </a:r>
          </a:p>
        </p:txBody>
      </p:sp>
      <p:sp>
        <p:nvSpPr>
          <p:cNvPr id="10" name="Rounded Rectangle 9"/>
          <p:cNvSpPr/>
          <p:nvPr/>
        </p:nvSpPr>
        <p:spPr>
          <a:xfrm>
            <a:off x="566928" y="2157984"/>
            <a:ext cx="5623560" cy="50292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731520" y="2267712"/>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10B981"/>
                </a:solidFill>
                <a:latin typeface="Segoe UI"/>
              </a:rPr>
              <a:t>✓</a:t>
            </a:r>
          </a:p>
        </p:txBody>
      </p:sp>
      <p:sp>
        <p:nvSpPr>
          <p:cNvPr id="12" name="TextBox 11"/>
          <p:cNvSpPr txBox="1"/>
          <p:nvPr/>
        </p:nvSpPr>
        <p:spPr>
          <a:xfrm>
            <a:off x="1115568" y="2231136"/>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npx tsc --noEmit</a:t>
            </a:r>
          </a:p>
        </p:txBody>
      </p:sp>
      <p:sp>
        <p:nvSpPr>
          <p:cNvPr id="13" name="TextBox 12"/>
          <p:cNvSpPr txBox="1"/>
          <p:nvPr/>
        </p:nvSpPr>
        <p:spPr>
          <a:xfrm>
            <a:off x="1115568" y="2423160"/>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Pass in this inspection: strict TypeScript check, no errors.</a:t>
            </a:r>
          </a:p>
        </p:txBody>
      </p:sp>
      <p:sp>
        <p:nvSpPr>
          <p:cNvPr id="14" name="Rounded Rectangle 13"/>
          <p:cNvSpPr/>
          <p:nvPr/>
        </p:nvSpPr>
        <p:spPr>
          <a:xfrm>
            <a:off x="566928" y="2724912"/>
            <a:ext cx="5623560" cy="50292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731520" y="2834640"/>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10B981"/>
                </a:solidFill>
                <a:latin typeface="Segoe UI"/>
              </a:rPr>
              <a:t>✓</a:t>
            </a:r>
          </a:p>
        </p:txBody>
      </p:sp>
      <p:sp>
        <p:nvSpPr>
          <p:cNvPr id="16" name="TextBox 15"/>
          <p:cNvSpPr txBox="1"/>
          <p:nvPr/>
        </p:nvSpPr>
        <p:spPr>
          <a:xfrm>
            <a:off x="1115568" y="2798064"/>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npm run lint</a:t>
            </a:r>
          </a:p>
        </p:txBody>
      </p:sp>
      <p:sp>
        <p:nvSpPr>
          <p:cNvPr id="17" name="TextBox 16"/>
          <p:cNvSpPr txBox="1"/>
          <p:nvPr/>
        </p:nvSpPr>
        <p:spPr>
          <a:xfrm>
            <a:off x="1115568" y="2990088"/>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Pass in this inspection: ESLint 9 + Next.js core-web-vitals / TypeScript rules.</a:t>
            </a:r>
          </a:p>
        </p:txBody>
      </p:sp>
      <p:sp>
        <p:nvSpPr>
          <p:cNvPr id="18" name="Rounded Rectangle 17"/>
          <p:cNvSpPr/>
          <p:nvPr/>
        </p:nvSpPr>
        <p:spPr>
          <a:xfrm>
            <a:off x="566928" y="3291840"/>
            <a:ext cx="5623560" cy="502920"/>
          </a:xfrm>
          <a:prstGeom prst="roundRect">
            <a:avLst>
              <a:gd name="adj" fmla="val 7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731520" y="3401568"/>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59E0B"/>
                </a:solidFill>
                <a:latin typeface="Segoe UI"/>
              </a:rPr>
              <a:t>!</a:t>
            </a:r>
          </a:p>
        </p:txBody>
      </p:sp>
      <p:sp>
        <p:nvSpPr>
          <p:cNvPr id="20" name="TextBox 19"/>
          <p:cNvSpPr txBox="1"/>
          <p:nvPr/>
        </p:nvSpPr>
        <p:spPr>
          <a:xfrm>
            <a:off x="1115568" y="3364992"/>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npm run build</a:t>
            </a:r>
          </a:p>
        </p:txBody>
      </p:sp>
      <p:sp>
        <p:nvSpPr>
          <p:cNvPr id="21" name="TextBox 20"/>
          <p:cNvSpPr txBox="1"/>
          <p:nvPr/>
        </p:nvSpPr>
        <p:spPr>
          <a:xfrm>
            <a:off x="1115568" y="3557016"/>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Attempted; blocked here when next/font could not fetch Google Fonts (network restriction).</a:t>
            </a:r>
          </a:p>
        </p:txBody>
      </p:sp>
      <p:sp>
        <p:nvSpPr>
          <p:cNvPr id="22" name="Rounded Rectangle 21"/>
          <p:cNvSpPr/>
          <p:nvPr/>
        </p:nvSpPr>
        <p:spPr>
          <a:xfrm>
            <a:off x="566928" y="3858768"/>
            <a:ext cx="5623560" cy="502920"/>
          </a:xfrm>
          <a:prstGeom prst="roundRect">
            <a:avLst>
              <a:gd name="adj" fmla="val 7000"/>
            </a:avLst>
          </a:prstGeom>
          <a:solidFill>
            <a:srgbClr val="FFE4E6"/>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731520" y="3968496"/>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E11D48"/>
                </a:solidFill>
                <a:latin typeface="Segoe UI"/>
              </a:rPr>
              <a:t>!</a:t>
            </a:r>
          </a:p>
        </p:txBody>
      </p:sp>
      <p:sp>
        <p:nvSpPr>
          <p:cNvPr id="24" name="TextBox 23"/>
          <p:cNvSpPr txBox="1"/>
          <p:nvPr/>
        </p:nvSpPr>
        <p:spPr>
          <a:xfrm>
            <a:off x="1115568" y="3931920"/>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Automated tests</a:t>
            </a:r>
          </a:p>
        </p:txBody>
      </p:sp>
      <p:sp>
        <p:nvSpPr>
          <p:cNvPr id="25" name="TextBox 24"/>
          <p:cNvSpPr txBox="1"/>
          <p:nvPr/>
        </p:nvSpPr>
        <p:spPr>
          <a:xfrm>
            <a:off x="1115568" y="4123944"/>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No unit, integration or end-to-end test files or runner config are committed.</a:t>
            </a:r>
          </a:p>
        </p:txBody>
      </p:sp>
      <p:sp>
        <p:nvSpPr>
          <p:cNvPr id="26" name="Rounded Rectangle 25"/>
          <p:cNvSpPr/>
          <p:nvPr/>
        </p:nvSpPr>
        <p:spPr>
          <a:xfrm>
            <a:off x="566928" y="4425696"/>
            <a:ext cx="5623560" cy="502920"/>
          </a:xfrm>
          <a:prstGeom prst="roundRect">
            <a:avLst>
              <a:gd name="adj" fmla="val 7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520" y="4535424"/>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59E0B"/>
                </a:solidFill>
                <a:latin typeface="Segoe UI"/>
              </a:rPr>
              <a:t>!</a:t>
            </a:r>
          </a:p>
        </p:txBody>
      </p:sp>
      <p:sp>
        <p:nvSpPr>
          <p:cNvPr id="28" name="TextBox 27"/>
          <p:cNvSpPr txBox="1"/>
          <p:nvPr/>
        </p:nvSpPr>
        <p:spPr>
          <a:xfrm>
            <a:off x="1115568" y="4498848"/>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Continuous integration</a:t>
            </a:r>
          </a:p>
        </p:txBody>
      </p:sp>
      <p:sp>
        <p:nvSpPr>
          <p:cNvPr id="29" name="TextBox 28"/>
          <p:cNvSpPr txBox="1"/>
          <p:nvPr/>
        </p:nvSpPr>
        <p:spPr>
          <a:xfrm>
            <a:off x="1115568" y="4690872"/>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No GitHub Actions or other CI workflow is present in the repository.</a:t>
            </a:r>
          </a:p>
        </p:txBody>
      </p:sp>
      <p:sp>
        <p:nvSpPr>
          <p:cNvPr id="30" name="Rounded Rectangle 29"/>
          <p:cNvSpPr/>
          <p:nvPr/>
        </p:nvSpPr>
        <p:spPr>
          <a:xfrm>
            <a:off x="566928" y="5038344"/>
            <a:ext cx="5623560" cy="576072"/>
          </a:xfrm>
          <a:prstGeom prst="roundRect">
            <a:avLst>
              <a:gd name="adj" fmla="val 6000"/>
            </a:avLst>
          </a:prstGeom>
          <a:solidFill>
            <a:srgbClr val="FFE4E6"/>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2960" y="5184648"/>
            <a:ext cx="5111496" cy="283464"/>
          </a:xfrm>
          <a:prstGeom prst="rect">
            <a:avLst/>
          </a:prstGeom>
          <a:noFill/>
        </p:spPr>
        <p:txBody>
          <a:bodyPr wrap="square" lIns="0" rIns="0" tIns="0" bIns="0" anchor="ctr">
            <a:spAutoFit/>
          </a:bodyPr>
          <a:lstStyle/>
          <a:p>
            <a:pPr algn="l">
              <a:lnSpc>
                <a:spcPct val="120000"/>
              </a:lnSpc>
            </a:pPr>
            <a:r>
              <a:rPr sz="930" b="1" i="0">
                <a:solidFill>
                  <a:srgbClr val="E11D48"/>
                </a:solidFill>
                <a:latin typeface="Segoe UI"/>
              </a:rPr>
              <a:t>Testing status:  </a:t>
            </a:r>
            <a:r>
              <a:rPr sz="930" b="0" i="0">
                <a:solidFill>
                  <a:srgbClr val="334155"/>
                </a:solidFill>
                <a:latin typeface="Segoe UI"/>
              </a:rPr>
              <a:t>The only checks completed for this deck were TypeScript and ESLint. We do not claim runtime or role-by-role tests. The production build could not finish in this network-restricted sandbox.</a:t>
            </a:r>
          </a:p>
        </p:txBody>
      </p:sp>
      <p:sp>
        <p:nvSpPr>
          <p:cNvPr id="32" name="Rounded Rectangle 31"/>
          <p:cNvSpPr/>
          <p:nvPr/>
        </p:nvSpPr>
        <p:spPr>
          <a:xfrm>
            <a:off x="646480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92824" y="1847088"/>
            <a:ext cx="503194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DEPLOYMENT CONFIGURATION</a:t>
            </a:r>
          </a:p>
        </p:txBody>
      </p:sp>
      <p:sp>
        <p:nvSpPr>
          <p:cNvPr id="34" name="Rounded Rectangle 33"/>
          <p:cNvSpPr/>
          <p:nvPr/>
        </p:nvSpPr>
        <p:spPr>
          <a:xfrm>
            <a:off x="6464808" y="2157984"/>
            <a:ext cx="5159959" cy="56692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464808" y="2249424"/>
            <a:ext cx="41148" cy="384048"/>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65976" y="2249424"/>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Vercel — zero configuration</a:t>
            </a:r>
          </a:p>
        </p:txBody>
      </p:sp>
      <p:sp>
        <p:nvSpPr>
          <p:cNvPr id="37" name="TextBox 36"/>
          <p:cNvSpPr txBox="1"/>
          <p:nvPr/>
        </p:nvSpPr>
        <p:spPr>
          <a:xfrm>
            <a:off x="6665976" y="2487168"/>
            <a:ext cx="4830775" cy="182880"/>
          </a:xfrm>
          <a:prstGeom prst="rect">
            <a:avLst/>
          </a:prstGeom>
          <a:noFill/>
        </p:spPr>
        <p:txBody>
          <a:bodyPr wrap="square" lIns="0" rIns="0" tIns="0" bIns="0" anchor="t">
            <a:spAutoFit/>
          </a:bodyPr>
          <a:lstStyle/>
          <a:p>
            <a:pPr algn="l">
              <a:lnSpc>
                <a:spcPct val="116000"/>
              </a:lnSpc>
              <a:spcBef>
                <a:spcPts val="0"/>
              </a:spcBef>
              <a:spcAft>
                <a:spcPts val="0"/>
              </a:spcAft>
            </a:pPr>
            <a:r>
              <a:rPr sz="930" b="0" i="0">
                <a:solidFill>
                  <a:srgbClr val="475569"/>
                </a:solidFill>
                <a:latin typeface="Segoe UI"/>
              </a:rPr>
              <a:t>Vercel detects Next.js, runs next build and publishes /api routes as Node functions.</a:t>
            </a:r>
          </a:p>
        </p:txBody>
      </p:sp>
      <p:sp>
        <p:nvSpPr>
          <p:cNvPr id="38" name="Rounded Rectangle 37"/>
          <p:cNvSpPr/>
          <p:nvPr/>
        </p:nvSpPr>
        <p:spPr>
          <a:xfrm>
            <a:off x="6464808" y="2798064"/>
            <a:ext cx="5159959" cy="56692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6464808" y="2889504"/>
            <a:ext cx="41148" cy="38404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65976" y="2889504"/>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Runtime pinning</a:t>
            </a:r>
          </a:p>
        </p:txBody>
      </p:sp>
      <p:sp>
        <p:nvSpPr>
          <p:cNvPr id="41" name="TextBox 40"/>
          <p:cNvSpPr txBox="1"/>
          <p:nvPr/>
        </p:nvSpPr>
        <p:spPr>
          <a:xfrm>
            <a:off x="6665976" y="3127248"/>
            <a:ext cx="4830775" cy="182880"/>
          </a:xfrm>
          <a:prstGeom prst="rect">
            <a:avLst/>
          </a:prstGeom>
          <a:noFill/>
        </p:spPr>
        <p:txBody>
          <a:bodyPr wrap="square" lIns="0" rIns="0" tIns="0" bIns="0" anchor="t">
            <a:spAutoFit/>
          </a:bodyPr>
          <a:lstStyle/>
          <a:p>
            <a:pPr algn="l">
              <a:lnSpc>
                <a:spcPct val="116000"/>
              </a:lnSpc>
              <a:spcBef>
                <a:spcPts val="0"/>
              </a:spcBef>
              <a:spcAft>
                <a:spcPts val="0"/>
              </a:spcAft>
            </a:pPr>
            <a:r>
              <a:rPr sz="930" b="0" i="0">
                <a:solidFill>
                  <a:srgbClr val="475569"/>
                </a:solidFill>
                <a:latin typeface="Segoe UI"/>
              </a:rPr>
              <a:t>runtime = nodejs for route handlers using bcryptjs and jsonwebtoken.</a:t>
            </a:r>
          </a:p>
        </p:txBody>
      </p:sp>
      <p:sp>
        <p:nvSpPr>
          <p:cNvPr id="42" name="Rounded Rectangle 41"/>
          <p:cNvSpPr/>
          <p:nvPr/>
        </p:nvSpPr>
        <p:spPr>
          <a:xfrm>
            <a:off x="6464808" y="3438144"/>
            <a:ext cx="5159959" cy="77724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ounded Rectangle 42"/>
          <p:cNvSpPr/>
          <p:nvPr/>
        </p:nvSpPr>
        <p:spPr>
          <a:xfrm>
            <a:off x="6464808" y="3529584"/>
            <a:ext cx="41148" cy="594359"/>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665976" y="3529584"/>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Environment variables (3 required)</a:t>
            </a:r>
          </a:p>
        </p:txBody>
      </p:sp>
      <p:sp>
        <p:nvSpPr>
          <p:cNvPr id="45" name="TextBox 44"/>
          <p:cNvSpPr txBox="1"/>
          <p:nvPr/>
        </p:nvSpPr>
        <p:spPr>
          <a:xfrm>
            <a:off x="6665976" y="3767328"/>
            <a:ext cx="4830775" cy="393192"/>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475569"/>
                </a:solidFill>
                <a:latin typeface="Segoe UI"/>
              </a:rPr>
              <a:t>DATABASE_URL — pooled Neon connection string
JWT_SECRET — secret used to sign every token
NEXT_PUBLIC_APP_URL — public base URL of the deployment</a:t>
            </a:r>
          </a:p>
        </p:txBody>
      </p:sp>
      <p:sp>
        <p:nvSpPr>
          <p:cNvPr id="46" name="Rounded Rectangle 45"/>
          <p:cNvSpPr/>
          <p:nvPr/>
        </p:nvSpPr>
        <p:spPr>
          <a:xfrm>
            <a:off x="6464808" y="4224528"/>
            <a:ext cx="5159959" cy="694944"/>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6464808" y="4315968"/>
            <a:ext cx="41148" cy="51206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665976" y="4315968"/>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Operational checks in code</a:t>
            </a:r>
          </a:p>
        </p:txBody>
      </p:sp>
      <p:sp>
        <p:nvSpPr>
          <p:cNvPr id="49" name="TextBox 48"/>
          <p:cNvSpPr txBox="1"/>
          <p:nvPr/>
        </p:nvSpPr>
        <p:spPr>
          <a:xfrm>
            <a:off x="6665976" y="4553712"/>
            <a:ext cx="4830775" cy="310896"/>
          </a:xfrm>
          <a:prstGeom prst="rect">
            <a:avLst/>
          </a:prstGeom>
          <a:noFill/>
        </p:spPr>
        <p:txBody>
          <a:bodyPr wrap="square" lIns="0" rIns="0" tIns="0" bIns="0" anchor="t">
            <a:spAutoFit/>
          </a:bodyPr>
          <a:lstStyle/>
          <a:p>
            <a:pPr algn="l">
              <a:lnSpc>
                <a:spcPct val="116000"/>
              </a:lnSpc>
              <a:spcBef>
                <a:spcPts val="0"/>
              </a:spcBef>
              <a:spcAft>
                <a:spcPts val="0"/>
              </a:spcAft>
            </a:pPr>
            <a:r>
              <a:rPr sz="910" b="0" i="0">
                <a:solidFill>
                  <a:srgbClr val="475569"/>
                </a:solidFill>
                <a:latin typeface="Segoe UI"/>
              </a:rPr>
              <a:t>hasDatabase guard · force-dynamic homepage + /api/tutors · 503 when the DB is missing · no vercel.json needed.</a:t>
            </a:r>
          </a:p>
        </p:txBody>
      </p:sp>
      <p:sp>
        <p:nvSpPr>
          <p:cNvPr id="50" name="Rounded Rectangle 49"/>
          <p:cNvSpPr/>
          <p:nvPr/>
        </p:nvSpPr>
        <p:spPr>
          <a:xfrm>
            <a:off x="6464808" y="4969764"/>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592824" y="4937760"/>
            <a:ext cx="503194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GENUINE CHALLENGES WE HIT</a:t>
            </a:r>
          </a:p>
        </p:txBody>
      </p:sp>
      <p:sp>
        <p:nvSpPr>
          <p:cNvPr id="52" name="Rounded Rectangle 51"/>
          <p:cNvSpPr/>
          <p:nvPr/>
        </p:nvSpPr>
        <p:spPr>
          <a:xfrm>
            <a:off x="6464808" y="5289804"/>
            <a:ext cx="34747" cy="2438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702552" y="5248656"/>
            <a:ext cx="4922215" cy="335280"/>
          </a:xfrm>
          <a:prstGeom prst="rect">
            <a:avLst/>
          </a:prstGeom>
          <a:noFill/>
        </p:spPr>
        <p:txBody>
          <a:bodyPr wrap="square" lIns="0" rIns="0" tIns="0" bIns="0" anchor="t">
            <a:spAutoFit/>
          </a:bodyPr>
          <a:lstStyle/>
          <a:p>
            <a:pPr algn="l">
              <a:lnSpc>
                <a:spcPct val="120000"/>
              </a:lnSpc>
            </a:pPr>
            <a:r>
              <a:rPr sz="950" b="1" i="0">
                <a:solidFill>
                  <a:srgbClr val="0F172A"/>
                </a:solidFill>
                <a:latin typeface="Segoe UI"/>
              </a:rPr>
              <a:t>Route protection</a:t>
            </a:r>
            <a:r>
              <a:rPr sz="950" b="0" i="0">
                <a:solidFill>
                  <a:srgbClr val="475569"/>
                </a:solidFill>
                <a:latin typeface="Segoe UI"/>
              </a:rPr>
              <a:t>  the dashboards are guarded client-side; the README states Next.js middleware is still required for production.</a:t>
            </a:r>
          </a:p>
        </p:txBody>
      </p:sp>
      <p:sp>
        <p:nvSpPr>
          <p:cNvPr id="54" name="Rounded Rectangle 53"/>
          <p:cNvSpPr/>
          <p:nvPr/>
        </p:nvSpPr>
        <p:spPr>
          <a:xfrm>
            <a:off x="6464808" y="5670804"/>
            <a:ext cx="34747" cy="2438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702552" y="5629656"/>
            <a:ext cx="4922215" cy="335280"/>
          </a:xfrm>
          <a:prstGeom prst="rect">
            <a:avLst/>
          </a:prstGeom>
          <a:noFill/>
        </p:spPr>
        <p:txBody>
          <a:bodyPr wrap="square" lIns="0" rIns="0" tIns="0" bIns="0" anchor="t">
            <a:spAutoFit/>
          </a:bodyPr>
          <a:lstStyle/>
          <a:p>
            <a:pPr algn="l">
              <a:lnSpc>
                <a:spcPct val="120000"/>
              </a:lnSpc>
            </a:pPr>
            <a:r>
              <a:rPr sz="950" b="1" i="0">
                <a:solidFill>
                  <a:srgbClr val="0F172A"/>
                </a:solidFill>
                <a:latin typeface="Segoe UI"/>
              </a:rPr>
              <a:t>Cold starts</a:t>
            </a:r>
            <a:r>
              <a:rPr sz="950" b="0" i="0">
                <a:solidFill>
                  <a:srgbClr val="475569"/>
                </a:solidFill>
                <a:latin typeface="Segoe UI"/>
              </a:rPr>
              <a:t>  without DATABASE_URL, auth and chat fall back to an in-memory store that resets on redeploy.</a:t>
            </a:r>
          </a:p>
        </p:txBody>
      </p:sp>
      <p:sp>
        <p:nvSpPr>
          <p:cNvPr id="56" name="Rounded Rectangle 55"/>
          <p:cNvSpPr/>
          <p:nvPr/>
        </p:nvSpPr>
        <p:spPr>
          <a:xfrm>
            <a:off x="6464808" y="6051804"/>
            <a:ext cx="34747" cy="2438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702552" y="6010656"/>
            <a:ext cx="4922215" cy="335280"/>
          </a:xfrm>
          <a:prstGeom prst="rect">
            <a:avLst/>
          </a:prstGeom>
          <a:noFill/>
        </p:spPr>
        <p:txBody>
          <a:bodyPr wrap="square" lIns="0" rIns="0" tIns="0" bIns="0" anchor="t">
            <a:spAutoFit/>
          </a:bodyPr>
          <a:lstStyle/>
          <a:p>
            <a:pPr algn="l">
              <a:lnSpc>
                <a:spcPct val="120000"/>
              </a:lnSpc>
            </a:pPr>
            <a:r>
              <a:rPr sz="950" b="1" i="0">
                <a:solidFill>
                  <a:srgbClr val="0F172A"/>
                </a:solidFill>
                <a:latin typeface="Segoe UI"/>
              </a:rPr>
              <a:t>Build-time fonts</a:t>
            </a:r>
            <a:r>
              <a:rPr sz="950" b="0" i="0">
                <a:solidFill>
                  <a:srgbClr val="475569"/>
                </a:solidFill>
                <a:latin typeface="Segoe UI"/>
              </a:rPr>
              <a:t>  next/font fetches from fonts.googleapis.com, so a network-restricted build environment fails early.</a:t>
            </a:r>
          </a:p>
        </p:txBody>
      </p:sp>
      <p:cxnSp>
        <p:nvCxnSpPr>
          <p:cNvPr id="58" name="Connector 57"/>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60" name="TextBox 59"/>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OUR TEAM</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Four people, four owned areas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One shared repository and one shared Next.js codebase — these are areas of ownership, not separate projects.</a:t>
            </a:r>
          </a:p>
        </p:txBody>
      </p:sp>
      <p:sp>
        <p:nvSpPr>
          <p:cNvPr id="7" name="Rounded Rectangle 6"/>
          <p:cNvSpPr/>
          <p:nvPr/>
        </p:nvSpPr>
        <p:spPr>
          <a:xfrm>
            <a:off x="566928" y="1847088"/>
            <a:ext cx="2651760" cy="38587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47088"/>
            <a:ext cx="2651760" cy="5486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86384" y="2084832"/>
            <a:ext cx="658368" cy="658368"/>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FFFFFF"/>
                </a:solidFill>
                <a:latin typeface="Segoe UI Semibold"/>
              </a:rPr>
              <a:t>HU</a:t>
            </a:r>
          </a:p>
        </p:txBody>
      </p:sp>
      <p:sp>
        <p:nvSpPr>
          <p:cNvPr id="10" name="TextBox 9"/>
          <p:cNvSpPr txBox="1"/>
          <p:nvPr/>
        </p:nvSpPr>
        <p:spPr>
          <a:xfrm>
            <a:off x="786384" y="2871216"/>
            <a:ext cx="2212848" cy="457200"/>
          </a:xfrm>
          <a:prstGeom prst="rect">
            <a:avLst/>
          </a:prstGeom>
          <a:noFill/>
        </p:spPr>
        <p:txBody>
          <a:bodyPr wrap="square" lIns="0" rIns="0" tIns="0" bIns="0" anchor="t">
            <a:spAutoFit/>
          </a:bodyPr>
          <a:lstStyle/>
          <a:p>
            <a:pPr algn="l">
              <a:lnSpc>
                <a:spcPct val="106000"/>
              </a:lnSpc>
              <a:spcBef>
                <a:spcPts val="0"/>
              </a:spcBef>
              <a:spcAft>
                <a:spcPts val="0"/>
              </a:spcAft>
            </a:pPr>
            <a:r>
              <a:rPr sz="1200" b="1" i="0">
                <a:solidFill>
                  <a:srgbClr val="0F172A"/>
                </a:solidFill>
                <a:latin typeface="Segoe UI Semibold"/>
              </a:rPr>
              <a:t>Hephzibah Uchechukwu</a:t>
            </a:r>
          </a:p>
        </p:txBody>
      </p:sp>
      <p:sp>
        <p:nvSpPr>
          <p:cNvPr id="11" name="Rounded Rectangle 10"/>
          <p:cNvSpPr/>
          <p:nvPr/>
        </p:nvSpPr>
        <p:spPr>
          <a:xfrm>
            <a:off x="786384" y="3364992"/>
            <a:ext cx="1700784"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850" b="1" i="0">
                <a:solidFill>
                  <a:srgbClr val="1E3A8A"/>
                </a:solidFill>
                <a:latin typeface="Segoe UI"/>
              </a:rPr>
              <a:t>TEAM LEADER</a:t>
            </a:r>
          </a:p>
        </p:txBody>
      </p:sp>
      <p:sp>
        <p:nvSpPr>
          <p:cNvPr id="12" name="Rounded Rectangle 11"/>
          <p:cNvSpPr/>
          <p:nvPr/>
        </p:nvSpPr>
        <p:spPr>
          <a:xfrm>
            <a:off x="804672" y="3813048"/>
            <a:ext cx="82296" cy="82296"/>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767328"/>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Frontend development &amp; user interface</a:t>
            </a:r>
          </a:p>
        </p:txBody>
      </p:sp>
      <p:sp>
        <p:nvSpPr>
          <p:cNvPr id="14" name="Rounded Rectangle 13"/>
          <p:cNvSpPr/>
          <p:nvPr/>
        </p:nvSpPr>
        <p:spPr>
          <a:xfrm>
            <a:off x="804672" y="3992422"/>
            <a:ext cx="82296" cy="82296"/>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946702"/>
            <a:ext cx="1975104" cy="249021"/>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Smart Tutor Matching and tutor discovery</a:t>
            </a:r>
          </a:p>
        </p:txBody>
      </p:sp>
      <p:sp>
        <p:nvSpPr>
          <p:cNvPr id="16" name="Rounded Rectangle 15"/>
          <p:cNvSpPr/>
          <p:nvPr/>
        </p:nvSpPr>
        <p:spPr>
          <a:xfrm>
            <a:off x="804672" y="4296308"/>
            <a:ext cx="82296" cy="82296"/>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4250588"/>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Revenue model</a:t>
            </a:r>
          </a:p>
        </p:txBody>
      </p:sp>
      <p:sp>
        <p:nvSpPr>
          <p:cNvPr id="18" name="Rounded Rectangle 17"/>
          <p:cNvSpPr/>
          <p:nvPr/>
        </p:nvSpPr>
        <p:spPr>
          <a:xfrm>
            <a:off x="804672" y="4475683"/>
            <a:ext cx="82296" cy="82296"/>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05840" y="4429963"/>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Conclusion and closing remarks</a:t>
            </a:r>
          </a:p>
        </p:txBody>
      </p:sp>
      <p:cxnSp>
        <p:nvCxnSpPr>
          <p:cNvPr id="20" name="Connector 19"/>
          <p:cNvCxnSpPr/>
          <p:nvPr/>
        </p:nvCxnSpPr>
        <p:spPr>
          <a:xfrm>
            <a:off x="786384" y="4791456"/>
            <a:ext cx="221284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86384" y="4901184"/>
            <a:ext cx="2212848" cy="694944"/>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64748B"/>
                </a:solidFill>
                <a:latin typeface="Segoe UI"/>
              </a:rPr>
              <a:t>Opens the presentation and presents slides 2–7, 10 and 13–15.</a:t>
            </a:r>
          </a:p>
        </p:txBody>
      </p:sp>
      <p:sp>
        <p:nvSpPr>
          <p:cNvPr id="22" name="Rounded Rectangle 21"/>
          <p:cNvSpPr/>
          <p:nvPr/>
        </p:nvSpPr>
        <p:spPr>
          <a:xfrm>
            <a:off x="3392424" y="1847088"/>
            <a:ext cx="2651760" cy="38587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92424" y="1847088"/>
            <a:ext cx="2651760" cy="5486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3611880" y="2084832"/>
            <a:ext cx="658368" cy="6583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FFFFFF"/>
                </a:solidFill>
                <a:latin typeface="Segoe UI Semibold"/>
              </a:rPr>
              <a:t>CE</a:t>
            </a:r>
          </a:p>
        </p:txBody>
      </p:sp>
      <p:sp>
        <p:nvSpPr>
          <p:cNvPr id="25" name="TextBox 24"/>
          <p:cNvSpPr txBox="1"/>
          <p:nvPr/>
        </p:nvSpPr>
        <p:spPr>
          <a:xfrm>
            <a:off x="3611880" y="2871216"/>
            <a:ext cx="2212848" cy="457200"/>
          </a:xfrm>
          <a:prstGeom prst="rect">
            <a:avLst/>
          </a:prstGeom>
          <a:noFill/>
        </p:spPr>
        <p:txBody>
          <a:bodyPr wrap="square" lIns="0" rIns="0" tIns="0" bIns="0" anchor="t">
            <a:spAutoFit/>
          </a:bodyPr>
          <a:lstStyle/>
          <a:p>
            <a:pPr algn="l">
              <a:lnSpc>
                <a:spcPct val="106000"/>
              </a:lnSpc>
              <a:spcBef>
                <a:spcPts val="0"/>
              </a:spcBef>
              <a:spcAft>
                <a:spcPts val="0"/>
              </a:spcAft>
            </a:pPr>
            <a:r>
              <a:rPr sz="1200" b="1" i="0">
                <a:solidFill>
                  <a:srgbClr val="0F172A"/>
                </a:solidFill>
                <a:latin typeface="Segoe UI Semibold"/>
              </a:rPr>
              <a:t>Chioma Helen Ezeufonna</a:t>
            </a:r>
          </a:p>
        </p:txBody>
      </p:sp>
      <p:sp>
        <p:nvSpPr>
          <p:cNvPr id="26" name="Rounded Rectangle 25"/>
          <p:cNvSpPr/>
          <p:nvPr/>
        </p:nvSpPr>
        <p:spPr>
          <a:xfrm>
            <a:off x="3611880" y="3364992"/>
            <a:ext cx="1700784"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850" b="1" i="0">
                <a:solidFill>
                  <a:srgbClr val="1E3A8A"/>
                </a:solidFill>
                <a:latin typeface="Segoe UI"/>
              </a:rPr>
              <a:t>BACKEND DEVELOPER</a:t>
            </a:r>
          </a:p>
        </p:txBody>
      </p:sp>
      <p:sp>
        <p:nvSpPr>
          <p:cNvPr id="27" name="Rounded Rectangle 26"/>
          <p:cNvSpPr/>
          <p:nvPr/>
        </p:nvSpPr>
        <p:spPr>
          <a:xfrm>
            <a:off x="3630168" y="3813048"/>
            <a:ext cx="82296" cy="8229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831335" y="3767328"/>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Backend development</a:t>
            </a:r>
          </a:p>
        </p:txBody>
      </p:sp>
      <p:sp>
        <p:nvSpPr>
          <p:cNvPr id="29" name="Rounded Rectangle 28"/>
          <p:cNvSpPr/>
          <p:nvPr/>
        </p:nvSpPr>
        <p:spPr>
          <a:xfrm>
            <a:off x="3630168" y="3992422"/>
            <a:ext cx="82296" cy="8229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831335" y="3946702"/>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API routes and request handling</a:t>
            </a:r>
          </a:p>
        </p:txBody>
      </p:sp>
      <p:sp>
        <p:nvSpPr>
          <p:cNvPr id="31" name="Rounded Rectangle 30"/>
          <p:cNvSpPr/>
          <p:nvPr/>
        </p:nvSpPr>
        <p:spPr>
          <a:xfrm>
            <a:off x="3630168" y="4171797"/>
            <a:ext cx="82296" cy="8229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31335" y="4126077"/>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Server-side functionality</a:t>
            </a:r>
          </a:p>
        </p:txBody>
      </p:sp>
      <p:sp>
        <p:nvSpPr>
          <p:cNvPr id="33" name="Rounded Rectangle 32"/>
          <p:cNvSpPr/>
          <p:nvPr/>
        </p:nvSpPr>
        <p:spPr>
          <a:xfrm>
            <a:off x="3630168" y="4351172"/>
            <a:ext cx="82296" cy="8229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831335" y="4305452"/>
            <a:ext cx="1975104" cy="249021"/>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Authentication and role-based authorisation</a:t>
            </a:r>
          </a:p>
        </p:txBody>
      </p:sp>
      <p:cxnSp>
        <p:nvCxnSpPr>
          <p:cNvPr id="35" name="Connector 34"/>
          <p:cNvCxnSpPr/>
          <p:nvPr/>
        </p:nvCxnSpPr>
        <p:spPr>
          <a:xfrm>
            <a:off x="3611880" y="4791456"/>
            <a:ext cx="2212847"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611880" y="4901184"/>
            <a:ext cx="2212848" cy="694944"/>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64748B"/>
                </a:solidFill>
                <a:latin typeface="Segoe UI"/>
              </a:rPr>
              <a:t>Presents slide 8 — the API architecture and security model.</a:t>
            </a:r>
          </a:p>
        </p:txBody>
      </p:sp>
      <p:sp>
        <p:nvSpPr>
          <p:cNvPr id="37" name="Rounded Rectangle 36"/>
          <p:cNvSpPr/>
          <p:nvPr/>
        </p:nvSpPr>
        <p:spPr>
          <a:xfrm>
            <a:off x="6217920" y="1847088"/>
            <a:ext cx="2651760" cy="38587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6217920" y="1847088"/>
            <a:ext cx="2651760" cy="54864"/>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6437376" y="2084832"/>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FFFFFF"/>
                </a:solidFill>
                <a:latin typeface="Segoe UI Semibold"/>
              </a:rPr>
              <a:t>UM</a:t>
            </a:r>
          </a:p>
        </p:txBody>
      </p:sp>
      <p:sp>
        <p:nvSpPr>
          <p:cNvPr id="40" name="TextBox 39"/>
          <p:cNvSpPr txBox="1"/>
          <p:nvPr/>
        </p:nvSpPr>
        <p:spPr>
          <a:xfrm>
            <a:off x="6437376" y="2871216"/>
            <a:ext cx="2212848" cy="457200"/>
          </a:xfrm>
          <a:prstGeom prst="rect">
            <a:avLst/>
          </a:prstGeom>
          <a:noFill/>
        </p:spPr>
        <p:txBody>
          <a:bodyPr wrap="square" lIns="0" rIns="0" tIns="0" bIns="0" anchor="t">
            <a:spAutoFit/>
          </a:bodyPr>
          <a:lstStyle/>
          <a:p>
            <a:pPr algn="l">
              <a:lnSpc>
                <a:spcPct val="106000"/>
              </a:lnSpc>
              <a:spcBef>
                <a:spcPts val="0"/>
              </a:spcBef>
              <a:spcAft>
                <a:spcPts val="0"/>
              </a:spcAft>
            </a:pPr>
            <a:r>
              <a:rPr sz="1040" b="1" i="0">
                <a:solidFill>
                  <a:srgbClr val="0F172A"/>
                </a:solidFill>
                <a:latin typeface="Segoe UI Semibold"/>
              </a:rPr>
              <a:t>Uzochukwu Mary Cynthia Enyemakachukwu</a:t>
            </a:r>
          </a:p>
        </p:txBody>
      </p:sp>
      <p:sp>
        <p:nvSpPr>
          <p:cNvPr id="41" name="Rounded Rectangle 40"/>
          <p:cNvSpPr/>
          <p:nvPr/>
        </p:nvSpPr>
        <p:spPr>
          <a:xfrm>
            <a:off x="6437376" y="3364992"/>
            <a:ext cx="1700784"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850" b="1" i="0">
                <a:solidFill>
                  <a:srgbClr val="1E3A8A"/>
                </a:solidFill>
                <a:latin typeface="Segoe UI"/>
              </a:rPr>
              <a:t>DATABASE DESIGNER</a:t>
            </a:r>
          </a:p>
        </p:txBody>
      </p:sp>
      <p:sp>
        <p:nvSpPr>
          <p:cNvPr id="42" name="Rounded Rectangle 41"/>
          <p:cNvSpPr/>
          <p:nvPr/>
        </p:nvSpPr>
        <p:spPr>
          <a:xfrm>
            <a:off x="6455664" y="3813048"/>
            <a:ext cx="82296" cy="82296"/>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656831" y="3767328"/>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Database design and schema</a:t>
            </a:r>
          </a:p>
        </p:txBody>
      </p:sp>
      <p:sp>
        <p:nvSpPr>
          <p:cNvPr id="44" name="Rounded Rectangle 43"/>
          <p:cNvSpPr/>
          <p:nvPr/>
        </p:nvSpPr>
        <p:spPr>
          <a:xfrm>
            <a:off x="6455664" y="3992422"/>
            <a:ext cx="82296" cy="82296"/>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56831" y="3946702"/>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Data management</a:t>
            </a:r>
          </a:p>
        </p:txBody>
      </p:sp>
      <p:sp>
        <p:nvSpPr>
          <p:cNvPr id="46" name="Rounded Rectangle 45"/>
          <p:cNvSpPr/>
          <p:nvPr/>
        </p:nvSpPr>
        <p:spPr>
          <a:xfrm>
            <a:off x="6455664" y="4171797"/>
            <a:ext cx="82296" cy="82296"/>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56831" y="4126077"/>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Database structure and relationships</a:t>
            </a:r>
          </a:p>
        </p:txBody>
      </p:sp>
      <p:sp>
        <p:nvSpPr>
          <p:cNvPr id="48" name="Rounded Rectangle 47"/>
          <p:cNvSpPr/>
          <p:nvPr/>
        </p:nvSpPr>
        <p:spPr>
          <a:xfrm>
            <a:off x="6455664" y="4351172"/>
            <a:ext cx="82296" cy="82296"/>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656831" y="4305452"/>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Database-related implementation</a:t>
            </a:r>
          </a:p>
        </p:txBody>
      </p:sp>
      <p:cxnSp>
        <p:nvCxnSpPr>
          <p:cNvPr id="50" name="Connector 49"/>
          <p:cNvCxnSpPr/>
          <p:nvPr/>
        </p:nvCxnSpPr>
        <p:spPr>
          <a:xfrm>
            <a:off x="6437376" y="4791456"/>
            <a:ext cx="2212848"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437376" y="4901184"/>
            <a:ext cx="2212848" cy="694944"/>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64748B"/>
                </a:solidFill>
                <a:latin typeface="Segoe UI"/>
              </a:rPr>
              <a:t>Presents slide 9 — the schema, triggers and data flow.</a:t>
            </a:r>
          </a:p>
        </p:txBody>
      </p:sp>
      <p:sp>
        <p:nvSpPr>
          <p:cNvPr id="52" name="Rounded Rectangle 51"/>
          <p:cNvSpPr/>
          <p:nvPr/>
        </p:nvSpPr>
        <p:spPr>
          <a:xfrm>
            <a:off x="9043415" y="1847088"/>
            <a:ext cx="2651760" cy="38587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ounded Rectangle 52"/>
          <p:cNvSpPr/>
          <p:nvPr/>
        </p:nvSpPr>
        <p:spPr>
          <a:xfrm>
            <a:off x="9043415" y="1847088"/>
            <a:ext cx="2651760" cy="54864"/>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9262872" y="2084832"/>
            <a:ext cx="658368" cy="65836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FFFFFF"/>
                </a:solidFill>
                <a:latin typeface="Segoe UI Semibold"/>
              </a:rPr>
              <a:t>BP</a:t>
            </a:r>
          </a:p>
        </p:txBody>
      </p:sp>
      <p:sp>
        <p:nvSpPr>
          <p:cNvPr id="55" name="TextBox 54"/>
          <p:cNvSpPr txBox="1"/>
          <p:nvPr/>
        </p:nvSpPr>
        <p:spPr>
          <a:xfrm>
            <a:off x="9262872" y="2871216"/>
            <a:ext cx="2212848" cy="457200"/>
          </a:xfrm>
          <a:prstGeom prst="rect">
            <a:avLst/>
          </a:prstGeom>
          <a:noFill/>
        </p:spPr>
        <p:txBody>
          <a:bodyPr wrap="square" lIns="0" rIns="0" tIns="0" bIns="0" anchor="t">
            <a:spAutoFit/>
          </a:bodyPr>
          <a:lstStyle/>
          <a:p>
            <a:pPr algn="l">
              <a:lnSpc>
                <a:spcPct val="106000"/>
              </a:lnSpc>
              <a:spcBef>
                <a:spcPts val="0"/>
              </a:spcBef>
              <a:spcAft>
                <a:spcPts val="0"/>
              </a:spcAft>
            </a:pPr>
            <a:r>
              <a:rPr sz="1200" b="1" i="0">
                <a:solidFill>
                  <a:srgbClr val="0F172A"/>
                </a:solidFill>
                <a:latin typeface="Segoe UI Semibold"/>
              </a:rPr>
              <a:t>Bodman Ebuka Precious</a:t>
            </a:r>
          </a:p>
        </p:txBody>
      </p:sp>
      <p:sp>
        <p:nvSpPr>
          <p:cNvPr id="56" name="Rounded Rectangle 55"/>
          <p:cNvSpPr/>
          <p:nvPr/>
        </p:nvSpPr>
        <p:spPr>
          <a:xfrm>
            <a:off x="9262872" y="3364992"/>
            <a:ext cx="1700784"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850" b="1" i="0">
                <a:solidFill>
                  <a:srgbClr val="1E3A8A"/>
                </a:solidFill>
                <a:latin typeface="Segoe UI"/>
              </a:rPr>
              <a:t>DEPLOYMENT &amp; QA</a:t>
            </a:r>
          </a:p>
        </p:txBody>
      </p:sp>
      <p:sp>
        <p:nvSpPr>
          <p:cNvPr id="57" name="Rounded Rectangle 56"/>
          <p:cNvSpPr/>
          <p:nvPr/>
        </p:nvSpPr>
        <p:spPr>
          <a:xfrm>
            <a:off x="9281159" y="3813048"/>
            <a:ext cx="82296" cy="8229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9482328" y="3767328"/>
            <a:ext cx="1975104" cy="249021"/>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Deployment and deployment configuration</a:t>
            </a:r>
          </a:p>
        </p:txBody>
      </p:sp>
      <p:sp>
        <p:nvSpPr>
          <p:cNvPr id="59" name="Rounded Rectangle 58"/>
          <p:cNvSpPr/>
          <p:nvPr/>
        </p:nvSpPr>
        <p:spPr>
          <a:xfrm>
            <a:off x="9281159" y="4116933"/>
            <a:ext cx="82296" cy="8229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9482328" y="4071213"/>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System inspection</a:t>
            </a:r>
          </a:p>
        </p:txBody>
      </p:sp>
      <p:sp>
        <p:nvSpPr>
          <p:cNvPr id="61" name="Rounded Rectangle 60"/>
          <p:cNvSpPr/>
          <p:nvPr/>
        </p:nvSpPr>
        <p:spPr>
          <a:xfrm>
            <a:off x="9281159" y="4296308"/>
            <a:ext cx="82296" cy="8229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9482328" y="4250588"/>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Testing and quality assurance</a:t>
            </a:r>
          </a:p>
        </p:txBody>
      </p:sp>
      <p:sp>
        <p:nvSpPr>
          <p:cNvPr id="63" name="Rounded Rectangle 62"/>
          <p:cNvSpPr/>
          <p:nvPr/>
        </p:nvSpPr>
        <p:spPr>
          <a:xfrm>
            <a:off x="9281159" y="4475683"/>
            <a:ext cx="82296" cy="8229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9482328" y="4429963"/>
            <a:ext cx="1975104" cy="124510"/>
          </a:xfrm>
          <a:prstGeom prst="rect">
            <a:avLst/>
          </a:prstGeom>
          <a:noFill/>
        </p:spPr>
        <p:txBody>
          <a:bodyPr wrap="square" lIns="0" rIns="0" tIns="0" bIns="0" anchor="t">
            <a:spAutoFit/>
          </a:bodyPr>
          <a:lstStyle/>
          <a:p>
            <a:pPr algn="l">
              <a:lnSpc>
                <a:spcPct val="114000"/>
              </a:lnSpc>
              <a:spcBef>
                <a:spcPts val="0"/>
              </a:spcBef>
              <a:spcAft>
                <a:spcPts val="0"/>
              </a:spcAft>
            </a:pPr>
            <a:r>
              <a:rPr sz="860" b="0" i="0">
                <a:solidFill>
                  <a:srgbClr val="475569"/>
                </a:solidFill>
                <a:latin typeface="Segoe UI"/>
              </a:rPr>
              <a:t>Operational checks and limitations</a:t>
            </a:r>
          </a:p>
        </p:txBody>
      </p:sp>
      <p:cxnSp>
        <p:nvCxnSpPr>
          <p:cNvPr id="65" name="Connector 64"/>
          <p:cNvCxnSpPr/>
          <p:nvPr/>
        </p:nvCxnSpPr>
        <p:spPr>
          <a:xfrm>
            <a:off x="9262872" y="4791456"/>
            <a:ext cx="2212847"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9262872" y="4901184"/>
            <a:ext cx="2212848" cy="694944"/>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64748B"/>
                </a:solidFill>
                <a:latin typeface="Segoe UI"/>
              </a:rPr>
              <a:t>Presents slide 11 — testing evidence and the Vercel/Neon setup.</a:t>
            </a:r>
          </a:p>
        </p:txBody>
      </p:sp>
      <p:sp>
        <p:nvSpPr>
          <p:cNvPr id="67" name="Rounded Rectangle 66"/>
          <p:cNvSpPr/>
          <p:nvPr/>
        </p:nvSpPr>
        <p:spPr>
          <a:xfrm>
            <a:off x="566928" y="5852160"/>
            <a:ext cx="11057839" cy="512064"/>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22960" y="5998464"/>
            <a:ext cx="10545775" cy="219456"/>
          </a:xfrm>
          <a:prstGeom prst="rect">
            <a:avLst/>
          </a:prstGeom>
          <a:noFill/>
        </p:spPr>
        <p:txBody>
          <a:bodyPr wrap="square" lIns="0" rIns="0" tIns="0" bIns="0" anchor="ctr">
            <a:spAutoFit/>
          </a:bodyPr>
          <a:lstStyle/>
          <a:p>
            <a:pPr algn="l">
              <a:lnSpc>
                <a:spcPct val="120000"/>
              </a:lnSpc>
            </a:pPr>
            <a:r>
              <a:rPr sz="1150" b="1" i="0">
                <a:solidFill>
                  <a:srgbClr val="1E3A8A"/>
                </a:solidFill>
                <a:latin typeface="Segoe UI"/>
              </a:rPr>
              <a:t>How we worked:  </a:t>
            </a:r>
            <a:r>
              <a:rPr sz="1150" b="0" i="0">
                <a:solidFill>
                  <a:srgbClr val="475569"/>
                </a:solidFill>
                <a:latin typeface="Segoe UI"/>
              </a:rPr>
              <a:t>every change in this repository was reviewed and merged by the whole team, but each area below has a single accountable owner for the hackathon presentation.</a:t>
            </a:r>
          </a:p>
        </p:txBody>
      </p:sp>
      <p:cxnSp>
        <p:nvCxnSpPr>
          <p:cNvPr id="69" name="Connector 68"/>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71" name="TextBox 70"/>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REVENUE MODEL</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The marketplace is already priced in the product</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Money is not yet moved by the platform — but the data needed to price it correctly is already stored, validated and displayed.</a:t>
            </a:r>
          </a:p>
        </p:txBody>
      </p:sp>
      <p:sp>
        <p:nvSpPr>
          <p:cNvPr id="7" name="Rounded Rectangle 6"/>
          <p:cNvSpPr/>
          <p:nvPr/>
        </p:nvSpPr>
        <p:spPr>
          <a:xfrm>
            <a:off x="7418527" y="365760"/>
            <a:ext cx="4206240" cy="329184"/>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bIns="0"/>
          <a:lstStyle/>
          <a:p>
            <a:pPr algn="l"/>
            <a:r>
              <a:rPr sz="850" b="1" i="0" cap="all" spc="80">
                <a:solidFill>
                  <a:srgbClr val="94A3B8"/>
                </a:solidFill>
                <a:latin typeface="Segoe UI"/>
              </a:rPr>
              <a:t>Presenter  </a:t>
            </a:r>
            <a:r>
              <a:rPr sz="1050" b="1" i="0">
                <a:solidFill>
                  <a:srgbClr val="1E3A8A"/>
                </a:solidFill>
                <a:latin typeface="Segoe UI"/>
              </a:rPr>
              <a:t>Hephzibah Uchechukwu</a:t>
            </a:r>
          </a:p>
        </p:txBody>
      </p:sp>
      <p:sp>
        <p:nvSpPr>
          <p:cNvPr id="8" name="Rounded Rectangle 7"/>
          <p:cNvSpPr/>
          <p:nvPr/>
        </p:nvSpPr>
        <p:spPr>
          <a:xfrm>
            <a:off x="56692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1847088"/>
            <a:ext cx="549554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ALREADY IMPLEMENTED IN THE CODE</a:t>
            </a:r>
          </a:p>
        </p:txBody>
      </p:sp>
      <p:sp>
        <p:nvSpPr>
          <p:cNvPr id="10" name="Rounded Rectangle 9"/>
          <p:cNvSpPr/>
          <p:nvPr/>
        </p:nvSpPr>
        <p:spPr>
          <a:xfrm>
            <a:off x="566928" y="219913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215798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Per-tutor pricing</a:t>
            </a:r>
            <a:r>
              <a:rPr sz="1050" b="0" i="0">
                <a:solidFill>
                  <a:srgbClr val="475569"/>
                </a:solidFill>
                <a:latin typeface="Segoe UI"/>
              </a:rPr>
              <a:t>  tutor_profiles.hourly_rate (NUMERIC, default ₦2,000) with currency = 'NGN' — set during signup and editable from the tutor profile form.</a:t>
            </a:r>
          </a:p>
        </p:txBody>
      </p:sp>
      <p:sp>
        <p:nvSpPr>
          <p:cNvPr id="12" name="Rounded Rectangle 11"/>
          <p:cNvSpPr/>
          <p:nvPr/>
        </p:nvSpPr>
        <p:spPr>
          <a:xfrm>
            <a:off x="566928" y="2656332"/>
            <a:ext cx="34747" cy="434339"/>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615184"/>
            <a:ext cx="5385816" cy="525780"/>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Live price estimate</a:t>
            </a:r>
            <a:r>
              <a:rPr sz="1050" b="0" i="0">
                <a:solidFill>
                  <a:srgbClr val="475569"/>
                </a:solidFill>
                <a:latin typeface="Segoe UI"/>
              </a:rPr>
              <a:t>  the modal displays hourly rate × duration. The API currently persists the tutor's hourly_rate as total_price, so the stored total is not duration-adjusted yet.</a:t>
            </a:r>
          </a:p>
        </p:txBody>
      </p:sp>
      <p:sp>
        <p:nvSpPr>
          <p:cNvPr id="14" name="Rounded Rectangle 13"/>
          <p:cNvSpPr/>
          <p:nvPr/>
        </p:nvSpPr>
        <p:spPr>
          <a:xfrm>
            <a:off x="566928" y="327355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2" y="323240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Budget as a matching input</a:t>
            </a:r>
            <a:r>
              <a:rPr sz="1050" b="0" i="0">
                <a:solidFill>
                  <a:srgbClr val="475569"/>
                </a:solidFill>
                <a:latin typeface="Segoe UI"/>
              </a:rPr>
              <a:t>  the directory exposes a ₦2,000–₦25,000 / hour filter and Smart Tutor Match treats the maximum hourly budget as a hard gate.</a:t>
            </a:r>
          </a:p>
        </p:txBody>
      </p:sp>
      <p:sp>
        <p:nvSpPr>
          <p:cNvPr id="16" name="Rounded Rectangle 15"/>
          <p:cNvSpPr/>
          <p:nvPr/>
        </p:nvSpPr>
        <p:spPr>
          <a:xfrm>
            <a:off x="566928" y="373075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68960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Admin metric</a:t>
            </a:r>
            <a:r>
              <a:rPr sz="1050" b="0" i="0">
                <a:solidFill>
                  <a:srgbClr val="475569"/>
                </a:solidFill>
                <a:latin typeface="Segoe UI"/>
              </a:rPr>
              <a:t>  the dashboard sums total_price for completed bookings. This is a gross booking-value proxy, not cash received by the platform.</a:t>
            </a:r>
          </a:p>
        </p:txBody>
      </p:sp>
      <p:sp>
        <p:nvSpPr>
          <p:cNvPr id="18" name="Rounded Rectangle 17"/>
          <p:cNvSpPr/>
          <p:nvPr/>
        </p:nvSpPr>
        <p:spPr>
          <a:xfrm>
            <a:off x="566928" y="418795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2" y="414680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Mode-aware sessions</a:t>
            </a:r>
            <a:r>
              <a:rPr sz="1050" b="0" i="0">
                <a:solidFill>
                  <a:srgbClr val="475569"/>
                </a:solidFill>
                <a:latin typeface="Segoe UI"/>
              </a:rPr>
              <a:t>  session_mode (online or in_person) is stored per booking, so future pricing can differ by delivery mode.</a:t>
            </a:r>
          </a:p>
        </p:txBody>
      </p:sp>
      <p:sp>
        <p:nvSpPr>
          <p:cNvPr id="20" name="Rounded Rectangle 19"/>
          <p:cNvSpPr/>
          <p:nvPr/>
        </p:nvSpPr>
        <p:spPr>
          <a:xfrm>
            <a:off x="566928" y="4809744"/>
            <a:ext cx="5623560" cy="566928"/>
          </a:xfrm>
          <a:prstGeom prst="roundRect">
            <a:avLst>
              <a:gd name="adj" fmla="val 6000"/>
            </a:avLst>
          </a:prstGeom>
          <a:solidFill>
            <a:srgbClr val="FFE4E6"/>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4956048"/>
            <a:ext cx="5111496" cy="274320"/>
          </a:xfrm>
          <a:prstGeom prst="rect">
            <a:avLst/>
          </a:prstGeom>
          <a:noFill/>
        </p:spPr>
        <p:txBody>
          <a:bodyPr wrap="square" lIns="0" rIns="0" tIns="0" bIns="0" anchor="ctr">
            <a:spAutoFit/>
          </a:bodyPr>
          <a:lstStyle/>
          <a:p>
            <a:pPr algn="l">
              <a:lnSpc>
                <a:spcPct val="120000"/>
              </a:lnSpc>
            </a:pPr>
            <a:r>
              <a:rPr sz="1150" b="1" i="0">
                <a:solidFill>
                  <a:srgbClr val="E11D48"/>
                </a:solidFill>
                <a:latin typeface="Segoe UI"/>
              </a:rPr>
              <a:t>Not yet built:  </a:t>
            </a:r>
            <a:r>
              <a:rPr sz="1150" b="0" i="0">
                <a:solidFill>
                  <a:srgbClr val="334155"/>
                </a:solidFill>
                <a:latin typeface="Segoe UI"/>
              </a:rPr>
              <a:t>no payment gateway, escrow, invoice or tutor payout is integrated. The platform does not charge or transfer money today.</a:t>
            </a:r>
          </a:p>
        </p:txBody>
      </p:sp>
      <p:sp>
        <p:nvSpPr>
          <p:cNvPr id="22" name="Rounded Rectangle 21"/>
          <p:cNvSpPr/>
          <p:nvPr/>
        </p:nvSpPr>
        <p:spPr>
          <a:xfrm>
            <a:off x="6483096"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611112" y="1847088"/>
            <a:ext cx="5013655"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PROPOSED MODEL (ROADMAP, NOT IMPLEMENTED)</a:t>
            </a:r>
          </a:p>
        </p:txBody>
      </p:sp>
      <p:sp>
        <p:nvSpPr>
          <p:cNvPr id="24" name="Rounded Rectangle 23"/>
          <p:cNvSpPr/>
          <p:nvPr/>
        </p:nvSpPr>
        <p:spPr>
          <a:xfrm>
            <a:off x="6483096" y="2157984"/>
            <a:ext cx="5141671" cy="84124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483096" y="2157984"/>
            <a:ext cx="45720" cy="841248"/>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84264" y="2258568"/>
            <a:ext cx="4739335" cy="219456"/>
          </a:xfrm>
          <a:prstGeom prst="rect">
            <a:avLst/>
          </a:prstGeom>
          <a:noFill/>
        </p:spPr>
        <p:txBody>
          <a:bodyPr wrap="square" lIns="0" rIns="0" tIns="0" bIns="0" anchor="t">
            <a:spAutoFit/>
          </a:bodyPr>
          <a:lstStyle/>
          <a:p>
            <a:pPr algn="l">
              <a:lnSpc>
                <a:spcPct val="118000"/>
              </a:lnSpc>
              <a:spcBef>
                <a:spcPts val="0"/>
              </a:spcBef>
              <a:spcAft>
                <a:spcPts val="0"/>
              </a:spcAft>
            </a:pPr>
            <a:r>
              <a:rPr sz="1120" b="1" i="0">
                <a:solidFill>
                  <a:srgbClr val="0F172A"/>
                </a:solidFill>
                <a:latin typeface="Segoe UI Semibold"/>
              </a:rPr>
              <a:t>Commission on completed sessions</a:t>
            </a:r>
          </a:p>
        </p:txBody>
      </p:sp>
      <p:sp>
        <p:nvSpPr>
          <p:cNvPr id="27" name="TextBox 26"/>
          <p:cNvSpPr txBox="1"/>
          <p:nvPr/>
        </p:nvSpPr>
        <p:spPr>
          <a:xfrm>
            <a:off x="6684264" y="2505456"/>
            <a:ext cx="4739335" cy="438912"/>
          </a:xfrm>
          <a:prstGeom prst="rect">
            <a:avLst/>
          </a:prstGeom>
          <a:noFill/>
        </p:spPr>
        <p:txBody>
          <a:bodyPr wrap="square" lIns="0" rIns="0" tIns="0" bIns="0" anchor="t">
            <a:spAutoFit/>
          </a:bodyPr>
          <a:lstStyle/>
          <a:p>
            <a:pPr algn="l">
              <a:lnSpc>
                <a:spcPct val="116000"/>
              </a:lnSpc>
              <a:spcBef>
                <a:spcPts val="0"/>
              </a:spcBef>
              <a:spcAft>
                <a:spcPts val="0"/>
              </a:spcAft>
            </a:pPr>
            <a:r>
              <a:rPr sz="880" b="0" i="0">
                <a:solidFill>
                  <a:srgbClr val="475569"/>
                </a:solidFill>
                <a:latin typeface="Segoe UI"/>
              </a:rPr>
              <a:t>Future take-rate on completed sessions. First, calculate duration-based totals server-side and add a payment ledger.</a:t>
            </a:r>
          </a:p>
        </p:txBody>
      </p:sp>
      <p:sp>
        <p:nvSpPr>
          <p:cNvPr id="28" name="Rounded Rectangle 27"/>
          <p:cNvSpPr/>
          <p:nvPr/>
        </p:nvSpPr>
        <p:spPr>
          <a:xfrm>
            <a:off x="6483096" y="3081528"/>
            <a:ext cx="5141671" cy="84124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483096" y="3081528"/>
            <a:ext cx="45720" cy="841248"/>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84264" y="3182112"/>
            <a:ext cx="4739335" cy="219456"/>
          </a:xfrm>
          <a:prstGeom prst="rect">
            <a:avLst/>
          </a:prstGeom>
          <a:noFill/>
        </p:spPr>
        <p:txBody>
          <a:bodyPr wrap="square" lIns="0" rIns="0" tIns="0" bIns="0" anchor="t">
            <a:spAutoFit/>
          </a:bodyPr>
          <a:lstStyle/>
          <a:p>
            <a:pPr algn="l">
              <a:lnSpc>
                <a:spcPct val="118000"/>
              </a:lnSpc>
              <a:spcBef>
                <a:spcPts val="0"/>
              </a:spcBef>
              <a:spcAft>
                <a:spcPts val="0"/>
              </a:spcAft>
            </a:pPr>
            <a:r>
              <a:rPr sz="1120" b="1" i="0">
                <a:solidFill>
                  <a:srgbClr val="0F172A"/>
                </a:solidFill>
                <a:latin typeface="Segoe UI Semibold"/>
              </a:rPr>
              <a:t>Tutor subscription tiers</a:t>
            </a:r>
          </a:p>
        </p:txBody>
      </p:sp>
      <p:sp>
        <p:nvSpPr>
          <p:cNvPr id="31" name="TextBox 30"/>
          <p:cNvSpPr txBox="1"/>
          <p:nvPr/>
        </p:nvSpPr>
        <p:spPr>
          <a:xfrm>
            <a:off x="6684264" y="3429000"/>
            <a:ext cx="4739335" cy="438912"/>
          </a:xfrm>
          <a:prstGeom prst="rect">
            <a:avLst/>
          </a:prstGeom>
          <a:noFill/>
        </p:spPr>
        <p:txBody>
          <a:bodyPr wrap="square" lIns="0" rIns="0" tIns="0" bIns="0" anchor="t">
            <a:spAutoFit/>
          </a:bodyPr>
          <a:lstStyle/>
          <a:p>
            <a:pPr algn="l">
              <a:lnSpc>
                <a:spcPct val="116000"/>
              </a:lnSpc>
              <a:spcBef>
                <a:spcPts val="0"/>
              </a:spcBef>
              <a:spcAft>
                <a:spcPts val="0"/>
              </a:spcAft>
            </a:pPr>
            <a:r>
              <a:rPr sz="880" b="0" i="0">
                <a:solidFill>
                  <a:srgbClr val="475569"/>
                </a:solidFill>
                <a:latin typeface="Segoe UI"/>
              </a:rPr>
              <a:t>Paid visibility for tutors — priority placement, extra profile media, booking analytics. verification_status and is_verified already gate public visibility.</a:t>
            </a:r>
          </a:p>
        </p:txBody>
      </p:sp>
      <p:sp>
        <p:nvSpPr>
          <p:cNvPr id="32" name="Rounded Rectangle 31"/>
          <p:cNvSpPr/>
          <p:nvPr/>
        </p:nvSpPr>
        <p:spPr>
          <a:xfrm>
            <a:off x="6483096" y="4005072"/>
            <a:ext cx="5141671" cy="84124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6483096" y="4005072"/>
            <a:ext cx="45720" cy="841248"/>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84264" y="4105656"/>
            <a:ext cx="4739335" cy="219456"/>
          </a:xfrm>
          <a:prstGeom prst="rect">
            <a:avLst/>
          </a:prstGeom>
          <a:noFill/>
        </p:spPr>
        <p:txBody>
          <a:bodyPr wrap="square" lIns="0" rIns="0" tIns="0" bIns="0" anchor="t">
            <a:spAutoFit/>
          </a:bodyPr>
          <a:lstStyle/>
          <a:p>
            <a:pPr algn="l">
              <a:lnSpc>
                <a:spcPct val="118000"/>
              </a:lnSpc>
              <a:spcBef>
                <a:spcPts val="0"/>
              </a:spcBef>
              <a:spcAft>
                <a:spcPts val="0"/>
              </a:spcAft>
            </a:pPr>
            <a:r>
              <a:rPr sz="1120" b="1" i="0">
                <a:solidFill>
                  <a:srgbClr val="0F172A"/>
                </a:solidFill>
                <a:latin typeface="Segoe UI Semibold"/>
              </a:rPr>
              <a:t>Parent premium plan</a:t>
            </a:r>
          </a:p>
        </p:txBody>
      </p:sp>
      <p:sp>
        <p:nvSpPr>
          <p:cNvPr id="35" name="TextBox 34"/>
          <p:cNvSpPr txBox="1"/>
          <p:nvPr/>
        </p:nvSpPr>
        <p:spPr>
          <a:xfrm>
            <a:off x="6684264" y="4352544"/>
            <a:ext cx="4739335" cy="438912"/>
          </a:xfrm>
          <a:prstGeom prst="rect">
            <a:avLst/>
          </a:prstGeom>
          <a:noFill/>
        </p:spPr>
        <p:txBody>
          <a:bodyPr wrap="square" lIns="0" rIns="0" tIns="0" bIns="0" anchor="t">
            <a:spAutoFit/>
          </a:bodyPr>
          <a:lstStyle/>
          <a:p>
            <a:pPr algn="l">
              <a:lnSpc>
                <a:spcPct val="116000"/>
              </a:lnSpc>
              <a:spcBef>
                <a:spcPts val="0"/>
              </a:spcBef>
              <a:spcAft>
                <a:spcPts val="0"/>
              </a:spcAft>
            </a:pPr>
            <a:r>
              <a:rPr sz="880" b="0" i="0">
                <a:solidFill>
                  <a:srgbClr val="475569"/>
                </a:solidFill>
                <a:latin typeface="Segoe UI"/>
              </a:rPr>
              <a:t>Multi-child management, priority tutor matching and session reports. parent_profiles already models one child profile, age, level, budget and learning mode.</a:t>
            </a:r>
          </a:p>
        </p:txBody>
      </p:sp>
      <p:sp>
        <p:nvSpPr>
          <p:cNvPr id="36" name="Rounded Rectangle 35"/>
          <p:cNvSpPr/>
          <p:nvPr/>
        </p:nvSpPr>
        <p:spPr>
          <a:xfrm>
            <a:off x="6483096" y="4928616"/>
            <a:ext cx="5141671" cy="512064"/>
          </a:xfrm>
          <a:prstGeom prst="roundRect">
            <a:avLst>
              <a:gd name="adj" fmla="val 7000"/>
            </a:avLst>
          </a:prstGeom>
          <a:solidFill>
            <a:srgbClr val="1E3A8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84264" y="5001768"/>
            <a:ext cx="4739335" cy="19202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FFFFFF"/>
                </a:solidFill>
                <a:latin typeface="Segoe UI Semibold"/>
              </a:rPr>
              <a:t>Students and parents stay free</a:t>
            </a:r>
          </a:p>
        </p:txBody>
      </p:sp>
      <p:sp>
        <p:nvSpPr>
          <p:cNvPr id="38" name="TextBox 37"/>
          <p:cNvSpPr txBox="1"/>
          <p:nvPr/>
        </p:nvSpPr>
        <p:spPr>
          <a:xfrm>
            <a:off x="6684264" y="5202936"/>
            <a:ext cx="4739335" cy="18288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CBD5E1"/>
                </a:solidFill>
                <a:latin typeface="Segoe UI"/>
              </a:rPr>
              <a:t>Proposed supply-side monetisation; no subscription is currently charged.</a:t>
            </a:r>
          </a:p>
        </p:txBody>
      </p:sp>
      <p:sp>
        <p:nvSpPr>
          <p:cNvPr id="39" name="Rounded Rectangle 38"/>
          <p:cNvSpPr/>
          <p:nvPr/>
        </p:nvSpPr>
        <p:spPr>
          <a:xfrm>
            <a:off x="566928" y="5678424"/>
            <a:ext cx="11057839" cy="530352"/>
          </a:xfrm>
          <a:prstGeom prst="roundRect">
            <a:avLst>
              <a:gd name="adj" fmla="val 6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22960" y="5824728"/>
            <a:ext cx="10545775" cy="237743"/>
          </a:xfrm>
          <a:prstGeom prst="rect">
            <a:avLst/>
          </a:prstGeom>
          <a:noFill/>
        </p:spPr>
        <p:txBody>
          <a:bodyPr wrap="square" lIns="0" rIns="0" tIns="0" bIns="0" anchor="ctr">
            <a:spAutoFit/>
          </a:bodyPr>
          <a:lstStyle/>
          <a:p>
            <a:pPr algn="l">
              <a:lnSpc>
                <a:spcPct val="120000"/>
              </a:lnSpc>
            </a:pPr>
            <a:r>
              <a:rPr sz="950" b="1" i="0">
                <a:solidFill>
                  <a:srgbClr val="0F172A"/>
                </a:solidFill>
                <a:latin typeface="Segoe UI"/>
              </a:rPr>
              <a:t>Accuracy note:  </a:t>
            </a:r>
            <a:r>
              <a:rPr sz="950" b="0" i="0">
                <a:solidFill>
                  <a:srgbClr val="334155"/>
                </a:solidFill>
                <a:latin typeface="Segoe UI"/>
              </a:rPr>
              <a:t>commission, tiers and premium plans are proposals, not implemented revenue. The current admin tile is a booking-value proxy; no payment transactions are recorded.</a:t>
            </a:r>
          </a:p>
        </p:txBody>
      </p:sp>
      <p:cxnSp>
        <p:nvCxnSpPr>
          <p:cNvPr id="41" name="Connector 40"/>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43" name="TextBox 42"/>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VALUE, LIMITATIONS &amp; POTENTIAL IMPACT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Impact, limits and next steps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Judges should be able to trust the rest of this deck because of this slide.</a:t>
            </a:r>
          </a:p>
        </p:txBody>
      </p:sp>
      <p:sp>
        <p:nvSpPr>
          <p:cNvPr id="7" name="Rounded Rectangle 6"/>
          <p:cNvSpPr/>
          <p:nvPr/>
        </p:nvSpPr>
        <p:spPr>
          <a:xfrm>
            <a:off x="566928" y="1847088"/>
            <a:ext cx="3527450" cy="3529584"/>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47088"/>
            <a:ext cx="3527450" cy="54864"/>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68096" y="2048256"/>
            <a:ext cx="3125114" cy="274320"/>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0F172A"/>
                </a:solidFill>
                <a:latin typeface="Segoe UI Semibold"/>
              </a:rPr>
              <a:t>Value delivered</a:t>
            </a:r>
          </a:p>
        </p:txBody>
      </p:sp>
      <p:sp>
        <p:nvSpPr>
          <p:cNvPr id="10" name="Rounded Rectangle 9"/>
          <p:cNvSpPr/>
          <p:nvPr/>
        </p:nvSpPr>
        <p:spPr>
          <a:xfrm>
            <a:off x="786384" y="2500884"/>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2436876"/>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Verified supply</a:t>
            </a:r>
          </a:p>
        </p:txBody>
      </p:sp>
      <p:sp>
        <p:nvSpPr>
          <p:cNvPr id="12" name="TextBox 11"/>
          <p:cNvSpPr txBox="1"/>
          <p:nvPr/>
        </p:nvSpPr>
        <p:spPr>
          <a:xfrm>
            <a:off x="987552" y="2624328"/>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only admin-approved tutors are ever listed, and every listing is read live from PostgreSQL.</a:t>
            </a:r>
          </a:p>
        </p:txBody>
      </p:sp>
      <p:sp>
        <p:nvSpPr>
          <p:cNvPr id="13" name="Rounded Rectangle 12"/>
          <p:cNvSpPr/>
          <p:nvPr/>
        </p:nvSpPr>
        <p:spPr>
          <a:xfrm>
            <a:off x="786384" y="3058668"/>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87552" y="2994660"/>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Zero fabrication</a:t>
            </a:r>
          </a:p>
        </p:txBody>
      </p:sp>
      <p:sp>
        <p:nvSpPr>
          <p:cNvPr id="15" name="TextBox 14"/>
          <p:cNvSpPr txBox="1"/>
          <p:nvPr/>
        </p:nvSpPr>
        <p:spPr>
          <a:xfrm>
            <a:off x="987552" y="3182112"/>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empty states instead of invented tutors, bookings or ratings — the data is always real.</a:t>
            </a:r>
          </a:p>
        </p:txBody>
      </p:sp>
      <p:sp>
        <p:nvSpPr>
          <p:cNvPr id="16" name="Rounded Rectangle 15"/>
          <p:cNvSpPr/>
          <p:nvPr/>
        </p:nvSpPr>
        <p:spPr>
          <a:xfrm>
            <a:off x="786384" y="3616452"/>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87552" y="3552444"/>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Nigeria-specific</a:t>
            </a:r>
          </a:p>
        </p:txBody>
      </p:sp>
      <p:sp>
        <p:nvSpPr>
          <p:cNvPr id="18" name="TextBox 17"/>
          <p:cNvSpPr txBox="1"/>
          <p:nvPr/>
        </p:nvSpPr>
        <p:spPr>
          <a:xfrm>
            <a:off x="987552" y="3739896"/>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36 states + FCT, naira pricing, and Nigerian / Cambridge / American curricula.</a:t>
            </a:r>
          </a:p>
        </p:txBody>
      </p:sp>
      <p:sp>
        <p:nvSpPr>
          <p:cNvPr id="19" name="Rounded Rectangle 18"/>
          <p:cNvSpPr/>
          <p:nvPr/>
        </p:nvSpPr>
        <p:spPr>
          <a:xfrm>
            <a:off x="786384" y="4174235"/>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87552" y="4110228"/>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Complete lifecycle</a:t>
            </a:r>
          </a:p>
        </p:txBody>
      </p:sp>
      <p:sp>
        <p:nvSpPr>
          <p:cNvPr id="21" name="TextBox 20"/>
          <p:cNvSpPr txBox="1"/>
          <p:nvPr/>
        </p:nvSpPr>
        <p:spPr>
          <a:xfrm>
            <a:off x="987552" y="4297680"/>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discover → verify → book → accept → teach → review, all inside one codebase.</a:t>
            </a:r>
          </a:p>
        </p:txBody>
      </p:sp>
      <p:sp>
        <p:nvSpPr>
          <p:cNvPr id="22" name="Rounded Rectangle 21"/>
          <p:cNvSpPr/>
          <p:nvPr/>
        </p:nvSpPr>
        <p:spPr>
          <a:xfrm>
            <a:off x="786384" y="4732020"/>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87552" y="4668012"/>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Explainable matching</a:t>
            </a:r>
          </a:p>
        </p:txBody>
      </p:sp>
      <p:sp>
        <p:nvSpPr>
          <p:cNvPr id="24" name="TextBox 23"/>
          <p:cNvSpPr txBox="1"/>
          <p:nvPr/>
        </p:nvSpPr>
        <p:spPr>
          <a:xfrm>
            <a:off x="987552" y="4855464"/>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every match carries a score and a human-readable reason.</a:t>
            </a:r>
          </a:p>
        </p:txBody>
      </p:sp>
      <p:sp>
        <p:nvSpPr>
          <p:cNvPr id="25" name="Rounded Rectangle 24"/>
          <p:cNvSpPr/>
          <p:nvPr/>
        </p:nvSpPr>
        <p:spPr>
          <a:xfrm>
            <a:off x="4332122" y="1847088"/>
            <a:ext cx="3527450" cy="3529584"/>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4332122" y="1847088"/>
            <a:ext cx="3527450" cy="54864"/>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33290" y="2048256"/>
            <a:ext cx="3125114" cy="274320"/>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0F172A"/>
                </a:solidFill>
                <a:latin typeface="Segoe UI Semibold"/>
              </a:rPr>
              <a:t>Current limitations</a:t>
            </a:r>
          </a:p>
        </p:txBody>
      </p:sp>
      <p:sp>
        <p:nvSpPr>
          <p:cNvPr id="28" name="Rounded Rectangle 27"/>
          <p:cNvSpPr/>
          <p:nvPr/>
        </p:nvSpPr>
        <p:spPr>
          <a:xfrm>
            <a:off x="4551578" y="2500884"/>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52746" y="2436876"/>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Dashboards are not server-protected</a:t>
            </a:r>
          </a:p>
        </p:txBody>
      </p:sp>
      <p:sp>
        <p:nvSpPr>
          <p:cNvPr id="30" name="TextBox 29"/>
          <p:cNvSpPr txBox="1"/>
          <p:nvPr/>
        </p:nvSpPr>
        <p:spPr>
          <a:xfrm>
            <a:off x="4752746" y="2624328"/>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there is no Next.js middleware yet; role checks live in the client and in the API.</a:t>
            </a:r>
          </a:p>
        </p:txBody>
      </p:sp>
      <p:sp>
        <p:nvSpPr>
          <p:cNvPr id="31" name="Rounded Rectangle 30"/>
          <p:cNvSpPr/>
          <p:nvPr/>
        </p:nvSpPr>
        <p:spPr>
          <a:xfrm>
            <a:off x="4551578" y="3058668"/>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752746" y="2994660"/>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No automated tests</a:t>
            </a:r>
          </a:p>
        </p:txBody>
      </p:sp>
      <p:sp>
        <p:nvSpPr>
          <p:cNvPr id="33" name="TextBox 32"/>
          <p:cNvSpPr txBox="1"/>
          <p:nvPr/>
        </p:nvSpPr>
        <p:spPr>
          <a:xfrm>
            <a:off x="4752746" y="3182112"/>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no Jest, Vitest or Playwright suite and no CI pipeline are committed.</a:t>
            </a:r>
          </a:p>
        </p:txBody>
      </p:sp>
      <p:sp>
        <p:nvSpPr>
          <p:cNvPr id="34" name="Rounded Rectangle 33"/>
          <p:cNvSpPr/>
          <p:nvPr/>
        </p:nvSpPr>
        <p:spPr>
          <a:xfrm>
            <a:off x="4551578" y="3616452"/>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52746" y="3552444"/>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No payments</a:t>
            </a:r>
          </a:p>
        </p:txBody>
      </p:sp>
      <p:sp>
        <p:nvSpPr>
          <p:cNvPr id="36" name="TextBox 35"/>
          <p:cNvSpPr txBox="1"/>
          <p:nvPr/>
        </p:nvSpPr>
        <p:spPr>
          <a:xfrm>
            <a:off x="4752746" y="3739896"/>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rates and prices are modelled, but no gateway, escrow or payout exists.</a:t>
            </a:r>
          </a:p>
        </p:txBody>
      </p:sp>
      <p:sp>
        <p:nvSpPr>
          <p:cNvPr id="37" name="Rounded Rectangle 36"/>
          <p:cNvSpPr/>
          <p:nvPr/>
        </p:nvSpPr>
        <p:spPr>
          <a:xfrm>
            <a:off x="4551578" y="4174235"/>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52746" y="4110228"/>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No notifications</a:t>
            </a:r>
          </a:p>
        </p:txBody>
      </p:sp>
      <p:sp>
        <p:nvSpPr>
          <p:cNvPr id="39" name="TextBox 38"/>
          <p:cNvSpPr txBox="1"/>
          <p:nvPr/>
        </p:nvSpPr>
        <p:spPr>
          <a:xfrm>
            <a:off x="4752746" y="4297680"/>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booking and review events are not pushed by email, SMS or WhatsApp.</a:t>
            </a:r>
          </a:p>
        </p:txBody>
      </p:sp>
      <p:sp>
        <p:nvSpPr>
          <p:cNvPr id="40" name="Rounded Rectangle 39"/>
          <p:cNvSpPr/>
          <p:nvPr/>
        </p:nvSpPr>
        <p:spPr>
          <a:xfrm>
            <a:off x="4551578" y="4732020"/>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52746" y="4668012"/>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Limited reach of the store</a:t>
            </a:r>
          </a:p>
        </p:txBody>
      </p:sp>
      <p:sp>
        <p:nvSpPr>
          <p:cNvPr id="42" name="TextBox 41"/>
          <p:cNvSpPr txBox="1"/>
          <p:nvPr/>
        </p:nvSpPr>
        <p:spPr>
          <a:xfrm>
            <a:off x="4752746" y="4855464"/>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credentials are stored as base64 data URLs, which is not a production file store.</a:t>
            </a:r>
          </a:p>
        </p:txBody>
      </p:sp>
      <p:sp>
        <p:nvSpPr>
          <p:cNvPr id="43" name="Rounded Rectangle 42"/>
          <p:cNvSpPr/>
          <p:nvPr/>
        </p:nvSpPr>
        <p:spPr>
          <a:xfrm>
            <a:off x="8097316" y="1847088"/>
            <a:ext cx="3527450" cy="3529584"/>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8097316" y="1847088"/>
            <a:ext cx="3527450" cy="5486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98484" y="2048256"/>
            <a:ext cx="3125114" cy="274320"/>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0F172A"/>
                </a:solidFill>
                <a:latin typeface="Segoe UI Semibold"/>
              </a:rPr>
              <a:t>Potential impact</a:t>
            </a:r>
          </a:p>
        </p:txBody>
      </p:sp>
      <p:sp>
        <p:nvSpPr>
          <p:cNvPr id="46" name="Rounded Rectangle 45"/>
          <p:cNvSpPr/>
          <p:nvPr/>
        </p:nvSpPr>
        <p:spPr>
          <a:xfrm>
            <a:off x="8316772" y="2500884"/>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517940" y="2436876"/>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Subject coverage</a:t>
            </a:r>
          </a:p>
        </p:txBody>
      </p:sp>
      <p:sp>
        <p:nvSpPr>
          <p:cNvPr id="48" name="TextBox 47"/>
          <p:cNvSpPr txBox="1"/>
          <p:nvPr/>
        </p:nvSpPr>
        <p:spPr>
          <a:xfrm>
            <a:off x="8517940" y="2624328"/>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33 subject options across 8 curriculum areas, from WAEC/JAMB to coding and data analysis.</a:t>
            </a:r>
          </a:p>
        </p:txBody>
      </p:sp>
      <p:sp>
        <p:nvSpPr>
          <p:cNvPr id="49" name="Rounded Rectangle 48"/>
          <p:cNvSpPr/>
          <p:nvPr/>
        </p:nvSpPr>
        <p:spPr>
          <a:xfrm>
            <a:off x="8316772" y="3058668"/>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517940" y="2994660"/>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Nationwide reach</a:t>
            </a:r>
          </a:p>
        </p:txBody>
      </p:sp>
      <p:sp>
        <p:nvSpPr>
          <p:cNvPr id="51" name="TextBox 50"/>
          <p:cNvSpPr txBox="1"/>
          <p:nvPr/>
        </p:nvSpPr>
        <p:spPr>
          <a:xfrm>
            <a:off x="8517940" y="3182112"/>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state-level search plus a fully remote option for online-only tutors.</a:t>
            </a:r>
          </a:p>
        </p:txBody>
      </p:sp>
      <p:sp>
        <p:nvSpPr>
          <p:cNvPr id="52" name="Rounded Rectangle 51"/>
          <p:cNvSpPr/>
          <p:nvPr/>
        </p:nvSpPr>
        <p:spPr>
          <a:xfrm>
            <a:off x="8316772" y="3616452"/>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517940" y="3552444"/>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Tutor income</a:t>
            </a:r>
          </a:p>
        </p:txBody>
      </p:sp>
      <p:sp>
        <p:nvSpPr>
          <p:cNvPr id="54" name="TextBox 53"/>
          <p:cNvSpPr txBox="1"/>
          <p:nvPr/>
        </p:nvSpPr>
        <p:spPr>
          <a:xfrm>
            <a:off x="8517940" y="3739896"/>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a verified, professional profile with credentials and reviews — a digital storefront for teaching.</a:t>
            </a:r>
          </a:p>
        </p:txBody>
      </p:sp>
      <p:sp>
        <p:nvSpPr>
          <p:cNvPr id="55" name="Rounded Rectangle 54"/>
          <p:cNvSpPr/>
          <p:nvPr/>
        </p:nvSpPr>
        <p:spPr>
          <a:xfrm>
            <a:off x="8316772" y="4174235"/>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517940" y="4110228"/>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Parent confidence</a:t>
            </a:r>
          </a:p>
        </p:txBody>
      </p:sp>
      <p:sp>
        <p:nvSpPr>
          <p:cNvPr id="57" name="TextBox 56"/>
          <p:cNvSpPr txBox="1"/>
          <p:nvPr/>
        </p:nvSpPr>
        <p:spPr>
          <a:xfrm>
            <a:off x="8517940" y="4297680"/>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a documented trail: who taught what, when, at what price, and how it was rated.</a:t>
            </a:r>
          </a:p>
        </p:txBody>
      </p:sp>
      <p:sp>
        <p:nvSpPr>
          <p:cNvPr id="58" name="Rounded Rectangle 57"/>
          <p:cNvSpPr/>
          <p:nvPr/>
        </p:nvSpPr>
        <p:spPr>
          <a:xfrm>
            <a:off x="8316772" y="4732020"/>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17940" y="4668012"/>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Extensible base</a:t>
            </a:r>
          </a:p>
        </p:txBody>
      </p:sp>
      <p:sp>
        <p:nvSpPr>
          <p:cNvPr id="60" name="TextBox 59"/>
          <p:cNvSpPr txBox="1"/>
          <p:nvPr/>
        </p:nvSpPr>
        <p:spPr>
          <a:xfrm>
            <a:off x="8517940" y="4855464"/>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the schema already carries curriculum, teaching mode, documents and verification for future growth.</a:t>
            </a:r>
          </a:p>
        </p:txBody>
      </p:sp>
      <p:sp>
        <p:nvSpPr>
          <p:cNvPr id="61" name="Rounded Rectangle 60"/>
          <p:cNvSpPr/>
          <p:nvPr/>
        </p:nvSpPr>
        <p:spPr>
          <a:xfrm>
            <a:off x="566928" y="55366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94944" y="5504688"/>
            <a:ext cx="1092982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NEXT MILESTONES WE WOULD SHIP FIRST</a:t>
            </a:r>
          </a:p>
        </p:txBody>
      </p:sp>
      <p:sp>
        <p:nvSpPr>
          <p:cNvPr id="63" name="Rounded Rectangle 62"/>
          <p:cNvSpPr/>
          <p:nvPr/>
        </p:nvSpPr>
        <p:spPr>
          <a:xfrm>
            <a:off x="566928"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Server-side route protection with Next.js middleware</a:t>
            </a:r>
          </a:p>
        </p:txBody>
      </p:sp>
      <p:sp>
        <p:nvSpPr>
          <p:cNvPr id="64" name="Rounded Rectangle 63"/>
          <p:cNvSpPr/>
          <p:nvPr/>
        </p:nvSpPr>
        <p:spPr>
          <a:xfrm>
            <a:off x="566928"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Rounded Rectangle 64"/>
          <p:cNvSpPr/>
          <p:nvPr/>
        </p:nvSpPr>
        <p:spPr>
          <a:xfrm>
            <a:off x="3367963"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Automated test suite + CI pipeline</a:t>
            </a:r>
          </a:p>
        </p:txBody>
      </p:sp>
      <p:sp>
        <p:nvSpPr>
          <p:cNvPr id="66" name="Rounded Rectangle 65"/>
          <p:cNvSpPr/>
          <p:nvPr/>
        </p:nvSpPr>
        <p:spPr>
          <a:xfrm>
            <a:off x="3367963"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ounded Rectangle 66"/>
          <p:cNvSpPr/>
          <p:nvPr/>
        </p:nvSpPr>
        <p:spPr>
          <a:xfrm>
            <a:off x="6168999"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Payment, escrow and tutor payouts</a:t>
            </a:r>
          </a:p>
        </p:txBody>
      </p:sp>
      <p:sp>
        <p:nvSpPr>
          <p:cNvPr id="68" name="Rounded Rectangle 67"/>
          <p:cNvSpPr/>
          <p:nvPr/>
        </p:nvSpPr>
        <p:spPr>
          <a:xfrm>
            <a:off x="6168999"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ounded Rectangle 68"/>
          <p:cNvSpPr/>
          <p:nvPr/>
        </p:nvSpPr>
        <p:spPr>
          <a:xfrm>
            <a:off x="8970035"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Email / WhatsApp notifications and a tutor earnings dashboard</a:t>
            </a:r>
          </a:p>
        </p:txBody>
      </p:sp>
      <p:sp>
        <p:nvSpPr>
          <p:cNvPr id="70" name="Rounded Rectangle 69"/>
          <p:cNvSpPr/>
          <p:nvPr/>
        </p:nvSpPr>
        <p:spPr>
          <a:xfrm>
            <a:off x="8970035"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71" name="Connector 70"/>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73" name="TextBox 72"/>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CONCLUSION</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What we built — and what comes next</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A complete, deployed marketplace for verified Nigerian tutoring, with every layer written by this team.</a:t>
            </a:r>
          </a:p>
        </p:txBody>
      </p:sp>
      <p:sp>
        <p:nvSpPr>
          <p:cNvPr id="7" name="Rounded Rectangle 6"/>
          <p:cNvSpPr/>
          <p:nvPr/>
        </p:nvSpPr>
        <p:spPr>
          <a:xfrm>
            <a:off x="7418527" y="365760"/>
            <a:ext cx="4206240" cy="329184"/>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bIns="0"/>
          <a:lstStyle/>
          <a:p>
            <a:pPr algn="l"/>
            <a:r>
              <a:rPr sz="850" b="1" i="0" cap="all" spc="80">
                <a:solidFill>
                  <a:srgbClr val="94A3B8"/>
                </a:solidFill>
                <a:latin typeface="Segoe UI"/>
              </a:rPr>
              <a:t>Presenter  </a:t>
            </a:r>
            <a:r>
              <a:rPr sz="1050" b="1" i="0">
                <a:solidFill>
                  <a:srgbClr val="1E3A8A"/>
                </a:solidFill>
                <a:latin typeface="Segoe UI"/>
              </a:rPr>
              <a:t>Hephzibah Uchechukwu</a:t>
            </a:r>
          </a:p>
        </p:txBody>
      </p:sp>
      <p:sp>
        <p:nvSpPr>
          <p:cNvPr id="8" name="Rounded Rectangle 7"/>
          <p:cNvSpPr/>
          <p:nvPr/>
        </p:nvSpPr>
        <p:spPr>
          <a:xfrm>
            <a:off x="566928" y="1883664"/>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883664"/>
            <a:ext cx="45720" cy="859536"/>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029968"/>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A real product, not a mock-up</a:t>
            </a:r>
          </a:p>
        </p:txBody>
      </p:sp>
      <p:sp>
        <p:nvSpPr>
          <p:cNvPr id="11" name="TextBox 10"/>
          <p:cNvSpPr txBox="1"/>
          <p:nvPr/>
        </p:nvSpPr>
        <p:spPr>
          <a:xfrm>
            <a:off x="804672" y="2313432"/>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15 routes, 21 components, 5 API routes, 10 database tables and a live deployment — all in this repository.</a:t>
            </a:r>
          </a:p>
        </p:txBody>
      </p:sp>
      <p:sp>
        <p:nvSpPr>
          <p:cNvPr id="12" name="Rounded Rectangle 11"/>
          <p:cNvSpPr/>
          <p:nvPr/>
        </p:nvSpPr>
        <p:spPr>
          <a:xfrm>
            <a:off x="566928" y="2852928"/>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66928" y="2852928"/>
            <a:ext cx="45720" cy="85953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2" y="2999232"/>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Trust is designed in</a:t>
            </a:r>
          </a:p>
        </p:txBody>
      </p:sp>
      <p:sp>
        <p:nvSpPr>
          <p:cNvPr id="15" name="TextBox 14"/>
          <p:cNvSpPr txBox="1"/>
          <p:nvPr/>
        </p:nvSpPr>
        <p:spPr>
          <a:xfrm>
            <a:off x="804672" y="3282696"/>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verification queue, verified badge, reviews bound to completed bookings, and a rating trigger that keeps the score honest.</a:t>
            </a:r>
          </a:p>
        </p:txBody>
      </p:sp>
      <p:sp>
        <p:nvSpPr>
          <p:cNvPr id="16" name="Rounded Rectangle 15"/>
          <p:cNvSpPr/>
          <p:nvPr/>
        </p:nvSpPr>
        <p:spPr>
          <a:xfrm>
            <a:off x="566928" y="3822191"/>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66928" y="3822191"/>
            <a:ext cx="45720" cy="8595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2" y="3968496"/>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Matching you can explain</a:t>
            </a:r>
          </a:p>
        </p:txBody>
      </p:sp>
      <p:sp>
        <p:nvSpPr>
          <p:cNvPr id="19" name="TextBox 18"/>
          <p:cNvSpPr txBox="1"/>
          <p:nvPr/>
        </p:nvSpPr>
        <p:spPr>
          <a:xfrm>
            <a:off x="804672" y="4251959"/>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a deterministic rules engine that filters, scores, ranks and justifies every recommendation.</a:t>
            </a:r>
          </a:p>
        </p:txBody>
      </p:sp>
      <p:sp>
        <p:nvSpPr>
          <p:cNvPr id="20" name="Rounded Rectangle 19"/>
          <p:cNvSpPr/>
          <p:nvPr/>
        </p:nvSpPr>
        <p:spPr>
          <a:xfrm>
            <a:off x="566928" y="4791456"/>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66928" y="4791456"/>
            <a:ext cx="45720" cy="859536"/>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4672" y="4937760"/>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A clean base to grow from</a:t>
            </a:r>
          </a:p>
        </p:txBody>
      </p:sp>
      <p:sp>
        <p:nvSpPr>
          <p:cNvPr id="23" name="TextBox 22"/>
          <p:cNvSpPr txBox="1"/>
          <p:nvPr/>
        </p:nvSpPr>
        <p:spPr>
          <a:xfrm>
            <a:off x="804672" y="5221224"/>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the schema, the API and the component library are all documented and ready for the next feature.</a:t>
            </a:r>
          </a:p>
        </p:txBody>
      </p:sp>
      <p:sp>
        <p:nvSpPr>
          <p:cNvPr id="24" name="Rounded Rectangle 23"/>
          <p:cNvSpPr/>
          <p:nvPr/>
        </p:nvSpPr>
        <p:spPr>
          <a:xfrm>
            <a:off x="7397496" y="1883664"/>
            <a:ext cx="4227271" cy="2761488"/>
          </a:xfrm>
          <a:prstGeom prst="roundRect">
            <a:avLst>
              <a:gd name="adj" fmla="val 5000"/>
            </a:avLst>
          </a:prstGeom>
          <a:gradFill rotWithShape="1">
            <a:gsLst>
              <a:gs pos="0">
                <a:srgbClr val="1E3A8A"/>
              </a:gs>
              <a:gs pos="100000">
                <a:srgbClr val="2563EB"/>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71816" y="2121408"/>
            <a:ext cx="3678631" cy="274320"/>
          </a:xfrm>
          <a:prstGeom prst="rect">
            <a:avLst/>
          </a:prstGeom>
          <a:noFill/>
        </p:spPr>
        <p:txBody>
          <a:bodyPr wrap="square" lIns="0" rIns="0" tIns="0" bIns="0" anchor="t">
            <a:spAutoFit/>
          </a:bodyPr>
          <a:lstStyle/>
          <a:p>
            <a:pPr algn="l">
              <a:lnSpc>
                <a:spcPct val="118000"/>
              </a:lnSpc>
              <a:spcBef>
                <a:spcPts val="0"/>
              </a:spcBef>
              <a:spcAft>
                <a:spcPts val="0"/>
              </a:spcAft>
            </a:pPr>
            <a:r>
              <a:rPr sz="1000" b="1" i="0" cap="all" spc="120">
                <a:solidFill>
                  <a:srgbClr val="10B981"/>
                </a:solidFill>
                <a:latin typeface="Segoe UI"/>
              </a:rPr>
              <a:t>OUR NEXT STEP</a:t>
            </a:r>
          </a:p>
        </p:txBody>
      </p:sp>
      <p:sp>
        <p:nvSpPr>
          <p:cNvPr id="26" name="TextBox 25"/>
          <p:cNvSpPr txBox="1"/>
          <p:nvPr/>
        </p:nvSpPr>
        <p:spPr>
          <a:xfrm>
            <a:off x="7671816" y="2450592"/>
            <a:ext cx="3678631" cy="731520"/>
          </a:xfrm>
          <a:prstGeom prst="rect">
            <a:avLst/>
          </a:prstGeom>
          <a:noFill/>
        </p:spPr>
        <p:txBody>
          <a:bodyPr wrap="square" lIns="0" rIns="0" tIns="0" bIns="0" anchor="t">
            <a:spAutoFit/>
          </a:bodyPr>
          <a:lstStyle/>
          <a:p>
            <a:pPr algn="l">
              <a:lnSpc>
                <a:spcPct val="110000"/>
              </a:lnSpc>
              <a:spcBef>
                <a:spcPts val="0"/>
              </a:spcBef>
              <a:spcAft>
                <a:spcPts val="0"/>
              </a:spcAft>
            </a:pPr>
            <a:r>
              <a:rPr sz="1700" b="1" i="0">
                <a:solidFill>
                  <a:srgbClr val="FFFFFF"/>
                </a:solidFill>
                <a:latin typeface="Segoe UI Semibold"/>
              </a:rPr>
              <a:t>From a working platform to a trusted national service.</a:t>
            </a:r>
          </a:p>
        </p:txBody>
      </p:sp>
      <p:sp>
        <p:nvSpPr>
          <p:cNvPr id="27" name="Rounded Rectangle 26"/>
          <p:cNvSpPr/>
          <p:nvPr/>
        </p:nvSpPr>
        <p:spPr>
          <a:xfrm>
            <a:off x="7671816" y="3337560"/>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91271" y="3273552"/>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Protect the dashboards with server-side middleware</a:t>
            </a:r>
          </a:p>
        </p:txBody>
      </p:sp>
      <p:sp>
        <p:nvSpPr>
          <p:cNvPr id="29" name="Rounded Rectangle 28"/>
          <p:cNvSpPr/>
          <p:nvPr/>
        </p:nvSpPr>
        <p:spPr>
          <a:xfrm>
            <a:off x="7671816" y="3666744"/>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91271" y="3602736"/>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Automate testing and add CI to every pull request</a:t>
            </a:r>
          </a:p>
        </p:txBody>
      </p:sp>
      <p:sp>
        <p:nvSpPr>
          <p:cNvPr id="31" name="Rounded Rectangle 30"/>
          <p:cNvSpPr/>
          <p:nvPr/>
        </p:nvSpPr>
        <p:spPr>
          <a:xfrm>
            <a:off x="7671816" y="3995928"/>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891271" y="3931920"/>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Integrate payments, escrow and tutor payouts</a:t>
            </a:r>
          </a:p>
        </p:txBody>
      </p:sp>
      <p:sp>
        <p:nvSpPr>
          <p:cNvPr id="33" name="Rounded Rectangle 32"/>
          <p:cNvSpPr/>
          <p:nvPr/>
        </p:nvSpPr>
        <p:spPr>
          <a:xfrm>
            <a:off x="7671816" y="4325112"/>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91271" y="4261104"/>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Add WhatsApp and email notifications for every booking event</a:t>
            </a:r>
          </a:p>
        </p:txBody>
      </p:sp>
      <p:sp>
        <p:nvSpPr>
          <p:cNvPr id="35" name="Rounded Rectangle 34"/>
          <p:cNvSpPr/>
          <p:nvPr/>
        </p:nvSpPr>
        <p:spPr>
          <a:xfrm>
            <a:off x="566928" y="5779008"/>
            <a:ext cx="6537960" cy="658368"/>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2960" y="5925312"/>
            <a:ext cx="6025896" cy="365759"/>
          </a:xfrm>
          <a:prstGeom prst="rect">
            <a:avLst/>
          </a:prstGeom>
          <a:noFill/>
        </p:spPr>
        <p:txBody>
          <a:bodyPr wrap="square" lIns="0" rIns="0" tIns="0" bIns="0" anchor="ctr">
            <a:spAutoFit/>
          </a:bodyPr>
          <a:lstStyle/>
          <a:p>
            <a:pPr algn="l">
              <a:lnSpc>
                <a:spcPct val="120000"/>
              </a:lnSpc>
            </a:pPr>
            <a:r>
              <a:rPr sz="1150" b="1" i="0">
                <a:solidFill>
                  <a:srgbClr val="1E3A8A"/>
                </a:solidFill>
                <a:latin typeface="Segoe UI"/>
              </a:rPr>
              <a:t>Open by design:  </a:t>
            </a:r>
            <a:r>
              <a:rPr sz="1150" b="0" i="0">
                <a:solidFill>
                  <a:srgbClr val="475569"/>
                </a:solidFill>
                <a:latin typeface="Segoe UI"/>
              </a:rPr>
              <a:t>TutorConnect Nigeria is open source under the MIT licence — the code, the schema and the design system are ready to be reused and extended.</a:t>
            </a:r>
          </a:p>
        </p:txBody>
      </p:sp>
      <p:cxnSp>
        <p:nvCxnSpPr>
          <p:cNvPr id="37" name="Connector 36"/>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4A3B8"/>
                </a:solidFill>
                <a:latin typeface="Segoe UI"/>
              </a:rPr>
              <a:t>TutorConnect Nigeria  ·  Edumentry AI Hackathon 1.0</a:t>
            </a:r>
          </a:p>
        </p:txBody>
      </p:sp>
      <p:sp>
        <p:nvSpPr>
          <p:cNvPr id="39" name="TextBox 38"/>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111E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hero-tutor.jpg"/>
          <p:cNvPicPr>
            <a:picLocks noChangeAspect="1"/>
          </p:cNvPicPr>
          <p:nvPr/>
        </p:nvPicPr>
        <p:blipFill>
          <a:blip r:embed="rId2"/>
          <a:srcRect t="27343" b="27343"/>
          <a:stretch>
            <a:fillRect/>
          </a:stretch>
        </p:blipFill>
        <p:spPr>
          <a:xfrm>
            <a:off x="0" y="0"/>
            <a:ext cx="12191695" cy="6858000"/>
          </a:xfrm>
          <a:prstGeom prst="rect">
            <a:avLst/>
          </a:prstGeom>
        </p:spPr>
      </p:pic>
      <p:sp>
        <p:nvSpPr>
          <p:cNvPr id="4" name="Rectangle 3"/>
          <p:cNvSpPr/>
          <p:nvPr/>
        </p:nvSpPr>
        <p:spPr>
          <a:xfrm>
            <a:off x="-45720" y="-45720"/>
            <a:ext cx="12283135" cy="6949440"/>
          </a:xfrm>
          <a:prstGeom prst="rect">
            <a:avLst/>
          </a:prstGeom>
          <a:solidFill>
            <a:srgbClr val="111E46">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5720" y="-45720"/>
            <a:ext cx="12283135" cy="6949440"/>
          </a:xfrm>
          <a:prstGeom prst="rect">
            <a:avLst/>
          </a:prstGeom>
          <a:solidFill>
            <a:srgbClr val="1E3A8A">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0" y="0"/>
            <a:ext cx="12191695" cy="822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7071183" y="0"/>
            <a:ext cx="5120511" cy="8229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0" y="1417320"/>
            <a:ext cx="12191695" cy="310896"/>
          </a:xfrm>
          <a:prstGeom prst="rect">
            <a:avLst/>
          </a:prstGeom>
          <a:noFill/>
        </p:spPr>
        <p:txBody>
          <a:bodyPr wrap="square" lIns="0" rIns="0" tIns="0" bIns="0" anchor="t">
            <a:spAutoFit/>
          </a:bodyPr>
          <a:lstStyle/>
          <a:p>
            <a:pPr algn="ctr">
              <a:lnSpc>
                <a:spcPct val="118000"/>
              </a:lnSpc>
              <a:spcBef>
                <a:spcPts val="0"/>
              </a:spcBef>
              <a:spcAft>
                <a:spcPts val="0"/>
              </a:spcAft>
            </a:pPr>
            <a:r>
              <a:rPr sz="1200" b="1" i="0" cap="all" spc="160">
                <a:solidFill>
                  <a:srgbClr val="10B981"/>
                </a:solidFill>
                <a:latin typeface="Segoe UI"/>
              </a:rPr>
              <a:t>EDUMENTRY AI HACKATHON 1.0</a:t>
            </a:r>
          </a:p>
        </p:txBody>
      </p:sp>
      <p:sp>
        <p:nvSpPr>
          <p:cNvPr id="9" name="TextBox 8"/>
          <p:cNvSpPr txBox="1"/>
          <p:nvPr/>
        </p:nvSpPr>
        <p:spPr>
          <a:xfrm>
            <a:off x="0" y="1874519"/>
            <a:ext cx="12191695" cy="914400"/>
          </a:xfrm>
          <a:prstGeom prst="rect">
            <a:avLst/>
          </a:prstGeom>
          <a:noFill/>
        </p:spPr>
        <p:txBody>
          <a:bodyPr wrap="square" lIns="0" rIns="0" tIns="0" bIns="0" anchor="t">
            <a:spAutoFit/>
          </a:bodyPr>
          <a:lstStyle/>
          <a:p>
            <a:pPr algn="ctr">
              <a:lnSpc>
                <a:spcPct val="100000"/>
              </a:lnSpc>
              <a:spcBef>
                <a:spcPts val="0"/>
              </a:spcBef>
              <a:spcAft>
                <a:spcPts val="0"/>
              </a:spcAft>
            </a:pPr>
            <a:r>
              <a:rPr sz="5800" b="1" i="0">
                <a:solidFill>
                  <a:srgbClr val="FFFFFF"/>
                </a:solidFill>
                <a:latin typeface="Segoe UI Semibold"/>
              </a:rPr>
              <a:t>THANK YOU</a:t>
            </a:r>
          </a:p>
        </p:txBody>
      </p:sp>
      <p:sp>
        <p:nvSpPr>
          <p:cNvPr id="10" name="Rounded Rectangle 9"/>
          <p:cNvSpPr/>
          <p:nvPr/>
        </p:nvSpPr>
        <p:spPr>
          <a:xfrm>
            <a:off x="5410047" y="2926080"/>
            <a:ext cx="1371600" cy="5029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0" y="3182112"/>
            <a:ext cx="12191695" cy="384048"/>
          </a:xfrm>
          <a:prstGeom prst="rect">
            <a:avLst/>
          </a:prstGeom>
          <a:noFill/>
        </p:spPr>
        <p:txBody>
          <a:bodyPr wrap="square" lIns="0" rIns="0" tIns="0" bIns="0" anchor="t">
            <a:spAutoFit/>
          </a:bodyPr>
          <a:lstStyle/>
          <a:p>
            <a:pPr algn="ctr">
              <a:lnSpc>
                <a:spcPct val="118000"/>
              </a:lnSpc>
              <a:spcBef>
                <a:spcPts val="0"/>
              </a:spcBef>
              <a:spcAft>
                <a:spcPts val="0"/>
              </a:spcAft>
            </a:pPr>
            <a:r>
              <a:rPr sz="1700" b="0" i="0">
                <a:solidFill>
                  <a:srgbClr val="BFDBFE"/>
                </a:solidFill>
                <a:latin typeface="Segoe UI"/>
              </a:rPr>
              <a:t>Questions, feedback and collaboration are welcome</a:t>
            </a:r>
          </a:p>
        </p:txBody>
      </p:sp>
      <p:sp>
        <p:nvSpPr>
          <p:cNvPr id="12" name="TextBox 11"/>
          <p:cNvSpPr txBox="1"/>
          <p:nvPr/>
        </p:nvSpPr>
        <p:spPr>
          <a:xfrm>
            <a:off x="0" y="3611880"/>
            <a:ext cx="12191695" cy="310896"/>
          </a:xfrm>
          <a:prstGeom prst="rect">
            <a:avLst/>
          </a:prstGeom>
          <a:noFill/>
        </p:spPr>
        <p:txBody>
          <a:bodyPr wrap="square" lIns="0" rIns="0" tIns="0" bIns="0" anchor="t">
            <a:spAutoFit/>
          </a:bodyPr>
          <a:lstStyle/>
          <a:p>
            <a:pPr algn="ctr">
              <a:lnSpc>
                <a:spcPct val="118000"/>
              </a:lnSpc>
              <a:spcBef>
                <a:spcPts val="0"/>
              </a:spcBef>
              <a:spcAft>
                <a:spcPts val="0"/>
              </a:spcAft>
            </a:pPr>
            <a:r>
              <a:rPr sz="1200" b="0" i="0">
                <a:solidFill>
                  <a:srgbClr val="A9BEE8"/>
                </a:solidFill>
                <a:latin typeface="Segoe UI"/>
              </a:rPr>
              <a:t>TutorConnect Nigeria  ·  A Tutor and Student Matching Platform</a:t>
            </a:r>
          </a:p>
        </p:txBody>
      </p:sp>
      <p:sp>
        <p:nvSpPr>
          <p:cNvPr id="13" name="Rectangle 12"/>
          <p:cNvSpPr/>
          <p:nvPr/>
        </p:nvSpPr>
        <p:spPr>
          <a:xfrm>
            <a:off x="0" y="4315968"/>
            <a:ext cx="12191695" cy="1188720"/>
          </a:xfrm>
          <a:prstGeom prst="rect">
            <a:avLst/>
          </a:prstGeom>
          <a:solidFill>
            <a:srgbClr val="111E46">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4" name="Connector 13"/>
          <p:cNvCxnSpPr/>
          <p:nvPr/>
        </p:nvCxnSpPr>
        <p:spPr>
          <a:xfrm>
            <a:off x="0" y="4315968"/>
            <a:ext cx="12191695" cy="0"/>
          </a:xfrm>
          <a:prstGeom prst="line">
            <a:avLst/>
          </a:prstGeom>
          <a:ln w="12700">
            <a:solidFill>
              <a:srgbClr val="3B528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7240"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777240" y="4535424"/>
            <a:ext cx="45720" cy="7680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41832"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Hephzibah Uchechukwu</a:t>
            </a:r>
          </a:p>
        </p:txBody>
      </p:sp>
      <p:sp>
        <p:nvSpPr>
          <p:cNvPr id="18" name="TextBox 17"/>
          <p:cNvSpPr txBox="1"/>
          <p:nvPr/>
        </p:nvSpPr>
        <p:spPr>
          <a:xfrm>
            <a:off x="941832"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Team Leader</a:t>
            </a:r>
          </a:p>
        </p:txBody>
      </p:sp>
      <p:sp>
        <p:nvSpPr>
          <p:cNvPr id="19" name="Rounded Rectangle 18"/>
          <p:cNvSpPr/>
          <p:nvPr/>
        </p:nvSpPr>
        <p:spPr>
          <a:xfrm>
            <a:off x="3473119"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473119" y="4535424"/>
            <a:ext cx="45720" cy="76809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37711"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Chioma Helen Ezeufonna</a:t>
            </a:r>
          </a:p>
        </p:txBody>
      </p:sp>
      <p:sp>
        <p:nvSpPr>
          <p:cNvPr id="22" name="TextBox 21"/>
          <p:cNvSpPr txBox="1"/>
          <p:nvPr/>
        </p:nvSpPr>
        <p:spPr>
          <a:xfrm>
            <a:off x="3637711"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Backend</a:t>
            </a:r>
          </a:p>
        </p:txBody>
      </p:sp>
      <p:sp>
        <p:nvSpPr>
          <p:cNvPr id="23" name="Rounded Rectangle 22"/>
          <p:cNvSpPr/>
          <p:nvPr/>
        </p:nvSpPr>
        <p:spPr>
          <a:xfrm>
            <a:off x="6168999"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168999" y="4535424"/>
            <a:ext cx="45720" cy="768096"/>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33591"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Uzochukwu Mary Cynthia Enyemakachukwu</a:t>
            </a:r>
          </a:p>
        </p:txBody>
      </p:sp>
      <p:sp>
        <p:nvSpPr>
          <p:cNvPr id="26" name="TextBox 25"/>
          <p:cNvSpPr txBox="1"/>
          <p:nvPr/>
        </p:nvSpPr>
        <p:spPr>
          <a:xfrm>
            <a:off x="6333591"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Database</a:t>
            </a:r>
          </a:p>
        </p:txBody>
      </p:sp>
      <p:sp>
        <p:nvSpPr>
          <p:cNvPr id="27" name="Rounded Rectangle 26"/>
          <p:cNvSpPr/>
          <p:nvPr/>
        </p:nvSpPr>
        <p:spPr>
          <a:xfrm>
            <a:off x="8864879"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864879" y="4535424"/>
            <a:ext cx="45720" cy="768096"/>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029471"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Bodman Ebuka Precious</a:t>
            </a:r>
          </a:p>
        </p:txBody>
      </p:sp>
      <p:sp>
        <p:nvSpPr>
          <p:cNvPr id="30" name="TextBox 29"/>
          <p:cNvSpPr txBox="1"/>
          <p:nvPr/>
        </p:nvSpPr>
        <p:spPr>
          <a:xfrm>
            <a:off x="9029471"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Deployment &amp; QA</a:t>
            </a:r>
          </a:p>
        </p:txBody>
      </p:sp>
      <p:sp>
        <p:nvSpPr>
          <p:cNvPr id="31" name="TextBox 30"/>
          <p:cNvSpPr txBox="1"/>
          <p:nvPr/>
        </p:nvSpPr>
        <p:spPr>
          <a:xfrm>
            <a:off x="0" y="5742432"/>
            <a:ext cx="12191695" cy="274320"/>
          </a:xfrm>
          <a:prstGeom prst="rect">
            <a:avLst/>
          </a:prstGeom>
          <a:noFill/>
        </p:spPr>
        <p:txBody>
          <a:bodyPr wrap="square" lIns="0" rIns="0" tIns="0" bIns="0" anchor="t">
            <a:spAutoFit/>
          </a:bodyPr>
          <a:lstStyle/>
          <a:p>
            <a:pPr algn="ctr">
              <a:lnSpc>
                <a:spcPct val="118000"/>
              </a:lnSpc>
              <a:spcBef>
                <a:spcPts val="0"/>
              </a:spcBef>
              <a:spcAft>
                <a:spcPts val="0"/>
              </a:spcAft>
            </a:pPr>
            <a:r>
              <a:rPr sz="1100" b="0" i="0">
                <a:solidFill>
                  <a:srgbClr val="93A9D4"/>
                </a:solidFill>
                <a:latin typeface="Segoe UI"/>
              </a:rPr>
              <a:t>tutor-connect-ng.vercel.app     ·     github.com/zibahofficial/TutorConnectNg     ·     MIT Licensed</a:t>
            </a:r>
          </a:p>
        </p:txBody>
      </p:sp>
      <p:sp>
        <p:nvSpPr>
          <p:cNvPr id="32" name="TextBox 31"/>
          <p:cNvSpPr txBox="1"/>
          <p:nvPr/>
        </p:nvSpPr>
        <p:spPr>
          <a:xfrm>
            <a:off x="0" y="6126480"/>
            <a:ext cx="12191695" cy="274320"/>
          </a:xfrm>
          <a:prstGeom prst="rect">
            <a:avLst/>
          </a:prstGeom>
          <a:noFill/>
        </p:spPr>
        <p:txBody>
          <a:bodyPr wrap="square" lIns="0" rIns="0" tIns="0" bIns="0" anchor="t">
            <a:spAutoFit/>
          </a:bodyPr>
          <a:lstStyle/>
          <a:p>
            <a:pPr algn="ctr">
              <a:lnSpc>
                <a:spcPct val="118000"/>
              </a:lnSpc>
              <a:spcBef>
                <a:spcPts val="0"/>
              </a:spcBef>
              <a:spcAft>
                <a:spcPts val="0"/>
              </a:spcAft>
            </a:pPr>
            <a:r>
              <a:rPr sz="900" b="0" i="0">
                <a:solidFill>
                  <a:srgbClr val="7C93C2"/>
                </a:solidFill>
                <a:latin typeface="Segoe UI"/>
              </a:rPr>
              <a:t>Next.js 16  ·  React 19  ·  TypeScript  ·  Tailwind CSS 4  ·  Neon Serverless PostgreSQL  ·  JWT  ·  Vercel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