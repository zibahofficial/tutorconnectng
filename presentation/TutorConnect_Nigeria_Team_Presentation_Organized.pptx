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Team Leader | about 30 seconds]</a:t>
            </a:r>
          </a:p>
          <a:p/>
          <a:p>
            <a:r>
              <a:t>Good morning, everyone. My name is Uchekwe Uchechukwu Hephzibah, and I am the team leader for TutorConnect Nigeria. On behalf of the whole team, thank you for giving us this time.</a:t>
            </a:r>
          </a:p>
          <a:p/>
          <a:p>
            <a:r>
              <a:t>Please look at the team names on the left side of the slide. We are five presenters, and each of us will explain one part of the project. I will open and close the presentation.</a:t>
            </a:r>
          </a:p>
          <a:p/>
          <a:p>
            <a:r>
              <a:t>What to say: TutorConnect Nigeria is a web application that helps Nigerian students and parents find tutors, look at their profiles, and send a booking request. It was built as a full-stack project with Next.js, React, and Neon PostgreSQL. The picture on the right is an illustrative AI-generated image from the project folder, not a screenshot of the app.</a:t>
            </a:r>
          </a:p>
          <a:p/>
          <a:p>
            <a:r>
              <a:t>Transition: "Let me show you how the presentation is organised, so you know when each of us will speak." Move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 about 60 seconds]</a:t>
            </a:r>
          </a:p>
          <a:p/>
          <a:p>
            <a:r>
              <a:t>This slide is the speaking order. Please keep it on screen for a moment so every presenter can find their name.</a:t>
            </a:r>
          </a:p>
          <a:p/>
          <a:p>
            <a:r>
              <a:t>Read the table row by row: Hephzibah, then Chioma, Mary Cynthia, Bodman, and Pius. I will return at the end for the conclusion.</a:t>
            </a:r>
          </a:p>
          <a:p/>
          <a:p>
            <a:r>
              <a:t>Timing for the whole talk: about 17 minutes. My section is about 3.5 minutes. Each of the other four sections is about 3 minutes. The conclusion takes about 1 minute. Please keep to your time, because the next presenter is waiting for their handover.</a:t>
            </a:r>
          </a:p>
          <a:p/>
          <a:p>
            <a:r>
              <a:t>What each presenter should remember:</a:t>
            </a:r>
          </a:p>
          <a:p>
            <a:r>
              <a:t>- Hephzibah: introduce the project and the problem, and explain who the app is for.</a:t>
            </a:r>
          </a:p>
          <a:p>
            <a:r>
              <a:t>- Chioma: explain the frontend and show the real screens.</a:t>
            </a:r>
          </a:p>
          <a:p>
            <a:r>
              <a:t>- Mary Cynthia: walk through how a user finds a tutor and sends a booking request.</a:t>
            </a:r>
          </a:p>
          <a:p>
            <a:r>
              <a:t>- Bodman: explain the backend, the API routes, and login security.</a:t>
            </a:r>
          </a:p>
          <a:p>
            <a:r>
              <a:t>- Pius: explain the database, how it is deployed, its limitations, and the proposed revenue model, which is only a proposal.</a:t>
            </a:r>
          </a:p>
          <a:p/>
          <a:p>
            <a:r>
              <a:t>Transition: "Let's start with the introduction." Move to slide 3, the start of my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 PRESENTER 1: Uchekwe Uchechukwu Hephzibah, Team Leader | about 20 seconds]</a:t>
            </a:r>
          </a:p>
          <a:p/>
          <a:p>
            <a:r>
              <a:t>This slide marks the start of Presenter 1's section. Say the name clearly, then move straight to the first content slide.</a:t>
            </a:r>
          </a:p>
          <a:p/>
          <a:p>
            <a:r>
              <a:t>What to say: "My name is Uchekwe Uchechukwu Hephzibah. I am the team leader. In this part I will introduce TutorConnect Nigeria, explain the problem it addresses, state our aim and objectives, and describe the people it is built for and its main features."</a:t>
            </a:r>
          </a:p>
          <a:p/>
          <a:p>
            <a:r>
              <a:t>Transition: Click to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 about 75 seconds]</a:t>
            </a:r>
          </a:p>
          <a:p/>
          <a:p>
            <a:r>
              <a:t>What this slide means: it explains why the project exists. Before we describe the solution, we must describe the problem.</a:t>
            </a:r>
          </a:p>
          <a:p/>
          <a:p>
            <a:r>
              <a:t>Key points to explain, in plain English:</a:t>
            </a:r>
          </a:p>
          <a:p>
            <a:r>
              <a:t>1. Parents often rely on word of mouth to find a tutor. That makes it hard to compare options fairly.</a:t>
            </a:r>
          </a:p>
          <a:p>
            <a:r>
              <a:t>2. Students with exams coming up need regular sessions that fit around school. Arranging times can take many messages.</a:t>
            </a:r>
          </a:p>
          <a:p>
            <a:r>
              <a:t>3. Good tutors can be hard to find if they do not already have a network.</a:t>
            </a:r>
          </a:p>
          <a:p>
            <a:r>
              <a:t>4. Families need some assurance that a tutor is genuine before they pay.</a:t>
            </a:r>
          </a:p>
          <a:p/>
          <a:p>
            <a:r>
              <a:t>Be clear that these four scenarios are illustrative. They are not survey results, and we have not invented any figures for them. If someone asks for numbers, say the project does not claim statistics about the market.</a:t>
            </a:r>
          </a:p>
          <a:p/>
          <a:p>
            <a:r>
              <a:t>How TutorConnect responds (one sentence): it provides a searchable directory of tutors, shows their profiles and availability, lets families send a booking request, and only shows tutors after an administrator has verified them.</a:t>
            </a:r>
          </a:p>
          <a:p/>
          <a:p>
            <a:r>
              <a:t>Image or diagram: none on this slide. The text is the message.</a:t>
            </a:r>
          </a:p>
          <a:p/>
          <a:p>
            <a:r>
              <a:t>Transition: "Now that you have seen the problem, let me explain what we set out to build." Move to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 about 90 seconds]</a:t>
            </a:r>
          </a:p>
          <a:p/>
          <a:p>
            <a:r>
              <a:t>What this slide means: this is the summary of the project. It tells the audience what we set out to do, who it is for, and what the application includes.</a:t>
            </a:r>
          </a:p>
          <a:p/>
          <a:p>
            <a:r>
              <a:t>Aim: to make it simpler and more transparent for Nigerian families to find and book a tutor.</a:t>
            </a:r>
          </a:p>
          <a:p/>
          <a:p>
            <a:r>
              <a:t>Objectives, in plain English:</a:t>
            </a:r>
          </a:p>
          <a:p>
            <a:r>
              <a:t>- Show verified tutor profiles, so only approved tutors are visible to the public.</a:t>
            </a:r>
          </a:p>
          <a:p>
            <a:r>
              <a:t>- Support searching and filtering by subject, budget, and availability.</a:t>
            </a:r>
          </a:p>
          <a:p>
            <a:r>
              <a:t>- Turn a booking into a request with a status that can change.</a:t>
            </a:r>
          </a:p>
          <a:p>
            <a:r>
              <a:t>- Collect ratings and reviews after sessions are completed.</a:t>
            </a:r>
          </a:p>
          <a:p/>
          <a:p>
            <a:r>
              <a:t>Intended users: students, parents, tutors, and administrators. Each one has a different view of the system, and each role has its own dashboard.</a:t>
            </a:r>
          </a:p>
          <a:p/>
          <a:p>
            <a:r>
              <a:t>Major features: point to the eight feature boxes. These features are present in the code. Two details to mention if asked:</a:t>
            </a:r>
          </a:p>
          <a:p>
            <a:r>
              <a:t>- Messaging is built into the app. It supports conversations between students or parents and tutors.</a:t>
            </a:r>
          </a:p>
          <a:p>
            <a:r>
              <a:t>- The filter and booking features depend on a connected database. Without one, the app shows empty states rather than invented tutors.</a:t>
            </a:r>
          </a:p>
          <a:p/>
          <a:p>
            <a:r>
              <a:t>Important honesty point: do not say the platform has thousands of tutors or users. The homepage contains marketing text such as "Trusted by 10,000+" and "98% Satisfaction". Those numbers are typed directly into the code and are not live measurements. Do not repeat them as facts.</a:t>
            </a:r>
          </a:p>
          <a:p/>
          <a:p>
            <a:r>
              <a:t>Transition: "The rest of the team will show you how these ideas are built. Chioma will start with the frontend." Move to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 about 25 seconds | END OF PRESENTER 1 SECTION]</a:t>
            </a:r>
          </a:p>
          <a:p/>
          <a:p>
            <a:r>
              <a:t>What to say on this slide: summarise the three things you have covered, then introduce the next presenter.</a:t>
            </a:r>
          </a:p>
          <a:p/>
          <a:p>
            <a:r>
              <a:t>Exact handover wording:</a:t>
            </a:r>
          </a:p>
          <a:p/>
          <a:p>
            <a:r>
              <a:t>"That concludes my introduction to TutorConnect Nigeria. I have explained the problem, our aim, the people the platform is built for, and its main features. I will now hand over to Chioma Helen Ezeufonna, who will explain the frontend technologies and show how the user interface supports students, parents, tutors, and administrators."</a:t>
            </a:r>
          </a:p>
          <a:p/>
          <a:p>
            <a:r>
              <a:t>Then say: "Chioma, over to you." Move to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 PRESENTER 2: Chioma Helen Ezeufonna, Frontend Development | about 20 seconds]</a:t>
            </a:r>
          </a:p>
          <a:p/>
          <a:p>
            <a:r>
              <a:t>Chioma, this is your section. Start by saying your name and your topic.</a:t>
            </a:r>
          </a:p>
          <a:p/>
          <a:p>
            <a:r>
              <a:t>What to say: "My name is Chioma Helen Ezeufonna. I will explain the frontend, which is the part of TutorConnect Nigeria that people see and click. I will show the technologies we used, how the screens are organised, and how the interface supports each type of user."</a:t>
            </a:r>
          </a:p>
          <a:p/>
          <a:p>
            <a:r>
              <a:t>Transition: Click to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Chioma Helen Ezeufonna | about 90 seconds]</a:t>
            </a:r>
          </a:p>
          <a:p/>
          <a:p>
            <a:r>
              <a:t>What this slide means: it lists the technologies behind the screens, and it explains what each one does. Remember that frontend means the part running in the user's browser.</a:t>
            </a:r>
          </a:p>
          <a:p/>
          <a:p>
            <a:r>
              <a:t>Key points, in plain English:</a:t>
            </a:r>
          </a:p>
          <a:p>
            <a:r>
              <a:t>- Next.js 16 with the App Router is the framework. The folder structure is the page structure: a folder called tutors becomes the /tutors page. Next.js also runs our API routes, which Bodman will explain.</a:t>
            </a:r>
          </a:p>
          <a:p>
            <a:r>
              <a:t>- React 19 builds the screen out of components. A tutor card, the booking modal, and the navbar are each a component that can be reused across pages.</a:t>
            </a:r>
          </a:p>
          <a:p>
            <a:r>
              <a:t>- TypeScript checks that data has the right shape. For example, a tutor always has a name, a rate, and a list of subjects.</a:t>
            </a:r>
          </a:p>
          <a:p>
            <a:r>
              <a:t>- Tailwind CSS v4 applies the styling. The colours are navy and indigo for the main brand, emerald for positive status, and amber for warm highlights.</a:t>
            </a:r>
          </a:p>
          <a:p>
            <a:r>
              <a:t>- Framer Motion adds motion, such as the animated Discover &amp; Learn and Teach and Earn toggle on the homepage.</a:t>
            </a:r>
          </a:p>
          <a:p>
            <a:r>
              <a:t>- lucide-react gives us the small icons.</a:t>
            </a:r>
          </a:p>
          <a:p>
            <a:r>
              <a:t>- Inter and Plus Jakarta Sans are the two fonts.</a:t>
            </a:r>
          </a:p>
          <a:p/>
          <a:p>
            <a:r>
              <a:t>Responsive design: say this carefully. The pages use Tailwind breakpoints, so the layout changes on smaller screens. The navbar has a menu button on mobile. Do not claim a full accessibility audit has been done.</a:t>
            </a:r>
          </a:p>
          <a:p/>
          <a:p>
            <a:r>
              <a:t>Transition: "Let me show you what those technologies look like on screen." Move to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Chioma Helen Ezeufonna | about 90 seconds]</a:t>
            </a:r>
          </a:p>
          <a:p/>
          <a:p>
            <a:r>
              <a:t>What this slide means: these are real screenshots of the running application, taken from the project locally. They are not mock-ups.</a:t>
            </a:r>
          </a:p>
          <a:p/>
          <a:p>
            <a:r>
              <a:t>Walk through the three screenshots from left to right:</a:t>
            </a:r>
          </a:p>
          <a:p>
            <a:r>
              <a:t>1. The homepage hero. The toggle at the top switches between Discover &amp; Learn for students and parents, and Teach and Earn for tutors. Point out the navigation bar at the top.</a:t>
            </a:r>
          </a:p>
          <a:p>
            <a:r>
              <a:t>2. The tutor search page. Be honest here. This screenshot was taken in a demo environment without a database connected, so the page correctly shows "No approved tutors yet". Tutors appear here only after they register and an administrator approves them. Explain that this is a feature, because the app never shows made-up tutors.</a:t>
            </a:r>
          </a:p>
          <a:p>
            <a:r>
              <a:t>3. The student dashboard. It has a sidebar for My Bookings, Saved Tutors, Certificates, Chat with Tutors, and Profile. This is a demo account with no bookings yet.</a:t>
            </a:r>
          </a:p>
          <a:p/>
          <a:p>
            <a:r>
              <a:t>Other facts to mention:</a:t>
            </a:r>
          </a:p>
          <a:p>
            <a:r>
              <a:t>- Each role has a dashboard: student and parent share one, tutors have their own, and administrators have an admin area.</a:t>
            </a:r>
          </a:p>
          <a:p>
            <a:r>
              <a:t>- The app is responsive. On a phone the navbar collapses into a menu button.</a:t>
            </a:r>
          </a:p>
          <a:p>
            <a:r>
              <a:t>- Note for the audience: the dashboards currently check the login token in the browser. The repository has no server-side middleware. This is a known limitation that Pius will mention later.</a:t>
            </a:r>
          </a:p>
          <a:p/>
          <a:p>
            <a:r>
              <a:t>Do not describe the homepage statistics or the testimonials as real. They are placeholder text in the code.</a:t>
            </a:r>
          </a:p>
          <a:p/>
          <a:p>
            <a:r>
              <a:t>Transition: "Chioma's part ends here. Next, Mary Cynthia will show how a family finds a tutor and sends a booking request." Move to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Chioma Helen Ezeufonna | about 25 seconds | END OF PRESENTER 2 SECTION]</a:t>
            </a:r>
          </a:p>
          <a:p/>
          <a:p>
            <a:r>
              <a:t>What to say: thank the audience briefly, summarise the frontend section, and introduce Mary Cynthia.</a:t>
            </a:r>
          </a:p>
          <a:p/>
          <a:p>
            <a:r>
              <a:t>Exact handover wording:</a:t>
            </a:r>
          </a:p>
          <a:p/>
          <a:p>
            <a:r>
              <a:t>"That concludes my presentation on frontend development and user interface design. I will now hand over to Uzochukwu Mary Cynthia Enyemakachukwu, who will explain how students and parents can discover tutors, view their profiles, and request bookings."</a:t>
            </a:r>
          </a:p>
          <a:p/>
          <a:p>
            <a:r>
              <a:t>Then say: "Mary Cynthia, over to you." Move to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 PRESENTER 3: Uzochukwu Mary Cynthia Enyemakachukwu, Tutor Discovery and Booking | about 20 seconds]</a:t>
            </a:r>
          </a:p>
          <a:p/>
          <a:p>
            <a:r>
              <a:t>Mary Cynthia, this is your section. Say your name clearly and your topic.</a:t>
            </a:r>
          </a:p>
          <a:p/>
          <a:p>
            <a:r>
              <a:t>What to say: "My name is Uzochukwu Mary Cynthia Enyemakachukwu. I will explain how a family finds a tutor, what they see on a tutor profile, and how a booking request moves through the system."</a:t>
            </a:r>
          </a:p>
          <a:p/>
          <a:p>
            <a:r>
              <a:t>Transition: Click to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Uzochukwu Mary Cynthia Enyemakachukwu | about 75 seconds]</a:t>
            </a:r>
          </a:p>
          <a:p/>
          <a:p>
            <a:r>
              <a:t>What this slide means: this is how a family moves from "I need a tutor" to "I think this one is suitable".</a:t>
            </a:r>
          </a:p>
          <a:p/>
          <a:p>
            <a:r>
              <a:t>Left side, finding a tutor:</a:t>
            </a:r>
          </a:p>
          <a:p>
            <a:r>
              <a:t>- The family types a subject or a tutor's name into the search box, or uses the filters.</a:t>
            </a:r>
          </a:p>
          <a:p>
            <a:r>
              <a:t>- The filters include budget, using a slider from 2,000 to 25,000 naira per hour, availability on weekdays or weekends, and curriculum.</a:t>
            </a:r>
          </a:p>
          <a:p>
            <a:r>
              <a:t>- The results come from the database, and only tutors the administrator has verified are returned. If nothing matches, the page explains that instead of showing made-up results.</a:t>
            </a:r>
          </a:p>
          <a:p/>
          <a:p>
            <a:r>
              <a:t>Right side, judging a tutor:</a:t>
            </a:r>
          </a:p>
          <a:p>
            <a:r>
              <a:t>- The profile shows the ID-verified badge, the headline, the bio, years of experience, the subjects, and the hourly rate.</a:t>
            </a:r>
          </a:p>
          <a:p>
            <a:r>
              <a:t>- Availability is a weekly calendar, so a family can see when the tutor is free.</a:t>
            </a:r>
          </a:p>
          <a:p>
            <a:r>
              <a:t>- The profile shows whether an ID and an academic credential have been uploaded. Be precise here: the upload status is shown, but the credentials themselves are reviewed by an administrator in the verification queue.</a:t>
            </a:r>
          </a:p>
          <a:p>
            <a:r>
              <a:t>- Reviews and star ratings come from completed bookings. A rating appears only after a session is completed and a student leaves a review.</a:t>
            </a:r>
          </a:p>
          <a:p/>
          <a:p>
            <a:r>
              <a:t>Image or diagram: none on this slide. The screenshot of the search page is on slide 9.</a:t>
            </a:r>
          </a:p>
          <a:p/>
          <a:p>
            <a:r>
              <a:t>Transition: "Once a family has chosen a tutor, the next step is the booking. Let me walk you through it." Move to slide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Uzochukwu Mary Cynthia Enyemakachukwu | about 90 seconds]</a:t>
            </a:r>
          </a:p>
          <a:p/>
          <a:p>
            <a:r>
              <a:t>What this slide means: this is the booking process as the application implements it. Walk the audience through the seven boxes from left to right, and pause at each arrow.</a:t>
            </a:r>
          </a:p>
          <a:p/>
          <a:p>
            <a:r>
              <a:t>Step by step:</a:t>
            </a:r>
          </a:p>
          <a:p>
            <a:r>
              <a:t>1. Choose a tutor on the /tutors page, then open the profile.</a:t>
            </a:r>
          </a:p>
          <a:p>
            <a:r>
              <a:t>2. Click Book Session. The modal asks for the grade level, the subject, the date, a time slot taken from the tutor's availability, whether the session is online or in person, and any notes.</a:t>
            </a:r>
          </a:p>
          <a:p>
            <a:r>
              <a:t>3. The modal shows a price estimate. The estimate is the tutor's hourly rate multiplied by the length of the session, with a minimum of one hour.</a:t>
            </a:r>
          </a:p>
          <a:p>
            <a:r>
              <a:t>4. The request is sent to the server and stored with the status pending. A guest can send a request too, and the booking is labelled "Guest Student".</a:t>
            </a:r>
          </a:p>
          <a:p>
            <a:r>
              <a:t>5. The tutor sees the request in their dashboard and accepts or rejects it. If the session is online, an accepted booking can carry a meeting link.</a:t>
            </a:r>
          </a:p>
          <a:p>
            <a:r>
              <a:t>6. When the session is finished, the status changes to completed.</a:t>
            </a:r>
          </a:p>
          <a:p>
            <a:r>
              <a:t>7. Only after completion can a student or parent leave a review, with a rating from 1 to 5. Each booking can have only one review. The database then updates the tutor's average rating automatically.</a:t>
            </a:r>
          </a:p>
          <a:p/>
          <a:p>
            <a:r>
              <a:t>Be honest about limitations, because the audience may ask:</a:t>
            </a:r>
          </a:p>
          <a:p>
            <a:r>
              <a:t>- The price is calculated in the browser, and the server stores the value it receives. Bodman will explain this further.</a:t>
            </a:r>
          </a:p>
          <a:p>
            <a:r>
              <a:t>- Payment is not processed. The app records a price. No money moves through TutorConnect at present.</a:t>
            </a:r>
          </a:p>
          <a:p/>
          <a:p>
            <a:r>
              <a:t>Transition: "Mary Cynthia has shown what the user does. Now Bodman will explain what happens behind the scenes when the user clicks the button." Move to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Uzochukwu Mary Cynthia Enyemakachukwu | about 25 seconds | END OF PRESENTER 3 SECTION]</a:t>
            </a:r>
          </a:p>
          <a:p/>
          <a:p>
            <a:r>
              <a:t>What to say: summarise the discovery and booking flow in one sentence, then introduce Bodman.</a:t>
            </a:r>
          </a:p>
          <a:p/>
          <a:p>
            <a:r>
              <a:t>Exact handover wording:</a:t>
            </a:r>
          </a:p>
          <a:p/>
          <a:p>
            <a:r>
              <a:t>"That concludes my presentation on tutor discovery, tutor profiles, and the booking workflow. I will now hand over to Bodman Ebuka Precous, who will explain the backend that receives these booking requests, checks who is logged in, and stores the data."</a:t>
            </a:r>
          </a:p>
          <a:p/>
          <a:p>
            <a:r>
              <a:t>Then say: "Bodman, over to you." Move to slide 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 PRESENTER 4: Bodman Ebuka Precous, Backend Development | about 20 seconds]</a:t>
            </a:r>
          </a:p>
          <a:p/>
          <a:p>
            <a:r>
              <a:t>Bodman, this is your section. Say your name clearly and your topic.</a:t>
            </a:r>
          </a:p>
          <a:p/>
          <a:p>
            <a:r>
              <a:t>What to say: "My name is Bodman Ebuka Precous. I will explain the backend, which is the part that receives requests from the browser, checks who is logged in, and reads or writes the data. I will also show the API routes and how the frontend calls them."</a:t>
            </a:r>
          </a:p>
          <a:p/>
          <a:p>
            <a:r>
              <a:t>Transition: Click to slide 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Bodman Ebuka Precous | about 90 seconds]</a:t>
            </a:r>
          </a:p>
          <a:p/>
          <a:p>
            <a:r>
              <a:t>What this slide means: the backend is the part of the application that the user never sees. In this project it is built with Next.js API routes. The backend lives in the same project as the frontend, in an app/api folder, and it runs as serverless functions when deployed.</a:t>
            </a:r>
          </a:p>
          <a:p/>
          <a:p>
            <a:r>
              <a:t>Plain-English explanation:</a:t>
            </a:r>
          </a:p>
          <a:p>
            <a:r>
              <a:t>- An API route is a file that receives a request and sends back a response, usually as JSON.</a:t>
            </a:r>
          </a:p>
          <a:p>
            <a:r>
              <a:t>- The table lists the five route groups. The auth route is large and works by action name. For example, a "login" action and a "signup" action both go to /api/auth.</a:t>
            </a:r>
          </a:p>
          <a:p>
            <a:r>
              <a:t>- Each route uses one of the HTTP methods: GET reads data, POST creates data, PATCH updates part of it, PUT updates, and DELETE removes it.</a:t>
            </a:r>
          </a:p>
          <a:p/>
          <a:p>
            <a:r>
              <a:t>Security, explained simply:</a:t>
            </a:r>
          </a:p>
          <a:p>
            <a:r>
              <a:t>- Passwords are never saved as plain text. bcryptjs turns a password into a scrambled value called a hash. Signup and login compare hashes, not the password itself.</a:t>
            </a:r>
          </a:p>
          <a:p>
            <a:r>
              <a:t>- After login, the server signs a JWT, which is a digitally signed token containing the user's id, email, and role. The signature uses a secret stored in an environment variable called JWT_SECRET. The secret is not in the code, and it must never be shown in a presentation. The token expires after 7 days.</a:t>
            </a:r>
          </a:p>
          <a:p>
            <a:r>
              <a:t>- Authentication means proving who you are. Authorisation means deciding what you are allowed to do. For example, the admin actions in the auth route check for the admin role.</a:t>
            </a:r>
          </a:p>
          <a:p/>
          <a:p>
            <a:r>
              <a:t>Be honest about the gaps in the red box, because they are real and the audience may ask:</a:t>
            </a:r>
          </a:p>
          <a:p>
            <a:r>
              <a:t>- The booking status change route checks that the user is logged in, but not that they are the tutor or an admin for that booking. This is listed as a limitation to fix.</a:t>
            </a:r>
          </a:p>
          <a:p>
            <a:r>
              <a:t>- Login does not check whether an account has been approved. A tutor who is not yet approved can log in, but is not shown publicly.</a:t>
            </a:r>
          </a:p>
          <a:p/>
          <a:p>
            <a:r>
              <a:t>Transition: "Now let me show how the frontend, the backend, and the database work together." Move to slide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Bodman Ebuka Precous | about 80 seconds]</a:t>
            </a:r>
          </a:p>
          <a:p/>
          <a:p>
            <a:r>
              <a:t>What this slide means: this is the big picture of how the parts talk to each other. Use the three boxes as the story, and the numbered steps underneath as one example.</a:t>
            </a:r>
          </a:p>
          <a:p/>
          <a:p>
            <a:r>
              <a:t>Beginner-friendly explanation:</a:t>
            </a:r>
          </a:p>
          <a:p>
            <a:r>
              <a:t>1. The browser is what the user sees. When a user clicks a button, the browser does not write to the database directly.</a:t>
            </a:r>
          </a:p>
          <a:p>
            <a:r>
              <a:t>2. Instead, the browser sends a request over HTTPS to one of our API routes. The request carries the login token and the data, usually as JSON.</a:t>
            </a:r>
          </a:p>
          <a:p>
            <a:r>
              <a:t>3. The API route checks the token, confirms the user's role, and applies the rule. For example, the tutor list only returns verified tutors.</a:t>
            </a:r>
          </a:p>
          <a:p>
            <a:r>
              <a:t>4. The API route then asks the database for the data, or saves new data.</a:t>
            </a:r>
          </a:p>
          <a:p>
            <a:r>
              <a:t>5. The database replies, the API route sends a JSON response, and the screen updates.</a:t>
            </a:r>
          </a:p>
          <a:p/>
          <a:p>
            <a:r>
              <a:t>Explain the words:</a:t>
            </a:r>
          </a:p>
          <a:p>
            <a:r>
              <a:t>- Frontend means the part in the browser.</a:t>
            </a:r>
          </a:p>
          <a:p>
            <a:r>
              <a:t>- Backend means the part on the server.</a:t>
            </a:r>
          </a:p>
          <a:p>
            <a:r>
              <a:t>- API means the set of doors the frontend knocks on. It is the agreed way of asking for something.</a:t>
            </a:r>
          </a:p>
          <a:p>
            <a:r>
              <a:t>- Database means the place where data is stored permanently.</a:t>
            </a:r>
          </a:p>
          <a:p/>
          <a:p>
            <a:r>
              <a:t>Diagram tip: point to each arrow, and say which direction the information travels.</a:t>
            </a:r>
          </a:p>
          <a:p/>
          <a:p>
            <a:r>
              <a:t>Important point about the database connection: the app connects to Neon using the Neon serverless driver over HTTP. The connection string is stored in the DATABASE_URL environment variable. Never display it. Only the variable name may be mentioned.</a:t>
            </a:r>
          </a:p>
          <a:p/>
          <a:p>
            <a:r>
              <a:t>Demo mode: if no database is configured, the app keeps login and chat in memory, which resets when the server restarts. Tutor and booking pages show empty states. We do not generate fake tutors or bookings.</a:t>
            </a:r>
          </a:p>
          <a:p/>
          <a:p>
            <a:r>
              <a:t>Transition: "That is how the parts communicate. Pius will now explain the database, how the system is deployed, and what we plan to improve." Move to slide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Bodman Ebuka Precous | about 25 seconds | END OF PRESENTER 4 SECTION]</a:t>
            </a:r>
          </a:p>
          <a:p/>
          <a:p>
            <a:r>
              <a:t>What to say: thank the audience and summarise the backend in one sentence.</a:t>
            </a:r>
          </a:p>
          <a:p/>
          <a:p>
            <a:r>
              <a:t>Exact handover wording:</a:t>
            </a:r>
          </a:p>
          <a:p/>
          <a:p>
            <a:r>
              <a:t>"That concludes my presentation on backend development and API integration. I will now hand over to Pius Kaosisochukwu Aminie, who will explain how the data is structured in the database, how the application is deployed, what its limitations are, and what we plan to improve."</a:t>
            </a:r>
          </a:p>
          <a:p/>
          <a:p>
            <a:r>
              <a:t>Then say: "Pius, over to you." Move to slide 19.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 PRESENTER 5: Pius Kaosisochukwu Aminie, Database, Architecture, and Deployment | about 20 seconds]</a:t>
            </a:r>
          </a:p>
          <a:p/>
          <a:p>
            <a:r>
              <a:t>Pius, this is your section. Say your name clearly and your topic.</a:t>
            </a:r>
          </a:p>
          <a:p/>
          <a:p>
            <a:r>
              <a:t>What to say: "My name is Pius Kaosisochukwu Aminie. I will explain where the data lives, how the tables are connected, how the application is deployed, what its current limitations are, and a revenue model we are proposing for the future. I will be clear about what is built and what is only proposed."</a:t>
            </a:r>
          </a:p>
          <a:p/>
          <a:p>
            <a:r>
              <a:t>Transition: Click to slide 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Pius Kaosisochukwu Aminie | about 85 seconds]</a:t>
            </a:r>
          </a:p>
          <a:p/>
          <a:p>
            <a:r>
              <a:t>What this slide means: this is the structure of the data. The database stores information permanently. Without it, the app would forget every account, tutor profile, and booking when the server restarted.</a:t>
            </a:r>
          </a:p>
          <a:p/>
          <a:p>
            <a:r>
              <a:t>Technology: the database is Neon Serverless PostgreSQL. PostgreSQL is a widely used relational database. A relational database stores data in tables, and tables are linked by keys. Neon is a hosted PostgreSQL service that the application reaches over HTTP.</a:t>
            </a:r>
          </a:p>
          <a:p/>
          <a:p>
            <a:r>
              <a:t>Read the main links on the diagram:</a:t>
            </a:r>
          </a:p>
          <a:p>
            <a:r>
              <a:t>- users to tutor_profiles: one account can have at most one tutor profile.</a:t>
            </a:r>
          </a:p>
          <a:p>
            <a:r>
              <a:t>- users to parent_profiles: one account can have one parent profile.</a:t>
            </a:r>
          </a:p>
          <a:p>
            <a:r>
              <a:t>- tutor_profiles to bookings: one tutor has many bookings.</a:t>
            </a:r>
          </a:p>
          <a:p>
            <a:r>
              <a:t>- tutor_profiles to tutor_subjects and tutor_availability: one tutor has many subjects and many weekly time slots.</a:t>
            </a:r>
          </a:p>
          <a:p>
            <a:r>
              <a:t>- bookings to reviews: a booking can have one review, and the database enforces that with a unique key.</a:t>
            </a:r>
          </a:p>
          <a:p/>
          <a:p>
            <a:r>
              <a:t>Explain the other tables in plain English:</a:t>
            </a:r>
          </a:p>
          <a:p>
            <a:r>
              <a:t>- users holds every account: students, parents, tutors, and administrators. Each account has a role and an account status.</a:t>
            </a:r>
          </a:p>
          <a:p>
            <a:r>
              <a:t>- tutor_profiles is an extension of users for tutors. It holds the headline, bio, hourly rate, experience, curriculum, and the rating summary.</a:t>
            </a:r>
          </a:p>
          <a:p>
            <a:r>
              <a:t>- tutor_subjects lists the subjects a tutor teaches, with a level such as WAEC or JAMB.</a:t>
            </a:r>
          </a:p>
          <a:p>
            <a:r>
              <a:t>- tutor_availability stores the weekly time slots when a tutor is free.</a:t>
            </a:r>
          </a:p>
          <a:p>
            <a:r>
              <a:t>- bookings holds each session request. It links to the student, the tutor, and optionally a subject. A booking with no student is a guest booking.</a:t>
            </a:r>
          </a:p>
          <a:p>
            <a:r>
              <a:t>- reviews holds ratings. A database trigger updates the tutor's average rating whenever a review is added, changed, or removed.</a:t>
            </a:r>
          </a:p>
          <a:p>
            <a:r>
              <a:t>- parent_profiles holds details for a parent, such as the child's name and learning mode. It was added in a migration file, so an older database can be updated safely.</a:t>
            </a:r>
          </a:p>
          <a:p>
            <a:r>
              <a:t>- tutor_documents and tutor_verifications support credential checks by the administrator.</a:t>
            </a:r>
          </a:p>
          <a:p>
            <a:r>
              <a:t>- messages stores conversations. Be accurate: these are stored as participant keys, not as enforced foreign keys.</a:t>
            </a:r>
          </a:p>
          <a:p/>
          <a:p>
            <a:r>
              <a:t>Other links not drawn for clarity: reviews reference the student and tutor, tutor documents and verifications reference users, and bookings can reference a subject. The full set is in the schema file in the project.</a:t>
            </a:r>
          </a:p>
          <a:p/>
          <a:p>
            <a:r>
              <a:t>Do not show any connection string or secret.</a:t>
            </a:r>
          </a:p>
          <a:p/>
          <a:p>
            <a:r>
              <a:t>Transition: "Next, let's look at how this system is deployed, and what its limitations are." Move to slide 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Pius Kaosisochukwu Aminie | about 85 seconds]</a:t>
            </a:r>
          </a:p>
          <a:p/>
          <a:p>
            <a:r>
              <a:t>What this slide means: how the application runs in the real world, what is not finished, and what we would do next. Be honest, because credibility matters more than polish.</a:t>
            </a:r>
          </a:p>
          <a:p/>
          <a:p>
            <a:r>
              <a:t>Deployment, step by step:</a:t>
            </a:r>
          </a:p>
          <a:p>
            <a:r>
              <a:t>- The source code lives in a GitHub repository.</a:t>
            </a:r>
          </a:p>
          <a:p>
            <a:r>
              <a:t>- Vercel is connected to that repository. It runs next build and deploys the pages and API routes as Node.js serverless functions. The README says no extra vercel.json file is needed.</a:t>
            </a:r>
          </a:p>
          <a:p>
            <a:r>
              <a:t>- The application connects to a Neon Postgres database. The connection string is stored in the DATABASE_URL environment variable in the Vercel project settings. Never show the value. Only the name may be mentioned.</a:t>
            </a:r>
          </a:p>
          <a:p>
            <a:r>
              <a:t>- JWT_SECRET is another environment variable used to sign login tokens. Again, only the name may be mentioned.</a:t>
            </a:r>
          </a:p>
          <a:p>
            <a:r>
              <a:t>- Local development is different from deployment. On a laptop, the developer runs npm run dev and can use a local environment file. Deployment runs on Vercel with the environment variables set in its dashboard.</a:t>
            </a:r>
          </a:p>
          <a:p/>
          <a:p>
            <a:r>
              <a:t>Limitations, stated plainly:</a:t>
            </a:r>
          </a:p>
          <a:p>
            <a:r>
              <a:t>- Dashboards are not protected on the server. There is no middleware file, so the browser checks the login token. This is a demo-stage design.</a:t>
            </a:r>
          </a:p>
          <a:p>
            <a:r>
              <a:t>- Booking status changes do not check that the caller owns the booking.</a:t>
            </a:r>
          </a:p>
          <a:p>
            <a:r>
              <a:t>- The booking price is calculated in the browser and the server stores the value it receives.</a:t>
            </a:r>
          </a:p>
          <a:p>
            <a:r>
              <a:t>- Login does not check the account approval status. Unapproved tutors are not shown publicly, but they can log in.</a:t>
            </a:r>
          </a:p>
          <a:p>
            <a:r>
              <a:t>- Signup accepts Gmail addresses only.</a:t>
            </a:r>
          </a:p>
          <a:p>
            <a:r>
              <a:t>- There is no payment processing.</a:t>
            </a:r>
          </a:p>
          <a:p>
            <a:r>
              <a:t>- The homepage shows "Trusted by 10,000+" and "98% Satisfaction", and the testimonials are placeholder text. Do not present them as real evidence. The team should correct this before any public launch.</a:t>
            </a:r>
          </a:p>
          <a:p>
            <a:r>
              <a:t>- The in-memory fallback used without a database resets on restart.</a:t>
            </a:r>
          </a:p>
          <a:p/>
          <a:p>
            <a:r>
              <a:t>Realistic next steps are in the right-hand column. Tell the audience these are proposals for future work.</a:t>
            </a:r>
          </a:p>
          <a:p/>
          <a:p>
            <a:r>
              <a:t>Transition: "Finally, Pius will describe one possible way the platform could earn money in future. This is a proposal, not something we have built." Move to slide 22.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Pius Kaosisochukwu Aminie | about 50 seconds]</a:t>
            </a:r>
          </a:p>
          <a:p/>
          <a:p>
            <a:r>
              <a:t>What this slide means: this is a possible way the platform could earn money in the future. The label at the top says it clearly, and you must say it aloud too: this is PROPOSED, and it is NOT implemented.</a:t>
            </a:r>
          </a:p>
          <a:p/>
          <a:p>
            <a:r>
              <a:t>What is true today: the bookings table stores a total price for each booking. That is all. There is no payment gateway, no commission logic, and no subscription system in the code. Do not say the platform takes payments or a commission.</a:t>
            </a:r>
          </a:p>
          <a:p/>
          <a:p>
            <a:r>
              <a:t>The four proposals, in plain English:</a:t>
            </a:r>
          </a:p>
          <a:p>
            <a:r>
              <a:t>1. A commission on each completed session. It would be a percentage of the booking's total price. It needs a secure payment flow first.</a:t>
            </a:r>
          </a:p>
          <a:p>
            <a:r>
              <a:t>2. Featured placement, where verified tutors pay to appear higher in search results. We would need to be transparent, so families know which results are promoted.</a:t>
            </a:r>
          </a:p>
          <a:p>
            <a:r>
              <a:t>3. A premium plan for parents, with progress summaries and priority matching. This is new functionality.</a:t>
            </a:r>
          </a:p>
          <a:p>
            <a:r>
              <a:t>4. Partnerships with schools or tutoring centres, who would pay for access to manage their own tutors.</a:t>
            </a:r>
          </a:p>
          <a:p/>
          <a:p>
            <a:r>
              <a:t>Say that the exact prices and percentages have not been decided, because this is a proposal for discussion.</a:t>
            </a:r>
          </a:p>
          <a:p/>
          <a:p>
            <a:r>
              <a:t>Handover back to the team leader, using this exact wording:</a:t>
            </a:r>
          </a:p>
          <a:p/>
          <a:p>
            <a:r>
              <a:t>"That concludes our database, deployment, and future-work section. I will now return to Uchekwe Uchechukwu Hephzibah for our conclusion."</a:t>
            </a:r>
          </a:p>
          <a:p/>
          <a:p>
            <a:r>
              <a:t>Then say: "Hephzibah, over to you." Move to slide 23.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Uchekwe Uchechukwu Hephzibah, Team Leader | about 60 seconds]</a:t>
            </a:r>
          </a:p>
          <a:p/>
          <a:p>
            <a:r>
              <a:t>What to say: return to the front, thank the audience, and summarise the project in two sentences.</a:t>
            </a:r>
          </a:p>
          <a:p/>
          <a:p>
            <a:r>
              <a:t>Suggested script:</a:t>
            </a:r>
          </a:p>
          <a:p>
            <a:r>
              <a:t>"Thank you. To summarise: TutorConnect Nigeria is a full-stack web application that helps Nigerian students and parents find verified tutors, judge their profiles, and send booking requests. Behind the screens are Next.js API routes, password hashing, JWT login, and a Neon PostgreSQL database, deployed on Vercel."</a:t>
            </a:r>
          </a:p>
          <a:p/>
          <a:p>
            <a:r>
              <a:t>Then recognise the team. Say each presenter's name, one at a time: Chioma Helen Ezeufonna for the frontend, Uzochukwu Mary Cynthia Enyemakachukwu for tutor discovery and booking, Bodman Ebuka Precous for the backend, and Pius Kaosisochukwu Aminie for the database and deployment.</a:t>
            </a:r>
          </a:p>
          <a:p/>
          <a:p>
            <a:r>
              <a:t>Be honest in your closing. A short sentence is enough: "We have tried to be clear about what is built and what is still proposed or unfinished, such as payments, server-side protection of the dashboards, and a few security checks."</a:t>
            </a:r>
          </a:p>
          <a:p/>
          <a:p>
            <a:r>
              <a:t>Then invite questions: "Thank you again. We are now happy to take your questions." If a question is about something we have not built, such as payments, say so directly and refer to the proposed model on slide 22.</a:t>
            </a:r>
          </a:p>
          <a:p/>
          <a:p>
            <a:r>
              <a:t>End of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ro-student.jpg"/>
          <p:cNvPicPr>
            <a:picLocks noChangeAspect="1"/>
          </p:cNvPicPr>
          <p:nvPr/>
        </p:nvPicPr>
        <p:blipFill>
          <a:blip r:embed="rId2"/>
          <a:srcRect l="2554" r="2554"/>
          <a:stretch>
            <a:fillRect/>
          </a:stretch>
        </p:blipFill>
        <p:spPr>
          <a:xfrm>
            <a:off x="6949440" y="0"/>
            <a:ext cx="5242255" cy="6858000"/>
          </a:xfrm>
          <a:prstGeom prst="rect">
            <a:avLst/>
          </a:prstGeom>
        </p:spPr>
      </p:pic>
      <p:sp>
        <p:nvSpPr>
          <p:cNvPr id="4" name="Rectangle 3"/>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585216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6EE7B7"/>
                </a:solidFill>
                <a:latin typeface="Arial"/>
              </a:rPr>
              <a:t>EDUMENTRY AI HACKATHON 1.0</a:t>
            </a:r>
          </a:p>
        </p:txBody>
      </p:sp>
      <p:sp>
        <p:nvSpPr>
          <p:cNvPr id="6" name="TextBox 5"/>
          <p:cNvSpPr txBox="1"/>
          <p:nvPr/>
        </p:nvSpPr>
        <p:spPr>
          <a:xfrm>
            <a:off x="822960" y="1280160"/>
            <a:ext cx="6035040" cy="1005840"/>
          </a:xfrm>
          <a:prstGeom prst="rect">
            <a:avLst/>
          </a:prstGeom>
          <a:noFill/>
        </p:spPr>
        <p:txBody>
          <a:bodyPr wrap="square" anchor="t" lIns="45720" rIns="45720"/>
          <a:lstStyle/>
          <a:p>
            <a:pPr algn="l">
              <a:lnSpc>
                <a:spcPct val="100000"/>
              </a:lnSpc>
              <a:spcBef>
                <a:spcPts val="0"/>
              </a:spcBef>
              <a:spcAft>
                <a:spcPts val="0"/>
              </a:spcAft>
            </a:pPr>
            <a:r>
              <a:rPr sz="3600" b="1">
                <a:solidFill>
                  <a:srgbClr val="FFFFFF"/>
                </a:solidFill>
                <a:latin typeface="Arial"/>
              </a:rPr>
              <a:t>TutorConnect Nigeria</a:t>
            </a:r>
          </a:p>
        </p:txBody>
      </p:sp>
      <p:sp>
        <p:nvSpPr>
          <p:cNvPr id="7" name="TextBox 6"/>
          <p:cNvSpPr txBox="1"/>
          <p:nvPr/>
        </p:nvSpPr>
        <p:spPr>
          <a:xfrm>
            <a:off x="822960" y="2331720"/>
            <a:ext cx="5943600" cy="1005840"/>
          </a:xfrm>
          <a:prstGeom prst="rect">
            <a:avLst/>
          </a:prstGeom>
          <a:noFill/>
        </p:spPr>
        <p:txBody>
          <a:bodyPr wrap="square" anchor="t" lIns="45720" rIns="45720"/>
          <a:lstStyle/>
          <a:p>
            <a:pPr algn="l">
              <a:lnSpc>
                <a:spcPct val="100000"/>
              </a:lnSpc>
              <a:spcBef>
                <a:spcPts val="0"/>
              </a:spcBef>
              <a:spcAft>
                <a:spcPts val="0"/>
              </a:spcAft>
            </a:pPr>
            <a:r>
              <a:rPr sz="1900" b="0">
                <a:solidFill>
                  <a:srgbClr val="CBD5E1"/>
                </a:solidFill>
                <a:latin typeface="Arial"/>
              </a:rPr>
              <a:t>A full-stack tutor marketplace connecting Nigerian students and parents with tutors</a:t>
            </a:r>
          </a:p>
        </p:txBody>
      </p:sp>
      <p:sp>
        <p:nvSpPr>
          <p:cNvPr id="8" name="TextBox 7"/>
          <p:cNvSpPr txBox="1"/>
          <p:nvPr/>
        </p:nvSpPr>
        <p:spPr>
          <a:xfrm>
            <a:off x="822960" y="3657600"/>
            <a:ext cx="594360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TEAM MEMBERS</a:t>
            </a:r>
          </a:p>
        </p:txBody>
      </p:sp>
      <p:sp>
        <p:nvSpPr>
          <p:cNvPr id="9" name="TextBox 8"/>
          <p:cNvSpPr txBox="1"/>
          <p:nvPr/>
        </p:nvSpPr>
        <p:spPr>
          <a:xfrm>
            <a:off x="822960" y="4023360"/>
            <a:ext cx="6035040" cy="2194560"/>
          </a:xfrm>
          <a:prstGeom prst="rect">
            <a:avLst/>
          </a:prstGeom>
          <a:noFill/>
        </p:spPr>
        <p:txBody>
          <a:bodyPr wrap="square" anchor="t" lIns="45720" rIns="45720"/>
          <a:lstStyle/>
          <a:p>
            <a:pPr algn="l">
              <a:lnSpc>
                <a:spcPct val="100000"/>
              </a:lnSpc>
              <a:spcBef>
                <a:spcPts val="0"/>
              </a:spcBef>
              <a:spcAft>
                <a:spcPts val="500"/>
              </a:spcAft>
            </a:pPr>
            <a:r>
              <a:rPr sz="1400" b="0">
                <a:solidFill>
                  <a:srgbClr val="FFFFFF"/>
                </a:solidFill>
                <a:latin typeface="Arial"/>
              </a:rPr>
              <a:t>Uchekwe Uchechukwu Hephzibah  (Team Leader)</a:t>
            </a:r>
          </a:p>
          <a:p>
            <a:pPr algn="l">
              <a:lnSpc>
                <a:spcPct val="100000"/>
              </a:lnSpc>
              <a:spcBef>
                <a:spcPts val="0"/>
              </a:spcBef>
              <a:spcAft>
                <a:spcPts val="500"/>
              </a:spcAft>
            </a:pPr>
            <a:r>
              <a:rPr sz="1400" b="0">
                <a:solidFill>
                  <a:srgbClr val="FFFFFF"/>
                </a:solidFill>
                <a:latin typeface="Arial"/>
              </a:rPr>
              <a:t>Chioma Helen Ezeufonna  (Frontend)</a:t>
            </a:r>
          </a:p>
          <a:p>
            <a:pPr algn="l">
              <a:lnSpc>
                <a:spcPct val="100000"/>
              </a:lnSpc>
              <a:spcBef>
                <a:spcPts val="0"/>
              </a:spcBef>
              <a:spcAft>
                <a:spcPts val="500"/>
              </a:spcAft>
            </a:pPr>
            <a:r>
              <a:rPr sz="1400" b="0">
                <a:solidFill>
                  <a:srgbClr val="FFFFFF"/>
                </a:solidFill>
                <a:latin typeface="Arial"/>
              </a:rPr>
              <a:t>Uzochukwu Mary Cynthia Enyemakachukwu  (Tutor Discovery &amp; Booking)</a:t>
            </a:r>
          </a:p>
          <a:p>
            <a:pPr algn="l">
              <a:lnSpc>
                <a:spcPct val="100000"/>
              </a:lnSpc>
              <a:spcBef>
                <a:spcPts val="0"/>
              </a:spcBef>
              <a:spcAft>
                <a:spcPts val="500"/>
              </a:spcAft>
            </a:pPr>
            <a:r>
              <a:rPr sz="1400" b="0">
                <a:solidFill>
                  <a:srgbClr val="FFFFFF"/>
                </a:solidFill>
                <a:latin typeface="Arial"/>
              </a:rPr>
              <a:t>Bodman Ebuka Precous  (Backend)</a:t>
            </a:r>
          </a:p>
          <a:p>
            <a:pPr algn="l">
              <a:lnSpc>
                <a:spcPct val="100000"/>
              </a:lnSpc>
              <a:spcBef>
                <a:spcPts val="0"/>
              </a:spcBef>
              <a:spcAft>
                <a:spcPts val="500"/>
              </a:spcAft>
            </a:pPr>
            <a:r>
              <a:rPr sz="1400" b="0">
                <a:solidFill>
                  <a:srgbClr val="FFFFFF"/>
                </a:solidFill>
                <a:latin typeface="Arial"/>
              </a:rPr>
              <a:t>Pius Kaosisochukwu Aminie  (Database &amp; Deployment)</a:t>
            </a:r>
          </a:p>
        </p:txBody>
      </p:sp>
      <p:sp>
        <p:nvSpPr>
          <p:cNvPr id="10" name="TextBox 9"/>
          <p:cNvSpPr txBox="1"/>
          <p:nvPr/>
        </p:nvSpPr>
        <p:spPr>
          <a:xfrm>
            <a:off x="822960" y="6263640"/>
            <a:ext cx="5943600" cy="274320"/>
          </a:xfrm>
          <a:prstGeom prst="rect">
            <a:avLst/>
          </a:prstGeom>
          <a:noFill/>
        </p:spPr>
        <p:txBody>
          <a:bodyPr wrap="square" anchor="t" lIns="45720" rIns="45720"/>
          <a:lstStyle/>
          <a:p>
            <a:pPr algn="l">
              <a:lnSpc>
                <a:spcPct val="100000"/>
              </a:lnSpc>
              <a:spcBef>
                <a:spcPts val="0"/>
              </a:spcBef>
              <a:spcAft>
                <a:spcPts val="0"/>
              </a:spcAft>
            </a:pPr>
            <a:r>
              <a:rPr sz="900" b="0">
                <a:solidFill>
                  <a:srgbClr val="94A3B8"/>
                </a:solidFill>
                <a:latin typeface="Arial"/>
              </a:rPr>
              <a:t>Illustrative image: AI-generated photo from the project's public/images folder, not a screenshot.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AGENDA AND SPEAKING ORDER</a:t>
            </a:r>
          </a:p>
        </p:txBody>
      </p:sp>
      <p:sp>
        <p:nvSpPr>
          <p:cNvPr id="4" name="TextBox 3"/>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Five presenters, one continuous story</a:t>
            </a:r>
          </a:p>
        </p:txBody>
      </p:sp>
      <p:cxnSp>
        <p:nvCxnSpPr>
          <p:cNvPr id="5" name="Connector 4"/>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7" name="TextBox 6"/>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2 / 23</a:t>
            </a:r>
          </a:p>
        </p:txBody>
      </p:sp>
      <p:graphicFrame>
        <p:nvGraphicFramePr>
          <p:cNvPr id="8" name="Table 7"/>
          <p:cNvGraphicFramePr>
            <a:graphicFrameLocks noGrp="1"/>
          </p:cNvGraphicFramePr>
          <p:nvPr/>
        </p:nvGraphicFramePr>
        <p:xfrm>
          <a:off x="548640" y="1600200"/>
          <a:ext cx="11247120" cy="3520440"/>
        </p:xfrm>
        <a:graphic>
          <a:graphicData uri="http://schemas.openxmlformats.org/drawingml/2006/table">
            <a:tbl>
              <a:tblPr firstRow="1" bandRow="1">
                <a:tableStyleId>{5C22544A-7EE6-4342-B048-85BDC9FD1C3A}</a:tableStyleId>
              </a:tblPr>
              <a:tblGrid>
                <a:gridCol w="457200"/>
                <a:gridCol w="3291840"/>
                <a:gridCol w="2286000"/>
                <a:gridCol w="3566160"/>
                <a:gridCol w="822960"/>
                <a:gridCol w="822960"/>
              </a:tblGrid>
              <a:tr h="411480">
                <a:tc>
                  <a:txBody>
                    <a:bodyPr wrap="square"/>
                    <a:lstStyle/>
                    <a:p>
                      <a:pPr algn="ctr"/>
                      <a:r>
                        <a:rPr sz="1200" b="1">
                          <a:solidFill>
                            <a:srgbClr val="FFFFFF"/>
                          </a:solidFill>
                          <a:latin typeface="Arial"/>
                        </a:rPr>
                        <a:t>#</a:t>
                      </a:r>
                    </a:p>
                  </a:txBody>
                  <a:tcPr marL="73152" marR="45720" marT="36576" marB="36576" anchor="ctr">
                    <a:solidFill>
                      <a:srgbClr val="1E3A8A"/>
                    </a:solidFill>
                  </a:tcPr>
                </a:tc>
                <a:tc>
                  <a:txBody>
                    <a:bodyPr wrap="square"/>
                    <a:lstStyle/>
                    <a:p>
                      <a:pPr algn="l"/>
                      <a:r>
                        <a:rPr sz="1200" b="1">
                          <a:solidFill>
                            <a:srgbClr val="FFFFFF"/>
                          </a:solidFill>
                          <a:latin typeface="Arial"/>
                        </a:rPr>
                        <a:t>Presenter</a:t>
                      </a:r>
                    </a:p>
                  </a:txBody>
                  <a:tcPr marL="73152" marR="45720" marT="36576" marB="36576" anchor="ctr">
                    <a:solidFill>
                      <a:srgbClr val="1E3A8A"/>
                    </a:solidFill>
                  </a:tcPr>
                </a:tc>
                <a:tc>
                  <a:txBody>
                    <a:bodyPr wrap="square"/>
                    <a:lstStyle/>
                    <a:p>
                      <a:pPr algn="l"/>
                      <a:r>
                        <a:rPr sz="1200" b="1">
                          <a:solidFill>
                            <a:srgbClr val="FFFFFF"/>
                          </a:solidFill>
                          <a:latin typeface="Arial"/>
                        </a:rPr>
                        <a:t>Role</a:t>
                      </a:r>
                    </a:p>
                  </a:txBody>
                  <a:tcPr marL="73152" marR="45720" marT="36576" marB="36576" anchor="ctr">
                    <a:solidFill>
                      <a:srgbClr val="1E3A8A"/>
                    </a:solidFill>
                  </a:tcPr>
                </a:tc>
                <a:tc>
                  <a:txBody>
                    <a:bodyPr wrap="square"/>
                    <a:lstStyle/>
                    <a:p>
                      <a:pPr algn="l"/>
                      <a:r>
                        <a:rPr sz="1200" b="1">
                          <a:solidFill>
                            <a:srgbClr val="FFFFFF"/>
                          </a:solidFill>
                          <a:latin typeface="Arial"/>
                        </a:rPr>
                        <a:t>Assigned topics</a:t>
                      </a:r>
                    </a:p>
                  </a:txBody>
                  <a:tcPr marL="73152" marR="45720" marT="36576" marB="36576" anchor="ctr">
                    <a:solidFill>
                      <a:srgbClr val="1E3A8A"/>
                    </a:solidFill>
                  </a:tcPr>
                </a:tc>
                <a:tc>
                  <a:txBody>
                    <a:bodyPr wrap="square"/>
                    <a:lstStyle/>
                    <a:p>
                      <a:pPr algn="ctr"/>
                      <a:r>
                        <a:rPr sz="1200" b="1">
                          <a:solidFill>
                            <a:srgbClr val="FFFFFF"/>
                          </a:solidFill>
                          <a:latin typeface="Arial"/>
                        </a:rPr>
                        <a:t>Slides</a:t>
                      </a:r>
                    </a:p>
                  </a:txBody>
                  <a:tcPr marL="73152" marR="45720" marT="36576" marB="36576" anchor="ctr">
                    <a:solidFill>
                      <a:srgbClr val="1E3A8A"/>
                    </a:solidFill>
                  </a:tcPr>
                </a:tc>
                <a:tc>
                  <a:txBody>
                    <a:bodyPr wrap="square"/>
                    <a:lstStyle/>
                    <a:p>
                      <a:pPr algn="ctr"/>
                      <a:r>
                        <a:rPr sz="1200" b="1">
                          <a:solidFill>
                            <a:srgbClr val="FFFFFF"/>
                          </a:solidFill>
                          <a:latin typeface="Arial"/>
                        </a:rPr>
                        <a:t>Time</a:t>
                      </a:r>
                    </a:p>
                  </a:txBody>
                  <a:tcPr marL="73152" marR="45720" marT="36576" marB="36576" anchor="ctr">
                    <a:solidFill>
                      <a:srgbClr val="1E3A8A"/>
                    </a:solidFill>
                  </a:tcPr>
                </a:tc>
              </a:tr>
              <a:tr h="621792">
                <a:tc>
                  <a:txBody>
                    <a:bodyPr wrap="square"/>
                    <a:lstStyle/>
                    <a:p>
                      <a:pPr algn="ctr"/>
                      <a:r>
                        <a:rPr sz="1200" b="0">
                          <a:solidFill>
                            <a:srgbClr val="2563EB"/>
                          </a:solidFill>
                          <a:latin typeface="Arial"/>
                        </a:rPr>
                        <a:t>1</a:t>
                      </a:r>
                    </a:p>
                  </a:txBody>
                  <a:tcPr marL="73152" marR="45720" marT="36576" marB="36576" anchor="ctr">
                    <a:solidFill>
                      <a:srgbClr val="FFFFFF"/>
                    </a:solidFill>
                  </a:tcPr>
                </a:tc>
                <a:tc>
                  <a:txBody>
                    <a:bodyPr wrap="square"/>
                    <a:lstStyle/>
                    <a:p>
                      <a:pPr algn="l"/>
                      <a:r>
                        <a:rPr sz="1200" b="1">
                          <a:solidFill>
                            <a:srgbClr val="0F172A"/>
                          </a:solidFill>
                          <a:latin typeface="Arial"/>
                        </a:rPr>
                        <a:t>Uchekwe Uchechukwu Hephzibah</a:t>
                      </a:r>
                    </a:p>
                  </a:txBody>
                  <a:tcPr marL="73152" marR="45720" marT="36576" marB="36576" anchor="ctr">
                    <a:solidFill>
                      <a:srgbClr val="FFFFFF"/>
                    </a:solidFill>
                  </a:tcPr>
                </a:tc>
                <a:tc>
                  <a:txBody>
                    <a:bodyPr wrap="square"/>
                    <a:lstStyle/>
                    <a:p>
                      <a:pPr algn="l"/>
                      <a:r>
                        <a:rPr sz="1200" b="0">
                          <a:solidFill>
                            <a:srgbClr val="0F172A"/>
                          </a:solidFill>
                          <a:latin typeface="Arial"/>
                        </a:rPr>
                        <a:t>Team Leader</a:t>
                      </a:r>
                    </a:p>
                  </a:txBody>
                  <a:tcPr marL="73152" marR="45720" marT="36576" marB="36576" anchor="ctr">
                    <a:solidFill>
                      <a:srgbClr val="FFFFFF"/>
                    </a:solidFill>
                  </a:tcPr>
                </a:tc>
                <a:tc>
                  <a:txBody>
                    <a:bodyPr wrap="square"/>
                    <a:lstStyle/>
                    <a:p>
                      <a:pPr algn="l"/>
                      <a:r>
                        <a:rPr sz="1200" b="0">
                          <a:solidFill>
                            <a:srgbClr val="0F172A"/>
                          </a:solidFill>
                          <a:latin typeface="Arial"/>
                        </a:rPr>
                        <a:t>Introduction, problem, aim, users, features</a:t>
                      </a:r>
                    </a:p>
                  </a:txBody>
                  <a:tcPr marL="73152" marR="45720" marT="36576" marB="36576" anchor="ctr">
                    <a:solidFill>
                      <a:srgbClr val="FFFFFF"/>
                    </a:solidFill>
                  </a:tcPr>
                </a:tc>
                <a:tc>
                  <a:txBody>
                    <a:bodyPr wrap="square"/>
                    <a:lstStyle/>
                    <a:p>
                      <a:pPr algn="ctr"/>
                      <a:r>
                        <a:rPr sz="1200" b="0">
                          <a:solidFill>
                            <a:srgbClr val="0F172A"/>
                          </a:solidFill>
                          <a:latin typeface="Arial"/>
                        </a:rPr>
                        <a:t>3–6, 23</a:t>
                      </a:r>
                    </a:p>
                  </a:txBody>
                  <a:tcPr marL="73152" marR="45720" marT="36576" marB="36576" anchor="ctr">
                    <a:solidFill>
                      <a:srgbClr val="FFFFFF"/>
                    </a:solidFill>
                  </a:tcPr>
                </a:tc>
                <a:tc>
                  <a:txBody>
                    <a:bodyPr wrap="square"/>
                    <a:lstStyle/>
                    <a:p>
                      <a:pPr algn="ctr"/>
                      <a:r>
                        <a:rPr sz="1200" b="0">
                          <a:solidFill>
                            <a:srgbClr val="0F172A"/>
                          </a:solidFill>
                          <a:latin typeface="Arial"/>
                        </a:rPr>
                        <a:t>~3.5 min</a:t>
                      </a:r>
                    </a:p>
                  </a:txBody>
                  <a:tcPr marL="73152" marR="45720" marT="36576" marB="36576" anchor="ctr">
                    <a:solidFill>
                      <a:srgbClr val="FFFFFF"/>
                    </a:solidFill>
                  </a:tcPr>
                </a:tc>
              </a:tr>
              <a:tr h="621792">
                <a:tc>
                  <a:txBody>
                    <a:bodyPr wrap="square"/>
                    <a:lstStyle/>
                    <a:p>
                      <a:pPr algn="ctr"/>
                      <a:r>
                        <a:rPr sz="1200" b="0">
                          <a:solidFill>
                            <a:srgbClr val="10B981"/>
                          </a:solidFill>
                          <a:latin typeface="Arial"/>
                        </a:rPr>
                        <a:t>2</a:t>
                      </a:r>
                    </a:p>
                  </a:txBody>
                  <a:tcPr marL="73152" marR="45720" marT="36576" marB="36576" anchor="ctr">
                    <a:solidFill>
                      <a:srgbClr val="F1F5F9"/>
                    </a:solidFill>
                  </a:tcPr>
                </a:tc>
                <a:tc>
                  <a:txBody>
                    <a:bodyPr wrap="square"/>
                    <a:lstStyle/>
                    <a:p>
                      <a:pPr algn="l"/>
                      <a:r>
                        <a:rPr sz="1200" b="1">
                          <a:solidFill>
                            <a:srgbClr val="0F172A"/>
                          </a:solidFill>
                          <a:latin typeface="Arial"/>
                        </a:rPr>
                        <a:t>Chioma Helen Ezeufonna</a:t>
                      </a:r>
                    </a:p>
                  </a:txBody>
                  <a:tcPr marL="73152" marR="45720" marT="36576" marB="36576" anchor="ctr">
                    <a:solidFill>
                      <a:srgbClr val="F1F5F9"/>
                    </a:solidFill>
                  </a:tcPr>
                </a:tc>
                <a:tc>
                  <a:txBody>
                    <a:bodyPr wrap="square"/>
                    <a:lstStyle/>
                    <a:p>
                      <a:pPr algn="l"/>
                      <a:r>
                        <a:rPr sz="1200" b="0">
                          <a:solidFill>
                            <a:srgbClr val="0F172A"/>
                          </a:solidFill>
                          <a:latin typeface="Arial"/>
                        </a:rPr>
                        <a:t>Frontend Development</a:t>
                      </a:r>
                    </a:p>
                  </a:txBody>
                  <a:tcPr marL="73152" marR="45720" marT="36576" marB="36576" anchor="ctr">
                    <a:solidFill>
                      <a:srgbClr val="F1F5F9"/>
                    </a:solidFill>
                  </a:tcPr>
                </a:tc>
                <a:tc>
                  <a:txBody>
                    <a:bodyPr wrap="square"/>
                    <a:lstStyle/>
                    <a:p>
                      <a:pPr algn="l"/>
                      <a:r>
                        <a:rPr sz="1200" b="0">
                          <a:solidFill>
                            <a:srgbClr val="0F172A"/>
                          </a:solidFill>
                          <a:latin typeface="Arial"/>
                        </a:rPr>
                        <a:t>Technologies, interface, screens, responsiveness</a:t>
                      </a:r>
                    </a:p>
                  </a:txBody>
                  <a:tcPr marL="73152" marR="45720" marT="36576" marB="36576" anchor="ctr">
                    <a:solidFill>
                      <a:srgbClr val="F1F5F9"/>
                    </a:solidFill>
                  </a:tcPr>
                </a:tc>
                <a:tc>
                  <a:txBody>
                    <a:bodyPr wrap="square"/>
                    <a:lstStyle/>
                    <a:p>
                      <a:pPr algn="ctr"/>
                      <a:r>
                        <a:rPr sz="1200" b="0">
                          <a:solidFill>
                            <a:srgbClr val="0F172A"/>
                          </a:solidFill>
                          <a:latin typeface="Arial"/>
                        </a:rPr>
                        <a:t>7–10</a:t>
                      </a:r>
                    </a:p>
                  </a:txBody>
                  <a:tcPr marL="73152" marR="45720" marT="36576" marB="36576" anchor="ctr">
                    <a:solidFill>
                      <a:srgbClr val="F1F5F9"/>
                    </a:solidFill>
                  </a:tcPr>
                </a:tc>
                <a:tc>
                  <a:txBody>
                    <a:bodyPr wrap="square"/>
                    <a:lstStyle/>
                    <a:p>
                      <a:pPr algn="ctr"/>
                      <a:r>
                        <a:rPr sz="1200" b="0">
                          <a:solidFill>
                            <a:srgbClr val="0F172A"/>
                          </a:solidFill>
                          <a:latin typeface="Arial"/>
                        </a:rPr>
                        <a:t>~3 min</a:t>
                      </a:r>
                    </a:p>
                  </a:txBody>
                  <a:tcPr marL="73152" marR="45720" marT="36576" marB="36576" anchor="ctr">
                    <a:solidFill>
                      <a:srgbClr val="F1F5F9"/>
                    </a:solidFill>
                  </a:tcPr>
                </a:tc>
              </a:tr>
              <a:tr h="621792">
                <a:tc>
                  <a:txBody>
                    <a:bodyPr wrap="square"/>
                    <a:lstStyle/>
                    <a:p>
                      <a:pPr algn="ctr"/>
                      <a:r>
                        <a:rPr sz="1200" b="0">
                          <a:solidFill>
                            <a:srgbClr val="F59E0B"/>
                          </a:solidFill>
                          <a:latin typeface="Arial"/>
                        </a:rPr>
                        <a:t>3</a:t>
                      </a:r>
                    </a:p>
                  </a:txBody>
                  <a:tcPr marL="73152" marR="45720" marT="36576" marB="36576" anchor="ctr">
                    <a:solidFill>
                      <a:srgbClr val="FFFFFF"/>
                    </a:solidFill>
                  </a:tcPr>
                </a:tc>
                <a:tc>
                  <a:txBody>
                    <a:bodyPr wrap="square"/>
                    <a:lstStyle/>
                    <a:p>
                      <a:pPr algn="l"/>
                      <a:r>
                        <a:rPr sz="1200" b="1">
                          <a:solidFill>
                            <a:srgbClr val="0F172A"/>
                          </a:solidFill>
                          <a:latin typeface="Arial"/>
                        </a:rPr>
                        <a:t>Uzochukwu Mary Cynthia Enyemakachukwu</a:t>
                      </a:r>
                    </a:p>
                  </a:txBody>
                  <a:tcPr marL="73152" marR="45720" marT="36576" marB="36576" anchor="ctr">
                    <a:solidFill>
                      <a:srgbClr val="FFFFFF"/>
                    </a:solidFill>
                  </a:tcPr>
                </a:tc>
                <a:tc>
                  <a:txBody>
                    <a:bodyPr wrap="square"/>
                    <a:lstStyle/>
                    <a:p>
                      <a:pPr algn="l"/>
                      <a:r>
                        <a:rPr sz="1200" b="0">
                          <a:solidFill>
                            <a:srgbClr val="0F172A"/>
                          </a:solidFill>
                          <a:latin typeface="Arial"/>
                        </a:rPr>
                        <a:t>Tutor Discovery and Booking</a:t>
                      </a:r>
                    </a:p>
                  </a:txBody>
                  <a:tcPr marL="73152" marR="45720" marT="36576" marB="36576" anchor="ctr">
                    <a:solidFill>
                      <a:srgbClr val="FFFFFF"/>
                    </a:solidFill>
                  </a:tcPr>
                </a:tc>
                <a:tc>
                  <a:txBody>
                    <a:bodyPr wrap="square"/>
                    <a:lstStyle/>
                    <a:p>
                      <a:pPr algn="l"/>
                      <a:r>
                        <a:rPr sz="1200" b="0">
                          <a:solidFill>
                            <a:srgbClr val="0F172A"/>
                          </a:solidFill>
                          <a:latin typeface="Arial"/>
                        </a:rPr>
                        <a:t>Search, profiles, availability, booking workflow</a:t>
                      </a:r>
                    </a:p>
                  </a:txBody>
                  <a:tcPr marL="73152" marR="45720" marT="36576" marB="36576" anchor="ctr">
                    <a:solidFill>
                      <a:srgbClr val="FFFFFF"/>
                    </a:solidFill>
                  </a:tcPr>
                </a:tc>
                <a:tc>
                  <a:txBody>
                    <a:bodyPr wrap="square"/>
                    <a:lstStyle/>
                    <a:p>
                      <a:pPr algn="ctr"/>
                      <a:r>
                        <a:rPr sz="1200" b="0">
                          <a:solidFill>
                            <a:srgbClr val="0F172A"/>
                          </a:solidFill>
                          <a:latin typeface="Arial"/>
                        </a:rPr>
                        <a:t>11–14</a:t>
                      </a:r>
                    </a:p>
                  </a:txBody>
                  <a:tcPr marL="73152" marR="45720" marT="36576" marB="36576" anchor="ctr">
                    <a:solidFill>
                      <a:srgbClr val="FFFFFF"/>
                    </a:solidFill>
                  </a:tcPr>
                </a:tc>
                <a:tc>
                  <a:txBody>
                    <a:bodyPr wrap="square"/>
                    <a:lstStyle/>
                    <a:p>
                      <a:pPr algn="ctr"/>
                      <a:r>
                        <a:rPr sz="1200" b="0">
                          <a:solidFill>
                            <a:srgbClr val="0F172A"/>
                          </a:solidFill>
                          <a:latin typeface="Arial"/>
                        </a:rPr>
                        <a:t>~3 min</a:t>
                      </a:r>
                    </a:p>
                  </a:txBody>
                  <a:tcPr marL="73152" marR="45720" marT="36576" marB="36576" anchor="ctr">
                    <a:solidFill>
                      <a:srgbClr val="FFFFFF"/>
                    </a:solidFill>
                  </a:tcPr>
                </a:tc>
              </a:tr>
              <a:tr h="621792">
                <a:tc>
                  <a:txBody>
                    <a:bodyPr wrap="square"/>
                    <a:lstStyle/>
                    <a:p>
                      <a:pPr algn="ctr"/>
                      <a:r>
                        <a:rPr sz="1200" b="0">
                          <a:solidFill>
                            <a:srgbClr val="7C3AED"/>
                          </a:solidFill>
                          <a:latin typeface="Arial"/>
                        </a:rPr>
                        <a:t>4</a:t>
                      </a:r>
                    </a:p>
                  </a:txBody>
                  <a:tcPr marL="73152" marR="45720" marT="36576" marB="36576" anchor="ctr">
                    <a:solidFill>
                      <a:srgbClr val="F1F5F9"/>
                    </a:solidFill>
                  </a:tcPr>
                </a:tc>
                <a:tc>
                  <a:txBody>
                    <a:bodyPr wrap="square"/>
                    <a:lstStyle/>
                    <a:p>
                      <a:pPr algn="l"/>
                      <a:r>
                        <a:rPr sz="1200" b="1">
                          <a:solidFill>
                            <a:srgbClr val="0F172A"/>
                          </a:solidFill>
                          <a:latin typeface="Arial"/>
                        </a:rPr>
                        <a:t>Bodman Ebuka Precous</a:t>
                      </a:r>
                    </a:p>
                  </a:txBody>
                  <a:tcPr marL="73152" marR="45720" marT="36576" marB="36576" anchor="ctr">
                    <a:solidFill>
                      <a:srgbClr val="F1F5F9"/>
                    </a:solidFill>
                  </a:tcPr>
                </a:tc>
                <a:tc>
                  <a:txBody>
                    <a:bodyPr wrap="square"/>
                    <a:lstStyle/>
                    <a:p>
                      <a:pPr algn="l"/>
                      <a:r>
                        <a:rPr sz="1200" b="0">
                          <a:solidFill>
                            <a:srgbClr val="0F172A"/>
                          </a:solidFill>
                          <a:latin typeface="Arial"/>
                        </a:rPr>
                        <a:t>Backend Development</a:t>
                      </a:r>
                    </a:p>
                  </a:txBody>
                  <a:tcPr marL="73152" marR="45720" marT="36576" marB="36576" anchor="ctr">
                    <a:solidFill>
                      <a:srgbClr val="F1F5F9"/>
                    </a:solidFill>
                  </a:tcPr>
                </a:tc>
                <a:tc>
                  <a:txBody>
                    <a:bodyPr wrap="square"/>
                    <a:lstStyle/>
                    <a:p>
                      <a:pPr algn="l"/>
                      <a:r>
                        <a:rPr sz="1200" b="0">
                          <a:solidFill>
                            <a:srgbClr val="0F172A"/>
                          </a:solidFill>
                          <a:latin typeface="Arial"/>
                        </a:rPr>
                        <a:t>Next.js API routes, authentication, data flow</a:t>
                      </a:r>
                    </a:p>
                  </a:txBody>
                  <a:tcPr marL="73152" marR="45720" marT="36576" marB="36576" anchor="ctr">
                    <a:solidFill>
                      <a:srgbClr val="F1F5F9"/>
                    </a:solidFill>
                  </a:tcPr>
                </a:tc>
                <a:tc>
                  <a:txBody>
                    <a:bodyPr wrap="square"/>
                    <a:lstStyle/>
                    <a:p>
                      <a:pPr algn="ctr"/>
                      <a:r>
                        <a:rPr sz="1200" b="0">
                          <a:solidFill>
                            <a:srgbClr val="0F172A"/>
                          </a:solidFill>
                          <a:latin typeface="Arial"/>
                        </a:rPr>
                        <a:t>15–18</a:t>
                      </a:r>
                    </a:p>
                  </a:txBody>
                  <a:tcPr marL="73152" marR="45720" marT="36576" marB="36576" anchor="ctr">
                    <a:solidFill>
                      <a:srgbClr val="F1F5F9"/>
                    </a:solidFill>
                  </a:tcPr>
                </a:tc>
                <a:tc>
                  <a:txBody>
                    <a:bodyPr wrap="square"/>
                    <a:lstStyle/>
                    <a:p>
                      <a:pPr algn="ctr"/>
                      <a:r>
                        <a:rPr sz="1200" b="0">
                          <a:solidFill>
                            <a:srgbClr val="0F172A"/>
                          </a:solidFill>
                          <a:latin typeface="Arial"/>
                        </a:rPr>
                        <a:t>~3 min</a:t>
                      </a:r>
                    </a:p>
                  </a:txBody>
                  <a:tcPr marL="73152" marR="45720" marT="36576" marB="36576" anchor="ctr">
                    <a:solidFill>
                      <a:srgbClr val="F1F5F9"/>
                    </a:solidFill>
                  </a:tcPr>
                </a:tc>
              </a:tr>
              <a:tr h="621792">
                <a:tc>
                  <a:txBody>
                    <a:bodyPr wrap="square"/>
                    <a:lstStyle/>
                    <a:p>
                      <a:pPr algn="ctr"/>
                      <a:r>
                        <a:rPr sz="1200" b="0">
                          <a:solidFill>
                            <a:srgbClr val="0D9488"/>
                          </a:solidFill>
                          <a:latin typeface="Arial"/>
                        </a:rPr>
                        <a:t>5</a:t>
                      </a:r>
                    </a:p>
                  </a:txBody>
                  <a:tcPr marL="73152" marR="45720" marT="36576" marB="36576" anchor="ctr">
                    <a:solidFill>
                      <a:srgbClr val="FFFFFF"/>
                    </a:solidFill>
                  </a:tcPr>
                </a:tc>
                <a:tc>
                  <a:txBody>
                    <a:bodyPr wrap="square"/>
                    <a:lstStyle/>
                    <a:p>
                      <a:pPr algn="l"/>
                      <a:r>
                        <a:rPr sz="1200" b="1">
                          <a:solidFill>
                            <a:srgbClr val="0F172A"/>
                          </a:solidFill>
                          <a:latin typeface="Arial"/>
                        </a:rPr>
                        <a:t>Pius Kaosisochukwu Aminie</a:t>
                      </a:r>
                    </a:p>
                  </a:txBody>
                  <a:tcPr marL="73152" marR="45720" marT="36576" marB="36576" anchor="ctr">
                    <a:solidFill>
                      <a:srgbClr val="FFFFFF"/>
                    </a:solidFill>
                  </a:tcPr>
                </a:tc>
                <a:tc>
                  <a:txBody>
                    <a:bodyPr wrap="square"/>
                    <a:lstStyle/>
                    <a:p>
                      <a:pPr algn="l"/>
                      <a:r>
                        <a:rPr sz="1200" b="0">
                          <a:solidFill>
                            <a:srgbClr val="0F172A"/>
                          </a:solidFill>
                          <a:latin typeface="Arial"/>
                        </a:rPr>
                        <a:t>Database, Architecture, Deployment</a:t>
                      </a:r>
                    </a:p>
                  </a:txBody>
                  <a:tcPr marL="73152" marR="45720" marT="36576" marB="36576" anchor="ctr">
                    <a:solidFill>
                      <a:srgbClr val="FFFFFF"/>
                    </a:solidFill>
                  </a:tcPr>
                </a:tc>
                <a:tc>
                  <a:txBody>
                    <a:bodyPr wrap="square"/>
                    <a:lstStyle/>
                    <a:p>
                      <a:pPr algn="l"/>
                      <a:r>
                        <a:rPr sz="1200" b="0">
                          <a:solidFill>
                            <a:srgbClr val="0F172A"/>
                          </a:solidFill>
                          <a:latin typeface="Arial"/>
                        </a:rPr>
                        <a:t>Tables, relationships, deployment, future work, revenue model</a:t>
                      </a:r>
                    </a:p>
                  </a:txBody>
                  <a:tcPr marL="73152" marR="45720" marT="36576" marB="36576" anchor="ctr">
                    <a:solidFill>
                      <a:srgbClr val="FFFFFF"/>
                    </a:solidFill>
                  </a:tcPr>
                </a:tc>
                <a:tc>
                  <a:txBody>
                    <a:bodyPr wrap="square"/>
                    <a:lstStyle/>
                    <a:p>
                      <a:pPr algn="ctr"/>
                      <a:r>
                        <a:rPr sz="1200" b="0">
                          <a:solidFill>
                            <a:srgbClr val="0F172A"/>
                          </a:solidFill>
                          <a:latin typeface="Arial"/>
                        </a:rPr>
                        <a:t>19–22</a:t>
                      </a:r>
                    </a:p>
                  </a:txBody>
                  <a:tcPr marL="73152" marR="45720" marT="36576" marB="36576" anchor="ctr">
                    <a:solidFill>
                      <a:srgbClr val="FFFFFF"/>
                    </a:solidFill>
                  </a:tcPr>
                </a:tc>
                <a:tc>
                  <a:txBody>
                    <a:bodyPr wrap="square"/>
                    <a:lstStyle/>
                    <a:p>
                      <a:pPr algn="ctr"/>
                      <a:r>
                        <a:rPr sz="1200" b="0">
                          <a:solidFill>
                            <a:srgbClr val="0F172A"/>
                          </a:solidFill>
                          <a:latin typeface="Arial"/>
                        </a:rPr>
                        <a:t>~3 min</a:t>
                      </a:r>
                    </a:p>
                  </a:txBody>
                  <a:tcPr marL="73152" marR="45720" marT="36576" marB="36576" anchor="ctr">
                    <a:solidFill>
                      <a:srgbClr val="FFFFFF"/>
                    </a:solidFill>
                  </a:tcPr>
                </a:tc>
              </a:tr>
            </a:tbl>
          </a:graphicData>
        </a:graphic>
      </p:graphicFrame>
      <p:sp>
        <p:nvSpPr>
          <p:cNvPr id="9" name="TextBox 8"/>
          <p:cNvSpPr txBox="1"/>
          <p:nvPr/>
        </p:nvSpPr>
        <p:spPr>
          <a:xfrm>
            <a:off x="548640" y="5715000"/>
            <a:ext cx="11064240" cy="548640"/>
          </a:xfrm>
          <a:prstGeom prst="rect">
            <a:avLst/>
          </a:prstGeom>
          <a:noFill/>
        </p:spPr>
        <p:txBody>
          <a:bodyPr wrap="square" anchor="t" lIns="45720" rIns="45720"/>
          <a:lstStyle/>
          <a:p>
            <a:pPr algn="l">
              <a:lnSpc>
                <a:spcPct val="100000"/>
              </a:lnSpc>
              <a:spcBef>
                <a:spcPts val="0"/>
              </a:spcBef>
              <a:spcAft>
                <a:spcPts val="0"/>
              </a:spcAft>
            </a:pPr>
            <a:r>
              <a:rPr sz="1400" b="0">
                <a:solidFill>
                  <a:srgbClr val="334155"/>
                </a:solidFill>
                <a:latin typeface="Arial"/>
              </a:rPr>
              <a:t>Each presenter opens with a labelled section slide, presents their own slides, and ends with a handover. The Team Leader opens the talk and closes it with the conclusion (slide 23). Total speaking time is about 17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852160" cy="457200"/>
          </a:xfrm>
          <a:prstGeom prst="rect">
            <a:avLst/>
          </a:prstGeom>
          <a:noFill/>
        </p:spPr>
        <p:txBody>
          <a:bodyPr wrap="square" anchor="t" lIns="45720" rIns="45720"/>
          <a:lstStyle/>
          <a:p>
            <a:pPr algn="l">
              <a:lnSpc>
                <a:spcPct val="100000"/>
              </a:lnSpc>
              <a:spcBef>
                <a:spcPts val="0"/>
              </a:spcBef>
              <a:spcAft>
                <a:spcPts val="0"/>
              </a:spcAft>
            </a:pPr>
            <a:r>
              <a:rPr sz="2200" b="1">
                <a:solidFill>
                  <a:srgbClr val="2563EB"/>
                </a:solidFill>
                <a:latin typeface="Arial"/>
              </a:rPr>
              <a:t>PRESENTER 1</a:t>
            </a:r>
          </a:p>
        </p:txBody>
      </p:sp>
      <p:sp>
        <p:nvSpPr>
          <p:cNvPr id="5" name="TextBox 4"/>
          <p:cNvSpPr txBox="1"/>
          <p:nvPr/>
        </p:nvSpPr>
        <p:spPr>
          <a:xfrm>
            <a:off x="822960" y="1143000"/>
            <a:ext cx="5852160" cy="365760"/>
          </a:xfrm>
          <a:prstGeom prst="rect">
            <a:avLst/>
          </a:prstGeom>
          <a:noFill/>
        </p:spPr>
        <p:txBody>
          <a:bodyPr wrap="square" anchor="t" lIns="45720" rIns="45720"/>
          <a:lstStyle/>
          <a:p>
            <a:pPr algn="l">
              <a:lnSpc>
                <a:spcPct val="100000"/>
              </a:lnSpc>
              <a:spcBef>
                <a:spcPts val="0"/>
              </a:spcBef>
              <a:spcAft>
                <a:spcPts val="0"/>
              </a:spcAft>
            </a:pPr>
            <a:r>
              <a:rPr sz="1300" b="0">
                <a:solidFill>
                  <a:srgbClr val="CBD5E1"/>
                </a:solidFill>
                <a:latin typeface="Arial"/>
              </a:rPr>
              <a:t>Speaking order 1 of 5</a:t>
            </a:r>
          </a:p>
        </p:txBody>
      </p:sp>
      <p:sp>
        <p:nvSpPr>
          <p:cNvPr id="6" name="TextBox 5"/>
          <p:cNvSpPr txBox="1"/>
          <p:nvPr/>
        </p:nvSpPr>
        <p:spPr>
          <a:xfrm>
            <a:off x="822960" y="1828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PRESENTER:</a:t>
            </a:r>
          </a:p>
        </p:txBody>
      </p:sp>
      <p:sp>
        <p:nvSpPr>
          <p:cNvPr id="7" name="TextBox 6"/>
          <p:cNvSpPr txBox="1"/>
          <p:nvPr/>
        </p:nvSpPr>
        <p:spPr>
          <a:xfrm>
            <a:off x="822960" y="2148840"/>
            <a:ext cx="6035040" cy="1051560"/>
          </a:xfrm>
          <a:prstGeom prst="rect">
            <a:avLst/>
          </a:prstGeom>
          <a:noFill/>
        </p:spPr>
        <p:txBody>
          <a:bodyPr wrap="square" anchor="t" lIns="45720" rIns="45720"/>
          <a:lstStyle/>
          <a:p>
            <a:pPr algn="l">
              <a:lnSpc>
                <a:spcPct val="100000"/>
              </a:lnSpc>
              <a:spcBef>
                <a:spcPts val="0"/>
              </a:spcBef>
              <a:spcAft>
                <a:spcPts val="0"/>
              </a:spcAft>
            </a:pPr>
            <a:r>
              <a:rPr sz="2800" b="1">
                <a:solidFill>
                  <a:srgbClr val="FFFFFF"/>
                </a:solidFill>
                <a:latin typeface="Arial"/>
              </a:rPr>
              <a:t>Uchekwe Uchechukwu Hephzibah</a:t>
            </a:r>
          </a:p>
        </p:txBody>
      </p:sp>
      <p:sp>
        <p:nvSpPr>
          <p:cNvPr id="8" name="TextBox 7"/>
          <p:cNvSpPr txBox="1"/>
          <p:nvPr/>
        </p:nvSpPr>
        <p:spPr>
          <a:xfrm>
            <a:off x="822960" y="324612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ROLE:</a:t>
            </a:r>
          </a:p>
        </p:txBody>
      </p:sp>
      <p:sp>
        <p:nvSpPr>
          <p:cNvPr id="9" name="TextBox 8"/>
          <p:cNvSpPr txBox="1"/>
          <p:nvPr/>
        </p:nvSpPr>
        <p:spPr>
          <a:xfrm>
            <a:off x="822960" y="3566160"/>
            <a:ext cx="6035040" cy="41148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Team Leader</a:t>
            </a:r>
          </a:p>
        </p:txBody>
      </p:sp>
      <p:sp>
        <p:nvSpPr>
          <p:cNvPr id="10" name="TextBox 9"/>
          <p:cNvSpPr txBox="1"/>
          <p:nvPr/>
        </p:nvSpPr>
        <p:spPr>
          <a:xfrm>
            <a:off x="822960" y="4114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TOPIC:</a:t>
            </a:r>
          </a:p>
        </p:txBody>
      </p:sp>
      <p:sp>
        <p:nvSpPr>
          <p:cNvPr id="11" name="TextBox 10"/>
          <p:cNvSpPr txBox="1"/>
          <p:nvPr/>
        </p:nvSpPr>
        <p:spPr>
          <a:xfrm>
            <a:off x="822960" y="4434840"/>
            <a:ext cx="6035040" cy="82296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Introduction to TutorConnect Nigeria</a:t>
            </a:r>
          </a:p>
        </p:txBody>
      </p:sp>
      <p:sp>
        <p:nvSpPr>
          <p:cNvPr id="12" name="Rounded Rectangle 11"/>
          <p:cNvSpPr/>
          <p:nvPr/>
        </p:nvSpPr>
        <p:spPr>
          <a:xfrm>
            <a:off x="7406640" y="1097280"/>
            <a:ext cx="4206240" cy="4937760"/>
          </a:xfrm>
          <a:prstGeom prst="roundRect">
            <a:avLst>
              <a:gd name="adj" fmla="val 5000"/>
            </a:avLst>
          </a:prstGeom>
          <a:solidFill>
            <a:srgbClr val="17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6576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93C5FD"/>
                </a:solidFill>
                <a:latin typeface="Arial"/>
              </a:rPr>
              <a:t>WHAT THIS SECTION COVERS:</a:t>
            </a:r>
          </a:p>
        </p:txBody>
      </p:sp>
      <p:sp>
        <p:nvSpPr>
          <p:cNvPr id="14" name="TextBox 13"/>
          <p:cNvSpPr txBox="1"/>
          <p:nvPr/>
        </p:nvSpPr>
        <p:spPr>
          <a:xfrm>
            <a:off x="7726679" y="1874519"/>
            <a:ext cx="3657600" cy="3931920"/>
          </a:xfrm>
          <a:prstGeom prst="rect">
            <a:avLst/>
          </a:prstGeom>
          <a:noFill/>
        </p:spPr>
        <p:txBody>
          <a:bodyPr wrap="square" anchor="t" lIns="45720" rIns="45720"/>
          <a:lstStyle/>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Project introduction and background</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Problem statement, aim and objectives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Intended users and major features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Handover to the technical sections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Closing summary and questions</a:t>
            </a:r>
          </a:p>
        </p:txBody>
      </p:sp>
      <p:sp>
        <p:nvSpPr>
          <p:cNvPr id="15" name="TextBox 14"/>
          <p:cNvSpPr txBox="1"/>
          <p:nvPr/>
        </p:nvSpPr>
        <p:spPr>
          <a:xfrm>
            <a:off x="822960" y="6126480"/>
            <a:ext cx="8229600" cy="320040"/>
          </a:xfrm>
          <a:prstGeom prst="rect">
            <a:avLst/>
          </a:prstGeom>
          <a:noFill/>
        </p:spPr>
        <p:txBody>
          <a:bodyPr wrap="square" anchor="t" lIns="45720" rIns="45720"/>
          <a:lstStyle/>
          <a:p>
            <a:pPr algn="l">
              <a:lnSpc>
                <a:spcPct val="100000"/>
              </a:lnSpc>
              <a:spcBef>
                <a:spcPts val="0"/>
              </a:spcBef>
              <a:spcAft>
                <a:spcPts val="0"/>
              </a:spcAft>
            </a:pPr>
            <a:r>
              <a:rPr sz="1000" b="0">
                <a:solidFill>
                  <a:srgbClr val="93C5FD"/>
                </a:solidFill>
                <a:latin typeface="Arial"/>
              </a:rPr>
              <a:t>TutorConnect Nigeria  |  Edumentry AI Hackathon 1.0</a:t>
            </a:r>
          </a:p>
        </p:txBody>
      </p:sp>
      <p:sp>
        <p:nvSpPr>
          <p:cNvPr id="16" name="TextBox 15"/>
          <p:cNvSpPr txBox="1"/>
          <p:nvPr/>
        </p:nvSpPr>
        <p:spPr>
          <a:xfrm>
            <a:off x="9784080" y="6126480"/>
            <a:ext cx="1856231" cy="320040"/>
          </a:xfrm>
          <a:prstGeom prst="rect">
            <a:avLst/>
          </a:prstGeom>
          <a:noFill/>
        </p:spPr>
        <p:txBody>
          <a:bodyPr wrap="square" anchor="t" lIns="45720" rIns="45720"/>
          <a:lstStyle/>
          <a:p>
            <a:pPr algn="r">
              <a:lnSpc>
                <a:spcPct val="100000"/>
              </a:lnSpc>
              <a:spcBef>
                <a:spcPts val="0"/>
              </a:spcBef>
              <a:spcAft>
                <a:spcPts val="0"/>
              </a:spcAft>
            </a:pPr>
            <a:r>
              <a:rPr sz="1000" b="0">
                <a:solidFill>
                  <a:srgbClr val="93C5FD"/>
                </a:solidFill>
                <a:latin typeface="Arial"/>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1  —  INTRODUCTION</a:t>
            </a:r>
          </a:p>
        </p:txBody>
      </p:sp>
      <p:sp>
        <p:nvSpPr>
          <p:cNvPr id="4" name="Rounded Rectangle 3"/>
          <p:cNvSpPr/>
          <p:nvPr/>
        </p:nvSpPr>
        <p:spPr>
          <a:xfrm>
            <a:off x="6309360" y="274320"/>
            <a:ext cx="5330952" cy="41148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1  ·  Uchekwe Uchechukwu Hephzibah</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Background and problem statement</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4 / 23</a:t>
            </a:r>
          </a:p>
        </p:txBody>
      </p:sp>
      <p:sp>
        <p:nvSpPr>
          <p:cNvPr id="9" name="Rectangle 8"/>
          <p:cNvSpPr/>
          <p:nvPr/>
        </p:nvSpPr>
        <p:spPr>
          <a:xfrm>
            <a:off x="548640" y="1600200"/>
            <a:ext cx="11091672" cy="457200"/>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92400E"/>
                </a:solidFill>
                <a:latin typeface="Arial"/>
              </a:rPr>
              <a:t>Illustrative scenarios, not survey data. They describe the kinds of difficulty the project was designed to reduce.</a:t>
            </a:r>
          </a:p>
        </p:txBody>
      </p:sp>
      <p:sp>
        <p:nvSpPr>
          <p:cNvPr id="10" name="Rounded Rectangle 9"/>
          <p:cNvSpPr/>
          <p:nvPr/>
        </p:nvSpPr>
        <p:spPr>
          <a:xfrm>
            <a:off x="548640" y="2240280"/>
            <a:ext cx="5440680" cy="1828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40280"/>
            <a:ext cx="91440" cy="1828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377440"/>
            <a:ext cx="5029200" cy="365760"/>
          </a:xfrm>
          <a:prstGeom prst="rect">
            <a:avLst/>
          </a:prstGeom>
          <a:noFill/>
        </p:spPr>
        <p:txBody>
          <a:bodyPr wrap="square" anchor="t" lIns="45720" rIns="45720"/>
          <a:lstStyle/>
          <a:p>
            <a:pPr algn="l">
              <a:lnSpc>
                <a:spcPct val="100000"/>
              </a:lnSpc>
              <a:spcBef>
                <a:spcPts val="0"/>
              </a:spcBef>
              <a:spcAft>
                <a:spcPts val="0"/>
              </a:spcAft>
            </a:pPr>
            <a:r>
              <a:rPr sz="1600" b="1">
                <a:solidFill>
                  <a:srgbClr val="1E3A8A"/>
                </a:solidFill>
                <a:latin typeface="Arial"/>
              </a:rPr>
              <a:t>A parent searching for help</a:t>
            </a:r>
          </a:p>
        </p:txBody>
      </p:sp>
      <p:sp>
        <p:nvSpPr>
          <p:cNvPr id="13" name="TextBox 12"/>
          <p:cNvSpPr txBox="1"/>
          <p:nvPr/>
        </p:nvSpPr>
        <p:spPr>
          <a:xfrm>
            <a:off x="822959" y="2788920"/>
            <a:ext cx="5029200" cy="1234440"/>
          </a:xfrm>
          <a:prstGeom prst="rect">
            <a:avLst/>
          </a:prstGeom>
          <a:noFill/>
        </p:spPr>
        <p:txBody>
          <a:bodyPr wrap="square" anchor="t" lIns="45720" rIns="45720"/>
          <a:lstStyle/>
          <a:p>
            <a:pPr algn="l">
              <a:lnSpc>
                <a:spcPct val="100000"/>
              </a:lnSpc>
              <a:spcBef>
                <a:spcPts val="0"/>
              </a:spcBef>
              <a:spcAft>
                <a:spcPts val="0"/>
              </a:spcAft>
            </a:pPr>
            <a:r>
              <a:rPr sz="1350" b="0">
                <a:solidFill>
                  <a:srgbClr val="334155"/>
                </a:solidFill>
                <a:latin typeface="Arial"/>
              </a:rPr>
              <a:t>A parent in Lagos needs a Mathematics tutor for a child preparing for WAEC. Recommendations come from friends, and there is no simple way to compare qualifications, rates, or availability.</a:t>
            </a:r>
          </a:p>
        </p:txBody>
      </p:sp>
      <p:sp>
        <p:nvSpPr>
          <p:cNvPr id="14" name="Rounded Rectangle 13"/>
          <p:cNvSpPr/>
          <p:nvPr/>
        </p:nvSpPr>
        <p:spPr>
          <a:xfrm>
            <a:off x="6172200" y="2240280"/>
            <a:ext cx="5440680" cy="1828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240280"/>
            <a:ext cx="91440" cy="1828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377440"/>
            <a:ext cx="5029200" cy="365760"/>
          </a:xfrm>
          <a:prstGeom prst="rect">
            <a:avLst/>
          </a:prstGeom>
          <a:noFill/>
        </p:spPr>
        <p:txBody>
          <a:bodyPr wrap="square" anchor="t" lIns="45720" rIns="45720"/>
          <a:lstStyle/>
          <a:p>
            <a:pPr algn="l">
              <a:lnSpc>
                <a:spcPct val="100000"/>
              </a:lnSpc>
              <a:spcBef>
                <a:spcPts val="0"/>
              </a:spcBef>
              <a:spcAft>
                <a:spcPts val="0"/>
              </a:spcAft>
            </a:pPr>
            <a:r>
              <a:rPr sz="1600" b="1">
                <a:solidFill>
                  <a:srgbClr val="1E3A8A"/>
                </a:solidFill>
                <a:latin typeface="Arial"/>
              </a:rPr>
              <a:t>A student with exam pressure</a:t>
            </a:r>
          </a:p>
        </p:txBody>
      </p:sp>
      <p:sp>
        <p:nvSpPr>
          <p:cNvPr id="17" name="TextBox 16"/>
          <p:cNvSpPr txBox="1"/>
          <p:nvPr/>
        </p:nvSpPr>
        <p:spPr>
          <a:xfrm>
            <a:off x="6446520" y="2788920"/>
            <a:ext cx="5029200" cy="1234440"/>
          </a:xfrm>
          <a:prstGeom prst="rect">
            <a:avLst/>
          </a:prstGeom>
          <a:noFill/>
        </p:spPr>
        <p:txBody>
          <a:bodyPr wrap="square" anchor="t" lIns="45720" rIns="45720"/>
          <a:lstStyle/>
          <a:p>
            <a:pPr algn="l">
              <a:lnSpc>
                <a:spcPct val="100000"/>
              </a:lnSpc>
              <a:spcBef>
                <a:spcPts val="0"/>
              </a:spcBef>
              <a:spcAft>
                <a:spcPts val="0"/>
              </a:spcAft>
            </a:pPr>
            <a:r>
              <a:rPr sz="1350" b="0">
                <a:solidFill>
                  <a:srgbClr val="334155"/>
                </a:solidFill>
                <a:latin typeface="Arial"/>
              </a:rPr>
              <a:t>A Senior Secondary student wants sessions after school. Arranging a time usually means many back-and-forth phone messages before anything is confirmed.</a:t>
            </a:r>
          </a:p>
        </p:txBody>
      </p:sp>
      <p:sp>
        <p:nvSpPr>
          <p:cNvPr id="18" name="Rounded Rectangle 17"/>
          <p:cNvSpPr/>
          <p:nvPr/>
        </p:nvSpPr>
        <p:spPr>
          <a:xfrm>
            <a:off x="548640" y="4251960"/>
            <a:ext cx="5440680" cy="1828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251960"/>
            <a:ext cx="91440" cy="1828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389120"/>
            <a:ext cx="5029200" cy="365760"/>
          </a:xfrm>
          <a:prstGeom prst="rect">
            <a:avLst/>
          </a:prstGeom>
          <a:noFill/>
        </p:spPr>
        <p:txBody>
          <a:bodyPr wrap="square" anchor="t" lIns="45720" rIns="45720"/>
          <a:lstStyle/>
          <a:p>
            <a:pPr algn="l">
              <a:lnSpc>
                <a:spcPct val="100000"/>
              </a:lnSpc>
              <a:spcBef>
                <a:spcPts val="0"/>
              </a:spcBef>
              <a:spcAft>
                <a:spcPts val="0"/>
              </a:spcAft>
            </a:pPr>
            <a:r>
              <a:rPr sz="1600" b="1">
                <a:solidFill>
                  <a:srgbClr val="1E3A8A"/>
                </a:solidFill>
                <a:latin typeface="Arial"/>
              </a:rPr>
              <a:t>A tutor with no reach</a:t>
            </a:r>
          </a:p>
        </p:txBody>
      </p:sp>
      <p:sp>
        <p:nvSpPr>
          <p:cNvPr id="21" name="TextBox 20"/>
          <p:cNvSpPr txBox="1"/>
          <p:nvPr/>
        </p:nvSpPr>
        <p:spPr>
          <a:xfrm>
            <a:off x="822959" y="4800600"/>
            <a:ext cx="5029200" cy="1234440"/>
          </a:xfrm>
          <a:prstGeom prst="rect">
            <a:avLst/>
          </a:prstGeom>
          <a:noFill/>
        </p:spPr>
        <p:txBody>
          <a:bodyPr wrap="square" anchor="t" lIns="45720" rIns="45720"/>
          <a:lstStyle/>
          <a:p>
            <a:pPr algn="l">
              <a:lnSpc>
                <a:spcPct val="100000"/>
              </a:lnSpc>
              <a:spcBef>
                <a:spcPts val="0"/>
              </a:spcBef>
              <a:spcAft>
                <a:spcPts val="0"/>
              </a:spcAft>
            </a:pPr>
            <a:r>
              <a:rPr sz="1350" b="0">
                <a:solidFill>
                  <a:srgbClr val="334155"/>
                </a:solidFill>
                <a:latin typeface="Arial"/>
              </a:rPr>
              <a:t>A qualified tutor depends on personal networks to find students, so good teachers outside those networks are hard to discover.</a:t>
            </a:r>
          </a:p>
        </p:txBody>
      </p:sp>
      <p:sp>
        <p:nvSpPr>
          <p:cNvPr id="22" name="Rounded Rectangle 21"/>
          <p:cNvSpPr/>
          <p:nvPr/>
        </p:nvSpPr>
        <p:spPr>
          <a:xfrm>
            <a:off x="6172200" y="4251960"/>
            <a:ext cx="5440680" cy="1828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251960"/>
            <a:ext cx="91440" cy="1828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389120"/>
            <a:ext cx="5029200" cy="365760"/>
          </a:xfrm>
          <a:prstGeom prst="rect">
            <a:avLst/>
          </a:prstGeom>
          <a:noFill/>
        </p:spPr>
        <p:txBody>
          <a:bodyPr wrap="square" anchor="t" lIns="45720" rIns="45720"/>
          <a:lstStyle/>
          <a:p>
            <a:pPr algn="l">
              <a:lnSpc>
                <a:spcPct val="100000"/>
              </a:lnSpc>
              <a:spcBef>
                <a:spcPts val="0"/>
              </a:spcBef>
              <a:spcAft>
                <a:spcPts val="0"/>
              </a:spcAft>
            </a:pPr>
            <a:r>
              <a:rPr sz="1600" b="1">
                <a:solidFill>
                  <a:srgbClr val="1E3A8A"/>
                </a:solidFill>
                <a:latin typeface="Arial"/>
              </a:rPr>
              <a:t>Trust is hard to judge</a:t>
            </a:r>
          </a:p>
        </p:txBody>
      </p:sp>
      <p:sp>
        <p:nvSpPr>
          <p:cNvPr id="25" name="TextBox 24"/>
          <p:cNvSpPr txBox="1"/>
          <p:nvPr/>
        </p:nvSpPr>
        <p:spPr>
          <a:xfrm>
            <a:off x="6446520" y="4800600"/>
            <a:ext cx="5029200" cy="1234440"/>
          </a:xfrm>
          <a:prstGeom prst="rect">
            <a:avLst/>
          </a:prstGeom>
          <a:noFill/>
        </p:spPr>
        <p:txBody>
          <a:bodyPr wrap="square" anchor="t" lIns="45720" rIns="45720"/>
          <a:lstStyle/>
          <a:p>
            <a:pPr algn="l">
              <a:lnSpc>
                <a:spcPct val="100000"/>
              </a:lnSpc>
              <a:spcBef>
                <a:spcPts val="0"/>
              </a:spcBef>
              <a:spcAft>
                <a:spcPts val="0"/>
              </a:spcAft>
            </a:pPr>
            <a:r>
              <a:rPr sz="1350" b="0">
                <a:solidFill>
                  <a:srgbClr val="334155"/>
                </a:solidFill>
                <a:latin typeface="Arial"/>
              </a:rPr>
              <a:t>Families have little way to tell whether a tutor's identity or academic credentials have been checked before they agree to pay.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1  —  INTRODUCTION</a:t>
            </a:r>
          </a:p>
        </p:txBody>
      </p:sp>
      <p:sp>
        <p:nvSpPr>
          <p:cNvPr id="4" name="Rounded Rectangle 3"/>
          <p:cNvSpPr/>
          <p:nvPr/>
        </p:nvSpPr>
        <p:spPr>
          <a:xfrm>
            <a:off x="6309360" y="274320"/>
            <a:ext cx="5330952" cy="41148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1  ·  Uchekwe Uchechukwu Hephzibah</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Aim, objectives, and project overview</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5 / 23</a:t>
            </a:r>
          </a:p>
        </p:txBody>
      </p:sp>
      <p:sp>
        <p:nvSpPr>
          <p:cNvPr id="9" name="Rounded Rectangle 8"/>
          <p:cNvSpPr/>
          <p:nvPr/>
        </p:nvSpPr>
        <p:spPr>
          <a:xfrm>
            <a:off x="548640" y="1600200"/>
            <a:ext cx="5440680" cy="2377440"/>
          </a:xfrm>
          <a:prstGeom prst="roundRect">
            <a:avLst>
              <a:gd name="adj" fmla="val 5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512064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AIM</a:t>
            </a:r>
          </a:p>
        </p:txBody>
      </p:sp>
      <p:sp>
        <p:nvSpPr>
          <p:cNvPr id="11" name="TextBox 10"/>
          <p:cNvSpPr txBox="1"/>
          <p:nvPr/>
        </p:nvSpPr>
        <p:spPr>
          <a:xfrm>
            <a:off x="777240" y="2057400"/>
            <a:ext cx="5120640" cy="548640"/>
          </a:xfrm>
          <a:prstGeom prst="rect">
            <a:avLst/>
          </a:prstGeom>
          <a:noFill/>
        </p:spPr>
        <p:txBody>
          <a:bodyPr wrap="square" anchor="t" lIns="45720" rIns="45720"/>
          <a:lstStyle/>
          <a:p>
            <a:pPr algn="l">
              <a:lnSpc>
                <a:spcPct val="100000"/>
              </a:lnSpc>
              <a:spcBef>
                <a:spcPts val="0"/>
              </a:spcBef>
              <a:spcAft>
                <a:spcPts val="0"/>
              </a:spcAft>
            </a:pPr>
            <a:r>
              <a:rPr sz="1400" b="1">
                <a:solidFill>
                  <a:srgbClr val="1E3A8A"/>
                </a:solidFill>
                <a:latin typeface="Arial"/>
              </a:rPr>
              <a:t>Make it simpler and more transparent to find and book a tutor in Nigeria.</a:t>
            </a:r>
          </a:p>
        </p:txBody>
      </p:sp>
      <p:sp>
        <p:nvSpPr>
          <p:cNvPr id="12" name="TextBox 11"/>
          <p:cNvSpPr txBox="1"/>
          <p:nvPr/>
        </p:nvSpPr>
        <p:spPr>
          <a:xfrm>
            <a:off x="777240" y="2651760"/>
            <a:ext cx="5120640" cy="1280160"/>
          </a:xfrm>
          <a:prstGeom prst="rect">
            <a:avLst/>
          </a:prstGeom>
          <a:noFill/>
        </p:spPr>
        <p:txBody>
          <a:bodyPr wrap="square" anchor="t" lIns="45720" rIns="45720"/>
          <a:lstStyle/>
          <a:p>
            <a:pPr algn="l">
              <a:lnSpc>
                <a:spcPct val="100000"/>
              </a:lnSpc>
              <a:spcBef>
                <a:spcPts val="0"/>
              </a:spcBef>
              <a:spcAft>
                <a:spcPts val="300"/>
              </a:spcAft>
            </a:pPr>
            <a:r>
              <a:rPr sz="1300" b="0">
                <a:solidFill>
                  <a:srgbClr val="334155"/>
                </a:solidFill>
                <a:latin typeface="Arial"/>
              </a:rPr>
              <a:t>•  </a:t>
            </a:r>
            <a:r>
              <a:rPr sz="1300" b="0">
                <a:solidFill>
                  <a:srgbClr val="334155"/>
                </a:solidFill>
                <a:latin typeface="Arial"/>
              </a:rPr>
              <a:t>Show verified tutor profiles</a:t>
            </a:r>
          </a:p>
          <a:p>
            <a:pPr algn="l">
              <a:lnSpc>
                <a:spcPct val="100000"/>
              </a:lnSpc>
              <a:spcBef>
                <a:spcPts val="0"/>
              </a:spcBef>
              <a:spcAft>
                <a:spcPts val="300"/>
              </a:spcAft>
            </a:pPr>
            <a:r>
              <a:rPr sz="1300" b="0">
                <a:solidFill>
                  <a:srgbClr val="334155"/>
                </a:solidFill>
                <a:latin typeface="Arial"/>
              </a:rPr>
              <a:t>•  </a:t>
            </a:r>
            <a:r>
              <a:rPr sz="1300" b="0">
                <a:solidFill>
                  <a:srgbClr val="334155"/>
                </a:solidFill>
                <a:latin typeface="Arial"/>
              </a:rPr>
              <a:t>Support search and filters by subject, budget, and availability</a:t>
            </a:r>
          </a:p>
          <a:p>
            <a:pPr algn="l">
              <a:lnSpc>
                <a:spcPct val="100000"/>
              </a:lnSpc>
              <a:spcBef>
                <a:spcPts val="0"/>
              </a:spcBef>
              <a:spcAft>
                <a:spcPts val="300"/>
              </a:spcAft>
            </a:pPr>
            <a:r>
              <a:rPr sz="1300" b="0">
                <a:solidFill>
                  <a:srgbClr val="334155"/>
                </a:solidFill>
                <a:latin typeface="Arial"/>
              </a:rPr>
              <a:t>•  </a:t>
            </a:r>
            <a:r>
              <a:rPr sz="1300" b="0">
                <a:solidFill>
                  <a:srgbClr val="334155"/>
                </a:solidFill>
                <a:latin typeface="Arial"/>
              </a:rPr>
              <a:t>Turn a booking into a clear request with a status</a:t>
            </a:r>
          </a:p>
          <a:p>
            <a:pPr algn="l">
              <a:lnSpc>
                <a:spcPct val="100000"/>
              </a:lnSpc>
              <a:spcBef>
                <a:spcPts val="0"/>
              </a:spcBef>
              <a:spcAft>
                <a:spcPts val="0"/>
              </a:spcAft>
            </a:pPr>
            <a:r>
              <a:rPr sz="1300" b="0">
                <a:solidFill>
                  <a:srgbClr val="334155"/>
                </a:solidFill>
                <a:latin typeface="Arial"/>
              </a:rPr>
              <a:t>•  </a:t>
            </a:r>
            <a:r>
              <a:rPr sz="1300" b="0">
                <a:solidFill>
                  <a:srgbClr val="334155"/>
                </a:solidFill>
                <a:latin typeface="Arial"/>
              </a:rPr>
              <a:t>Collect ratings and reviews after completed sessions</a:t>
            </a:r>
          </a:p>
        </p:txBody>
      </p:sp>
      <p:sp>
        <p:nvSpPr>
          <p:cNvPr id="13" name="Rounded Rectangle 12"/>
          <p:cNvSpPr/>
          <p:nvPr/>
        </p:nvSpPr>
        <p:spPr>
          <a:xfrm>
            <a:off x="6199632" y="1600200"/>
            <a:ext cx="5440680" cy="2377440"/>
          </a:xfrm>
          <a:prstGeom prst="roundRect">
            <a:avLst>
              <a:gd name="adj" fmla="val 5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83080"/>
            <a:ext cx="512064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047857"/>
                </a:solidFill>
                <a:latin typeface="Arial"/>
              </a:rPr>
              <a:t>INTENDED USERS</a:t>
            </a:r>
          </a:p>
        </p:txBody>
      </p:sp>
      <p:sp>
        <p:nvSpPr>
          <p:cNvPr id="15" name="TextBox 14"/>
          <p:cNvSpPr txBox="1"/>
          <p:nvPr/>
        </p:nvSpPr>
        <p:spPr>
          <a:xfrm>
            <a:off x="6400800" y="2057400"/>
            <a:ext cx="5120640" cy="45720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Students:  </a:t>
            </a:r>
            <a:r>
              <a:rPr sz="1300" b="0">
                <a:solidFill>
                  <a:srgbClr val="334155"/>
                </a:solidFill>
                <a:latin typeface="Arial"/>
              </a:rPr>
              <a:t>Find tutors and manage sessions</a:t>
            </a:r>
          </a:p>
        </p:txBody>
      </p:sp>
      <p:sp>
        <p:nvSpPr>
          <p:cNvPr id="16" name="TextBox 15"/>
          <p:cNvSpPr txBox="1"/>
          <p:nvPr/>
        </p:nvSpPr>
        <p:spPr>
          <a:xfrm>
            <a:off x="6400800" y="2514600"/>
            <a:ext cx="5120640" cy="45720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Parents:  </a:t>
            </a:r>
            <a:r>
              <a:rPr sz="1300" b="0">
                <a:solidFill>
                  <a:srgbClr val="334155"/>
                </a:solidFill>
                <a:latin typeface="Arial"/>
              </a:rPr>
              <a:t>Search for a child's tutor and track bookings</a:t>
            </a:r>
          </a:p>
        </p:txBody>
      </p:sp>
      <p:sp>
        <p:nvSpPr>
          <p:cNvPr id="17" name="TextBox 16"/>
          <p:cNvSpPr txBox="1"/>
          <p:nvPr/>
        </p:nvSpPr>
        <p:spPr>
          <a:xfrm>
            <a:off x="6400800" y="2971800"/>
            <a:ext cx="5120640" cy="45720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Tutors:  </a:t>
            </a:r>
            <a:r>
              <a:rPr sz="1300" b="0">
                <a:solidFill>
                  <a:srgbClr val="334155"/>
                </a:solidFill>
                <a:latin typeface="Arial"/>
              </a:rPr>
              <a:t>Publish a profile, set availability, accept requests</a:t>
            </a:r>
          </a:p>
        </p:txBody>
      </p:sp>
      <p:sp>
        <p:nvSpPr>
          <p:cNvPr id="18" name="TextBox 17"/>
          <p:cNvSpPr txBox="1"/>
          <p:nvPr/>
        </p:nvSpPr>
        <p:spPr>
          <a:xfrm>
            <a:off x="6400800" y="3429000"/>
            <a:ext cx="5120640" cy="45720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Administrators:  </a:t>
            </a:r>
            <a:r>
              <a:rPr sz="1300" b="0">
                <a:solidFill>
                  <a:srgbClr val="334155"/>
                </a:solidFill>
                <a:latin typeface="Arial"/>
              </a:rPr>
              <a:t>Review credentials and approve or suspend accounts</a:t>
            </a:r>
          </a:p>
        </p:txBody>
      </p:sp>
      <p:sp>
        <p:nvSpPr>
          <p:cNvPr id="19" name="TextBox 18"/>
          <p:cNvSpPr txBox="1"/>
          <p:nvPr/>
        </p:nvSpPr>
        <p:spPr>
          <a:xfrm>
            <a:off x="548640" y="4206240"/>
            <a:ext cx="109728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MAJOR PLATFORM FEATURES (as built in the repository)</a:t>
            </a:r>
          </a:p>
        </p:txBody>
      </p:sp>
      <p:sp>
        <p:nvSpPr>
          <p:cNvPr id="20" name="Rounded Rectangle 19"/>
          <p:cNvSpPr/>
          <p:nvPr/>
        </p:nvSpPr>
        <p:spPr>
          <a:xfrm>
            <a:off x="548640" y="4572000"/>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Two-mode homepage: Discover &amp; Learn / Teach and Earn</a:t>
            </a:r>
          </a:p>
        </p:txBody>
      </p:sp>
      <p:sp>
        <p:nvSpPr>
          <p:cNvPr id="21" name="Rounded Rectangle 20"/>
          <p:cNvSpPr/>
          <p:nvPr/>
        </p:nvSpPr>
        <p:spPr>
          <a:xfrm>
            <a:off x="3355848" y="4572000"/>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Subject grid and live tutor filters</a:t>
            </a:r>
          </a:p>
        </p:txBody>
      </p:sp>
      <p:sp>
        <p:nvSpPr>
          <p:cNvPr id="22" name="Rounded Rectangle 21"/>
          <p:cNvSpPr/>
          <p:nvPr/>
        </p:nvSpPr>
        <p:spPr>
          <a:xfrm>
            <a:off x="6163055" y="4572000"/>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Public tutor profiles with credentials and reviews</a:t>
            </a:r>
          </a:p>
        </p:txBody>
      </p:sp>
      <p:sp>
        <p:nvSpPr>
          <p:cNvPr id="23" name="Rounded Rectangle 22"/>
          <p:cNvSpPr/>
          <p:nvPr/>
        </p:nvSpPr>
        <p:spPr>
          <a:xfrm>
            <a:off x="8970263" y="4572000"/>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Weekly availability calendar on each profile</a:t>
            </a:r>
          </a:p>
        </p:txBody>
      </p:sp>
      <p:sp>
        <p:nvSpPr>
          <p:cNvPr id="24" name="Rounded Rectangle 23"/>
          <p:cNvSpPr/>
          <p:nvPr/>
        </p:nvSpPr>
        <p:spPr>
          <a:xfrm>
            <a:off x="548640" y="5413248"/>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Booking request modal with price estimate</a:t>
            </a:r>
          </a:p>
        </p:txBody>
      </p:sp>
      <p:sp>
        <p:nvSpPr>
          <p:cNvPr id="25" name="Rounded Rectangle 24"/>
          <p:cNvSpPr/>
          <p:nvPr/>
        </p:nvSpPr>
        <p:spPr>
          <a:xfrm>
            <a:off x="3355848" y="5413248"/>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Student, parent, tutor, and admin dashboards</a:t>
            </a:r>
          </a:p>
        </p:txBody>
      </p:sp>
      <p:sp>
        <p:nvSpPr>
          <p:cNvPr id="26" name="Rounded Rectangle 25"/>
          <p:cNvSpPr/>
          <p:nvPr/>
        </p:nvSpPr>
        <p:spPr>
          <a:xfrm>
            <a:off x="6163055" y="5413248"/>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Messaging between students/parents and tutors</a:t>
            </a:r>
          </a:p>
        </p:txBody>
      </p:sp>
      <p:sp>
        <p:nvSpPr>
          <p:cNvPr id="27" name="Rounded Rectangle 26"/>
          <p:cNvSpPr/>
          <p:nvPr/>
        </p:nvSpPr>
        <p:spPr>
          <a:xfrm>
            <a:off x="8970263" y="5413248"/>
            <a:ext cx="2651760" cy="713232"/>
          </a:xfrm>
          <a:prstGeom prst="roundRect">
            <a:avLst>
              <a:gd name="adj" fmla="val 10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E3A8A"/>
                </a:solidFill>
                <a:latin typeface="Arial"/>
              </a:rPr>
              <a:t>Credential upload and admin verification queue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1  —  INTRODUCTION</a:t>
            </a:r>
          </a:p>
        </p:txBody>
      </p:sp>
      <p:sp>
        <p:nvSpPr>
          <p:cNvPr id="4" name="Rounded Rectangle 3"/>
          <p:cNvSpPr/>
          <p:nvPr/>
        </p:nvSpPr>
        <p:spPr>
          <a:xfrm>
            <a:off x="6309360" y="274320"/>
            <a:ext cx="5330952" cy="41148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1  ·  Uchekwe Uchechukwu Hephzibah</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Handover to the frontend section</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6 / 23</a:t>
            </a:r>
          </a:p>
        </p:txBody>
      </p:sp>
      <p:sp>
        <p:nvSpPr>
          <p:cNvPr id="9" name="Rounded Rectangle 8"/>
          <p:cNvSpPr/>
          <p:nvPr/>
        </p:nvSpPr>
        <p:spPr>
          <a:xfrm>
            <a:off x="548640" y="1645920"/>
            <a:ext cx="5394960" cy="4434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84632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THIS SECTION SO FAR</a:t>
            </a:r>
          </a:p>
        </p:txBody>
      </p:sp>
      <p:sp>
        <p:nvSpPr>
          <p:cNvPr id="11" name="TextBox 10"/>
          <p:cNvSpPr txBox="1"/>
          <p:nvPr/>
        </p:nvSpPr>
        <p:spPr>
          <a:xfrm>
            <a:off x="822960" y="2286000"/>
            <a:ext cx="4846320" cy="3657600"/>
          </a:xfrm>
          <a:prstGeom prst="rect">
            <a:avLst/>
          </a:prstGeom>
          <a:noFill/>
        </p:spPr>
        <p:txBody>
          <a:bodyPr wrap="square" anchor="t" lIns="45720" rIns="45720"/>
          <a:lstStyle/>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Introduced TutorConnect Nigeria and its purpose</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Explained the problem families and tutors face</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Stated the aim, objectives, intended users, and features</a:t>
            </a:r>
          </a:p>
        </p:txBody>
      </p:sp>
      <p:sp>
        <p:nvSpPr>
          <p:cNvPr id="12" name="Rounded Rectangle 11"/>
          <p:cNvSpPr/>
          <p:nvPr/>
        </p:nvSpPr>
        <p:spPr>
          <a:xfrm>
            <a:off x="6309360" y="1645920"/>
            <a:ext cx="5330952" cy="4434840"/>
          </a:xfrm>
          <a:prstGeom prst="roundRect">
            <a:avLst>
              <a:gd name="adj" fmla="val 4000"/>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1874519"/>
            <a:ext cx="4754880" cy="41148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NEXT: PRESENTER 2</a:t>
            </a:r>
          </a:p>
        </p:txBody>
      </p:sp>
      <p:sp>
        <p:nvSpPr>
          <p:cNvPr id="14" name="TextBox 13"/>
          <p:cNvSpPr txBox="1"/>
          <p:nvPr/>
        </p:nvSpPr>
        <p:spPr>
          <a:xfrm>
            <a:off x="6583680" y="2468880"/>
            <a:ext cx="4846320" cy="868680"/>
          </a:xfrm>
          <a:prstGeom prst="rect">
            <a:avLst/>
          </a:prstGeom>
          <a:noFill/>
        </p:spPr>
        <p:txBody>
          <a:bodyPr wrap="square" anchor="t" lIns="45720" rIns="45720"/>
          <a:lstStyle/>
          <a:p>
            <a:pPr algn="l">
              <a:lnSpc>
                <a:spcPct val="100000"/>
              </a:lnSpc>
              <a:spcBef>
                <a:spcPts val="0"/>
              </a:spcBef>
              <a:spcAft>
                <a:spcPts val="0"/>
              </a:spcAft>
            </a:pPr>
            <a:r>
              <a:rPr sz="2200" b="1">
                <a:solidFill>
                  <a:srgbClr val="1E3A8A"/>
                </a:solidFill>
                <a:latin typeface="Arial"/>
              </a:rPr>
              <a:t>Chioma Helen Ezeufonna</a:t>
            </a:r>
          </a:p>
        </p:txBody>
      </p:sp>
      <p:sp>
        <p:nvSpPr>
          <p:cNvPr id="15" name="TextBox 14"/>
          <p:cNvSpPr txBox="1"/>
          <p:nvPr/>
        </p:nvSpPr>
        <p:spPr>
          <a:xfrm>
            <a:off x="6583680" y="3383280"/>
            <a:ext cx="484632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047857"/>
                </a:solidFill>
                <a:latin typeface="Arial"/>
              </a:rPr>
              <a:t>Frontend Development</a:t>
            </a:r>
          </a:p>
        </p:txBody>
      </p:sp>
      <p:sp>
        <p:nvSpPr>
          <p:cNvPr id="16" name="TextBox 15"/>
          <p:cNvSpPr txBox="1"/>
          <p:nvPr/>
        </p:nvSpPr>
        <p:spPr>
          <a:xfrm>
            <a:off x="6583680" y="3840480"/>
            <a:ext cx="4846320" cy="2194560"/>
          </a:xfrm>
          <a:prstGeom prst="rect">
            <a:avLst/>
          </a:prstGeom>
          <a:noFill/>
        </p:spPr>
        <p:txBody>
          <a:bodyPr wrap="square" anchor="t" lIns="45720" rIns="45720"/>
          <a:lstStyle/>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Frontend development in this project</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Frontend technologies and what each one does</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How the interface is organised for students, parents, tutors, and admins</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Real screenshots of the homepage, tutor search, and dashboards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852160" cy="457200"/>
          </a:xfrm>
          <a:prstGeom prst="rect">
            <a:avLst/>
          </a:prstGeom>
          <a:noFill/>
        </p:spPr>
        <p:txBody>
          <a:bodyPr wrap="square" anchor="t" lIns="45720" rIns="45720"/>
          <a:lstStyle/>
          <a:p>
            <a:pPr algn="l">
              <a:lnSpc>
                <a:spcPct val="100000"/>
              </a:lnSpc>
              <a:spcBef>
                <a:spcPts val="0"/>
              </a:spcBef>
              <a:spcAft>
                <a:spcPts val="0"/>
              </a:spcAft>
            </a:pPr>
            <a:r>
              <a:rPr sz="2200" b="1">
                <a:solidFill>
                  <a:srgbClr val="10B981"/>
                </a:solidFill>
                <a:latin typeface="Arial"/>
              </a:rPr>
              <a:t>PRESENTER 2</a:t>
            </a:r>
          </a:p>
        </p:txBody>
      </p:sp>
      <p:sp>
        <p:nvSpPr>
          <p:cNvPr id="5" name="TextBox 4"/>
          <p:cNvSpPr txBox="1"/>
          <p:nvPr/>
        </p:nvSpPr>
        <p:spPr>
          <a:xfrm>
            <a:off x="822960" y="1143000"/>
            <a:ext cx="5852160" cy="365760"/>
          </a:xfrm>
          <a:prstGeom prst="rect">
            <a:avLst/>
          </a:prstGeom>
          <a:noFill/>
        </p:spPr>
        <p:txBody>
          <a:bodyPr wrap="square" anchor="t" lIns="45720" rIns="45720"/>
          <a:lstStyle/>
          <a:p>
            <a:pPr algn="l">
              <a:lnSpc>
                <a:spcPct val="100000"/>
              </a:lnSpc>
              <a:spcBef>
                <a:spcPts val="0"/>
              </a:spcBef>
              <a:spcAft>
                <a:spcPts val="0"/>
              </a:spcAft>
            </a:pPr>
            <a:r>
              <a:rPr sz="1300" b="0">
                <a:solidFill>
                  <a:srgbClr val="CBD5E1"/>
                </a:solidFill>
                <a:latin typeface="Arial"/>
              </a:rPr>
              <a:t>Speaking order 2 of 5</a:t>
            </a:r>
          </a:p>
        </p:txBody>
      </p:sp>
      <p:sp>
        <p:nvSpPr>
          <p:cNvPr id="6" name="TextBox 5"/>
          <p:cNvSpPr txBox="1"/>
          <p:nvPr/>
        </p:nvSpPr>
        <p:spPr>
          <a:xfrm>
            <a:off x="822960" y="1828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PRESENTER:</a:t>
            </a:r>
          </a:p>
        </p:txBody>
      </p:sp>
      <p:sp>
        <p:nvSpPr>
          <p:cNvPr id="7" name="TextBox 6"/>
          <p:cNvSpPr txBox="1"/>
          <p:nvPr/>
        </p:nvSpPr>
        <p:spPr>
          <a:xfrm>
            <a:off x="822960" y="2148840"/>
            <a:ext cx="6035040" cy="1051560"/>
          </a:xfrm>
          <a:prstGeom prst="rect">
            <a:avLst/>
          </a:prstGeom>
          <a:noFill/>
        </p:spPr>
        <p:txBody>
          <a:bodyPr wrap="square" anchor="t" lIns="45720" rIns="45720"/>
          <a:lstStyle/>
          <a:p>
            <a:pPr algn="l">
              <a:lnSpc>
                <a:spcPct val="100000"/>
              </a:lnSpc>
              <a:spcBef>
                <a:spcPts val="0"/>
              </a:spcBef>
              <a:spcAft>
                <a:spcPts val="0"/>
              </a:spcAft>
            </a:pPr>
            <a:r>
              <a:rPr sz="2800" b="1">
                <a:solidFill>
                  <a:srgbClr val="FFFFFF"/>
                </a:solidFill>
                <a:latin typeface="Arial"/>
              </a:rPr>
              <a:t>Chioma Helen Ezeufonna</a:t>
            </a:r>
          </a:p>
        </p:txBody>
      </p:sp>
      <p:sp>
        <p:nvSpPr>
          <p:cNvPr id="8" name="TextBox 7"/>
          <p:cNvSpPr txBox="1"/>
          <p:nvPr/>
        </p:nvSpPr>
        <p:spPr>
          <a:xfrm>
            <a:off x="822960" y="324612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ROLE:</a:t>
            </a:r>
          </a:p>
        </p:txBody>
      </p:sp>
      <p:sp>
        <p:nvSpPr>
          <p:cNvPr id="9" name="TextBox 8"/>
          <p:cNvSpPr txBox="1"/>
          <p:nvPr/>
        </p:nvSpPr>
        <p:spPr>
          <a:xfrm>
            <a:off x="822960" y="3566160"/>
            <a:ext cx="6035040" cy="41148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Frontend Development</a:t>
            </a:r>
          </a:p>
        </p:txBody>
      </p:sp>
      <p:sp>
        <p:nvSpPr>
          <p:cNvPr id="10" name="TextBox 9"/>
          <p:cNvSpPr txBox="1"/>
          <p:nvPr/>
        </p:nvSpPr>
        <p:spPr>
          <a:xfrm>
            <a:off x="822960" y="4114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TOPIC:</a:t>
            </a:r>
          </a:p>
        </p:txBody>
      </p:sp>
      <p:sp>
        <p:nvSpPr>
          <p:cNvPr id="11" name="TextBox 10"/>
          <p:cNvSpPr txBox="1"/>
          <p:nvPr/>
        </p:nvSpPr>
        <p:spPr>
          <a:xfrm>
            <a:off x="822960" y="4434840"/>
            <a:ext cx="6035040" cy="82296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Frontend Development and User Interface Design</a:t>
            </a:r>
          </a:p>
        </p:txBody>
      </p:sp>
      <p:sp>
        <p:nvSpPr>
          <p:cNvPr id="12" name="Rounded Rectangle 11"/>
          <p:cNvSpPr/>
          <p:nvPr/>
        </p:nvSpPr>
        <p:spPr>
          <a:xfrm>
            <a:off x="7406640" y="1097280"/>
            <a:ext cx="4206240" cy="4937760"/>
          </a:xfrm>
          <a:prstGeom prst="roundRect">
            <a:avLst>
              <a:gd name="adj" fmla="val 5000"/>
            </a:avLst>
          </a:prstGeom>
          <a:solidFill>
            <a:srgbClr val="17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6576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93C5FD"/>
                </a:solidFill>
                <a:latin typeface="Arial"/>
              </a:rPr>
              <a:t>WHAT THIS SECTION COVERS:</a:t>
            </a:r>
          </a:p>
        </p:txBody>
      </p:sp>
      <p:sp>
        <p:nvSpPr>
          <p:cNvPr id="14" name="TextBox 13"/>
          <p:cNvSpPr txBox="1"/>
          <p:nvPr/>
        </p:nvSpPr>
        <p:spPr>
          <a:xfrm>
            <a:off x="7726679" y="1874519"/>
            <a:ext cx="3657600" cy="3931920"/>
          </a:xfrm>
          <a:prstGeom prst="rect">
            <a:avLst/>
          </a:prstGeom>
          <a:noFill/>
        </p:spPr>
        <p:txBody>
          <a:bodyPr wrap="square" anchor="t" lIns="45720" rIns="45720"/>
          <a:lstStyle/>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What frontend development means here</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Technologies used for the interface</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How the interface is organised for each user</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Homepage, navigation and key screens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Responsive design and user experience</a:t>
            </a:r>
          </a:p>
        </p:txBody>
      </p:sp>
      <p:sp>
        <p:nvSpPr>
          <p:cNvPr id="15" name="TextBox 14"/>
          <p:cNvSpPr txBox="1"/>
          <p:nvPr/>
        </p:nvSpPr>
        <p:spPr>
          <a:xfrm>
            <a:off x="822960" y="6126480"/>
            <a:ext cx="8229600" cy="320040"/>
          </a:xfrm>
          <a:prstGeom prst="rect">
            <a:avLst/>
          </a:prstGeom>
          <a:noFill/>
        </p:spPr>
        <p:txBody>
          <a:bodyPr wrap="square" anchor="t" lIns="45720" rIns="45720"/>
          <a:lstStyle/>
          <a:p>
            <a:pPr algn="l">
              <a:lnSpc>
                <a:spcPct val="100000"/>
              </a:lnSpc>
              <a:spcBef>
                <a:spcPts val="0"/>
              </a:spcBef>
              <a:spcAft>
                <a:spcPts val="0"/>
              </a:spcAft>
            </a:pPr>
            <a:r>
              <a:rPr sz="1000" b="0">
                <a:solidFill>
                  <a:srgbClr val="93C5FD"/>
                </a:solidFill>
                <a:latin typeface="Arial"/>
              </a:rPr>
              <a:t>TutorConnect Nigeria  |  Edumentry AI Hackathon 1.0</a:t>
            </a:r>
          </a:p>
        </p:txBody>
      </p:sp>
      <p:sp>
        <p:nvSpPr>
          <p:cNvPr id="16" name="TextBox 15"/>
          <p:cNvSpPr txBox="1"/>
          <p:nvPr/>
        </p:nvSpPr>
        <p:spPr>
          <a:xfrm>
            <a:off x="9784080" y="6126480"/>
            <a:ext cx="1856231" cy="320040"/>
          </a:xfrm>
          <a:prstGeom prst="rect">
            <a:avLst/>
          </a:prstGeom>
          <a:noFill/>
        </p:spPr>
        <p:txBody>
          <a:bodyPr wrap="square" anchor="t" lIns="45720" rIns="45720"/>
          <a:lstStyle/>
          <a:p>
            <a:pPr algn="r">
              <a:lnSpc>
                <a:spcPct val="100000"/>
              </a:lnSpc>
              <a:spcBef>
                <a:spcPts val="0"/>
              </a:spcBef>
              <a:spcAft>
                <a:spcPts val="0"/>
              </a:spcAft>
            </a:pPr>
            <a:r>
              <a:rPr sz="1000" b="0">
                <a:solidFill>
                  <a:srgbClr val="93C5FD"/>
                </a:solidFill>
                <a:latin typeface="Arial"/>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2  —  FRONTEND DEVELOPMENT</a:t>
            </a:r>
          </a:p>
        </p:txBody>
      </p:sp>
      <p:sp>
        <p:nvSpPr>
          <p:cNvPr id="4" name="Rounded Rectangle 3"/>
          <p:cNvSpPr/>
          <p:nvPr/>
        </p:nvSpPr>
        <p:spPr>
          <a:xfrm>
            <a:off x="6309360" y="274320"/>
            <a:ext cx="5330952" cy="41148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2  ·  Chioma Helen Ezeufonna</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Frontend technologies and interface design</a:t>
            </a:r>
          </a:p>
        </p:txBody>
      </p:sp>
      <p:sp>
        <p:nvSpPr>
          <p:cNvPr id="6" name="TextBox 5"/>
          <p:cNvSpPr txBox="1"/>
          <p:nvPr/>
        </p:nvSpPr>
        <p:spPr>
          <a:xfrm>
            <a:off x="548640" y="1371600"/>
            <a:ext cx="11064240" cy="365760"/>
          </a:xfrm>
          <a:prstGeom prst="rect">
            <a:avLst/>
          </a:prstGeom>
          <a:noFill/>
        </p:spPr>
        <p:txBody>
          <a:bodyPr wrap="square" anchor="t" lIns="45720" rIns="45720"/>
          <a:lstStyle/>
          <a:p>
            <a:pPr algn="l">
              <a:lnSpc>
                <a:spcPct val="100000"/>
              </a:lnSpc>
              <a:spcBef>
                <a:spcPts val="0"/>
              </a:spcBef>
              <a:spcAft>
                <a:spcPts val="0"/>
              </a:spcAft>
            </a:pPr>
            <a:r>
              <a:rPr sz="1500" b="0">
                <a:solidFill>
                  <a:srgbClr val="64748B"/>
                </a:solidFill>
                <a:latin typeface="Arial"/>
              </a:rPr>
              <a:t>Frontend = everything the user sees and clicks in the browser.</a:t>
            </a:r>
          </a:p>
        </p:txBody>
      </p:sp>
      <p:cxnSp>
        <p:nvCxnSpPr>
          <p:cNvPr id="7" name="Connector 6"/>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9" name="TextBox 8"/>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8 / 23</a:t>
            </a:r>
          </a:p>
        </p:txBody>
      </p:sp>
      <p:graphicFrame>
        <p:nvGraphicFramePr>
          <p:cNvPr id="10" name="Table 9"/>
          <p:cNvGraphicFramePr>
            <a:graphicFrameLocks noGrp="1"/>
          </p:cNvGraphicFramePr>
          <p:nvPr/>
        </p:nvGraphicFramePr>
        <p:xfrm>
          <a:off x="548640" y="1828800"/>
          <a:ext cx="11064240" cy="4251960"/>
        </p:xfrm>
        <a:graphic>
          <a:graphicData uri="http://schemas.openxmlformats.org/drawingml/2006/table">
            <a:tbl>
              <a:tblPr firstRow="1" bandRow="1">
                <a:tableStyleId>{5C22544A-7EE6-4342-B048-85BDC9FD1C3A}</a:tableStyleId>
              </a:tblPr>
              <a:tblGrid>
                <a:gridCol w="3200400"/>
                <a:gridCol w="5577840"/>
                <a:gridCol w="2286000"/>
              </a:tblGrid>
              <a:tr h="411480">
                <a:tc>
                  <a:txBody>
                    <a:bodyPr wrap="square"/>
                    <a:lstStyle/>
                    <a:p>
                      <a:pPr algn="l"/>
                      <a:r>
                        <a:rPr sz="1300" b="1">
                          <a:solidFill>
                            <a:srgbClr val="FFFFFF"/>
                          </a:solidFill>
                          <a:latin typeface="Arial"/>
                        </a:rPr>
                        <a:t>Technology</a:t>
                      </a:r>
                    </a:p>
                  </a:txBody>
                  <a:tcPr marL="73152" marR="45720" marT="36576" marB="36576" anchor="ctr">
                    <a:solidFill>
                      <a:srgbClr val="1E3A8A"/>
                    </a:solidFill>
                  </a:tcPr>
                </a:tc>
                <a:tc>
                  <a:txBody>
                    <a:bodyPr wrap="square"/>
                    <a:lstStyle/>
                    <a:p>
                      <a:pPr algn="l"/>
                      <a:r>
                        <a:rPr sz="1300" b="1">
                          <a:solidFill>
                            <a:srgbClr val="FFFFFF"/>
                          </a:solidFill>
                          <a:latin typeface="Arial"/>
                        </a:rPr>
                        <a:t>Role in this project</a:t>
                      </a:r>
                    </a:p>
                  </a:txBody>
                  <a:tcPr marL="73152" marR="45720" marT="36576" marB="36576" anchor="ctr">
                    <a:solidFill>
                      <a:srgbClr val="1E3A8A"/>
                    </a:solidFill>
                  </a:tcPr>
                </a:tc>
                <a:tc>
                  <a:txBody>
                    <a:bodyPr wrap="square"/>
                    <a:lstStyle/>
                    <a:p>
                      <a:pPr algn="l"/>
                      <a:r>
                        <a:rPr sz="1300" b="1">
                          <a:solidFill>
                            <a:srgbClr val="FFFFFF"/>
                          </a:solidFill>
                          <a:latin typeface="Arial"/>
                        </a:rPr>
                        <a:t>Where to find it</a:t>
                      </a:r>
                    </a:p>
                  </a:txBody>
                  <a:tcPr marL="73152" marR="45720" marT="36576" marB="36576" anchor="ctr">
                    <a:solidFill>
                      <a:srgbClr val="1E3A8A"/>
                    </a:solidFill>
                  </a:tcPr>
                </a:tc>
              </a:tr>
              <a:tr h="548640">
                <a:tc>
                  <a:txBody>
                    <a:bodyPr wrap="square"/>
                    <a:lstStyle/>
                    <a:p>
                      <a:pPr algn="l"/>
                      <a:r>
                        <a:rPr sz="1250" b="1">
                          <a:solidFill>
                            <a:srgbClr val="1E3A8A"/>
                          </a:solidFill>
                          <a:latin typeface="Arial"/>
                        </a:rPr>
                        <a:t>Next.js 16 (App Router)</a:t>
                      </a:r>
                    </a:p>
                  </a:txBody>
                  <a:tcPr marL="73152" marR="45720" marT="36576" marB="36576" anchor="ctr">
                    <a:solidFill>
                      <a:srgbClr val="FFFFFF"/>
                    </a:solidFill>
                  </a:tcPr>
                </a:tc>
                <a:tc>
                  <a:txBody>
                    <a:bodyPr wrap="square"/>
                    <a:lstStyle/>
                    <a:p>
                      <a:pPr algn="l"/>
                      <a:r>
                        <a:rPr sz="1250" b="0">
                          <a:solidFill>
                            <a:srgbClr val="0F172A"/>
                          </a:solidFill>
                          <a:latin typeface="Arial"/>
                        </a:rPr>
                        <a:t>Builds each page from a folder path, such as /tutors or /dashboard/student</a:t>
                      </a:r>
                    </a:p>
                  </a:txBody>
                  <a:tcPr marL="73152" marR="45720" marT="36576" marB="36576" anchor="ctr">
                    <a:solidFill>
                      <a:srgbClr val="FFFFFF"/>
                    </a:solidFill>
                  </a:tcPr>
                </a:tc>
                <a:tc>
                  <a:txBody>
                    <a:bodyPr wrap="square"/>
                    <a:lstStyle/>
                    <a:p>
                      <a:pPr algn="l"/>
                      <a:r>
                        <a:rPr sz="1250" b="0">
                          <a:solidFill>
                            <a:srgbClr val="0F172A"/>
                          </a:solidFill>
                          <a:latin typeface="Arial"/>
                        </a:rPr>
                        <a:t>app/ folder</a:t>
                      </a:r>
                    </a:p>
                  </a:txBody>
                  <a:tcPr marL="73152" marR="45720" marT="36576" marB="36576" anchor="ctr">
                    <a:solidFill>
                      <a:srgbClr val="FFFFFF"/>
                    </a:solidFill>
                  </a:tcPr>
                </a:tc>
              </a:tr>
              <a:tr h="548640">
                <a:tc>
                  <a:txBody>
                    <a:bodyPr wrap="square"/>
                    <a:lstStyle/>
                    <a:p>
                      <a:pPr algn="l"/>
                      <a:r>
                        <a:rPr sz="1250" b="1">
                          <a:solidFill>
                            <a:srgbClr val="1E3A8A"/>
                          </a:solidFill>
                          <a:latin typeface="Arial"/>
                        </a:rPr>
                        <a:t>React 19</a:t>
                      </a:r>
                    </a:p>
                  </a:txBody>
                  <a:tcPr marL="73152" marR="45720" marT="36576" marB="36576" anchor="ctr">
                    <a:solidFill>
                      <a:srgbClr val="F1F5F9"/>
                    </a:solidFill>
                  </a:tcPr>
                </a:tc>
                <a:tc>
                  <a:txBody>
                    <a:bodyPr wrap="square"/>
                    <a:lstStyle/>
                    <a:p>
                      <a:pPr algn="l"/>
                      <a:r>
                        <a:rPr sz="1250" b="0">
                          <a:solidFill>
                            <a:srgbClr val="0F172A"/>
                          </a:solidFill>
                          <a:latin typeface="Arial"/>
                        </a:rPr>
                        <a:t>Builds reusable pieces of the screen: navbar, tutor card, booking modal</a:t>
                      </a:r>
                    </a:p>
                  </a:txBody>
                  <a:tcPr marL="73152" marR="45720" marT="36576" marB="36576" anchor="ctr">
                    <a:solidFill>
                      <a:srgbClr val="F1F5F9"/>
                    </a:solidFill>
                  </a:tcPr>
                </a:tc>
                <a:tc>
                  <a:txBody>
                    <a:bodyPr wrap="square"/>
                    <a:lstStyle/>
                    <a:p>
                      <a:pPr algn="l"/>
                      <a:r>
                        <a:rPr sz="1250" b="0">
                          <a:solidFill>
                            <a:srgbClr val="0F172A"/>
                          </a:solidFill>
                          <a:latin typeface="Arial"/>
                        </a:rPr>
                        <a:t>components/ folder</a:t>
                      </a:r>
                    </a:p>
                  </a:txBody>
                  <a:tcPr marL="73152" marR="45720" marT="36576" marB="36576" anchor="ctr">
                    <a:solidFill>
                      <a:srgbClr val="F1F5F9"/>
                    </a:solidFill>
                  </a:tcPr>
                </a:tc>
              </a:tr>
              <a:tr h="548640">
                <a:tc>
                  <a:txBody>
                    <a:bodyPr wrap="square"/>
                    <a:lstStyle/>
                    <a:p>
                      <a:pPr algn="l"/>
                      <a:r>
                        <a:rPr sz="1250" b="1">
                          <a:solidFill>
                            <a:srgbClr val="1E3A8A"/>
                          </a:solidFill>
                          <a:latin typeface="Arial"/>
                        </a:rPr>
                        <a:t>TypeScript</a:t>
                      </a:r>
                    </a:p>
                  </a:txBody>
                  <a:tcPr marL="73152" marR="45720" marT="36576" marB="36576" anchor="ctr">
                    <a:solidFill>
                      <a:srgbClr val="FFFFFF"/>
                    </a:solidFill>
                  </a:tcPr>
                </a:tc>
                <a:tc>
                  <a:txBody>
                    <a:bodyPr wrap="square"/>
                    <a:lstStyle/>
                    <a:p>
                      <a:pPr algn="l"/>
                      <a:r>
                        <a:rPr sz="1250" b="0">
                          <a:solidFill>
                            <a:srgbClr val="0F172A"/>
                          </a:solidFill>
                          <a:latin typeface="Arial"/>
                        </a:rPr>
                        <a:t>Defines the shape of data, such as a Tutor or a Booking, to catch mistakes early</a:t>
                      </a:r>
                    </a:p>
                  </a:txBody>
                  <a:tcPr marL="73152" marR="45720" marT="36576" marB="36576" anchor="ctr">
                    <a:solidFill>
                      <a:srgbClr val="FFFFFF"/>
                    </a:solidFill>
                  </a:tcPr>
                </a:tc>
                <a:tc>
                  <a:txBody>
                    <a:bodyPr wrap="square"/>
                    <a:lstStyle/>
                    <a:p>
                      <a:pPr algn="l"/>
                      <a:r>
                        <a:rPr sz="1250" b="0">
                          <a:solidFill>
                            <a:srgbClr val="0F172A"/>
                          </a:solidFill>
                          <a:latin typeface="Arial"/>
                        </a:rPr>
                        <a:t>lib/types.ts</a:t>
                      </a:r>
                    </a:p>
                  </a:txBody>
                  <a:tcPr marL="73152" marR="45720" marT="36576" marB="36576" anchor="ctr">
                    <a:solidFill>
                      <a:srgbClr val="FFFFFF"/>
                    </a:solidFill>
                  </a:tcPr>
                </a:tc>
              </a:tr>
              <a:tr h="548640">
                <a:tc>
                  <a:txBody>
                    <a:bodyPr wrap="square"/>
                    <a:lstStyle/>
                    <a:p>
                      <a:pPr algn="l"/>
                      <a:r>
                        <a:rPr sz="1250" b="1">
                          <a:solidFill>
                            <a:srgbClr val="1E3A8A"/>
                          </a:solidFill>
                          <a:latin typeface="Arial"/>
                        </a:rPr>
                        <a:t>Tailwind CSS v4</a:t>
                      </a:r>
                    </a:p>
                  </a:txBody>
                  <a:tcPr marL="73152" marR="45720" marT="36576" marB="36576" anchor="ctr">
                    <a:solidFill>
                      <a:srgbClr val="F1F5F9"/>
                    </a:solidFill>
                  </a:tcPr>
                </a:tc>
                <a:tc>
                  <a:txBody>
                    <a:bodyPr wrap="square"/>
                    <a:lstStyle/>
                    <a:p>
                      <a:pPr algn="l"/>
                      <a:r>
                        <a:rPr sz="1250" b="0">
                          <a:solidFill>
                            <a:srgbClr val="0F172A"/>
                          </a:solidFill>
                          <a:latin typeface="Arial"/>
                        </a:rPr>
                        <a:t>Styles the interface with utility classes and the navy, indigo, and emerald palette</a:t>
                      </a:r>
                    </a:p>
                  </a:txBody>
                  <a:tcPr marL="73152" marR="45720" marT="36576" marB="36576" anchor="ctr">
                    <a:solidFill>
                      <a:srgbClr val="F1F5F9"/>
                    </a:solidFill>
                  </a:tcPr>
                </a:tc>
                <a:tc>
                  <a:txBody>
                    <a:bodyPr wrap="square"/>
                    <a:lstStyle/>
                    <a:p>
                      <a:pPr algn="l"/>
                      <a:r>
                        <a:rPr sz="1250" b="0">
                          <a:solidFill>
                            <a:srgbClr val="0F172A"/>
                          </a:solidFill>
                          <a:latin typeface="Arial"/>
                        </a:rPr>
                        <a:t>app/globals.css</a:t>
                      </a:r>
                    </a:p>
                  </a:txBody>
                  <a:tcPr marL="73152" marR="45720" marT="36576" marB="36576" anchor="ctr">
                    <a:solidFill>
                      <a:srgbClr val="F1F5F9"/>
                    </a:solidFill>
                  </a:tcPr>
                </a:tc>
              </a:tr>
              <a:tr h="548640">
                <a:tc>
                  <a:txBody>
                    <a:bodyPr wrap="square"/>
                    <a:lstStyle/>
                    <a:p>
                      <a:pPr algn="l"/>
                      <a:r>
                        <a:rPr sz="1250" b="1">
                          <a:solidFill>
                            <a:srgbClr val="1E3A8A"/>
                          </a:solidFill>
                          <a:latin typeface="Arial"/>
                        </a:rPr>
                        <a:t>Framer Motion</a:t>
                      </a:r>
                    </a:p>
                  </a:txBody>
                  <a:tcPr marL="73152" marR="45720" marT="36576" marB="36576" anchor="ctr">
                    <a:solidFill>
                      <a:srgbClr val="FFFFFF"/>
                    </a:solidFill>
                  </a:tcPr>
                </a:tc>
                <a:tc>
                  <a:txBody>
                    <a:bodyPr wrap="square"/>
                    <a:lstStyle/>
                    <a:p>
                      <a:pPr algn="l"/>
                      <a:r>
                        <a:rPr sz="1250" b="0">
                          <a:solidFill>
                            <a:srgbClr val="0F172A"/>
                          </a:solidFill>
                          <a:latin typeface="Arial"/>
                        </a:rPr>
                        <a:t>Animates the homepage hero toggle and some transitions</a:t>
                      </a:r>
                    </a:p>
                  </a:txBody>
                  <a:tcPr marL="73152" marR="45720" marT="36576" marB="36576" anchor="ctr">
                    <a:solidFill>
                      <a:srgbClr val="FFFFFF"/>
                    </a:solidFill>
                  </a:tcPr>
                </a:tc>
                <a:tc>
                  <a:txBody>
                    <a:bodyPr wrap="square"/>
                    <a:lstStyle/>
                    <a:p>
                      <a:pPr algn="l"/>
                      <a:r>
                        <a:rPr sz="1250" b="0">
                          <a:solidFill>
                            <a:srgbClr val="0F172A"/>
                          </a:solidFill>
                          <a:latin typeface="Arial"/>
                        </a:rPr>
                        <a:t>components/HeroSlider.tsx</a:t>
                      </a:r>
                    </a:p>
                  </a:txBody>
                  <a:tcPr marL="73152" marR="45720" marT="36576" marB="36576" anchor="ctr">
                    <a:solidFill>
                      <a:srgbClr val="FFFFFF"/>
                    </a:solidFill>
                  </a:tcPr>
                </a:tc>
              </a:tr>
              <a:tr h="548640">
                <a:tc>
                  <a:txBody>
                    <a:bodyPr wrap="square"/>
                    <a:lstStyle/>
                    <a:p>
                      <a:pPr algn="l"/>
                      <a:r>
                        <a:rPr sz="1250" b="1">
                          <a:solidFill>
                            <a:srgbClr val="1E3A8A"/>
                          </a:solidFill>
                          <a:latin typeface="Arial"/>
                        </a:rPr>
                        <a:t>lucide-react</a:t>
                      </a:r>
                    </a:p>
                  </a:txBody>
                  <a:tcPr marL="73152" marR="45720" marT="36576" marB="36576" anchor="ctr">
                    <a:solidFill>
                      <a:srgbClr val="F1F5F9"/>
                    </a:solidFill>
                  </a:tcPr>
                </a:tc>
                <a:tc>
                  <a:txBody>
                    <a:bodyPr wrap="square"/>
                    <a:lstStyle/>
                    <a:p>
                      <a:pPr algn="l"/>
                      <a:r>
                        <a:rPr sz="1250" b="0">
                          <a:solidFill>
                            <a:srgbClr val="0F172A"/>
                          </a:solidFill>
                          <a:latin typeface="Arial"/>
                        </a:rPr>
                        <a:t>Provides the icon set: search, calendar, shield, and others</a:t>
                      </a:r>
                    </a:p>
                  </a:txBody>
                  <a:tcPr marL="73152" marR="45720" marT="36576" marB="36576" anchor="ctr">
                    <a:solidFill>
                      <a:srgbClr val="F1F5F9"/>
                    </a:solidFill>
                  </a:tcPr>
                </a:tc>
                <a:tc>
                  <a:txBody>
                    <a:bodyPr wrap="square"/>
                    <a:lstStyle/>
                    <a:p>
                      <a:pPr algn="l"/>
                      <a:r>
                        <a:rPr sz="1250" b="0">
                          <a:solidFill>
                            <a:srgbClr val="0F172A"/>
                          </a:solidFill>
                          <a:latin typeface="Arial"/>
                        </a:rPr>
                        <a:t>Navbar, dashboards</a:t>
                      </a:r>
                    </a:p>
                  </a:txBody>
                  <a:tcPr marL="73152" marR="45720" marT="36576" marB="36576" anchor="ctr">
                    <a:solidFill>
                      <a:srgbClr val="F1F5F9"/>
                    </a:solidFill>
                  </a:tcPr>
                </a:tc>
              </a:tr>
              <a:tr h="548640">
                <a:tc>
                  <a:txBody>
                    <a:bodyPr wrap="square"/>
                    <a:lstStyle/>
                    <a:p>
                      <a:pPr algn="l"/>
                      <a:r>
                        <a:rPr sz="1250" b="1">
                          <a:solidFill>
                            <a:srgbClr val="1E3A8A"/>
                          </a:solidFill>
                          <a:latin typeface="Arial"/>
                        </a:rPr>
                        <a:t>next/font (Inter, Plus Jakarta Sans)</a:t>
                      </a:r>
                    </a:p>
                  </a:txBody>
                  <a:tcPr marL="73152" marR="45720" marT="36576" marB="36576" anchor="ctr">
                    <a:solidFill>
                      <a:srgbClr val="FFFFFF"/>
                    </a:solidFill>
                  </a:tcPr>
                </a:tc>
                <a:tc>
                  <a:txBody>
                    <a:bodyPr wrap="square"/>
                    <a:lstStyle/>
                    <a:p>
                      <a:pPr algn="l"/>
                      <a:r>
                        <a:rPr sz="1250" b="0">
                          <a:solidFill>
                            <a:srgbClr val="0F172A"/>
                          </a:solidFill>
                          <a:latin typeface="Arial"/>
                        </a:rPr>
                        <a:t>Loads the two typefaces used for body text and headings</a:t>
                      </a:r>
                    </a:p>
                  </a:txBody>
                  <a:tcPr marL="73152" marR="45720" marT="36576" marB="36576" anchor="ctr">
                    <a:solidFill>
                      <a:srgbClr val="FFFFFF"/>
                    </a:solidFill>
                  </a:tcPr>
                </a:tc>
                <a:tc>
                  <a:txBody>
                    <a:bodyPr wrap="square"/>
                    <a:lstStyle/>
                    <a:p>
                      <a:pPr algn="l"/>
                      <a:r>
                        <a:rPr sz="1250" b="0">
                          <a:solidFill>
                            <a:srgbClr val="0F172A"/>
                          </a:solidFill>
                          <a:latin typeface="Arial"/>
                        </a:rPr>
                        <a:t>app/layout.tsx</a:t>
                      </a:r>
                    </a:p>
                  </a:txBody>
                  <a:tcPr marL="73152" marR="45720" marT="36576" marB="36576" anchor="ctr">
                    <a:solidFill>
                      <a:srgbClr val="FFFFFF"/>
                    </a:solidFill>
                  </a:tcPr>
                </a:tc>
              </a:tr>
            </a:tbl>
          </a:graphicData>
        </a:graphic>
      </p:graphicFrame>
      <p:sp>
        <p:nvSpPr>
          <p:cNvPr id="11" name="TextBox 10"/>
          <p:cNvSpPr txBox="1"/>
          <p:nvPr/>
        </p:nvSpPr>
        <p:spPr>
          <a:xfrm>
            <a:off x="548640" y="5989320"/>
            <a:ext cx="11064240" cy="320040"/>
          </a:xfrm>
          <a:prstGeom prst="rect">
            <a:avLst/>
          </a:prstGeom>
          <a:noFill/>
        </p:spPr>
        <p:txBody>
          <a:bodyPr wrap="square" anchor="t" lIns="45720" rIns="45720"/>
          <a:lstStyle/>
          <a:p>
            <a:pPr algn="l">
              <a:lnSpc>
                <a:spcPct val="100000"/>
              </a:lnSpc>
              <a:spcBef>
                <a:spcPts val="0"/>
              </a:spcBef>
              <a:spcAft>
                <a:spcPts val="0"/>
              </a:spcAft>
            </a:pPr>
            <a:r>
              <a:rPr sz="1200" b="0">
                <a:solidFill>
                  <a:srgbClr val="64748B"/>
                </a:solidFill>
                <a:latin typeface="Arial"/>
              </a:rPr>
              <a:t>Responsive layout: Tailwind breakpoints change the layout on small screens, and the navbar collapses into a menu button on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2  —  FRONTEND DEVELOPMENT</a:t>
            </a:r>
          </a:p>
        </p:txBody>
      </p:sp>
      <p:sp>
        <p:nvSpPr>
          <p:cNvPr id="4" name="Rounded Rectangle 3"/>
          <p:cNvSpPr/>
          <p:nvPr/>
        </p:nvSpPr>
        <p:spPr>
          <a:xfrm>
            <a:off x="6309360" y="274320"/>
            <a:ext cx="5330952" cy="41148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2  ·  Chioma Helen Ezeufonna</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TutorConnect Nigeria user interface</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9 / 23</a:t>
            </a:r>
          </a:p>
        </p:txBody>
      </p:sp>
      <p:pic>
        <p:nvPicPr>
          <p:cNvPr id="9" name="Picture 8" descr="home-top.png"/>
          <p:cNvPicPr>
            <a:picLocks noChangeAspect="1"/>
          </p:cNvPicPr>
          <p:nvPr/>
        </p:nvPicPr>
        <p:blipFill>
          <a:blip r:embed="rId2"/>
          <a:srcRect l="255" r="255"/>
          <a:stretch>
            <a:fillRect/>
          </a:stretch>
        </p:blipFill>
        <p:spPr>
          <a:xfrm>
            <a:off x="548640" y="1645920"/>
            <a:ext cx="3566160" cy="2240280"/>
          </a:xfrm>
          <a:prstGeom prst="rect">
            <a:avLst/>
          </a:prstGeom>
        </p:spPr>
      </p:pic>
      <p:sp>
        <p:nvSpPr>
          <p:cNvPr id="10" name="Rectangle 9"/>
          <p:cNvSpPr/>
          <p:nvPr/>
        </p:nvSpPr>
        <p:spPr>
          <a:xfrm>
            <a:off x="548640" y="1645920"/>
            <a:ext cx="3566160" cy="2240280"/>
          </a:xfrm>
          <a:prstGeom prst="rect">
            <a:avLst/>
          </a:prstGeom>
          <a:no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59352"/>
            <a:ext cx="3566160" cy="32004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Homepage hero (real screenshot)</a:t>
            </a:r>
          </a:p>
        </p:txBody>
      </p:sp>
      <p:sp>
        <p:nvSpPr>
          <p:cNvPr id="12" name="TextBox 11"/>
          <p:cNvSpPr txBox="1"/>
          <p:nvPr/>
        </p:nvSpPr>
        <p:spPr>
          <a:xfrm>
            <a:off x="548640" y="4270248"/>
            <a:ext cx="3566160" cy="640080"/>
          </a:xfrm>
          <a:prstGeom prst="rect">
            <a:avLst/>
          </a:prstGeom>
          <a:noFill/>
        </p:spPr>
        <p:txBody>
          <a:bodyPr wrap="square" anchor="t" lIns="45720" rIns="45720"/>
          <a:lstStyle/>
          <a:p>
            <a:pPr algn="l">
              <a:lnSpc>
                <a:spcPct val="100000"/>
              </a:lnSpc>
              <a:spcBef>
                <a:spcPts val="0"/>
              </a:spcBef>
              <a:spcAft>
                <a:spcPts val="0"/>
              </a:spcAft>
            </a:pPr>
            <a:r>
              <a:rPr sz="1150" b="0">
                <a:solidFill>
                  <a:srgbClr val="64748B"/>
                </a:solidFill>
                <a:latin typeface="Arial"/>
              </a:rPr>
              <a:t>Two modes: Discover &amp; Learn for families, Teach and Earn for tutors.</a:t>
            </a:r>
          </a:p>
        </p:txBody>
      </p:sp>
      <p:pic>
        <p:nvPicPr>
          <p:cNvPr id="13" name="Picture 12" descr="tutors.png"/>
          <p:cNvPicPr>
            <a:picLocks noChangeAspect="1"/>
          </p:cNvPicPr>
          <p:nvPr/>
        </p:nvPicPr>
        <p:blipFill>
          <a:blip r:embed="rId3"/>
          <a:srcRect l="255" r="255"/>
          <a:stretch>
            <a:fillRect/>
          </a:stretch>
        </p:blipFill>
        <p:spPr>
          <a:xfrm>
            <a:off x="4297679" y="1645920"/>
            <a:ext cx="3566160" cy="2240280"/>
          </a:xfrm>
          <a:prstGeom prst="rect">
            <a:avLst/>
          </a:prstGeom>
        </p:spPr>
      </p:pic>
      <p:sp>
        <p:nvSpPr>
          <p:cNvPr id="14" name="Rectangle 13"/>
          <p:cNvSpPr/>
          <p:nvPr/>
        </p:nvSpPr>
        <p:spPr>
          <a:xfrm>
            <a:off x="4297679" y="1645920"/>
            <a:ext cx="3566160" cy="2240280"/>
          </a:xfrm>
          <a:prstGeom prst="rect">
            <a:avLst/>
          </a:prstGeom>
          <a:no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79" y="3959352"/>
            <a:ext cx="3566160" cy="32004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Tutor search page (real screenshot)</a:t>
            </a:r>
          </a:p>
        </p:txBody>
      </p:sp>
      <p:sp>
        <p:nvSpPr>
          <p:cNvPr id="16" name="TextBox 15"/>
          <p:cNvSpPr txBox="1"/>
          <p:nvPr/>
        </p:nvSpPr>
        <p:spPr>
          <a:xfrm>
            <a:off x="4297679" y="4270248"/>
            <a:ext cx="3566160" cy="640080"/>
          </a:xfrm>
          <a:prstGeom prst="rect">
            <a:avLst/>
          </a:prstGeom>
          <a:noFill/>
        </p:spPr>
        <p:txBody>
          <a:bodyPr wrap="square" anchor="t" lIns="45720" rIns="45720"/>
          <a:lstStyle/>
          <a:p>
            <a:pPr algn="l">
              <a:lnSpc>
                <a:spcPct val="100000"/>
              </a:lnSpc>
              <a:spcBef>
                <a:spcPts val="0"/>
              </a:spcBef>
              <a:spcAft>
                <a:spcPts val="0"/>
              </a:spcAft>
            </a:pPr>
            <a:r>
              <a:rPr sz="1150" b="0">
                <a:solidFill>
                  <a:srgbClr val="64748B"/>
                </a:solidFill>
                <a:latin typeface="Arial"/>
              </a:rPr>
              <a:t>Shows the empty state. Tutors appear only after database approval.</a:t>
            </a:r>
          </a:p>
        </p:txBody>
      </p:sp>
      <p:pic>
        <p:nvPicPr>
          <p:cNvPr id="17" name="Picture 16" descr="dash-student.png"/>
          <p:cNvPicPr>
            <a:picLocks noChangeAspect="1"/>
          </p:cNvPicPr>
          <p:nvPr/>
        </p:nvPicPr>
        <p:blipFill>
          <a:blip r:embed="rId4"/>
          <a:srcRect l="255" r="255"/>
          <a:stretch>
            <a:fillRect/>
          </a:stretch>
        </p:blipFill>
        <p:spPr>
          <a:xfrm>
            <a:off x="8046719" y="1645920"/>
            <a:ext cx="3566160" cy="2240280"/>
          </a:xfrm>
          <a:prstGeom prst="rect">
            <a:avLst/>
          </a:prstGeom>
        </p:spPr>
      </p:pic>
      <p:sp>
        <p:nvSpPr>
          <p:cNvPr id="18" name="Rectangle 17"/>
          <p:cNvSpPr/>
          <p:nvPr/>
        </p:nvSpPr>
        <p:spPr>
          <a:xfrm>
            <a:off x="8046719" y="1645920"/>
            <a:ext cx="3566160" cy="2240280"/>
          </a:xfrm>
          <a:prstGeom prst="rect">
            <a:avLst/>
          </a:prstGeom>
          <a:no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9" y="3959352"/>
            <a:ext cx="3566160" cy="320040"/>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Student dashboard (real screenshot)</a:t>
            </a:r>
          </a:p>
        </p:txBody>
      </p:sp>
      <p:sp>
        <p:nvSpPr>
          <p:cNvPr id="20" name="TextBox 19"/>
          <p:cNvSpPr txBox="1"/>
          <p:nvPr/>
        </p:nvSpPr>
        <p:spPr>
          <a:xfrm>
            <a:off x="8046719" y="4270248"/>
            <a:ext cx="3566160" cy="640080"/>
          </a:xfrm>
          <a:prstGeom prst="rect">
            <a:avLst/>
          </a:prstGeom>
          <a:noFill/>
        </p:spPr>
        <p:txBody>
          <a:bodyPr wrap="square" anchor="t" lIns="45720" rIns="45720"/>
          <a:lstStyle/>
          <a:p>
            <a:pPr algn="l">
              <a:lnSpc>
                <a:spcPct val="100000"/>
              </a:lnSpc>
              <a:spcBef>
                <a:spcPts val="0"/>
              </a:spcBef>
              <a:spcAft>
                <a:spcPts val="0"/>
              </a:spcAft>
            </a:pPr>
            <a:r>
              <a:rPr sz="1150" b="0">
                <a:solidFill>
                  <a:srgbClr val="64748B"/>
                </a:solidFill>
                <a:latin typeface="Arial"/>
              </a:rPr>
              <a:t>Sidebar for bookings, saved tutors, chat, and profile. Demo account, no bookings.</a:t>
            </a:r>
          </a:p>
        </p:txBody>
      </p:sp>
      <p:sp>
        <p:nvSpPr>
          <p:cNvPr id="21" name="Rounded Rectangle 20"/>
          <p:cNvSpPr/>
          <p:nvPr/>
        </p:nvSpPr>
        <p:spPr>
          <a:xfrm>
            <a:off x="548640" y="5029200"/>
            <a:ext cx="11091672" cy="1188720"/>
          </a:xfrm>
          <a:prstGeom prst="roundRect">
            <a:avLst>
              <a:gd name="adj" fmla="val 8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10698480" cy="1097280"/>
          </a:xfrm>
          <a:prstGeom prst="rect">
            <a:avLst/>
          </a:prstGeom>
          <a:noFill/>
        </p:spPr>
        <p:txBody>
          <a:bodyPr wrap="square" anchor="t" lIns="45720" rIns="45720"/>
          <a:lstStyle/>
          <a:p>
            <a:pPr algn="l">
              <a:lnSpc>
                <a:spcPct val="100000"/>
              </a:lnSpc>
              <a:spcBef>
                <a:spcPts val="0"/>
              </a:spcBef>
              <a:spcAft>
                <a:spcPts val="400"/>
              </a:spcAft>
            </a:pPr>
            <a:r>
              <a:rPr sz="1300" b="0">
                <a:solidFill>
                  <a:srgbClr val="334155"/>
                </a:solidFill>
                <a:latin typeface="Arial"/>
              </a:rPr>
              <a:t>•  </a:t>
            </a:r>
            <a:r>
              <a:rPr sz="1300" b="0">
                <a:solidFill>
                  <a:srgbClr val="334155"/>
                </a:solidFill>
                <a:latin typeface="Arial"/>
              </a:rPr>
              <a:t>Navigation: Tutors, Parents &amp; Students, Admin, About, Contact, plus Log In and Sign Up.</a:t>
            </a:r>
          </a:p>
          <a:p>
            <a:pPr algn="l">
              <a:lnSpc>
                <a:spcPct val="100000"/>
              </a:lnSpc>
              <a:spcBef>
                <a:spcPts val="0"/>
              </a:spcBef>
              <a:spcAft>
                <a:spcPts val="400"/>
              </a:spcAft>
            </a:pPr>
            <a:r>
              <a:rPr sz="1300" b="0">
                <a:solidFill>
                  <a:srgbClr val="334155"/>
                </a:solidFill>
                <a:latin typeface="Arial"/>
              </a:rPr>
              <a:t>•  </a:t>
            </a:r>
            <a:r>
              <a:rPr sz="1300" b="0">
                <a:solidFill>
                  <a:srgbClr val="334155"/>
                </a:solidFill>
                <a:latin typeface="Arial"/>
              </a:rPr>
              <a:t>Each role has its own dashboard: student/parent, tutor, and admin.</a:t>
            </a:r>
          </a:p>
          <a:p>
            <a:pPr algn="l">
              <a:lnSpc>
                <a:spcPct val="100000"/>
              </a:lnSpc>
              <a:spcBef>
                <a:spcPts val="0"/>
              </a:spcBef>
              <a:spcAft>
                <a:spcPts val="0"/>
              </a:spcAft>
            </a:pPr>
            <a:r>
              <a:rPr sz="1300" b="0">
                <a:solidFill>
                  <a:srgbClr val="334155"/>
                </a:solidFill>
                <a:latin typeface="Arial"/>
              </a:rPr>
              <a:t>•  </a:t>
            </a:r>
            <a:r>
              <a:rPr sz="1300" b="0">
                <a:solidFill>
                  <a:srgbClr val="334155"/>
                </a:solidFill>
                <a:latin typeface="Arial"/>
              </a:rPr>
              <a:t>Empty states are explicit. The app shows a message instead of invented tutors when no approved tutors exist.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2  —  FRONTEND DEVELOPMENT</a:t>
            </a:r>
          </a:p>
        </p:txBody>
      </p:sp>
      <p:sp>
        <p:nvSpPr>
          <p:cNvPr id="4" name="Rounded Rectangle 3"/>
          <p:cNvSpPr/>
          <p:nvPr/>
        </p:nvSpPr>
        <p:spPr>
          <a:xfrm>
            <a:off x="6309360" y="274320"/>
            <a:ext cx="5330952" cy="41148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2  ·  Chioma Helen Ezeufonna</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Handover to tutor discovery and booking</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10 / 23</a:t>
            </a:r>
          </a:p>
        </p:txBody>
      </p:sp>
      <p:sp>
        <p:nvSpPr>
          <p:cNvPr id="9" name="Rounded Rectangle 8"/>
          <p:cNvSpPr/>
          <p:nvPr/>
        </p:nvSpPr>
        <p:spPr>
          <a:xfrm>
            <a:off x="548640" y="1645920"/>
            <a:ext cx="5394960" cy="4434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84632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THIS SECTION SO FAR</a:t>
            </a:r>
          </a:p>
        </p:txBody>
      </p:sp>
      <p:sp>
        <p:nvSpPr>
          <p:cNvPr id="11" name="TextBox 10"/>
          <p:cNvSpPr txBox="1"/>
          <p:nvPr/>
        </p:nvSpPr>
        <p:spPr>
          <a:xfrm>
            <a:off x="822960" y="2286000"/>
            <a:ext cx="4846320" cy="3657600"/>
          </a:xfrm>
          <a:prstGeom prst="rect">
            <a:avLst/>
          </a:prstGeom>
          <a:noFill/>
        </p:spPr>
        <p:txBody>
          <a:bodyPr wrap="square" anchor="t" lIns="45720" rIns="45720"/>
          <a:lstStyle/>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Explained what frontend development means in this project</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Covered the technologies and their roles</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Showed the homepage, navigation, and dashboards</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Explained how the interface supports each user type</a:t>
            </a:r>
          </a:p>
        </p:txBody>
      </p:sp>
      <p:sp>
        <p:nvSpPr>
          <p:cNvPr id="12" name="Rounded Rectangle 11"/>
          <p:cNvSpPr/>
          <p:nvPr/>
        </p:nvSpPr>
        <p:spPr>
          <a:xfrm>
            <a:off x="6309360" y="1645920"/>
            <a:ext cx="5330952" cy="4434840"/>
          </a:xfrm>
          <a:prstGeom prst="roundRect">
            <a:avLst>
              <a:gd name="adj" fmla="val 4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1874519"/>
            <a:ext cx="4754880" cy="4114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NEXT: PRESENTER 3</a:t>
            </a:r>
          </a:p>
        </p:txBody>
      </p:sp>
      <p:sp>
        <p:nvSpPr>
          <p:cNvPr id="14" name="TextBox 13"/>
          <p:cNvSpPr txBox="1"/>
          <p:nvPr/>
        </p:nvSpPr>
        <p:spPr>
          <a:xfrm>
            <a:off x="6583680" y="2468880"/>
            <a:ext cx="4846320" cy="868680"/>
          </a:xfrm>
          <a:prstGeom prst="rect">
            <a:avLst/>
          </a:prstGeom>
          <a:noFill/>
        </p:spPr>
        <p:txBody>
          <a:bodyPr wrap="square" anchor="t" lIns="45720" rIns="45720"/>
          <a:lstStyle/>
          <a:p>
            <a:pPr algn="l">
              <a:lnSpc>
                <a:spcPct val="100000"/>
              </a:lnSpc>
              <a:spcBef>
                <a:spcPts val="0"/>
              </a:spcBef>
              <a:spcAft>
                <a:spcPts val="0"/>
              </a:spcAft>
            </a:pPr>
            <a:r>
              <a:rPr sz="2200" b="1">
                <a:solidFill>
                  <a:srgbClr val="1E3A8A"/>
                </a:solidFill>
                <a:latin typeface="Arial"/>
              </a:rPr>
              <a:t>Uzochukwu Mary Cynthia Enyemakachukwu</a:t>
            </a:r>
          </a:p>
        </p:txBody>
      </p:sp>
      <p:sp>
        <p:nvSpPr>
          <p:cNvPr id="15" name="TextBox 14"/>
          <p:cNvSpPr txBox="1"/>
          <p:nvPr/>
        </p:nvSpPr>
        <p:spPr>
          <a:xfrm>
            <a:off x="6583680" y="3383280"/>
            <a:ext cx="484632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F59E0B"/>
                </a:solidFill>
                <a:latin typeface="Arial"/>
              </a:rPr>
              <a:t>Tutor Discovery and Booking</a:t>
            </a:r>
          </a:p>
        </p:txBody>
      </p:sp>
      <p:sp>
        <p:nvSpPr>
          <p:cNvPr id="16" name="TextBox 15"/>
          <p:cNvSpPr txBox="1"/>
          <p:nvPr/>
        </p:nvSpPr>
        <p:spPr>
          <a:xfrm>
            <a:off x="6583680" y="3840480"/>
            <a:ext cx="4846320" cy="2194560"/>
          </a:xfrm>
          <a:prstGeom prst="rect">
            <a:avLst/>
          </a:prstGeom>
          <a:noFill/>
        </p:spPr>
        <p:txBody>
          <a:bodyPr wrap="square" anchor="t" lIns="45720" rIns="45720"/>
          <a:lstStyle/>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How students and parents find tutors</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Search, filters, and tutor profiles</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Subjects, rates, experience, and availability</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The booking request workflow, step by step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852160" cy="457200"/>
          </a:xfrm>
          <a:prstGeom prst="rect">
            <a:avLst/>
          </a:prstGeom>
          <a:noFill/>
        </p:spPr>
        <p:txBody>
          <a:bodyPr wrap="square" anchor="t" lIns="45720" rIns="45720"/>
          <a:lstStyle/>
          <a:p>
            <a:pPr algn="l">
              <a:lnSpc>
                <a:spcPct val="100000"/>
              </a:lnSpc>
              <a:spcBef>
                <a:spcPts val="0"/>
              </a:spcBef>
              <a:spcAft>
                <a:spcPts val="0"/>
              </a:spcAft>
            </a:pPr>
            <a:r>
              <a:rPr sz="2200" b="1">
                <a:solidFill>
                  <a:srgbClr val="F59E0B"/>
                </a:solidFill>
                <a:latin typeface="Arial"/>
              </a:rPr>
              <a:t>PRESENTER 3</a:t>
            </a:r>
          </a:p>
        </p:txBody>
      </p:sp>
      <p:sp>
        <p:nvSpPr>
          <p:cNvPr id="5" name="TextBox 4"/>
          <p:cNvSpPr txBox="1"/>
          <p:nvPr/>
        </p:nvSpPr>
        <p:spPr>
          <a:xfrm>
            <a:off x="822960" y="1143000"/>
            <a:ext cx="5852160" cy="365760"/>
          </a:xfrm>
          <a:prstGeom prst="rect">
            <a:avLst/>
          </a:prstGeom>
          <a:noFill/>
        </p:spPr>
        <p:txBody>
          <a:bodyPr wrap="square" anchor="t" lIns="45720" rIns="45720"/>
          <a:lstStyle/>
          <a:p>
            <a:pPr algn="l">
              <a:lnSpc>
                <a:spcPct val="100000"/>
              </a:lnSpc>
              <a:spcBef>
                <a:spcPts val="0"/>
              </a:spcBef>
              <a:spcAft>
                <a:spcPts val="0"/>
              </a:spcAft>
            </a:pPr>
            <a:r>
              <a:rPr sz="1300" b="0">
                <a:solidFill>
                  <a:srgbClr val="CBD5E1"/>
                </a:solidFill>
                <a:latin typeface="Arial"/>
              </a:rPr>
              <a:t>Speaking order 3 of 5</a:t>
            </a:r>
          </a:p>
        </p:txBody>
      </p:sp>
      <p:sp>
        <p:nvSpPr>
          <p:cNvPr id="6" name="TextBox 5"/>
          <p:cNvSpPr txBox="1"/>
          <p:nvPr/>
        </p:nvSpPr>
        <p:spPr>
          <a:xfrm>
            <a:off x="822960" y="1828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PRESENTER:</a:t>
            </a:r>
          </a:p>
        </p:txBody>
      </p:sp>
      <p:sp>
        <p:nvSpPr>
          <p:cNvPr id="7" name="TextBox 6"/>
          <p:cNvSpPr txBox="1"/>
          <p:nvPr/>
        </p:nvSpPr>
        <p:spPr>
          <a:xfrm>
            <a:off x="822960" y="2148840"/>
            <a:ext cx="6035040" cy="1051560"/>
          </a:xfrm>
          <a:prstGeom prst="rect">
            <a:avLst/>
          </a:prstGeom>
          <a:noFill/>
        </p:spPr>
        <p:txBody>
          <a:bodyPr wrap="square" anchor="t" lIns="45720" rIns="45720"/>
          <a:lstStyle/>
          <a:p>
            <a:pPr algn="l">
              <a:lnSpc>
                <a:spcPct val="100000"/>
              </a:lnSpc>
              <a:spcBef>
                <a:spcPts val="0"/>
              </a:spcBef>
              <a:spcAft>
                <a:spcPts val="0"/>
              </a:spcAft>
            </a:pPr>
            <a:r>
              <a:rPr sz="2800" b="1">
                <a:solidFill>
                  <a:srgbClr val="FFFFFF"/>
                </a:solidFill>
                <a:latin typeface="Arial"/>
              </a:rPr>
              <a:t>Uzochukwu Mary Cynthia Enyemakachukwu</a:t>
            </a:r>
          </a:p>
        </p:txBody>
      </p:sp>
      <p:sp>
        <p:nvSpPr>
          <p:cNvPr id="8" name="TextBox 7"/>
          <p:cNvSpPr txBox="1"/>
          <p:nvPr/>
        </p:nvSpPr>
        <p:spPr>
          <a:xfrm>
            <a:off x="822960" y="324612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ROLE:</a:t>
            </a:r>
          </a:p>
        </p:txBody>
      </p:sp>
      <p:sp>
        <p:nvSpPr>
          <p:cNvPr id="9" name="TextBox 8"/>
          <p:cNvSpPr txBox="1"/>
          <p:nvPr/>
        </p:nvSpPr>
        <p:spPr>
          <a:xfrm>
            <a:off x="822960" y="3566160"/>
            <a:ext cx="6035040" cy="41148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Tutor Discovery and Booking</a:t>
            </a:r>
          </a:p>
        </p:txBody>
      </p:sp>
      <p:sp>
        <p:nvSpPr>
          <p:cNvPr id="10" name="TextBox 9"/>
          <p:cNvSpPr txBox="1"/>
          <p:nvPr/>
        </p:nvSpPr>
        <p:spPr>
          <a:xfrm>
            <a:off x="822960" y="4114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TOPIC:</a:t>
            </a:r>
          </a:p>
        </p:txBody>
      </p:sp>
      <p:sp>
        <p:nvSpPr>
          <p:cNvPr id="11" name="TextBox 10"/>
          <p:cNvSpPr txBox="1"/>
          <p:nvPr/>
        </p:nvSpPr>
        <p:spPr>
          <a:xfrm>
            <a:off x="822960" y="4434840"/>
            <a:ext cx="6035040" cy="82296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Tutor Discovery, Profiles, and Booking Workflow</a:t>
            </a:r>
          </a:p>
        </p:txBody>
      </p:sp>
      <p:sp>
        <p:nvSpPr>
          <p:cNvPr id="12" name="Rounded Rectangle 11"/>
          <p:cNvSpPr/>
          <p:nvPr/>
        </p:nvSpPr>
        <p:spPr>
          <a:xfrm>
            <a:off x="7406640" y="1097280"/>
            <a:ext cx="4206240" cy="4937760"/>
          </a:xfrm>
          <a:prstGeom prst="roundRect">
            <a:avLst>
              <a:gd name="adj" fmla="val 5000"/>
            </a:avLst>
          </a:prstGeom>
          <a:solidFill>
            <a:srgbClr val="17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6576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93C5FD"/>
                </a:solidFill>
                <a:latin typeface="Arial"/>
              </a:rPr>
              <a:t>WHAT THIS SECTION COVERS:</a:t>
            </a:r>
          </a:p>
        </p:txBody>
      </p:sp>
      <p:sp>
        <p:nvSpPr>
          <p:cNvPr id="14" name="TextBox 13"/>
          <p:cNvSpPr txBox="1"/>
          <p:nvPr/>
        </p:nvSpPr>
        <p:spPr>
          <a:xfrm>
            <a:off x="7726679" y="1874519"/>
            <a:ext cx="3657600" cy="3931920"/>
          </a:xfrm>
          <a:prstGeom prst="rect">
            <a:avLst/>
          </a:prstGeom>
          <a:noFill/>
        </p:spPr>
        <p:txBody>
          <a:bodyPr wrap="square" anchor="t" lIns="45720" rIns="45720"/>
          <a:lstStyle/>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How students and parents find tutors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Search, filters and tutor profiles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Subjects, rates, experience and availability</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Booking requests and session information</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The booking workflow, step by step</a:t>
            </a:r>
          </a:p>
        </p:txBody>
      </p:sp>
      <p:sp>
        <p:nvSpPr>
          <p:cNvPr id="15" name="TextBox 14"/>
          <p:cNvSpPr txBox="1"/>
          <p:nvPr/>
        </p:nvSpPr>
        <p:spPr>
          <a:xfrm>
            <a:off x="822960" y="6126480"/>
            <a:ext cx="8229600" cy="320040"/>
          </a:xfrm>
          <a:prstGeom prst="rect">
            <a:avLst/>
          </a:prstGeom>
          <a:noFill/>
        </p:spPr>
        <p:txBody>
          <a:bodyPr wrap="square" anchor="t" lIns="45720" rIns="45720"/>
          <a:lstStyle/>
          <a:p>
            <a:pPr algn="l">
              <a:lnSpc>
                <a:spcPct val="100000"/>
              </a:lnSpc>
              <a:spcBef>
                <a:spcPts val="0"/>
              </a:spcBef>
              <a:spcAft>
                <a:spcPts val="0"/>
              </a:spcAft>
            </a:pPr>
            <a:r>
              <a:rPr sz="1000" b="0">
                <a:solidFill>
                  <a:srgbClr val="93C5FD"/>
                </a:solidFill>
                <a:latin typeface="Arial"/>
              </a:rPr>
              <a:t>TutorConnect Nigeria  |  Edumentry AI Hackathon 1.0</a:t>
            </a:r>
          </a:p>
        </p:txBody>
      </p:sp>
      <p:sp>
        <p:nvSpPr>
          <p:cNvPr id="16" name="TextBox 15"/>
          <p:cNvSpPr txBox="1"/>
          <p:nvPr/>
        </p:nvSpPr>
        <p:spPr>
          <a:xfrm>
            <a:off x="9784080" y="6126480"/>
            <a:ext cx="1856231" cy="320040"/>
          </a:xfrm>
          <a:prstGeom prst="rect">
            <a:avLst/>
          </a:prstGeom>
          <a:noFill/>
        </p:spPr>
        <p:txBody>
          <a:bodyPr wrap="square" anchor="t" lIns="45720" rIns="45720"/>
          <a:lstStyle/>
          <a:p>
            <a:pPr algn="r">
              <a:lnSpc>
                <a:spcPct val="100000"/>
              </a:lnSpc>
              <a:spcBef>
                <a:spcPts val="0"/>
              </a:spcBef>
              <a:spcAft>
                <a:spcPts val="0"/>
              </a:spcAft>
            </a:pPr>
            <a:r>
              <a:rPr sz="1000" b="0">
                <a:solidFill>
                  <a:srgbClr val="93C5FD"/>
                </a:solidFill>
                <a:latin typeface="Arial"/>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3  —  TUTOR DISCOVERY AND BOOKING</a:t>
            </a:r>
          </a:p>
        </p:txBody>
      </p:sp>
      <p:sp>
        <p:nvSpPr>
          <p:cNvPr id="4" name="Rounded Rectangle 3"/>
          <p:cNvSpPr/>
          <p:nvPr/>
        </p:nvSpPr>
        <p:spPr>
          <a:xfrm>
            <a:off x="6309360" y="274320"/>
            <a:ext cx="5330952" cy="4114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3  ·  Uzochukwu Mary Cynthia Enyemakachukwu</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Tutor search and profiles</a:t>
            </a:r>
          </a:p>
        </p:txBody>
      </p:sp>
      <p:sp>
        <p:nvSpPr>
          <p:cNvPr id="6" name="TextBox 5"/>
          <p:cNvSpPr txBox="1"/>
          <p:nvPr/>
        </p:nvSpPr>
        <p:spPr>
          <a:xfrm>
            <a:off x="548640" y="1371600"/>
            <a:ext cx="11064240" cy="365760"/>
          </a:xfrm>
          <a:prstGeom prst="rect">
            <a:avLst/>
          </a:prstGeom>
          <a:noFill/>
        </p:spPr>
        <p:txBody>
          <a:bodyPr wrap="square" anchor="t" lIns="45720" rIns="45720"/>
          <a:lstStyle/>
          <a:p>
            <a:pPr algn="l">
              <a:lnSpc>
                <a:spcPct val="100000"/>
              </a:lnSpc>
              <a:spcBef>
                <a:spcPts val="0"/>
              </a:spcBef>
              <a:spcAft>
                <a:spcPts val="0"/>
              </a:spcAft>
            </a:pPr>
            <a:r>
              <a:rPr sz="1500" b="0">
                <a:solidFill>
                  <a:srgbClr val="64748B"/>
                </a:solidFill>
                <a:latin typeface="Arial"/>
              </a:rPr>
              <a:t>Students and parents discover tutors, then judge whether a tutor suits them.</a:t>
            </a:r>
          </a:p>
        </p:txBody>
      </p:sp>
      <p:cxnSp>
        <p:nvCxnSpPr>
          <p:cNvPr id="7" name="Connector 6"/>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9" name="TextBox 8"/>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12 / 23</a:t>
            </a:r>
          </a:p>
        </p:txBody>
      </p:sp>
      <p:sp>
        <p:nvSpPr>
          <p:cNvPr id="10" name="Rounded Rectangle 9"/>
          <p:cNvSpPr/>
          <p:nvPr/>
        </p:nvSpPr>
        <p:spPr>
          <a:xfrm>
            <a:off x="548640" y="1874519"/>
            <a:ext cx="5394960" cy="429768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57400"/>
            <a:ext cx="4937760" cy="365760"/>
          </a:xfrm>
          <a:prstGeom prst="rect">
            <a:avLst/>
          </a:prstGeom>
          <a:noFill/>
        </p:spPr>
        <p:txBody>
          <a:bodyPr wrap="square" anchor="t" lIns="45720" rIns="45720"/>
          <a:lstStyle/>
          <a:p>
            <a:pPr algn="l">
              <a:lnSpc>
                <a:spcPct val="100000"/>
              </a:lnSpc>
              <a:spcBef>
                <a:spcPts val="0"/>
              </a:spcBef>
              <a:spcAft>
                <a:spcPts val="0"/>
              </a:spcAft>
            </a:pPr>
            <a:r>
              <a:rPr sz="1400" b="1">
                <a:solidFill>
                  <a:srgbClr val="B45309"/>
                </a:solidFill>
                <a:latin typeface="Arial"/>
              </a:rPr>
              <a:t>1  FIND A TUTOR  (/tutors)</a:t>
            </a:r>
          </a:p>
        </p:txBody>
      </p:sp>
      <p:sp>
        <p:nvSpPr>
          <p:cNvPr id="12" name="TextBox 11"/>
          <p:cNvSpPr txBox="1"/>
          <p:nvPr/>
        </p:nvSpPr>
        <p:spPr>
          <a:xfrm>
            <a:off x="822960" y="2514600"/>
            <a:ext cx="4937760" cy="3566160"/>
          </a:xfrm>
          <a:prstGeom prst="rect">
            <a:avLst/>
          </a:prstGeom>
          <a:noFill/>
        </p:spPr>
        <p:txBody>
          <a:bodyPr wrap="square" anchor="t" lIns="45720" rIns="45720"/>
          <a:lstStyle/>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Search box: subject, curriculum, or tutor name</a:t>
            </a:r>
          </a:p>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Filters: subject, location / state, maximum budget (₦2,000 to ₦25,000 per hour), availability (all, weekdays, weekends), and curriculum (Nigerian National, British Cambridge, American)</a:t>
            </a:r>
          </a:p>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Verified-only option and sorting (for example, top rated)</a:t>
            </a:r>
          </a:p>
          <a:p>
            <a:pPr algn="l">
              <a:lnSpc>
                <a:spcPct val="100000"/>
              </a:lnSpc>
              <a:spcBef>
                <a:spcPts val="0"/>
              </a:spcBef>
              <a:spcAft>
                <a:spcPts val="0"/>
              </a:spcAft>
            </a:pPr>
            <a:r>
              <a:rPr sz="1350" b="0">
                <a:solidFill>
                  <a:srgbClr val="334155"/>
                </a:solidFill>
                <a:latin typeface="Arial"/>
              </a:rPr>
              <a:t>•  </a:t>
            </a:r>
            <a:r>
              <a:rPr sz="1350" b="0">
                <a:solidFill>
                  <a:srgbClr val="334155"/>
                </a:solidFill>
                <a:latin typeface="Arial"/>
              </a:rPr>
              <a:t>Results come from the database. Only admin-verified tutors are listed.</a:t>
            </a:r>
          </a:p>
        </p:txBody>
      </p:sp>
      <p:sp>
        <p:nvSpPr>
          <p:cNvPr id="13" name="Rounded Rectangle 12"/>
          <p:cNvSpPr/>
          <p:nvPr/>
        </p:nvSpPr>
        <p:spPr>
          <a:xfrm>
            <a:off x="6245352" y="1874519"/>
            <a:ext cx="5394960" cy="429768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57400"/>
            <a:ext cx="4937760" cy="365760"/>
          </a:xfrm>
          <a:prstGeom prst="rect">
            <a:avLst/>
          </a:prstGeom>
          <a:noFill/>
        </p:spPr>
        <p:txBody>
          <a:bodyPr wrap="square" anchor="t" lIns="45720" rIns="45720"/>
          <a:lstStyle/>
          <a:p>
            <a:pPr algn="l">
              <a:lnSpc>
                <a:spcPct val="100000"/>
              </a:lnSpc>
              <a:spcBef>
                <a:spcPts val="0"/>
              </a:spcBef>
              <a:spcAft>
                <a:spcPts val="0"/>
              </a:spcAft>
            </a:pPr>
            <a:r>
              <a:rPr sz="1400" b="1">
                <a:solidFill>
                  <a:srgbClr val="B45309"/>
                </a:solidFill>
                <a:latin typeface="Arial"/>
              </a:rPr>
              <a:t>2  JUDGE THE PROFILE  (/tutors/[id])</a:t>
            </a:r>
          </a:p>
        </p:txBody>
      </p:sp>
      <p:sp>
        <p:nvSpPr>
          <p:cNvPr id="15" name="TextBox 14"/>
          <p:cNvSpPr txBox="1"/>
          <p:nvPr/>
        </p:nvSpPr>
        <p:spPr>
          <a:xfrm>
            <a:off x="6492240" y="2514600"/>
            <a:ext cx="4937760" cy="3566160"/>
          </a:xfrm>
          <a:prstGeom prst="rect">
            <a:avLst/>
          </a:prstGeom>
          <a:noFill/>
        </p:spPr>
        <p:txBody>
          <a:bodyPr wrap="square" anchor="t" lIns="45720" rIns="45720"/>
          <a:lstStyle/>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ID-verified badge when the admin has verified the profile</a:t>
            </a:r>
          </a:p>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Headline, bio, years of experience, and curriculum</a:t>
            </a:r>
          </a:p>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Subjects taught and the hourly rate in naira (₦)</a:t>
            </a:r>
          </a:p>
          <a:p>
            <a:pPr algn="l">
              <a:lnSpc>
                <a:spcPct val="100000"/>
              </a:lnSpc>
              <a:spcBef>
                <a:spcPts val="0"/>
              </a:spcBef>
              <a:spcAft>
                <a:spcPts val="700"/>
              </a:spcAft>
            </a:pPr>
            <a:r>
              <a:rPr sz="1350" b="0">
                <a:solidFill>
                  <a:srgbClr val="334155"/>
                </a:solidFill>
                <a:latin typeface="Arial"/>
              </a:rPr>
              <a:t>•  </a:t>
            </a:r>
            <a:r>
              <a:rPr sz="1350" b="0">
                <a:solidFill>
                  <a:srgbClr val="334155"/>
                </a:solidFill>
                <a:latin typeface="Arial"/>
              </a:rPr>
              <a:t>Weekly availability calendar, plus credential status (ID and academic credential uploaded)</a:t>
            </a:r>
          </a:p>
          <a:p>
            <a:pPr algn="l">
              <a:lnSpc>
                <a:spcPct val="100000"/>
              </a:lnSpc>
              <a:spcBef>
                <a:spcPts val="0"/>
              </a:spcBef>
              <a:spcAft>
                <a:spcPts val="0"/>
              </a:spcAft>
            </a:pPr>
            <a:r>
              <a:rPr sz="1350" b="0">
                <a:solidFill>
                  <a:srgbClr val="334155"/>
                </a:solidFill>
                <a:latin typeface="Arial"/>
              </a:rPr>
              <a:t>•  </a:t>
            </a:r>
            <a:r>
              <a:rPr sz="1350" b="0">
                <a:solidFill>
                  <a:srgbClr val="334155"/>
                </a:solidFill>
                <a:latin typeface="Arial"/>
              </a:rPr>
              <a:t>Star rating and written reviews from students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3  —  TUTOR DISCOVERY AND BOOKING</a:t>
            </a:r>
          </a:p>
        </p:txBody>
      </p:sp>
      <p:sp>
        <p:nvSpPr>
          <p:cNvPr id="4" name="Rounded Rectangle 3"/>
          <p:cNvSpPr/>
          <p:nvPr/>
        </p:nvSpPr>
        <p:spPr>
          <a:xfrm>
            <a:off x="6309360" y="274320"/>
            <a:ext cx="5330952" cy="4114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3  ·  Uzochukwu Mary Cynthia Enyemakachukwu</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Booking workflow</a:t>
            </a:r>
          </a:p>
        </p:txBody>
      </p:sp>
      <p:sp>
        <p:nvSpPr>
          <p:cNvPr id="6" name="TextBox 5"/>
          <p:cNvSpPr txBox="1"/>
          <p:nvPr/>
        </p:nvSpPr>
        <p:spPr>
          <a:xfrm>
            <a:off x="548640" y="1371600"/>
            <a:ext cx="11064240" cy="365760"/>
          </a:xfrm>
          <a:prstGeom prst="rect">
            <a:avLst/>
          </a:prstGeom>
          <a:noFill/>
        </p:spPr>
        <p:txBody>
          <a:bodyPr wrap="square" anchor="t" lIns="45720" rIns="45720"/>
          <a:lstStyle/>
          <a:p>
            <a:pPr algn="l">
              <a:lnSpc>
                <a:spcPct val="100000"/>
              </a:lnSpc>
              <a:spcBef>
                <a:spcPts val="0"/>
              </a:spcBef>
              <a:spcAft>
                <a:spcPts val="0"/>
              </a:spcAft>
            </a:pPr>
            <a:r>
              <a:rPr sz="1500" b="0">
                <a:solidFill>
                  <a:srgbClr val="64748B"/>
                </a:solidFill>
                <a:latin typeface="Arial"/>
              </a:rPr>
              <a:t>From a request to a completed session, as implemented in the app.</a:t>
            </a:r>
          </a:p>
        </p:txBody>
      </p:sp>
      <p:cxnSp>
        <p:nvCxnSpPr>
          <p:cNvPr id="7" name="Connector 6"/>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9" name="TextBox 8"/>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13 / 23</a:t>
            </a:r>
          </a:p>
        </p:txBody>
      </p:sp>
      <p:sp>
        <p:nvSpPr>
          <p:cNvPr id="10" name="Rounded Rectangle 9"/>
          <p:cNvSpPr/>
          <p:nvPr/>
        </p:nvSpPr>
        <p:spPr>
          <a:xfrm>
            <a:off x="548640" y="2057400"/>
            <a:ext cx="1481328" cy="2606040"/>
          </a:xfrm>
          <a:prstGeom prst="roundRect">
            <a:avLst>
              <a:gd name="adj" fmla="val 8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194560"/>
            <a:ext cx="457200" cy="45720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1</a:t>
            </a:r>
          </a:p>
        </p:txBody>
      </p:sp>
      <p:sp>
        <p:nvSpPr>
          <p:cNvPr id="12" name="TextBox 11"/>
          <p:cNvSpPr txBox="1"/>
          <p:nvPr/>
        </p:nvSpPr>
        <p:spPr>
          <a:xfrm>
            <a:off x="621792"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Choose tutor</a:t>
            </a:r>
          </a:p>
        </p:txBody>
      </p:sp>
      <p:sp>
        <p:nvSpPr>
          <p:cNvPr id="13" name="TextBox 12"/>
          <p:cNvSpPr txBox="1"/>
          <p:nvPr/>
        </p:nvSpPr>
        <p:spPr>
          <a:xfrm>
            <a:off x="621792"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Browse /tutors and open a profile</a:t>
            </a:r>
          </a:p>
        </p:txBody>
      </p:sp>
      <p:cxnSp>
        <p:nvCxnSpPr>
          <p:cNvPr id="14" name="Connector 13"/>
          <p:cNvCxnSpPr/>
          <p:nvPr/>
        </p:nvCxnSpPr>
        <p:spPr>
          <a:xfrm>
            <a:off x="2039112" y="3355848"/>
            <a:ext cx="128016"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176272" y="2057400"/>
            <a:ext cx="1481328" cy="2606040"/>
          </a:xfrm>
          <a:prstGeom prst="roundRect">
            <a:avLst>
              <a:gd name="adj" fmla="val 8000"/>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86000" y="2194560"/>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2</a:t>
            </a:r>
          </a:p>
        </p:txBody>
      </p:sp>
      <p:sp>
        <p:nvSpPr>
          <p:cNvPr id="17" name="TextBox 16"/>
          <p:cNvSpPr txBox="1"/>
          <p:nvPr/>
        </p:nvSpPr>
        <p:spPr>
          <a:xfrm>
            <a:off x="2249424"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Book session</a:t>
            </a:r>
          </a:p>
        </p:txBody>
      </p:sp>
      <p:sp>
        <p:nvSpPr>
          <p:cNvPr id="18" name="TextBox 17"/>
          <p:cNvSpPr txBox="1"/>
          <p:nvPr/>
        </p:nvSpPr>
        <p:spPr>
          <a:xfrm>
            <a:off x="2249424"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Booking modal: grade, subject, date, time slot, online or in person, notes</a:t>
            </a:r>
          </a:p>
        </p:txBody>
      </p:sp>
      <p:cxnSp>
        <p:nvCxnSpPr>
          <p:cNvPr id="19" name="Connector 18"/>
          <p:cNvCxnSpPr/>
          <p:nvPr/>
        </p:nvCxnSpPr>
        <p:spPr>
          <a:xfrm>
            <a:off x="3666744" y="3355848"/>
            <a:ext cx="128016"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03904" y="2057400"/>
            <a:ext cx="1481328" cy="2606040"/>
          </a:xfrm>
          <a:prstGeom prst="roundRect">
            <a:avLst>
              <a:gd name="adj" fmla="val 8000"/>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913632" y="2194560"/>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3</a:t>
            </a:r>
          </a:p>
        </p:txBody>
      </p:sp>
      <p:sp>
        <p:nvSpPr>
          <p:cNvPr id="22" name="TextBox 21"/>
          <p:cNvSpPr txBox="1"/>
          <p:nvPr/>
        </p:nvSpPr>
        <p:spPr>
          <a:xfrm>
            <a:off x="3877056"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Price estimate</a:t>
            </a:r>
          </a:p>
        </p:txBody>
      </p:sp>
      <p:sp>
        <p:nvSpPr>
          <p:cNvPr id="23" name="TextBox 22"/>
          <p:cNvSpPr txBox="1"/>
          <p:nvPr/>
        </p:nvSpPr>
        <p:spPr>
          <a:xfrm>
            <a:off x="3877056"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Hourly rate × hours, shown in ₦ before sending</a:t>
            </a:r>
          </a:p>
        </p:txBody>
      </p:sp>
      <p:cxnSp>
        <p:nvCxnSpPr>
          <p:cNvPr id="24" name="Connector 23"/>
          <p:cNvCxnSpPr/>
          <p:nvPr/>
        </p:nvCxnSpPr>
        <p:spPr>
          <a:xfrm>
            <a:off x="5294376" y="3355848"/>
            <a:ext cx="128016"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31536" y="2057400"/>
            <a:ext cx="1481328" cy="2606040"/>
          </a:xfrm>
          <a:prstGeom prst="roundRect">
            <a:avLst>
              <a:gd name="adj" fmla="val 8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541264" y="219456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4</a:t>
            </a:r>
          </a:p>
        </p:txBody>
      </p:sp>
      <p:sp>
        <p:nvSpPr>
          <p:cNvPr id="27" name="TextBox 26"/>
          <p:cNvSpPr txBox="1"/>
          <p:nvPr/>
        </p:nvSpPr>
        <p:spPr>
          <a:xfrm>
            <a:off x="5504688"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Request sent</a:t>
            </a:r>
          </a:p>
        </p:txBody>
      </p:sp>
      <p:sp>
        <p:nvSpPr>
          <p:cNvPr id="28" name="TextBox 27"/>
          <p:cNvSpPr txBox="1"/>
          <p:nvPr/>
        </p:nvSpPr>
        <p:spPr>
          <a:xfrm>
            <a:off x="5504688"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Saved with status 'pending'</a:t>
            </a:r>
          </a:p>
        </p:txBody>
      </p:sp>
      <p:cxnSp>
        <p:nvCxnSpPr>
          <p:cNvPr id="29" name="Connector 28"/>
          <p:cNvCxnSpPr/>
          <p:nvPr/>
        </p:nvCxnSpPr>
        <p:spPr>
          <a:xfrm>
            <a:off x="6922007" y="3355848"/>
            <a:ext cx="128017"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059168" y="2057400"/>
            <a:ext cx="1481328" cy="2606040"/>
          </a:xfrm>
          <a:prstGeom prst="roundRect">
            <a:avLst>
              <a:gd name="adj" fmla="val 8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168896" y="2194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5</a:t>
            </a:r>
          </a:p>
        </p:txBody>
      </p:sp>
      <p:sp>
        <p:nvSpPr>
          <p:cNvPr id="32" name="TextBox 31"/>
          <p:cNvSpPr txBox="1"/>
          <p:nvPr/>
        </p:nvSpPr>
        <p:spPr>
          <a:xfrm>
            <a:off x="7132320"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Tutor responds</a:t>
            </a:r>
          </a:p>
        </p:txBody>
      </p:sp>
      <p:sp>
        <p:nvSpPr>
          <p:cNvPr id="33" name="TextBox 32"/>
          <p:cNvSpPr txBox="1"/>
          <p:nvPr/>
        </p:nvSpPr>
        <p:spPr>
          <a:xfrm>
            <a:off x="7132320"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Accept or reject; accepted sessions can carry a meeting link</a:t>
            </a:r>
          </a:p>
        </p:txBody>
      </p:sp>
      <p:cxnSp>
        <p:nvCxnSpPr>
          <p:cNvPr id="34" name="Connector 33"/>
          <p:cNvCxnSpPr/>
          <p:nvPr/>
        </p:nvCxnSpPr>
        <p:spPr>
          <a:xfrm>
            <a:off x="8549640" y="3355848"/>
            <a:ext cx="128016"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686800" y="2057400"/>
            <a:ext cx="1481328" cy="2606040"/>
          </a:xfrm>
          <a:prstGeom prst="roundRect">
            <a:avLst>
              <a:gd name="adj" fmla="val 8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96528" y="21945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6</a:t>
            </a:r>
          </a:p>
        </p:txBody>
      </p:sp>
      <p:sp>
        <p:nvSpPr>
          <p:cNvPr id="37" name="TextBox 36"/>
          <p:cNvSpPr txBox="1"/>
          <p:nvPr/>
        </p:nvSpPr>
        <p:spPr>
          <a:xfrm>
            <a:off x="8759952"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Session completed</a:t>
            </a:r>
          </a:p>
        </p:txBody>
      </p:sp>
      <p:sp>
        <p:nvSpPr>
          <p:cNvPr id="38" name="TextBox 37"/>
          <p:cNvSpPr txBox="1"/>
          <p:nvPr/>
        </p:nvSpPr>
        <p:spPr>
          <a:xfrm>
            <a:off x="8759952"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Status changes to 'completed'</a:t>
            </a:r>
          </a:p>
        </p:txBody>
      </p:sp>
      <p:cxnSp>
        <p:nvCxnSpPr>
          <p:cNvPr id="39" name="Connector 38"/>
          <p:cNvCxnSpPr/>
          <p:nvPr/>
        </p:nvCxnSpPr>
        <p:spPr>
          <a:xfrm>
            <a:off x="10177272" y="3355848"/>
            <a:ext cx="128016"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314432" y="2057400"/>
            <a:ext cx="1481328" cy="2606040"/>
          </a:xfrm>
          <a:prstGeom prst="roundRect">
            <a:avLst>
              <a:gd name="adj" fmla="val 8000"/>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424159" y="219456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FFFFFF"/>
                </a:solidFill>
                <a:latin typeface="Arial"/>
              </a:rPr>
              <a:t>7</a:t>
            </a:r>
          </a:p>
        </p:txBody>
      </p:sp>
      <p:sp>
        <p:nvSpPr>
          <p:cNvPr id="42" name="TextBox 41"/>
          <p:cNvSpPr txBox="1"/>
          <p:nvPr/>
        </p:nvSpPr>
        <p:spPr>
          <a:xfrm>
            <a:off x="10387584" y="2743200"/>
            <a:ext cx="1335024" cy="548640"/>
          </a:xfrm>
          <a:prstGeom prst="rect">
            <a:avLst/>
          </a:prstGeom>
          <a:noFill/>
        </p:spPr>
        <p:txBody>
          <a:bodyPr wrap="square" anchor="t" lIns="45720" rIns="45720"/>
          <a:lstStyle/>
          <a:p>
            <a:pPr algn="l">
              <a:lnSpc>
                <a:spcPct val="100000"/>
              </a:lnSpc>
              <a:spcBef>
                <a:spcPts val="0"/>
              </a:spcBef>
              <a:spcAft>
                <a:spcPts val="0"/>
              </a:spcAft>
            </a:pPr>
            <a:r>
              <a:rPr sz="1350" b="1">
                <a:solidFill>
                  <a:srgbClr val="1E3A8A"/>
                </a:solidFill>
                <a:latin typeface="Arial"/>
              </a:rPr>
              <a:t>Review</a:t>
            </a:r>
          </a:p>
        </p:txBody>
      </p:sp>
      <p:sp>
        <p:nvSpPr>
          <p:cNvPr id="43" name="TextBox 42"/>
          <p:cNvSpPr txBox="1"/>
          <p:nvPr/>
        </p:nvSpPr>
        <p:spPr>
          <a:xfrm>
            <a:off x="10387584" y="3291840"/>
            <a:ext cx="1335024" cy="1325880"/>
          </a:xfrm>
          <a:prstGeom prst="rect">
            <a:avLst/>
          </a:prstGeom>
          <a:noFill/>
        </p:spPr>
        <p:txBody>
          <a:bodyPr wrap="square" anchor="t" lIns="45720" rIns="45720"/>
          <a:lstStyle/>
          <a:p>
            <a:pPr algn="l">
              <a:lnSpc>
                <a:spcPct val="100000"/>
              </a:lnSpc>
              <a:spcBef>
                <a:spcPts val="0"/>
              </a:spcBef>
              <a:spcAft>
                <a:spcPts val="0"/>
              </a:spcAft>
            </a:pPr>
            <a:r>
              <a:rPr sz="1150" b="0">
                <a:solidFill>
                  <a:srgbClr val="334155"/>
                </a:solidFill>
                <a:latin typeface="Arial"/>
              </a:rPr>
              <a:t>Student or parent rates 1–5 stars, once per booking</a:t>
            </a:r>
          </a:p>
        </p:txBody>
      </p:sp>
      <p:sp>
        <p:nvSpPr>
          <p:cNvPr id="44" name="Rounded Rectangle 43"/>
          <p:cNvSpPr/>
          <p:nvPr/>
        </p:nvSpPr>
        <p:spPr>
          <a:xfrm>
            <a:off x="548640" y="4846320"/>
            <a:ext cx="11091672" cy="1371600"/>
          </a:xfrm>
          <a:prstGeom prst="roundRect">
            <a:avLst>
              <a:gd name="adj" fmla="val 6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937760"/>
            <a:ext cx="10698480" cy="1234440"/>
          </a:xfrm>
          <a:prstGeom prst="rect">
            <a:avLst/>
          </a:prstGeom>
          <a:noFill/>
        </p:spPr>
        <p:txBody>
          <a:bodyPr wrap="square" anchor="t" lIns="45720" rIns="45720"/>
          <a:lstStyle/>
          <a:p>
            <a:pPr algn="l">
              <a:lnSpc>
                <a:spcPct val="100000"/>
              </a:lnSpc>
              <a:spcBef>
                <a:spcPts val="0"/>
              </a:spcBef>
              <a:spcAft>
                <a:spcPts val="400"/>
              </a:spcAft>
            </a:pPr>
            <a:r>
              <a:rPr sz="1300" b="0">
                <a:solidFill>
                  <a:srgbClr val="334155"/>
                </a:solidFill>
                <a:latin typeface="Arial"/>
              </a:rPr>
              <a:t>•  </a:t>
            </a:r>
            <a:r>
              <a:rPr sz="1300" b="0">
                <a:solidFill>
                  <a:srgbClr val="334155"/>
                </a:solidFill>
                <a:latin typeface="Arial"/>
              </a:rPr>
              <a:t>Guests can send a request without logging in, and the booking is labelled "Guest Student".</a:t>
            </a:r>
          </a:p>
          <a:p>
            <a:pPr algn="l">
              <a:lnSpc>
                <a:spcPct val="100000"/>
              </a:lnSpc>
              <a:spcBef>
                <a:spcPts val="0"/>
              </a:spcBef>
              <a:spcAft>
                <a:spcPts val="400"/>
              </a:spcAft>
            </a:pPr>
            <a:r>
              <a:rPr sz="1300" b="0">
                <a:solidFill>
                  <a:srgbClr val="334155"/>
                </a:solidFill>
                <a:latin typeface="Arial"/>
              </a:rPr>
              <a:t>•  </a:t>
            </a:r>
            <a:r>
              <a:rPr sz="1300" b="0">
                <a:solidFill>
                  <a:srgbClr val="334155"/>
                </a:solidFill>
                <a:latin typeface="Arial"/>
              </a:rPr>
              <a:t>Only pending requests can be edited. Statuses are pending, accepted, rejected, completed, and cancelled.</a:t>
            </a:r>
          </a:p>
          <a:p>
            <a:pPr algn="l">
              <a:lnSpc>
                <a:spcPct val="100000"/>
              </a:lnSpc>
              <a:spcBef>
                <a:spcPts val="0"/>
              </a:spcBef>
              <a:spcAft>
                <a:spcPts val="0"/>
              </a:spcAft>
            </a:pPr>
            <a:r>
              <a:rPr sz="1300" b="0">
                <a:solidFill>
                  <a:srgbClr val="334155"/>
                </a:solidFill>
                <a:latin typeface="Arial"/>
              </a:rPr>
              <a:t>•  </a:t>
            </a:r>
            <a:r>
              <a:rPr sz="1300" b="0">
                <a:solidFill>
                  <a:srgbClr val="334155"/>
                </a:solidFill>
                <a:latin typeface="Arial"/>
              </a:rPr>
              <a:t>The price is calculated in the browser and saved as sent. Stronger server-side checks are planned (see slide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3  —  TUTOR DISCOVERY AND BOOKING</a:t>
            </a:r>
          </a:p>
        </p:txBody>
      </p:sp>
      <p:sp>
        <p:nvSpPr>
          <p:cNvPr id="4" name="Rounded Rectangle 3"/>
          <p:cNvSpPr/>
          <p:nvPr/>
        </p:nvSpPr>
        <p:spPr>
          <a:xfrm>
            <a:off x="6309360" y="274320"/>
            <a:ext cx="5330952" cy="4114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3  ·  Uzochukwu Mary Cynthia Enyemakachukwu</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Handover to the backend</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14 / 23</a:t>
            </a:r>
          </a:p>
        </p:txBody>
      </p:sp>
      <p:sp>
        <p:nvSpPr>
          <p:cNvPr id="9" name="Rounded Rectangle 8"/>
          <p:cNvSpPr/>
          <p:nvPr/>
        </p:nvSpPr>
        <p:spPr>
          <a:xfrm>
            <a:off x="548640" y="1645920"/>
            <a:ext cx="5394960" cy="4434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84632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THIS SECTION SO FAR</a:t>
            </a:r>
          </a:p>
        </p:txBody>
      </p:sp>
      <p:sp>
        <p:nvSpPr>
          <p:cNvPr id="11" name="TextBox 10"/>
          <p:cNvSpPr txBox="1"/>
          <p:nvPr/>
        </p:nvSpPr>
        <p:spPr>
          <a:xfrm>
            <a:off x="822960" y="2286000"/>
            <a:ext cx="4846320" cy="3657600"/>
          </a:xfrm>
          <a:prstGeom prst="rect">
            <a:avLst/>
          </a:prstGeom>
          <a:noFill/>
        </p:spPr>
        <p:txBody>
          <a:bodyPr wrap="square" anchor="t" lIns="45720" rIns="45720"/>
          <a:lstStyle/>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Explained how families discover tutors and judge suitability</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Covered filters, tutor profiles, subjects, rates, and availability</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Walked through the booking request workflow, from request to review</a:t>
            </a:r>
          </a:p>
        </p:txBody>
      </p:sp>
      <p:sp>
        <p:nvSpPr>
          <p:cNvPr id="12" name="Rounded Rectangle 11"/>
          <p:cNvSpPr/>
          <p:nvPr/>
        </p:nvSpPr>
        <p:spPr>
          <a:xfrm>
            <a:off x="6309360" y="1645920"/>
            <a:ext cx="5330952" cy="4434840"/>
          </a:xfrm>
          <a:prstGeom prst="roundRect">
            <a:avLst>
              <a:gd name="adj" fmla="val 4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1874519"/>
            <a:ext cx="4754880" cy="41148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NEXT: PRESENTER 4</a:t>
            </a:r>
          </a:p>
        </p:txBody>
      </p:sp>
      <p:sp>
        <p:nvSpPr>
          <p:cNvPr id="14" name="TextBox 13"/>
          <p:cNvSpPr txBox="1"/>
          <p:nvPr/>
        </p:nvSpPr>
        <p:spPr>
          <a:xfrm>
            <a:off x="6583680" y="2468880"/>
            <a:ext cx="4846320" cy="868680"/>
          </a:xfrm>
          <a:prstGeom prst="rect">
            <a:avLst/>
          </a:prstGeom>
          <a:noFill/>
        </p:spPr>
        <p:txBody>
          <a:bodyPr wrap="square" anchor="t" lIns="45720" rIns="45720"/>
          <a:lstStyle/>
          <a:p>
            <a:pPr algn="l">
              <a:lnSpc>
                <a:spcPct val="100000"/>
              </a:lnSpc>
              <a:spcBef>
                <a:spcPts val="0"/>
              </a:spcBef>
              <a:spcAft>
                <a:spcPts val="0"/>
              </a:spcAft>
            </a:pPr>
            <a:r>
              <a:rPr sz="2200" b="1">
                <a:solidFill>
                  <a:srgbClr val="1E3A8A"/>
                </a:solidFill>
                <a:latin typeface="Arial"/>
              </a:rPr>
              <a:t>Bodman Ebuka Precous</a:t>
            </a:r>
          </a:p>
        </p:txBody>
      </p:sp>
      <p:sp>
        <p:nvSpPr>
          <p:cNvPr id="15" name="TextBox 14"/>
          <p:cNvSpPr txBox="1"/>
          <p:nvPr/>
        </p:nvSpPr>
        <p:spPr>
          <a:xfrm>
            <a:off x="6583680" y="3383280"/>
            <a:ext cx="484632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7C3AED"/>
                </a:solidFill>
                <a:latin typeface="Arial"/>
              </a:rPr>
              <a:t>Backend Development</a:t>
            </a:r>
          </a:p>
        </p:txBody>
      </p:sp>
      <p:sp>
        <p:nvSpPr>
          <p:cNvPr id="16" name="TextBox 15"/>
          <p:cNvSpPr txBox="1"/>
          <p:nvPr/>
        </p:nvSpPr>
        <p:spPr>
          <a:xfrm>
            <a:off x="6583680" y="3840480"/>
            <a:ext cx="4846320" cy="2194560"/>
          </a:xfrm>
          <a:prstGeom prst="rect">
            <a:avLst/>
          </a:prstGeom>
          <a:noFill/>
        </p:spPr>
        <p:txBody>
          <a:bodyPr wrap="square" anchor="t" lIns="45720" rIns="45720"/>
          <a:lstStyle/>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What the backend does</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Next.js API routes and the endpoint map</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Password hashing and JWT-based login</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How the frontend calls the backend, and how data is saved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852160" cy="457200"/>
          </a:xfrm>
          <a:prstGeom prst="rect">
            <a:avLst/>
          </a:prstGeom>
          <a:noFill/>
        </p:spPr>
        <p:txBody>
          <a:bodyPr wrap="square" anchor="t" lIns="45720" rIns="45720"/>
          <a:lstStyle/>
          <a:p>
            <a:pPr algn="l">
              <a:lnSpc>
                <a:spcPct val="100000"/>
              </a:lnSpc>
              <a:spcBef>
                <a:spcPts val="0"/>
              </a:spcBef>
              <a:spcAft>
                <a:spcPts val="0"/>
              </a:spcAft>
            </a:pPr>
            <a:r>
              <a:rPr sz="2200" b="1">
                <a:solidFill>
                  <a:srgbClr val="7C3AED"/>
                </a:solidFill>
                <a:latin typeface="Arial"/>
              </a:rPr>
              <a:t>PRESENTER 4</a:t>
            </a:r>
          </a:p>
        </p:txBody>
      </p:sp>
      <p:sp>
        <p:nvSpPr>
          <p:cNvPr id="5" name="TextBox 4"/>
          <p:cNvSpPr txBox="1"/>
          <p:nvPr/>
        </p:nvSpPr>
        <p:spPr>
          <a:xfrm>
            <a:off x="822960" y="1143000"/>
            <a:ext cx="5852160" cy="365760"/>
          </a:xfrm>
          <a:prstGeom prst="rect">
            <a:avLst/>
          </a:prstGeom>
          <a:noFill/>
        </p:spPr>
        <p:txBody>
          <a:bodyPr wrap="square" anchor="t" lIns="45720" rIns="45720"/>
          <a:lstStyle/>
          <a:p>
            <a:pPr algn="l">
              <a:lnSpc>
                <a:spcPct val="100000"/>
              </a:lnSpc>
              <a:spcBef>
                <a:spcPts val="0"/>
              </a:spcBef>
              <a:spcAft>
                <a:spcPts val="0"/>
              </a:spcAft>
            </a:pPr>
            <a:r>
              <a:rPr sz="1300" b="0">
                <a:solidFill>
                  <a:srgbClr val="CBD5E1"/>
                </a:solidFill>
                <a:latin typeface="Arial"/>
              </a:rPr>
              <a:t>Speaking order 4 of 5</a:t>
            </a:r>
          </a:p>
        </p:txBody>
      </p:sp>
      <p:sp>
        <p:nvSpPr>
          <p:cNvPr id="6" name="TextBox 5"/>
          <p:cNvSpPr txBox="1"/>
          <p:nvPr/>
        </p:nvSpPr>
        <p:spPr>
          <a:xfrm>
            <a:off x="822960" y="1828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PRESENTER:</a:t>
            </a:r>
          </a:p>
        </p:txBody>
      </p:sp>
      <p:sp>
        <p:nvSpPr>
          <p:cNvPr id="7" name="TextBox 6"/>
          <p:cNvSpPr txBox="1"/>
          <p:nvPr/>
        </p:nvSpPr>
        <p:spPr>
          <a:xfrm>
            <a:off x="822960" y="2148840"/>
            <a:ext cx="6035040" cy="1051560"/>
          </a:xfrm>
          <a:prstGeom prst="rect">
            <a:avLst/>
          </a:prstGeom>
          <a:noFill/>
        </p:spPr>
        <p:txBody>
          <a:bodyPr wrap="square" anchor="t" lIns="45720" rIns="45720"/>
          <a:lstStyle/>
          <a:p>
            <a:pPr algn="l">
              <a:lnSpc>
                <a:spcPct val="100000"/>
              </a:lnSpc>
              <a:spcBef>
                <a:spcPts val="0"/>
              </a:spcBef>
              <a:spcAft>
                <a:spcPts val="0"/>
              </a:spcAft>
            </a:pPr>
            <a:r>
              <a:rPr sz="2800" b="1">
                <a:solidFill>
                  <a:srgbClr val="FFFFFF"/>
                </a:solidFill>
                <a:latin typeface="Arial"/>
              </a:rPr>
              <a:t>Bodman Ebuka Precous</a:t>
            </a:r>
          </a:p>
        </p:txBody>
      </p:sp>
      <p:sp>
        <p:nvSpPr>
          <p:cNvPr id="8" name="TextBox 7"/>
          <p:cNvSpPr txBox="1"/>
          <p:nvPr/>
        </p:nvSpPr>
        <p:spPr>
          <a:xfrm>
            <a:off x="822960" y="324612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ROLE:</a:t>
            </a:r>
          </a:p>
        </p:txBody>
      </p:sp>
      <p:sp>
        <p:nvSpPr>
          <p:cNvPr id="9" name="TextBox 8"/>
          <p:cNvSpPr txBox="1"/>
          <p:nvPr/>
        </p:nvSpPr>
        <p:spPr>
          <a:xfrm>
            <a:off x="822960" y="3566160"/>
            <a:ext cx="6035040" cy="41148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Backend Development</a:t>
            </a:r>
          </a:p>
        </p:txBody>
      </p:sp>
      <p:sp>
        <p:nvSpPr>
          <p:cNvPr id="10" name="TextBox 9"/>
          <p:cNvSpPr txBox="1"/>
          <p:nvPr/>
        </p:nvSpPr>
        <p:spPr>
          <a:xfrm>
            <a:off x="822960" y="4114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TOPIC:</a:t>
            </a:r>
          </a:p>
        </p:txBody>
      </p:sp>
      <p:sp>
        <p:nvSpPr>
          <p:cNvPr id="11" name="TextBox 10"/>
          <p:cNvSpPr txBox="1"/>
          <p:nvPr/>
        </p:nvSpPr>
        <p:spPr>
          <a:xfrm>
            <a:off x="822960" y="4434840"/>
            <a:ext cx="6035040" cy="82296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Backend Development and API Integration</a:t>
            </a:r>
          </a:p>
        </p:txBody>
      </p:sp>
      <p:sp>
        <p:nvSpPr>
          <p:cNvPr id="12" name="Rounded Rectangle 11"/>
          <p:cNvSpPr/>
          <p:nvPr/>
        </p:nvSpPr>
        <p:spPr>
          <a:xfrm>
            <a:off x="7406640" y="1097280"/>
            <a:ext cx="4206240" cy="4937760"/>
          </a:xfrm>
          <a:prstGeom prst="roundRect">
            <a:avLst>
              <a:gd name="adj" fmla="val 5000"/>
            </a:avLst>
          </a:prstGeom>
          <a:solidFill>
            <a:srgbClr val="17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6576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93C5FD"/>
                </a:solidFill>
                <a:latin typeface="Arial"/>
              </a:rPr>
              <a:t>WHAT THIS SECTION COVERS:</a:t>
            </a:r>
          </a:p>
        </p:txBody>
      </p:sp>
      <p:sp>
        <p:nvSpPr>
          <p:cNvPr id="14" name="TextBox 13"/>
          <p:cNvSpPr txBox="1"/>
          <p:nvPr/>
        </p:nvSpPr>
        <p:spPr>
          <a:xfrm>
            <a:off x="7726679" y="1874519"/>
            <a:ext cx="3657600" cy="3931920"/>
          </a:xfrm>
          <a:prstGeom prst="rect">
            <a:avLst/>
          </a:prstGeom>
          <a:noFill/>
        </p:spPr>
        <p:txBody>
          <a:bodyPr wrap="square" anchor="t" lIns="45720" rIns="45720"/>
          <a:lstStyle/>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What the backend does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Next.js API routes and the endpoint map</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Password hashing and JWT authentication</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How the frontend calls the backend</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Booking, tutor, review and messaging logic</a:t>
            </a:r>
          </a:p>
        </p:txBody>
      </p:sp>
      <p:sp>
        <p:nvSpPr>
          <p:cNvPr id="15" name="TextBox 14"/>
          <p:cNvSpPr txBox="1"/>
          <p:nvPr/>
        </p:nvSpPr>
        <p:spPr>
          <a:xfrm>
            <a:off x="822960" y="6126480"/>
            <a:ext cx="8229600" cy="320040"/>
          </a:xfrm>
          <a:prstGeom prst="rect">
            <a:avLst/>
          </a:prstGeom>
          <a:noFill/>
        </p:spPr>
        <p:txBody>
          <a:bodyPr wrap="square" anchor="t" lIns="45720" rIns="45720"/>
          <a:lstStyle/>
          <a:p>
            <a:pPr algn="l">
              <a:lnSpc>
                <a:spcPct val="100000"/>
              </a:lnSpc>
              <a:spcBef>
                <a:spcPts val="0"/>
              </a:spcBef>
              <a:spcAft>
                <a:spcPts val="0"/>
              </a:spcAft>
            </a:pPr>
            <a:r>
              <a:rPr sz="1000" b="0">
                <a:solidFill>
                  <a:srgbClr val="93C5FD"/>
                </a:solidFill>
                <a:latin typeface="Arial"/>
              </a:rPr>
              <a:t>TutorConnect Nigeria  |  Edumentry AI Hackathon 1.0</a:t>
            </a:r>
          </a:p>
        </p:txBody>
      </p:sp>
      <p:sp>
        <p:nvSpPr>
          <p:cNvPr id="16" name="TextBox 15"/>
          <p:cNvSpPr txBox="1"/>
          <p:nvPr/>
        </p:nvSpPr>
        <p:spPr>
          <a:xfrm>
            <a:off x="9784080" y="6126480"/>
            <a:ext cx="1856231" cy="320040"/>
          </a:xfrm>
          <a:prstGeom prst="rect">
            <a:avLst/>
          </a:prstGeom>
          <a:noFill/>
        </p:spPr>
        <p:txBody>
          <a:bodyPr wrap="square" anchor="t" lIns="45720" rIns="45720"/>
          <a:lstStyle/>
          <a:p>
            <a:pPr algn="r">
              <a:lnSpc>
                <a:spcPct val="100000"/>
              </a:lnSpc>
              <a:spcBef>
                <a:spcPts val="0"/>
              </a:spcBef>
              <a:spcAft>
                <a:spcPts val="0"/>
              </a:spcAft>
            </a:pPr>
            <a:r>
              <a:rPr sz="1000" b="0">
                <a:solidFill>
                  <a:srgbClr val="93C5FD"/>
                </a:solidFill>
                <a:latin typeface="Arial"/>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4  —  BACKEND DEVELOPMENT</a:t>
            </a:r>
          </a:p>
        </p:txBody>
      </p:sp>
      <p:sp>
        <p:nvSpPr>
          <p:cNvPr id="4" name="Rounded Rectangle 3"/>
          <p:cNvSpPr/>
          <p:nvPr/>
        </p:nvSpPr>
        <p:spPr>
          <a:xfrm>
            <a:off x="6309360" y="274320"/>
            <a:ext cx="5330952" cy="41148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4  ·  Bodman Ebuka Precous</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Backend technologies and API operations</a:t>
            </a:r>
          </a:p>
        </p:txBody>
      </p:sp>
      <p:sp>
        <p:nvSpPr>
          <p:cNvPr id="6" name="TextBox 5"/>
          <p:cNvSpPr txBox="1"/>
          <p:nvPr/>
        </p:nvSpPr>
        <p:spPr>
          <a:xfrm>
            <a:off x="548640" y="1371600"/>
            <a:ext cx="11064240" cy="365760"/>
          </a:xfrm>
          <a:prstGeom prst="rect">
            <a:avLst/>
          </a:prstGeom>
          <a:noFill/>
        </p:spPr>
        <p:txBody>
          <a:bodyPr wrap="square" anchor="t" lIns="45720" rIns="45720"/>
          <a:lstStyle/>
          <a:p>
            <a:pPr algn="l">
              <a:lnSpc>
                <a:spcPct val="100000"/>
              </a:lnSpc>
              <a:spcBef>
                <a:spcPts val="0"/>
              </a:spcBef>
              <a:spcAft>
                <a:spcPts val="0"/>
              </a:spcAft>
            </a:pPr>
            <a:r>
              <a:rPr sz="1500" b="0">
                <a:solidFill>
                  <a:srgbClr val="64748B"/>
                </a:solidFill>
                <a:latin typeface="Arial"/>
              </a:rPr>
              <a:t>Backend = the code that runs on the server, checks requests, and talks to the database.</a:t>
            </a:r>
          </a:p>
        </p:txBody>
      </p:sp>
      <p:cxnSp>
        <p:nvCxnSpPr>
          <p:cNvPr id="7" name="Connector 6"/>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9" name="TextBox 8"/>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16 / 23</a:t>
            </a:r>
          </a:p>
        </p:txBody>
      </p:sp>
      <p:graphicFrame>
        <p:nvGraphicFramePr>
          <p:cNvPr id="10" name="Table 9"/>
          <p:cNvGraphicFramePr>
            <a:graphicFrameLocks noGrp="1"/>
          </p:cNvGraphicFramePr>
          <p:nvPr/>
        </p:nvGraphicFramePr>
        <p:xfrm>
          <a:off x="548640" y="1828800"/>
          <a:ext cx="11091672" cy="2682240"/>
        </p:xfrm>
        <a:graphic>
          <a:graphicData uri="http://schemas.openxmlformats.org/drawingml/2006/table">
            <a:tbl>
              <a:tblPr firstRow="1" bandRow="1">
                <a:tableStyleId>{5C22544A-7EE6-4342-B048-85BDC9FD1C3A}</a:tableStyleId>
              </a:tblPr>
              <a:tblGrid>
                <a:gridCol w="1920240"/>
                <a:gridCol w="2514600"/>
                <a:gridCol w="6656832"/>
              </a:tblGrid>
              <a:tr h="396240">
                <a:tc>
                  <a:txBody>
                    <a:bodyPr wrap="square"/>
                    <a:lstStyle/>
                    <a:p>
                      <a:pPr algn="l"/>
                      <a:r>
                        <a:rPr sz="1250" b="1">
                          <a:solidFill>
                            <a:srgbClr val="FFFFFF"/>
                          </a:solidFill>
                          <a:latin typeface="Arial"/>
                        </a:rPr>
                        <a:t>Route</a:t>
                      </a:r>
                    </a:p>
                  </a:txBody>
                  <a:tcPr marL="73152" marR="45720" marT="36576" marB="36576" anchor="ctr">
                    <a:solidFill>
                      <a:srgbClr val="1E3A8A"/>
                    </a:solidFill>
                  </a:tcPr>
                </a:tc>
                <a:tc>
                  <a:txBody>
                    <a:bodyPr wrap="square"/>
                    <a:lstStyle/>
                    <a:p>
                      <a:pPr algn="l"/>
                      <a:r>
                        <a:rPr sz="1250" b="1">
                          <a:solidFill>
                            <a:srgbClr val="FFFFFF"/>
                          </a:solidFill>
                          <a:latin typeface="Arial"/>
                        </a:rPr>
                        <a:t>Methods</a:t>
                      </a:r>
                    </a:p>
                  </a:txBody>
                  <a:tcPr marL="73152" marR="45720" marT="36576" marB="36576" anchor="ctr">
                    <a:solidFill>
                      <a:srgbClr val="1E3A8A"/>
                    </a:solidFill>
                  </a:tcPr>
                </a:tc>
                <a:tc>
                  <a:txBody>
                    <a:bodyPr wrap="square"/>
                    <a:lstStyle/>
                    <a:p>
                      <a:pPr algn="l"/>
                      <a:r>
                        <a:rPr sz="1250" b="1">
                          <a:solidFill>
                            <a:srgbClr val="FFFFFF"/>
                          </a:solidFill>
                          <a:latin typeface="Arial"/>
                        </a:rPr>
                        <a:t>What it handles</a:t>
                      </a:r>
                    </a:p>
                  </a:txBody>
                  <a:tcPr marL="73152" marR="45720" marT="36576" marB="36576" anchor="ctr">
                    <a:solidFill>
                      <a:srgbClr val="1E3A8A"/>
                    </a:solidFill>
                  </a:tcPr>
                </a:tc>
              </a:tr>
              <a:tr h="457200">
                <a:tc>
                  <a:txBody>
                    <a:bodyPr wrap="square"/>
                    <a:lstStyle/>
                    <a:p>
                      <a:pPr algn="l"/>
                      <a:r>
                        <a:rPr sz="1150" b="1">
                          <a:solidFill>
                            <a:srgbClr val="1E3A8A"/>
                          </a:solidFill>
                          <a:latin typeface="Arial"/>
                        </a:rPr>
                        <a:t>/api/tutors</a:t>
                      </a:r>
                    </a:p>
                  </a:txBody>
                  <a:tcPr marL="73152" marR="45720" marT="36576" marB="36576" anchor="ctr">
                    <a:solidFill>
                      <a:srgbClr val="FFFFFF"/>
                    </a:solidFill>
                  </a:tcPr>
                </a:tc>
                <a:tc>
                  <a:txBody>
                    <a:bodyPr wrap="square"/>
                    <a:lstStyle/>
                    <a:p>
                      <a:pPr algn="l"/>
                      <a:r>
                        <a:rPr sz="1150" b="0">
                          <a:solidFill>
                            <a:srgbClr val="0F172A"/>
                          </a:solidFill>
                          <a:latin typeface="Arial"/>
                        </a:rPr>
                        <a:t>GET</a:t>
                      </a:r>
                    </a:p>
                  </a:txBody>
                  <a:tcPr marL="73152" marR="45720" marT="36576" marB="36576" anchor="ctr">
                    <a:solidFill>
                      <a:srgbClr val="FFFFFF"/>
                    </a:solidFill>
                  </a:tcPr>
                </a:tc>
                <a:tc>
                  <a:txBody>
                    <a:bodyPr wrap="square"/>
                    <a:lstStyle/>
                    <a:p>
                      <a:pPr algn="l"/>
                      <a:r>
                        <a:rPr sz="1150" b="0">
                          <a:solidFill>
                            <a:srgbClr val="0F172A"/>
                          </a:solidFill>
                          <a:latin typeface="Arial"/>
                        </a:rPr>
                        <a:t>List approved tutors with filters</a:t>
                      </a:r>
                    </a:p>
                  </a:txBody>
                  <a:tcPr marL="73152" marR="45720" marT="36576" marB="36576" anchor="ctr">
                    <a:solidFill>
                      <a:srgbClr val="FFFFFF"/>
                    </a:solidFill>
                  </a:tcPr>
                </a:tc>
              </a:tr>
              <a:tr h="457200">
                <a:tc>
                  <a:txBody>
                    <a:bodyPr wrap="square"/>
                    <a:lstStyle/>
                    <a:p>
                      <a:pPr algn="l"/>
                      <a:r>
                        <a:rPr sz="1150" b="1">
                          <a:solidFill>
                            <a:srgbClr val="1E3A8A"/>
                          </a:solidFill>
                          <a:latin typeface="Arial"/>
                        </a:rPr>
                        <a:t>/api/auth</a:t>
                      </a:r>
                    </a:p>
                  </a:txBody>
                  <a:tcPr marL="73152" marR="45720" marT="36576" marB="36576" anchor="ctr">
                    <a:solidFill>
                      <a:srgbClr val="F1F5F9"/>
                    </a:solidFill>
                  </a:tcPr>
                </a:tc>
                <a:tc>
                  <a:txBody>
                    <a:bodyPr wrap="square"/>
                    <a:lstStyle/>
                    <a:p>
                      <a:pPr algn="l"/>
                      <a:r>
                        <a:rPr sz="1150" b="0">
                          <a:solidFill>
                            <a:srgbClr val="0F172A"/>
                          </a:solidFill>
                          <a:latin typeface="Arial"/>
                        </a:rPr>
                        <a:t>POST, PUT, DELETE, GET</a:t>
                      </a:r>
                    </a:p>
                  </a:txBody>
                  <a:tcPr marL="73152" marR="45720" marT="36576" marB="36576" anchor="ctr">
                    <a:solidFill>
                      <a:srgbClr val="F1F5F9"/>
                    </a:solidFill>
                  </a:tcPr>
                </a:tc>
                <a:tc>
                  <a:txBody>
                    <a:bodyPr wrap="square"/>
                    <a:lstStyle/>
                    <a:p>
                      <a:pPr algn="l"/>
                      <a:r>
                        <a:rPr sz="1150" b="0">
                          <a:solidFill>
                            <a:srgbClr val="0F172A"/>
                          </a:solidFill>
                          <a:latin typeface="Arial"/>
                        </a:rPr>
                        <a:t>Sign up, log in, profile, children, saved tutors, availability, documents, verification, admin actions</a:t>
                      </a:r>
                    </a:p>
                  </a:txBody>
                  <a:tcPr marL="73152" marR="45720" marT="36576" marB="36576" anchor="ctr">
                    <a:solidFill>
                      <a:srgbClr val="F1F5F9"/>
                    </a:solidFill>
                  </a:tcPr>
                </a:tc>
              </a:tr>
              <a:tr h="457200">
                <a:tc>
                  <a:txBody>
                    <a:bodyPr wrap="square"/>
                    <a:lstStyle/>
                    <a:p>
                      <a:pPr algn="l"/>
                      <a:r>
                        <a:rPr sz="1150" b="1">
                          <a:solidFill>
                            <a:srgbClr val="1E3A8A"/>
                          </a:solidFill>
                          <a:latin typeface="Arial"/>
                        </a:rPr>
                        <a:t>/api/bookings</a:t>
                      </a:r>
                    </a:p>
                  </a:txBody>
                  <a:tcPr marL="73152" marR="45720" marT="36576" marB="36576" anchor="ctr">
                    <a:solidFill>
                      <a:srgbClr val="FFFFFF"/>
                    </a:solidFill>
                  </a:tcPr>
                </a:tc>
                <a:tc>
                  <a:txBody>
                    <a:bodyPr wrap="square"/>
                    <a:lstStyle/>
                    <a:p>
                      <a:pPr algn="l"/>
                      <a:r>
                        <a:rPr sz="1150" b="0">
                          <a:solidFill>
                            <a:srgbClr val="0F172A"/>
                          </a:solidFill>
                          <a:latin typeface="Arial"/>
                        </a:rPr>
                        <a:t>GET, POST, PATCH, DELETE</a:t>
                      </a:r>
                    </a:p>
                  </a:txBody>
                  <a:tcPr marL="73152" marR="45720" marT="36576" marB="36576" anchor="ctr">
                    <a:solidFill>
                      <a:srgbClr val="FFFFFF"/>
                    </a:solidFill>
                  </a:tcPr>
                </a:tc>
                <a:tc>
                  <a:txBody>
                    <a:bodyPr wrap="square"/>
                    <a:lstStyle/>
                    <a:p>
                      <a:pPr algn="l"/>
                      <a:r>
                        <a:rPr sz="1150" b="0">
                          <a:solidFill>
                            <a:srgbClr val="0F172A"/>
                          </a:solidFill>
                          <a:latin typeface="Arial"/>
                        </a:rPr>
                        <a:t>List bookings, create a request, accept/reject or edit, remove</a:t>
                      </a:r>
                    </a:p>
                  </a:txBody>
                  <a:tcPr marL="73152" marR="45720" marT="36576" marB="36576" anchor="ctr">
                    <a:solidFill>
                      <a:srgbClr val="FFFFFF"/>
                    </a:solidFill>
                  </a:tcPr>
                </a:tc>
              </a:tr>
              <a:tr h="457200">
                <a:tc>
                  <a:txBody>
                    <a:bodyPr wrap="square"/>
                    <a:lstStyle/>
                    <a:p>
                      <a:pPr algn="l"/>
                      <a:r>
                        <a:rPr sz="1150" b="1">
                          <a:solidFill>
                            <a:srgbClr val="1E3A8A"/>
                          </a:solidFill>
                          <a:latin typeface="Arial"/>
                        </a:rPr>
                        <a:t>/api/reviews</a:t>
                      </a:r>
                    </a:p>
                  </a:txBody>
                  <a:tcPr marL="73152" marR="45720" marT="36576" marB="36576" anchor="ctr">
                    <a:solidFill>
                      <a:srgbClr val="F1F5F9"/>
                    </a:solidFill>
                  </a:tcPr>
                </a:tc>
                <a:tc>
                  <a:txBody>
                    <a:bodyPr wrap="square"/>
                    <a:lstStyle/>
                    <a:p>
                      <a:pPr algn="l"/>
                      <a:r>
                        <a:rPr sz="1150" b="0">
                          <a:solidFill>
                            <a:srgbClr val="0F172A"/>
                          </a:solidFill>
                          <a:latin typeface="Arial"/>
                        </a:rPr>
                        <a:t>GET, POST</a:t>
                      </a:r>
                    </a:p>
                  </a:txBody>
                  <a:tcPr marL="73152" marR="45720" marT="36576" marB="36576" anchor="ctr">
                    <a:solidFill>
                      <a:srgbClr val="F1F5F9"/>
                    </a:solidFill>
                  </a:tcPr>
                </a:tc>
                <a:tc>
                  <a:txBody>
                    <a:bodyPr wrap="square"/>
                    <a:lstStyle/>
                    <a:p>
                      <a:pPr algn="l"/>
                      <a:r>
                        <a:rPr sz="1150" b="0">
                          <a:solidFill>
                            <a:srgbClr val="0F172A"/>
                          </a:solidFill>
                          <a:latin typeface="Arial"/>
                        </a:rPr>
                        <a:t>Submit a 1–5 star review for a completed booking; list reviews</a:t>
                      </a:r>
                    </a:p>
                  </a:txBody>
                  <a:tcPr marL="73152" marR="45720" marT="36576" marB="36576" anchor="ctr">
                    <a:solidFill>
                      <a:srgbClr val="F1F5F9"/>
                    </a:solidFill>
                  </a:tcPr>
                </a:tc>
              </a:tr>
              <a:tr h="457200">
                <a:tc>
                  <a:txBody>
                    <a:bodyPr wrap="square"/>
                    <a:lstStyle/>
                    <a:p>
                      <a:pPr algn="l"/>
                      <a:r>
                        <a:rPr sz="1150" b="1">
                          <a:solidFill>
                            <a:srgbClr val="1E3A8A"/>
                          </a:solidFill>
                          <a:latin typeface="Arial"/>
                        </a:rPr>
                        <a:t>/api/messages</a:t>
                      </a:r>
                    </a:p>
                  </a:txBody>
                  <a:tcPr marL="73152" marR="45720" marT="36576" marB="36576" anchor="ctr">
                    <a:solidFill>
                      <a:srgbClr val="FFFFFF"/>
                    </a:solidFill>
                  </a:tcPr>
                </a:tc>
                <a:tc>
                  <a:txBody>
                    <a:bodyPr wrap="square"/>
                    <a:lstStyle/>
                    <a:p>
                      <a:pPr algn="l"/>
                      <a:r>
                        <a:rPr sz="1150" b="0">
                          <a:solidFill>
                            <a:srgbClr val="0F172A"/>
                          </a:solidFill>
                          <a:latin typeface="Arial"/>
                        </a:rPr>
                        <a:t>GET, POST</a:t>
                      </a:r>
                    </a:p>
                  </a:txBody>
                  <a:tcPr marL="73152" marR="45720" marT="36576" marB="36576" anchor="ctr">
                    <a:solidFill>
                      <a:srgbClr val="FFFFFF"/>
                    </a:solidFill>
                  </a:tcPr>
                </a:tc>
                <a:tc>
                  <a:txBody>
                    <a:bodyPr wrap="square"/>
                    <a:lstStyle/>
                    <a:p>
                      <a:pPr algn="l"/>
                      <a:r>
                        <a:rPr sz="1150" b="0">
                          <a:solidFill>
                            <a:srgbClr val="0F172A"/>
                          </a:solidFill>
                          <a:latin typeface="Arial"/>
                        </a:rPr>
                        <a:t>Read conversations and send a message between a student/parent and a tutor</a:t>
                      </a:r>
                    </a:p>
                  </a:txBody>
                  <a:tcPr marL="73152" marR="45720" marT="36576" marB="36576" anchor="ctr">
                    <a:solidFill>
                      <a:srgbClr val="FFFFFF"/>
                    </a:solidFill>
                  </a:tcPr>
                </a:tc>
              </a:tr>
            </a:tbl>
          </a:graphicData>
        </a:graphic>
      </p:graphicFrame>
      <p:sp>
        <p:nvSpPr>
          <p:cNvPr id="11" name="Rounded Rectangle 10"/>
          <p:cNvSpPr/>
          <p:nvPr/>
        </p:nvSpPr>
        <p:spPr>
          <a:xfrm>
            <a:off x="548640" y="4572000"/>
            <a:ext cx="5440680" cy="1691640"/>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63440"/>
            <a:ext cx="5120640" cy="365760"/>
          </a:xfrm>
          <a:prstGeom prst="rect">
            <a:avLst/>
          </a:prstGeom>
          <a:noFill/>
        </p:spPr>
        <p:txBody>
          <a:bodyPr wrap="square" anchor="t" lIns="45720" rIns="45720"/>
          <a:lstStyle/>
          <a:p>
            <a:pPr algn="l">
              <a:lnSpc>
                <a:spcPct val="100000"/>
              </a:lnSpc>
              <a:spcBef>
                <a:spcPts val="0"/>
              </a:spcBef>
              <a:spcAft>
                <a:spcPts val="0"/>
              </a:spcAft>
            </a:pPr>
            <a:r>
              <a:rPr sz="1200" b="1">
                <a:solidFill>
                  <a:srgbClr val="2563EB"/>
                </a:solidFill>
                <a:latin typeface="Arial"/>
              </a:rPr>
              <a:t>LOGIN SECURITY</a:t>
            </a:r>
          </a:p>
        </p:txBody>
      </p:sp>
      <p:sp>
        <p:nvSpPr>
          <p:cNvPr id="13" name="TextBox 12"/>
          <p:cNvSpPr txBox="1"/>
          <p:nvPr/>
        </p:nvSpPr>
        <p:spPr>
          <a:xfrm>
            <a:off x="777240" y="4983480"/>
            <a:ext cx="5120640" cy="1234440"/>
          </a:xfrm>
          <a:prstGeom prst="rect">
            <a:avLst/>
          </a:prstGeom>
          <a:noFill/>
        </p:spPr>
        <p:txBody>
          <a:bodyPr wrap="square" anchor="t" lIns="45720" rIns="45720"/>
          <a:lstStyle/>
          <a:p>
            <a:pPr algn="l">
              <a:lnSpc>
                <a:spcPct val="100000"/>
              </a:lnSpc>
              <a:spcBef>
                <a:spcPts val="0"/>
              </a:spcBef>
              <a:spcAft>
                <a:spcPts val="300"/>
              </a:spcAft>
            </a:pPr>
            <a:r>
              <a:rPr sz="1250" b="0">
                <a:solidFill>
                  <a:srgbClr val="334155"/>
                </a:solidFill>
                <a:latin typeface="Arial"/>
              </a:rPr>
              <a:t>•  </a:t>
            </a:r>
            <a:r>
              <a:rPr sz="1250" b="0">
                <a:solidFill>
                  <a:srgbClr val="334155"/>
                </a:solidFill>
                <a:latin typeface="Arial"/>
              </a:rPr>
              <a:t>Passwords are hashed with bcryptjs before saving.</a:t>
            </a:r>
          </a:p>
          <a:p>
            <a:pPr algn="l">
              <a:lnSpc>
                <a:spcPct val="100000"/>
              </a:lnSpc>
              <a:spcBef>
                <a:spcPts val="0"/>
              </a:spcBef>
              <a:spcAft>
                <a:spcPts val="300"/>
              </a:spcAft>
            </a:pPr>
            <a:r>
              <a:rPr sz="1250" b="0">
                <a:solidFill>
                  <a:srgbClr val="334155"/>
                </a:solidFill>
                <a:latin typeface="Arial"/>
              </a:rPr>
              <a:t>•  </a:t>
            </a:r>
            <a:r>
              <a:rPr sz="1250" b="0">
                <a:solidFill>
                  <a:srgbClr val="334155"/>
                </a:solidFill>
                <a:latin typeface="Arial"/>
              </a:rPr>
              <a:t>Successful login returns a JWT, valid for 7 days.</a:t>
            </a:r>
          </a:p>
          <a:p>
            <a:pPr algn="l">
              <a:lnSpc>
                <a:spcPct val="100000"/>
              </a:lnSpc>
              <a:spcBef>
                <a:spcPts val="0"/>
              </a:spcBef>
              <a:spcAft>
                <a:spcPts val="0"/>
              </a:spcAft>
            </a:pPr>
            <a:r>
              <a:rPr sz="1250" b="0">
                <a:solidFill>
                  <a:srgbClr val="334155"/>
                </a:solidFill>
                <a:latin typeface="Arial"/>
              </a:rPr>
              <a:t>•  </a:t>
            </a:r>
            <a:r>
              <a:rPr sz="1250" b="0">
                <a:solidFill>
                  <a:srgbClr val="334155"/>
                </a:solidFill>
                <a:latin typeface="Arial"/>
              </a:rPr>
              <a:t>Protected routes read the token from the Authorization header.</a:t>
            </a:r>
          </a:p>
        </p:txBody>
      </p:sp>
      <p:sp>
        <p:nvSpPr>
          <p:cNvPr id="14" name="Rounded Rectangle 13"/>
          <p:cNvSpPr/>
          <p:nvPr/>
        </p:nvSpPr>
        <p:spPr>
          <a:xfrm>
            <a:off x="6199632" y="4572000"/>
            <a:ext cx="5440680" cy="1691640"/>
          </a:xfrm>
          <a:prstGeom prst="roundRect">
            <a:avLst>
              <a:gd name="adj" fmla="val 6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663440"/>
            <a:ext cx="5120640" cy="365760"/>
          </a:xfrm>
          <a:prstGeom prst="rect">
            <a:avLst/>
          </a:prstGeom>
          <a:noFill/>
        </p:spPr>
        <p:txBody>
          <a:bodyPr wrap="square" anchor="t" lIns="45720" rIns="45720"/>
          <a:lstStyle/>
          <a:p>
            <a:pPr algn="l">
              <a:lnSpc>
                <a:spcPct val="100000"/>
              </a:lnSpc>
              <a:spcBef>
                <a:spcPts val="0"/>
              </a:spcBef>
              <a:spcAft>
                <a:spcPts val="0"/>
              </a:spcAft>
            </a:pPr>
            <a:r>
              <a:rPr sz="1200" b="1">
                <a:solidFill>
                  <a:srgbClr val="B91C1C"/>
                </a:solidFill>
                <a:latin typeface="Arial"/>
              </a:rPr>
              <a:t>KNOWN GAPS (not yet built)</a:t>
            </a:r>
          </a:p>
        </p:txBody>
      </p:sp>
      <p:sp>
        <p:nvSpPr>
          <p:cNvPr id="16" name="TextBox 15"/>
          <p:cNvSpPr txBox="1"/>
          <p:nvPr/>
        </p:nvSpPr>
        <p:spPr>
          <a:xfrm>
            <a:off x="6400800" y="4983480"/>
            <a:ext cx="5120640" cy="1234440"/>
          </a:xfrm>
          <a:prstGeom prst="rect">
            <a:avLst/>
          </a:prstGeom>
          <a:noFill/>
        </p:spPr>
        <p:txBody>
          <a:bodyPr wrap="square" anchor="t" lIns="45720" rIns="45720"/>
          <a:lstStyle/>
          <a:p>
            <a:pPr algn="l">
              <a:lnSpc>
                <a:spcPct val="100000"/>
              </a:lnSpc>
              <a:spcBef>
                <a:spcPts val="0"/>
              </a:spcBef>
              <a:spcAft>
                <a:spcPts val="300"/>
              </a:spcAft>
            </a:pPr>
            <a:r>
              <a:rPr sz="1250" b="0">
                <a:solidFill>
                  <a:srgbClr val="334155"/>
                </a:solidFill>
                <a:latin typeface="Arial"/>
              </a:rPr>
              <a:t>•  </a:t>
            </a:r>
            <a:r>
              <a:rPr sz="1250" b="0">
                <a:solidFill>
                  <a:srgbClr val="334155"/>
                </a:solidFill>
                <a:latin typeface="Arial"/>
              </a:rPr>
              <a:t>Booking status changes do not yet check that the caller owns the booking.</a:t>
            </a:r>
          </a:p>
          <a:p>
            <a:pPr algn="l">
              <a:lnSpc>
                <a:spcPct val="100000"/>
              </a:lnSpc>
              <a:spcBef>
                <a:spcPts val="0"/>
              </a:spcBef>
              <a:spcAft>
                <a:spcPts val="300"/>
              </a:spcAft>
            </a:pPr>
            <a:r>
              <a:rPr sz="1250" b="0">
                <a:solidFill>
                  <a:srgbClr val="334155"/>
                </a:solidFill>
                <a:latin typeface="Arial"/>
              </a:rPr>
              <a:t>•  </a:t>
            </a:r>
            <a:r>
              <a:rPr sz="1250" b="0">
                <a:solidFill>
                  <a:srgbClr val="334155"/>
                </a:solidFill>
                <a:latin typeface="Arial"/>
              </a:rPr>
              <a:t>Login does not check account approval status.</a:t>
            </a:r>
          </a:p>
          <a:p>
            <a:pPr algn="l">
              <a:lnSpc>
                <a:spcPct val="100000"/>
              </a:lnSpc>
              <a:spcBef>
                <a:spcPts val="0"/>
              </a:spcBef>
              <a:spcAft>
                <a:spcPts val="0"/>
              </a:spcAft>
            </a:pPr>
            <a:r>
              <a:rPr sz="1250" b="0">
                <a:solidFill>
                  <a:srgbClr val="334155"/>
                </a:solidFill>
                <a:latin typeface="Arial"/>
              </a:rPr>
              <a:t>•  </a:t>
            </a:r>
            <a:r>
              <a:rPr sz="1250" b="0">
                <a:solidFill>
                  <a:srgbClr val="334155"/>
                </a:solidFill>
                <a:latin typeface="Arial"/>
              </a:rPr>
              <a:t>Authentication = proving who you are. Authorisation = what you may do. Both are needed.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4  —  BACKEND DEVELOPMENT</a:t>
            </a:r>
          </a:p>
        </p:txBody>
      </p:sp>
      <p:sp>
        <p:nvSpPr>
          <p:cNvPr id="4" name="Rounded Rectangle 3"/>
          <p:cNvSpPr/>
          <p:nvPr/>
        </p:nvSpPr>
        <p:spPr>
          <a:xfrm>
            <a:off x="6309360" y="274320"/>
            <a:ext cx="5330952" cy="41148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4  ·  Bodman Ebuka Precous</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How the three layers communicate</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17 / 23</a:t>
            </a:r>
          </a:p>
        </p:txBody>
      </p:sp>
      <p:sp>
        <p:nvSpPr>
          <p:cNvPr id="9" name="Rounded Rectangle 8"/>
          <p:cNvSpPr/>
          <p:nvPr/>
        </p:nvSpPr>
        <p:spPr>
          <a:xfrm>
            <a:off x="548640" y="1645920"/>
            <a:ext cx="3319272" cy="2148840"/>
          </a:xfrm>
          <a:prstGeom prst="roundRect">
            <a:avLst>
              <a:gd name="adj" fmla="val 6000"/>
            </a:avLst>
          </a:prstGeom>
          <a:solidFill>
            <a:srgbClr val="FFFFFF"/>
          </a:solidFill>
          <a:ln w="254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3319272" cy="4572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1  BROWSER</a:t>
            </a:r>
          </a:p>
        </p:txBody>
      </p:sp>
      <p:sp>
        <p:nvSpPr>
          <p:cNvPr id="11" name="TextBox 10"/>
          <p:cNvSpPr txBox="1"/>
          <p:nvPr/>
        </p:nvSpPr>
        <p:spPr>
          <a:xfrm>
            <a:off x="685800" y="2194560"/>
            <a:ext cx="3063240" cy="1554480"/>
          </a:xfrm>
          <a:prstGeom prst="rect">
            <a:avLst/>
          </a:prstGeom>
          <a:noFill/>
        </p:spPr>
        <p:txBody>
          <a:bodyPr wrap="square" anchor="t" lIns="45720" rIns="45720"/>
          <a:lstStyle/>
          <a:p>
            <a:pPr algn="l">
              <a:lnSpc>
                <a:spcPct val="100000"/>
              </a:lnSpc>
              <a:spcBef>
                <a:spcPts val="0"/>
              </a:spcBef>
              <a:spcAft>
                <a:spcPts val="400"/>
              </a:spcAft>
            </a:pPr>
            <a:r>
              <a:rPr sz="1250" b="0">
                <a:solidFill>
                  <a:srgbClr val="334155"/>
                </a:solidFill>
                <a:latin typeface="Arial"/>
              </a:rPr>
              <a:t>Next.js pages and React components</a:t>
            </a:r>
          </a:p>
          <a:p>
            <a:pPr algn="l">
              <a:lnSpc>
                <a:spcPct val="100000"/>
              </a:lnSpc>
              <a:spcBef>
                <a:spcPts val="0"/>
              </a:spcBef>
              <a:spcAft>
                <a:spcPts val="400"/>
              </a:spcAft>
            </a:pPr>
            <a:r>
              <a:rPr sz="1250" b="0">
                <a:solidFill>
                  <a:srgbClr val="334155"/>
                </a:solidFill>
                <a:latin typeface="Arial"/>
              </a:rPr>
              <a:t>Shows screens and collects input</a:t>
            </a:r>
          </a:p>
          <a:p>
            <a:pPr algn="l">
              <a:lnSpc>
                <a:spcPct val="100000"/>
              </a:lnSpc>
              <a:spcBef>
                <a:spcPts val="0"/>
              </a:spcBef>
              <a:spcAft>
                <a:spcPts val="400"/>
              </a:spcAft>
            </a:pPr>
            <a:r>
              <a:rPr sz="1250" b="0">
                <a:solidFill>
                  <a:srgbClr val="334155"/>
                </a:solidFill>
                <a:latin typeface="Arial"/>
              </a:rPr>
              <a:t>Keeps the login token in localStorage</a:t>
            </a:r>
          </a:p>
        </p:txBody>
      </p:sp>
      <p:sp>
        <p:nvSpPr>
          <p:cNvPr id="12" name="Rounded Rectangle 11"/>
          <p:cNvSpPr/>
          <p:nvPr/>
        </p:nvSpPr>
        <p:spPr>
          <a:xfrm>
            <a:off x="4434840" y="1645920"/>
            <a:ext cx="3319272" cy="2148840"/>
          </a:xfrm>
          <a:prstGeom prst="roundRect">
            <a:avLst>
              <a:gd name="adj" fmla="val 6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645920"/>
            <a:ext cx="331927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2  BACKEND (API ROUTES)</a:t>
            </a:r>
          </a:p>
        </p:txBody>
      </p:sp>
      <p:sp>
        <p:nvSpPr>
          <p:cNvPr id="14" name="TextBox 13"/>
          <p:cNvSpPr txBox="1"/>
          <p:nvPr/>
        </p:nvSpPr>
        <p:spPr>
          <a:xfrm>
            <a:off x="4572000" y="2194560"/>
            <a:ext cx="3063240" cy="1554480"/>
          </a:xfrm>
          <a:prstGeom prst="rect">
            <a:avLst/>
          </a:prstGeom>
          <a:noFill/>
        </p:spPr>
        <p:txBody>
          <a:bodyPr wrap="square" anchor="t" lIns="45720" rIns="45720"/>
          <a:lstStyle/>
          <a:p>
            <a:pPr algn="l">
              <a:lnSpc>
                <a:spcPct val="100000"/>
              </a:lnSpc>
              <a:spcBef>
                <a:spcPts val="0"/>
              </a:spcBef>
              <a:spcAft>
                <a:spcPts val="400"/>
              </a:spcAft>
            </a:pPr>
            <a:r>
              <a:rPr sz="1250" b="0">
                <a:solidFill>
                  <a:srgbClr val="334155"/>
                </a:solidFill>
                <a:latin typeface="Arial"/>
              </a:rPr>
              <a:t>Next.js route handlers in app/api</a:t>
            </a:r>
          </a:p>
          <a:p>
            <a:pPr algn="l">
              <a:lnSpc>
                <a:spcPct val="100000"/>
              </a:lnSpc>
              <a:spcBef>
                <a:spcPts val="0"/>
              </a:spcBef>
              <a:spcAft>
                <a:spcPts val="400"/>
              </a:spcAft>
            </a:pPr>
            <a:r>
              <a:rPr sz="1250" b="0">
                <a:solidFill>
                  <a:srgbClr val="334155"/>
                </a:solidFill>
                <a:latin typeface="Arial"/>
              </a:rPr>
              <a:t>Checks the JWT and the user's role</a:t>
            </a:r>
          </a:p>
          <a:p>
            <a:pPr algn="l">
              <a:lnSpc>
                <a:spcPct val="100000"/>
              </a:lnSpc>
              <a:spcBef>
                <a:spcPts val="0"/>
              </a:spcBef>
              <a:spcAft>
                <a:spcPts val="400"/>
              </a:spcAft>
            </a:pPr>
            <a:r>
              <a:rPr sz="1250" b="0">
                <a:solidFill>
                  <a:srgbClr val="334155"/>
                </a:solidFill>
                <a:latin typeface="Arial"/>
              </a:rPr>
              <a:t>Applies rules, such as 'only verified tutors'</a:t>
            </a:r>
          </a:p>
        </p:txBody>
      </p:sp>
      <p:sp>
        <p:nvSpPr>
          <p:cNvPr id="15" name="Rounded Rectangle 14"/>
          <p:cNvSpPr/>
          <p:nvPr/>
        </p:nvSpPr>
        <p:spPr>
          <a:xfrm>
            <a:off x="8321040" y="1645920"/>
            <a:ext cx="3319272" cy="2148840"/>
          </a:xfrm>
          <a:prstGeom prst="roundRect">
            <a:avLst>
              <a:gd name="adj" fmla="val 6000"/>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1645920"/>
            <a:ext cx="3319272"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3  DATABASE</a:t>
            </a:r>
          </a:p>
        </p:txBody>
      </p:sp>
      <p:sp>
        <p:nvSpPr>
          <p:cNvPr id="17" name="TextBox 16"/>
          <p:cNvSpPr txBox="1"/>
          <p:nvPr/>
        </p:nvSpPr>
        <p:spPr>
          <a:xfrm>
            <a:off x="8458200" y="2194560"/>
            <a:ext cx="3063240" cy="1554480"/>
          </a:xfrm>
          <a:prstGeom prst="rect">
            <a:avLst/>
          </a:prstGeom>
          <a:noFill/>
        </p:spPr>
        <p:txBody>
          <a:bodyPr wrap="square" anchor="t" lIns="45720" rIns="45720"/>
          <a:lstStyle/>
          <a:p>
            <a:pPr algn="l">
              <a:lnSpc>
                <a:spcPct val="100000"/>
              </a:lnSpc>
              <a:spcBef>
                <a:spcPts val="0"/>
              </a:spcBef>
              <a:spcAft>
                <a:spcPts val="400"/>
              </a:spcAft>
            </a:pPr>
            <a:r>
              <a:rPr sz="1250" b="0">
                <a:solidFill>
                  <a:srgbClr val="334155"/>
                </a:solidFill>
                <a:latin typeface="Arial"/>
              </a:rPr>
              <a:t>Neon Serverless PostgreSQL</a:t>
            </a:r>
          </a:p>
          <a:p>
            <a:pPr algn="l">
              <a:lnSpc>
                <a:spcPct val="100000"/>
              </a:lnSpc>
              <a:spcBef>
                <a:spcPts val="0"/>
              </a:spcBef>
              <a:spcAft>
                <a:spcPts val="400"/>
              </a:spcAft>
            </a:pPr>
            <a:r>
              <a:rPr sz="1250" b="0">
                <a:solidFill>
                  <a:srgbClr val="334155"/>
                </a:solidFill>
                <a:latin typeface="Arial"/>
              </a:rPr>
              <a:t>Tables for users, tutors, bookings, reviews</a:t>
            </a:r>
          </a:p>
          <a:p>
            <a:pPr algn="l">
              <a:lnSpc>
                <a:spcPct val="100000"/>
              </a:lnSpc>
              <a:spcBef>
                <a:spcPts val="0"/>
              </a:spcBef>
              <a:spcAft>
                <a:spcPts val="400"/>
              </a:spcAft>
            </a:pPr>
            <a:r>
              <a:rPr sz="1250" b="0">
                <a:solidFill>
                  <a:srgbClr val="334155"/>
                </a:solidFill>
                <a:latin typeface="Arial"/>
              </a:rPr>
              <a:t>Reached over HTTP via @neondatabase/serverless</a:t>
            </a:r>
          </a:p>
        </p:txBody>
      </p:sp>
      <p:cxnSp>
        <p:nvCxnSpPr>
          <p:cNvPr id="18" name="Connector 17"/>
          <p:cNvCxnSpPr/>
          <p:nvPr/>
        </p:nvCxnSpPr>
        <p:spPr>
          <a:xfrm>
            <a:off x="3886200" y="2697480"/>
            <a:ext cx="530352" cy="0"/>
          </a:xfrm>
          <a:prstGeom prst="line">
            <a:avLst/>
          </a:prstGeom>
          <a:ln w="25400">
            <a:solidFill>
              <a:srgbClr val="1E3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886200" y="3200400"/>
            <a:ext cx="530352"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772400" y="2697480"/>
            <a:ext cx="530352"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772400" y="3200400"/>
            <a:ext cx="530352" cy="0"/>
          </a:xfrm>
          <a:prstGeom prst="line">
            <a:avLst/>
          </a:prstGeom>
          <a:ln w="25400">
            <a:solidFill>
              <a:srgbClr val="0D948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3840480"/>
            <a:ext cx="11064240" cy="320040"/>
          </a:xfrm>
          <a:prstGeom prst="rect">
            <a:avLst/>
          </a:prstGeom>
          <a:noFill/>
        </p:spPr>
        <p:txBody>
          <a:bodyPr wrap="square" anchor="t" lIns="45720" rIns="45720"/>
          <a:lstStyle/>
          <a:p>
            <a:pPr algn="l">
              <a:lnSpc>
                <a:spcPct val="100000"/>
              </a:lnSpc>
              <a:spcBef>
                <a:spcPts val="0"/>
              </a:spcBef>
              <a:spcAft>
                <a:spcPts val="0"/>
              </a:spcAft>
            </a:pPr>
            <a:r>
              <a:rPr sz="1100" b="0">
                <a:solidFill>
                  <a:srgbClr val="64748B"/>
                </a:solidFill>
                <a:latin typeface="Arial"/>
              </a:rPr>
              <a:t>Arrows: browser to API = HTTPS request with Bearer token;  API to database = SQL query via the Neon driver.  Responses flow back the other way.</a:t>
            </a:r>
          </a:p>
        </p:txBody>
      </p:sp>
      <p:sp>
        <p:nvSpPr>
          <p:cNvPr id="23" name="TextBox 22"/>
          <p:cNvSpPr txBox="1"/>
          <p:nvPr/>
        </p:nvSpPr>
        <p:spPr>
          <a:xfrm>
            <a:off x="548640" y="4206240"/>
            <a:ext cx="11064240" cy="329184"/>
          </a:xfrm>
          <a:prstGeom prst="rect">
            <a:avLst/>
          </a:prstGeom>
          <a:noFill/>
        </p:spPr>
        <p:txBody>
          <a:bodyPr wrap="square" anchor="t" lIns="45720" rIns="45720"/>
          <a:lstStyle/>
          <a:p>
            <a:pPr algn="l">
              <a:lnSpc>
                <a:spcPct val="100000"/>
              </a:lnSpc>
              <a:spcBef>
                <a:spcPts val="0"/>
              </a:spcBef>
              <a:spcAft>
                <a:spcPts val="0"/>
              </a:spcAft>
            </a:pPr>
            <a:r>
              <a:rPr sz="1400" b="1">
                <a:solidFill>
                  <a:srgbClr val="2563EB"/>
                </a:solidFill>
                <a:latin typeface="Arial"/>
              </a:rPr>
              <a:t>One user action, step by step</a:t>
            </a:r>
          </a:p>
        </p:txBody>
      </p:sp>
      <p:sp>
        <p:nvSpPr>
          <p:cNvPr id="24" name="Rounded Rectangle 23"/>
          <p:cNvSpPr/>
          <p:nvPr/>
        </p:nvSpPr>
        <p:spPr>
          <a:xfrm>
            <a:off x="548640" y="4572000"/>
            <a:ext cx="1965960" cy="777240"/>
          </a:xfrm>
          <a:prstGeom prst="roundRect">
            <a:avLst>
              <a:gd name="adj" fmla="val 12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E3A8A"/>
                </a:solidFill>
                <a:latin typeface="Arial"/>
              </a:rPr>
              <a:t>1. User clicks 'Send request'</a:t>
            </a:r>
          </a:p>
        </p:txBody>
      </p:sp>
      <p:cxnSp>
        <p:nvCxnSpPr>
          <p:cNvPr id="25" name="Connector 24"/>
          <p:cNvCxnSpPr/>
          <p:nvPr/>
        </p:nvCxnSpPr>
        <p:spPr>
          <a:xfrm>
            <a:off x="2523744" y="4956048"/>
            <a:ext cx="274320" cy="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807208" y="4572000"/>
            <a:ext cx="1965960" cy="777240"/>
          </a:xfrm>
          <a:prstGeom prst="roundRect">
            <a:avLst>
              <a:gd name="adj" fmla="val 12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E3A8A"/>
                </a:solidFill>
                <a:latin typeface="Arial"/>
              </a:rPr>
              <a:t>2. Browser sends JSON + token</a:t>
            </a:r>
          </a:p>
        </p:txBody>
      </p:sp>
      <p:cxnSp>
        <p:nvCxnSpPr>
          <p:cNvPr id="27" name="Connector 26"/>
          <p:cNvCxnSpPr/>
          <p:nvPr/>
        </p:nvCxnSpPr>
        <p:spPr>
          <a:xfrm>
            <a:off x="4782312" y="4956048"/>
            <a:ext cx="274320" cy="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65776" y="4572000"/>
            <a:ext cx="1965960" cy="777240"/>
          </a:xfrm>
          <a:prstGeom prst="roundRect">
            <a:avLst>
              <a:gd name="adj" fmla="val 12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E3A8A"/>
                </a:solidFill>
                <a:latin typeface="Arial"/>
              </a:rPr>
              <a:t>3. API verifies token and role</a:t>
            </a:r>
          </a:p>
        </p:txBody>
      </p:sp>
      <p:cxnSp>
        <p:nvCxnSpPr>
          <p:cNvPr id="29" name="Connector 28"/>
          <p:cNvCxnSpPr/>
          <p:nvPr/>
        </p:nvCxnSpPr>
        <p:spPr>
          <a:xfrm>
            <a:off x="7040880" y="4956048"/>
            <a:ext cx="274320" cy="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324344" y="4572000"/>
            <a:ext cx="1965960" cy="777240"/>
          </a:xfrm>
          <a:prstGeom prst="roundRect">
            <a:avLst>
              <a:gd name="adj" fmla="val 12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E3A8A"/>
                </a:solidFill>
                <a:latin typeface="Arial"/>
              </a:rPr>
              <a:t>4. SQL writes the booking row</a:t>
            </a:r>
          </a:p>
        </p:txBody>
      </p:sp>
      <p:cxnSp>
        <p:nvCxnSpPr>
          <p:cNvPr id="31" name="Connector 30"/>
          <p:cNvCxnSpPr/>
          <p:nvPr/>
        </p:nvCxnSpPr>
        <p:spPr>
          <a:xfrm>
            <a:off x="9299448" y="4956048"/>
            <a:ext cx="274319" cy="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82912" y="4572000"/>
            <a:ext cx="1965960" cy="777240"/>
          </a:xfrm>
          <a:prstGeom prst="roundRect">
            <a:avLst>
              <a:gd name="adj" fmla="val 12000"/>
            </a:avLst>
          </a:prstGeom>
          <a:solidFill>
            <a:srgbClr val="EFF6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E3A8A"/>
                </a:solidFill>
                <a:latin typeface="Arial"/>
              </a:rPr>
              <a:t>5. JSON reply; screen updates</a:t>
            </a:r>
          </a:p>
        </p:txBody>
      </p:sp>
      <p:sp>
        <p:nvSpPr>
          <p:cNvPr id="33" name="Rounded Rectangle 32"/>
          <p:cNvSpPr/>
          <p:nvPr/>
        </p:nvSpPr>
        <p:spPr>
          <a:xfrm>
            <a:off x="548640" y="5486400"/>
            <a:ext cx="11091672" cy="777240"/>
          </a:xfrm>
          <a:prstGeom prst="roundRect">
            <a:avLst>
              <a:gd name="adj" fmla="val 10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77840"/>
            <a:ext cx="10698480" cy="685800"/>
          </a:xfrm>
          <a:prstGeom prst="rect">
            <a:avLst/>
          </a:prstGeom>
          <a:noFill/>
        </p:spPr>
        <p:txBody>
          <a:bodyPr wrap="square" anchor="ctr" lIns="45720" rIns="45720"/>
          <a:lstStyle/>
          <a:p>
            <a:pPr algn="l">
              <a:lnSpc>
                <a:spcPct val="100000"/>
              </a:lnSpc>
              <a:spcBef>
                <a:spcPts val="0"/>
              </a:spcBef>
              <a:spcAft>
                <a:spcPts val="0"/>
              </a:spcAft>
            </a:pPr>
            <a:r>
              <a:rPr sz="1200" b="0">
                <a:solidFill>
                  <a:srgbClr val="334155"/>
                </a:solidFill>
                <a:latin typeface="Arial"/>
              </a:rPr>
              <a:t>Without DATABASE_URL (demo mode): login and chat use an in-memory store that resets on restart; tutor and booking pages show empty states instead of invented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4  —  BACKEND DEVELOPMENT</a:t>
            </a:r>
          </a:p>
        </p:txBody>
      </p:sp>
      <p:sp>
        <p:nvSpPr>
          <p:cNvPr id="4" name="Rounded Rectangle 3"/>
          <p:cNvSpPr/>
          <p:nvPr/>
        </p:nvSpPr>
        <p:spPr>
          <a:xfrm>
            <a:off x="6309360" y="274320"/>
            <a:ext cx="5330952" cy="41148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4  ·  Bodman Ebuka Precous</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Handover to the database and deployment section</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18 / 23</a:t>
            </a:r>
          </a:p>
        </p:txBody>
      </p:sp>
      <p:sp>
        <p:nvSpPr>
          <p:cNvPr id="9" name="Rounded Rectangle 8"/>
          <p:cNvSpPr/>
          <p:nvPr/>
        </p:nvSpPr>
        <p:spPr>
          <a:xfrm>
            <a:off x="548640" y="1645920"/>
            <a:ext cx="5394960" cy="4434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84632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THIS SECTION SO FAR</a:t>
            </a:r>
          </a:p>
        </p:txBody>
      </p:sp>
      <p:sp>
        <p:nvSpPr>
          <p:cNvPr id="11" name="TextBox 10"/>
          <p:cNvSpPr txBox="1"/>
          <p:nvPr/>
        </p:nvSpPr>
        <p:spPr>
          <a:xfrm>
            <a:off x="822960" y="2286000"/>
            <a:ext cx="4846320" cy="3657600"/>
          </a:xfrm>
          <a:prstGeom prst="rect">
            <a:avLst/>
          </a:prstGeom>
          <a:noFill/>
        </p:spPr>
        <p:txBody>
          <a:bodyPr wrap="square" anchor="t" lIns="45720" rIns="45720"/>
          <a:lstStyle/>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Explained the backend and what the API routes do</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Covered authentication: password hashing and JWT tokens</a:t>
            </a:r>
          </a:p>
          <a:p>
            <a:pPr algn="l">
              <a:lnSpc>
                <a:spcPct val="100000"/>
              </a:lnSpc>
              <a:spcBef>
                <a:spcPts val="0"/>
              </a:spcBef>
              <a:spcAft>
                <a:spcPts val="1000"/>
              </a:spcAft>
            </a:pPr>
            <a:r>
              <a:rPr sz="1600" b="0">
                <a:solidFill>
                  <a:srgbClr val="334155"/>
                </a:solidFill>
                <a:latin typeface="Arial"/>
              </a:rPr>
              <a:t>•  </a:t>
            </a:r>
            <a:r>
              <a:rPr sz="1600" b="0">
                <a:solidFill>
                  <a:srgbClr val="334155"/>
                </a:solidFill>
                <a:latin typeface="Arial"/>
              </a:rPr>
              <a:t>Showed how the frontend, backend, and database communicate</a:t>
            </a:r>
          </a:p>
        </p:txBody>
      </p:sp>
      <p:sp>
        <p:nvSpPr>
          <p:cNvPr id="12" name="Rounded Rectangle 11"/>
          <p:cNvSpPr/>
          <p:nvPr/>
        </p:nvSpPr>
        <p:spPr>
          <a:xfrm>
            <a:off x="6309360" y="1645920"/>
            <a:ext cx="5330952" cy="4434840"/>
          </a:xfrm>
          <a:prstGeom prst="roundRect">
            <a:avLst>
              <a:gd name="adj" fmla="val 4000"/>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1874519"/>
            <a:ext cx="4754880" cy="41148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NEXT: PRESENTER 5</a:t>
            </a:r>
          </a:p>
        </p:txBody>
      </p:sp>
      <p:sp>
        <p:nvSpPr>
          <p:cNvPr id="14" name="TextBox 13"/>
          <p:cNvSpPr txBox="1"/>
          <p:nvPr/>
        </p:nvSpPr>
        <p:spPr>
          <a:xfrm>
            <a:off x="6583680" y="2468880"/>
            <a:ext cx="4846320" cy="868680"/>
          </a:xfrm>
          <a:prstGeom prst="rect">
            <a:avLst/>
          </a:prstGeom>
          <a:noFill/>
        </p:spPr>
        <p:txBody>
          <a:bodyPr wrap="square" anchor="t" lIns="45720" rIns="45720"/>
          <a:lstStyle/>
          <a:p>
            <a:pPr algn="l">
              <a:lnSpc>
                <a:spcPct val="100000"/>
              </a:lnSpc>
              <a:spcBef>
                <a:spcPts val="0"/>
              </a:spcBef>
              <a:spcAft>
                <a:spcPts val="0"/>
              </a:spcAft>
            </a:pPr>
            <a:r>
              <a:rPr sz="2200" b="1">
                <a:solidFill>
                  <a:srgbClr val="1E3A8A"/>
                </a:solidFill>
                <a:latin typeface="Arial"/>
              </a:rPr>
              <a:t>Pius Kaosisochukwu Aminie</a:t>
            </a:r>
          </a:p>
        </p:txBody>
      </p:sp>
      <p:sp>
        <p:nvSpPr>
          <p:cNvPr id="15" name="TextBox 14"/>
          <p:cNvSpPr txBox="1"/>
          <p:nvPr/>
        </p:nvSpPr>
        <p:spPr>
          <a:xfrm>
            <a:off x="6583680" y="3383280"/>
            <a:ext cx="484632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0D9488"/>
                </a:solidFill>
                <a:latin typeface="Arial"/>
              </a:rPr>
              <a:t>Database, Architecture and Deployment</a:t>
            </a:r>
          </a:p>
        </p:txBody>
      </p:sp>
      <p:sp>
        <p:nvSpPr>
          <p:cNvPr id="16" name="TextBox 15"/>
          <p:cNvSpPr txBox="1"/>
          <p:nvPr/>
        </p:nvSpPr>
        <p:spPr>
          <a:xfrm>
            <a:off x="6583680" y="3840480"/>
            <a:ext cx="4846320" cy="2194560"/>
          </a:xfrm>
          <a:prstGeom prst="rect">
            <a:avLst/>
          </a:prstGeom>
          <a:noFill/>
        </p:spPr>
        <p:txBody>
          <a:bodyPr wrap="square" anchor="t" lIns="45720" rIns="45720"/>
          <a:lstStyle/>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Why the application needs a database</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The main tables and how they relate</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How the system is deployed on Vercel with Neon</a:t>
            </a:r>
          </a:p>
          <a:p>
            <a:pPr algn="l">
              <a:lnSpc>
                <a:spcPct val="100000"/>
              </a:lnSpc>
              <a:spcBef>
                <a:spcPts val="0"/>
              </a:spcBef>
              <a:spcAft>
                <a:spcPts val="800"/>
              </a:spcAft>
            </a:pPr>
            <a:r>
              <a:rPr sz="1500" b="0">
                <a:solidFill>
                  <a:srgbClr val="334155"/>
                </a:solidFill>
                <a:latin typeface="Arial"/>
              </a:rPr>
              <a:t>•  </a:t>
            </a:r>
            <a:r>
              <a:rPr sz="1500" b="0">
                <a:solidFill>
                  <a:srgbClr val="334155"/>
                </a:solidFill>
                <a:latin typeface="Arial"/>
              </a:rPr>
              <a:t>Limitations, future improvements, and a proposed revenue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852160" cy="457200"/>
          </a:xfrm>
          <a:prstGeom prst="rect">
            <a:avLst/>
          </a:prstGeom>
          <a:noFill/>
        </p:spPr>
        <p:txBody>
          <a:bodyPr wrap="square" anchor="t" lIns="45720" rIns="45720"/>
          <a:lstStyle/>
          <a:p>
            <a:pPr algn="l">
              <a:lnSpc>
                <a:spcPct val="100000"/>
              </a:lnSpc>
              <a:spcBef>
                <a:spcPts val="0"/>
              </a:spcBef>
              <a:spcAft>
                <a:spcPts val="0"/>
              </a:spcAft>
            </a:pPr>
            <a:r>
              <a:rPr sz="2200" b="1">
                <a:solidFill>
                  <a:srgbClr val="0D9488"/>
                </a:solidFill>
                <a:latin typeface="Arial"/>
              </a:rPr>
              <a:t>PRESENTER 5</a:t>
            </a:r>
          </a:p>
        </p:txBody>
      </p:sp>
      <p:sp>
        <p:nvSpPr>
          <p:cNvPr id="5" name="TextBox 4"/>
          <p:cNvSpPr txBox="1"/>
          <p:nvPr/>
        </p:nvSpPr>
        <p:spPr>
          <a:xfrm>
            <a:off x="822960" y="1143000"/>
            <a:ext cx="5852160" cy="365760"/>
          </a:xfrm>
          <a:prstGeom prst="rect">
            <a:avLst/>
          </a:prstGeom>
          <a:noFill/>
        </p:spPr>
        <p:txBody>
          <a:bodyPr wrap="square" anchor="t" lIns="45720" rIns="45720"/>
          <a:lstStyle/>
          <a:p>
            <a:pPr algn="l">
              <a:lnSpc>
                <a:spcPct val="100000"/>
              </a:lnSpc>
              <a:spcBef>
                <a:spcPts val="0"/>
              </a:spcBef>
              <a:spcAft>
                <a:spcPts val="0"/>
              </a:spcAft>
            </a:pPr>
            <a:r>
              <a:rPr sz="1300" b="0">
                <a:solidFill>
                  <a:srgbClr val="CBD5E1"/>
                </a:solidFill>
                <a:latin typeface="Arial"/>
              </a:rPr>
              <a:t>Speaking order 5 of 5</a:t>
            </a:r>
          </a:p>
        </p:txBody>
      </p:sp>
      <p:sp>
        <p:nvSpPr>
          <p:cNvPr id="6" name="TextBox 5"/>
          <p:cNvSpPr txBox="1"/>
          <p:nvPr/>
        </p:nvSpPr>
        <p:spPr>
          <a:xfrm>
            <a:off x="822960" y="1828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PRESENTER:</a:t>
            </a:r>
          </a:p>
        </p:txBody>
      </p:sp>
      <p:sp>
        <p:nvSpPr>
          <p:cNvPr id="7" name="TextBox 6"/>
          <p:cNvSpPr txBox="1"/>
          <p:nvPr/>
        </p:nvSpPr>
        <p:spPr>
          <a:xfrm>
            <a:off x="822960" y="2148840"/>
            <a:ext cx="6035040" cy="1051560"/>
          </a:xfrm>
          <a:prstGeom prst="rect">
            <a:avLst/>
          </a:prstGeom>
          <a:noFill/>
        </p:spPr>
        <p:txBody>
          <a:bodyPr wrap="square" anchor="t" lIns="45720" rIns="45720"/>
          <a:lstStyle/>
          <a:p>
            <a:pPr algn="l">
              <a:lnSpc>
                <a:spcPct val="100000"/>
              </a:lnSpc>
              <a:spcBef>
                <a:spcPts val="0"/>
              </a:spcBef>
              <a:spcAft>
                <a:spcPts val="0"/>
              </a:spcAft>
            </a:pPr>
            <a:r>
              <a:rPr sz="2800" b="1">
                <a:solidFill>
                  <a:srgbClr val="FFFFFF"/>
                </a:solidFill>
                <a:latin typeface="Arial"/>
              </a:rPr>
              <a:t>Pius Kaosisochukwu Aminie</a:t>
            </a:r>
          </a:p>
        </p:txBody>
      </p:sp>
      <p:sp>
        <p:nvSpPr>
          <p:cNvPr id="8" name="TextBox 7"/>
          <p:cNvSpPr txBox="1"/>
          <p:nvPr/>
        </p:nvSpPr>
        <p:spPr>
          <a:xfrm>
            <a:off x="822960" y="324612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ROLE:</a:t>
            </a:r>
          </a:p>
        </p:txBody>
      </p:sp>
      <p:sp>
        <p:nvSpPr>
          <p:cNvPr id="9" name="TextBox 8"/>
          <p:cNvSpPr txBox="1"/>
          <p:nvPr/>
        </p:nvSpPr>
        <p:spPr>
          <a:xfrm>
            <a:off x="822960" y="3566160"/>
            <a:ext cx="6035040" cy="41148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Database, Architecture and Deployment</a:t>
            </a:r>
          </a:p>
        </p:txBody>
      </p:sp>
      <p:sp>
        <p:nvSpPr>
          <p:cNvPr id="10" name="TextBox 9"/>
          <p:cNvSpPr txBox="1"/>
          <p:nvPr/>
        </p:nvSpPr>
        <p:spPr>
          <a:xfrm>
            <a:off x="822960" y="4114800"/>
            <a:ext cx="6035040" cy="320040"/>
          </a:xfrm>
          <a:prstGeom prst="rect">
            <a:avLst/>
          </a:prstGeom>
          <a:noFill/>
        </p:spPr>
        <p:txBody>
          <a:bodyPr wrap="square" anchor="t" lIns="45720" rIns="45720"/>
          <a:lstStyle/>
          <a:p>
            <a:pPr algn="l">
              <a:lnSpc>
                <a:spcPct val="100000"/>
              </a:lnSpc>
              <a:spcBef>
                <a:spcPts val="0"/>
              </a:spcBef>
              <a:spcAft>
                <a:spcPts val="0"/>
              </a:spcAft>
            </a:pPr>
            <a:r>
              <a:rPr sz="1200" b="1">
                <a:solidFill>
                  <a:srgbClr val="93C5FD"/>
                </a:solidFill>
                <a:latin typeface="Arial"/>
              </a:rPr>
              <a:t>TOPIC:</a:t>
            </a:r>
          </a:p>
        </p:txBody>
      </p:sp>
      <p:sp>
        <p:nvSpPr>
          <p:cNvPr id="11" name="TextBox 10"/>
          <p:cNvSpPr txBox="1"/>
          <p:nvPr/>
        </p:nvSpPr>
        <p:spPr>
          <a:xfrm>
            <a:off x="822960" y="4434840"/>
            <a:ext cx="6035040" cy="822960"/>
          </a:xfrm>
          <a:prstGeom prst="rect">
            <a:avLst/>
          </a:prstGeom>
          <a:noFill/>
        </p:spPr>
        <p:txBody>
          <a:bodyPr wrap="square" anchor="t" lIns="45720" rIns="45720"/>
          <a:lstStyle/>
          <a:p>
            <a:pPr algn="l">
              <a:lnSpc>
                <a:spcPct val="100000"/>
              </a:lnSpc>
              <a:spcBef>
                <a:spcPts val="0"/>
              </a:spcBef>
              <a:spcAft>
                <a:spcPts val="0"/>
              </a:spcAft>
            </a:pPr>
            <a:r>
              <a:rPr sz="1800" b="0">
                <a:solidFill>
                  <a:srgbClr val="FFFFFF"/>
                </a:solidFill>
                <a:latin typeface="Arial"/>
              </a:rPr>
              <a:t>Database, System Architecture, and Deployment</a:t>
            </a:r>
          </a:p>
        </p:txBody>
      </p:sp>
      <p:sp>
        <p:nvSpPr>
          <p:cNvPr id="12" name="Rounded Rectangle 11"/>
          <p:cNvSpPr/>
          <p:nvPr/>
        </p:nvSpPr>
        <p:spPr>
          <a:xfrm>
            <a:off x="7406640" y="1097280"/>
            <a:ext cx="4206240" cy="4937760"/>
          </a:xfrm>
          <a:prstGeom prst="roundRect">
            <a:avLst>
              <a:gd name="adj" fmla="val 5000"/>
            </a:avLst>
          </a:prstGeom>
          <a:solidFill>
            <a:srgbClr val="17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65760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93C5FD"/>
                </a:solidFill>
                <a:latin typeface="Arial"/>
              </a:rPr>
              <a:t>WHAT THIS SECTION COVERS:</a:t>
            </a:r>
          </a:p>
        </p:txBody>
      </p:sp>
      <p:sp>
        <p:nvSpPr>
          <p:cNvPr id="14" name="TextBox 13"/>
          <p:cNvSpPr txBox="1"/>
          <p:nvPr/>
        </p:nvSpPr>
        <p:spPr>
          <a:xfrm>
            <a:off x="7726679" y="1874519"/>
            <a:ext cx="3657600" cy="3931920"/>
          </a:xfrm>
          <a:prstGeom prst="rect">
            <a:avLst/>
          </a:prstGeom>
          <a:noFill/>
        </p:spPr>
        <p:txBody>
          <a:bodyPr wrap="square" anchor="t" lIns="45720" rIns="45720"/>
          <a:lstStyle/>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Why the application needs a database</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Neon Serverless PostgreSQL and its tables</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How the data is connected</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System architecture and deployment on Vercel</a:t>
            </a:r>
          </a:p>
          <a:p>
            <a:pPr algn="l">
              <a:lnSpc>
                <a:spcPct val="100000"/>
              </a:lnSpc>
              <a:spcBef>
                <a:spcPts val="0"/>
              </a:spcBef>
              <a:spcAft>
                <a:spcPts val="1200"/>
              </a:spcAft>
            </a:pPr>
            <a:r>
              <a:rPr sz="1600" b="0">
                <a:solidFill>
                  <a:srgbClr val="FFFFFF"/>
                </a:solidFill>
                <a:latin typeface="Arial"/>
              </a:rPr>
              <a:t>•  </a:t>
            </a:r>
            <a:r>
              <a:rPr sz="1600" b="0">
                <a:solidFill>
                  <a:srgbClr val="FFFFFF"/>
                </a:solidFill>
                <a:latin typeface="Arial"/>
              </a:rPr>
              <a:t>Limitations, future work and a proposed revenue model</a:t>
            </a:r>
          </a:p>
        </p:txBody>
      </p:sp>
      <p:sp>
        <p:nvSpPr>
          <p:cNvPr id="15" name="TextBox 14"/>
          <p:cNvSpPr txBox="1"/>
          <p:nvPr/>
        </p:nvSpPr>
        <p:spPr>
          <a:xfrm>
            <a:off x="822960" y="6126480"/>
            <a:ext cx="8229600" cy="320040"/>
          </a:xfrm>
          <a:prstGeom prst="rect">
            <a:avLst/>
          </a:prstGeom>
          <a:noFill/>
        </p:spPr>
        <p:txBody>
          <a:bodyPr wrap="square" anchor="t" lIns="45720" rIns="45720"/>
          <a:lstStyle/>
          <a:p>
            <a:pPr algn="l">
              <a:lnSpc>
                <a:spcPct val="100000"/>
              </a:lnSpc>
              <a:spcBef>
                <a:spcPts val="0"/>
              </a:spcBef>
              <a:spcAft>
                <a:spcPts val="0"/>
              </a:spcAft>
            </a:pPr>
            <a:r>
              <a:rPr sz="1000" b="0">
                <a:solidFill>
                  <a:srgbClr val="93C5FD"/>
                </a:solidFill>
                <a:latin typeface="Arial"/>
              </a:rPr>
              <a:t>TutorConnect Nigeria  |  Edumentry AI Hackathon 1.0</a:t>
            </a:r>
          </a:p>
        </p:txBody>
      </p:sp>
      <p:sp>
        <p:nvSpPr>
          <p:cNvPr id="16" name="TextBox 15"/>
          <p:cNvSpPr txBox="1"/>
          <p:nvPr/>
        </p:nvSpPr>
        <p:spPr>
          <a:xfrm>
            <a:off x="9784080" y="6126480"/>
            <a:ext cx="1856231" cy="320040"/>
          </a:xfrm>
          <a:prstGeom prst="rect">
            <a:avLst/>
          </a:prstGeom>
          <a:noFill/>
        </p:spPr>
        <p:txBody>
          <a:bodyPr wrap="square" anchor="t" lIns="45720" rIns="45720"/>
          <a:lstStyle/>
          <a:p>
            <a:pPr algn="r">
              <a:lnSpc>
                <a:spcPct val="100000"/>
              </a:lnSpc>
              <a:spcBef>
                <a:spcPts val="0"/>
              </a:spcBef>
              <a:spcAft>
                <a:spcPts val="0"/>
              </a:spcAft>
            </a:pPr>
            <a:r>
              <a:rPr sz="1000" b="0">
                <a:solidFill>
                  <a:srgbClr val="93C5FD"/>
                </a:solidFill>
                <a:latin typeface="Arial"/>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5  —  DATABASE AND DEPLOYMENT</a:t>
            </a:r>
          </a:p>
        </p:txBody>
      </p:sp>
      <p:sp>
        <p:nvSpPr>
          <p:cNvPr id="4" name="Rounded Rectangle 3"/>
          <p:cNvSpPr/>
          <p:nvPr/>
        </p:nvSpPr>
        <p:spPr>
          <a:xfrm>
            <a:off x="6309360" y="274320"/>
            <a:ext cx="5330952" cy="41148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5  ·  Pius Kaosisochukwu Aminie</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Database design and relationships</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20 / 23</a:t>
            </a:r>
          </a:p>
        </p:txBody>
      </p:sp>
      <p:sp>
        <p:nvSpPr>
          <p:cNvPr id="9" name="Rectangle 8"/>
          <p:cNvSpPr/>
          <p:nvPr/>
        </p:nvSpPr>
        <p:spPr>
          <a:xfrm>
            <a:off x="548640" y="1600200"/>
            <a:ext cx="2514600" cy="2057400"/>
          </a:xfrm>
          <a:prstGeom prst="rect">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00200"/>
            <a:ext cx="2514600" cy="329184"/>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users</a:t>
            </a:r>
          </a:p>
        </p:txBody>
      </p:sp>
      <p:sp>
        <p:nvSpPr>
          <p:cNvPr id="11" name="TextBox 10"/>
          <p:cNvSpPr txBox="1"/>
          <p:nvPr/>
        </p:nvSpPr>
        <p:spPr>
          <a:xfrm>
            <a:off x="603503" y="1965960"/>
            <a:ext cx="2404872" cy="165506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id (PK)</a:t>
            </a:r>
          </a:p>
          <a:p>
            <a:pPr algn="l">
              <a:lnSpc>
                <a:spcPct val="100000"/>
              </a:lnSpc>
              <a:spcBef>
                <a:spcPts val="0"/>
              </a:spcBef>
              <a:spcAft>
                <a:spcPts val="0"/>
              </a:spcAft>
            </a:pPr>
            <a:r>
              <a:rPr sz="1000" b="0">
                <a:solidFill>
                  <a:srgbClr val="334155"/>
                </a:solidFill>
                <a:latin typeface="Arial"/>
              </a:rPr>
              <a:t>email (unique)</a:t>
            </a:r>
          </a:p>
          <a:p>
            <a:pPr algn="l">
              <a:lnSpc>
                <a:spcPct val="100000"/>
              </a:lnSpc>
              <a:spcBef>
                <a:spcPts val="0"/>
              </a:spcBef>
              <a:spcAft>
                <a:spcPts val="0"/>
              </a:spcAft>
            </a:pPr>
            <a:r>
              <a:rPr sz="1000" b="0">
                <a:solidFill>
                  <a:srgbClr val="334155"/>
                </a:solidFill>
                <a:latin typeface="Arial"/>
              </a:rPr>
              <a:t>password_hash</a:t>
            </a:r>
          </a:p>
          <a:p>
            <a:pPr algn="l">
              <a:lnSpc>
                <a:spcPct val="100000"/>
              </a:lnSpc>
              <a:spcBef>
                <a:spcPts val="0"/>
              </a:spcBef>
              <a:spcAft>
                <a:spcPts val="0"/>
              </a:spcAft>
            </a:pPr>
            <a:r>
              <a:rPr sz="1000" b="0">
                <a:solidFill>
                  <a:srgbClr val="334155"/>
                </a:solidFill>
                <a:latin typeface="Arial"/>
              </a:rPr>
              <a:t>full_name</a:t>
            </a:r>
          </a:p>
          <a:p>
            <a:pPr algn="l">
              <a:lnSpc>
                <a:spcPct val="100000"/>
              </a:lnSpc>
              <a:spcBef>
                <a:spcPts val="0"/>
              </a:spcBef>
              <a:spcAft>
                <a:spcPts val="0"/>
              </a:spcAft>
            </a:pPr>
            <a:r>
              <a:rPr sz="1000" b="0">
                <a:solidFill>
                  <a:srgbClr val="334155"/>
                </a:solidFill>
                <a:latin typeface="Arial"/>
              </a:rPr>
              <a:t>role: student / parent / tutor / admin</a:t>
            </a:r>
          </a:p>
          <a:p>
            <a:pPr algn="l">
              <a:lnSpc>
                <a:spcPct val="100000"/>
              </a:lnSpc>
              <a:spcBef>
                <a:spcPts val="0"/>
              </a:spcBef>
              <a:spcAft>
                <a:spcPts val="0"/>
              </a:spcAft>
            </a:pPr>
            <a:r>
              <a:rPr sz="1000" b="0">
                <a:solidFill>
                  <a:srgbClr val="334155"/>
                </a:solidFill>
                <a:latin typeface="Arial"/>
              </a:rPr>
              <a:t>account_status</a:t>
            </a:r>
          </a:p>
        </p:txBody>
      </p:sp>
      <p:sp>
        <p:nvSpPr>
          <p:cNvPr id="12" name="Rectangle 11"/>
          <p:cNvSpPr/>
          <p:nvPr/>
        </p:nvSpPr>
        <p:spPr>
          <a:xfrm>
            <a:off x="548640" y="4343400"/>
            <a:ext cx="2514600" cy="1371600"/>
          </a:xfrm>
          <a:prstGeom prst="rect">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343400"/>
            <a:ext cx="251460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parent_profiles</a:t>
            </a:r>
          </a:p>
        </p:txBody>
      </p:sp>
      <p:sp>
        <p:nvSpPr>
          <p:cNvPr id="14" name="TextBox 13"/>
          <p:cNvSpPr txBox="1"/>
          <p:nvPr/>
        </p:nvSpPr>
        <p:spPr>
          <a:xfrm>
            <a:off x="603503" y="4709160"/>
            <a:ext cx="2404872" cy="96926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user_id (unique, FK users)</a:t>
            </a:r>
          </a:p>
          <a:p>
            <a:pPr algn="l">
              <a:lnSpc>
                <a:spcPct val="100000"/>
              </a:lnSpc>
              <a:spcBef>
                <a:spcPts val="0"/>
              </a:spcBef>
              <a:spcAft>
                <a:spcPts val="0"/>
              </a:spcAft>
            </a:pPr>
            <a:r>
              <a:rPr sz="1000" b="0">
                <a:solidFill>
                  <a:srgbClr val="334155"/>
                </a:solidFill>
                <a:latin typeface="Arial"/>
              </a:rPr>
              <a:t>child_name, child_age</a:t>
            </a:r>
          </a:p>
          <a:p>
            <a:pPr algn="l">
              <a:lnSpc>
                <a:spcPct val="100000"/>
              </a:lnSpc>
              <a:spcBef>
                <a:spcPts val="0"/>
              </a:spcBef>
              <a:spcAft>
                <a:spcPts val="0"/>
              </a:spcAft>
            </a:pPr>
            <a:r>
              <a:rPr sz="1000" b="0">
                <a:solidFill>
                  <a:srgbClr val="334155"/>
                </a:solidFill>
                <a:latin typeface="Arial"/>
              </a:rPr>
              <a:t>tutor_budget, learning_mode</a:t>
            </a:r>
          </a:p>
        </p:txBody>
      </p:sp>
      <p:sp>
        <p:nvSpPr>
          <p:cNvPr id="15" name="Rectangle 14"/>
          <p:cNvSpPr/>
          <p:nvPr/>
        </p:nvSpPr>
        <p:spPr>
          <a:xfrm>
            <a:off x="3840480" y="1600200"/>
            <a:ext cx="2606040" cy="2240280"/>
          </a:xfrm>
          <a:prstGeom prst="rect">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0" y="1600200"/>
            <a:ext cx="2606040" cy="32918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tutor_profiles</a:t>
            </a:r>
          </a:p>
        </p:txBody>
      </p:sp>
      <p:sp>
        <p:nvSpPr>
          <p:cNvPr id="17" name="TextBox 16"/>
          <p:cNvSpPr txBox="1"/>
          <p:nvPr/>
        </p:nvSpPr>
        <p:spPr>
          <a:xfrm>
            <a:off x="3895344" y="1965960"/>
            <a:ext cx="2496312" cy="183794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id (PK)</a:t>
            </a:r>
          </a:p>
          <a:p>
            <a:pPr algn="l">
              <a:lnSpc>
                <a:spcPct val="100000"/>
              </a:lnSpc>
              <a:spcBef>
                <a:spcPts val="0"/>
              </a:spcBef>
              <a:spcAft>
                <a:spcPts val="0"/>
              </a:spcAft>
            </a:pPr>
            <a:r>
              <a:rPr sz="1000" b="0">
                <a:solidFill>
                  <a:srgbClr val="334155"/>
                </a:solidFill>
                <a:latin typeface="Arial"/>
              </a:rPr>
              <a:t>user_id (unique, FK users)</a:t>
            </a:r>
          </a:p>
          <a:p>
            <a:pPr algn="l">
              <a:lnSpc>
                <a:spcPct val="100000"/>
              </a:lnSpc>
              <a:spcBef>
                <a:spcPts val="0"/>
              </a:spcBef>
              <a:spcAft>
                <a:spcPts val="0"/>
              </a:spcAft>
            </a:pPr>
            <a:r>
              <a:rPr sz="1000" b="0">
                <a:solidFill>
                  <a:srgbClr val="334155"/>
                </a:solidFill>
                <a:latin typeface="Arial"/>
              </a:rPr>
              <a:t>headline, bio</a:t>
            </a:r>
          </a:p>
          <a:p>
            <a:pPr algn="l">
              <a:lnSpc>
                <a:spcPct val="100000"/>
              </a:lnSpc>
              <a:spcBef>
                <a:spcPts val="0"/>
              </a:spcBef>
              <a:spcAft>
                <a:spcPts val="0"/>
              </a:spcAft>
            </a:pPr>
            <a:r>
              <a:rPr sz="1000" b="0">
                <a:solidFill>
                  <a:srgbClr val="334155"/>
                </a:solidFill>
                <a:latin typeface="Arial"/>
              </a:rPr>
              <a:t>hourly_rate, currency</a:t>
            </a:r>
          </a:p>
          <a:p>
            <a:pPr algn="l">
              <a:lnSpc>
                <a:spcPct val="100000"/>
              </a:lnSpc>
              <a:spcBef>
                <a:spcPts val="0"/>
              </a:spcBef>
              <a:spcAft>
                <a:spcPts val="0"/>
              </a:spcAft>
            </a:pPr>
            <a:r>
              <a:rPr sz="1000" b="0">
                <a:solidFill>
                  <a:srgbClr val="334155"/>
                </a:solidFill>
                <a:latin typeface="Arial"/>
              </a:rPr>
              <a:t>years_experience, curriculum</a:t>
            </a:r>
          </a:p>
          <a:p>
            <a:pPr algn="l">
              <a:lnSpc>
                <a:spcPct val="100000"/>
              </a:lnSpc>
              <a:spcBef>
                <a:spcPts val="0"/>
              </a:spcBef>
              <a:spcAft>
                <a:spcPts val="0"/>
              </a:spcAft>
            </a:pPr>
            <a:r>
              <a:rPr sz="1000" b="0">
                <a:solidFill>
                  <a:srgbClr val="334155"/>
                </a:solidFill>
                <a:latin typeface="Arial"/>
              </a:rPr>
              <a:t>rating_avg, total_reviews, is_verified</a:t>
            </a:r>
          </a:p>
        </p:txBody>
      </p:sp>
      <p:sp>
        <p:nvSpPr>
          <p:cNvPr id="18" name="Rectangle 17"/>
          <p:cNvSpPr/>
          <p:nvPr/>
        </p:nvSpPr>
        <p:spPr>
          <a:xfrm>
            <a:off x="3840480" y="4343400"/>
            <a:ext cx="2606040" cy="1600200"/>
          </a:xfrm>
          <a:prstGeom prst="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40480" y="4343400"/>
            <a:ext cx="260604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bookings</a:t>
            </a:r>
          </a:p>
        </p:txBody>
      </p:sp>
      <p:sp>
        <p:nvSpPr>
          <p:cNvPr id="20" name="TextBox 19"/>
          <p:cNvSpPr txBox="1"/>
          <p:nvPr/>
        </p:nvSpPr>
        <p:spPr>
          <a:xfrm>
            <a:off x="3895344" y="4709160"/>
            <a:ext cx="2496312" cy="119786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id (PK)</a:t>
            </a:r>
          </a:p>
          <a:p>
            <a:pPr algn="l">
              <a:lnSpc>
                <a:spcPct val="100000"/>
              </a:lnSpc>
              <a:spcBef>
                <a:spcPts val="0"/>
              </a:spcBef>
              <a:spcAft>
                <a:spcPts val="0"/>
              </a:spcAft>
            </a:pPr>
            <a:r>
              <a:rPr sz="1000" b="0">
                <a:solidFill>
                  <a:srgbClr val="334155"/>
                </a:solidFill>
                <a:latin typeface="Arial"/>
              </a:rPr>
              <a:t>student_id (FK users, nullable = guest)</a:t>
            </a:r>
          </a:p>
          <a:p>
            <a:pPr algn="l">
              <a:lnSpc>
                <a:spcPct val="100000"/>
              </a:lnSpc>
              <a:spcBef>
                <a:spcPts val="0"/>
              </a:spcBef>
              <a:spcAft>
                <a:spcPts val="0"/>
              </a:spcAft>
            </a:pPr>
            <a:r>
              <a:rPr sz="1000" b="0">
                <a:solidFill>
                  <a:srgbClr val="334155"/>
                </a:solidFill>
                <a:latin typeface="Arial"/>
              </a:rPr>
              <a:t>tutor_id (FK tutor_profiles)</a:t>
            </a:r>
          </a:p>
          <a:p>
            <a:pPr algn="l">
              <a:lnSpc>
                <a:spcPct val="100000"/>
              </a:lnSpc>
              <a:spcBef>
                <a:spcPts val="0"/>
              </a:spcBef>
              <a:spcAft>
                <a:spcPts val="0"/>
              </a:spcAft>
            </a:pPr>
            <a:r>
              <a:rPr sz="1000" b="0">
                <a:solidFill>
                  <a:srgbClr val="334155"/>
                </a:solidFill>
                <a:latin typeface="Arial"/>
              </a:rPr>
              <a:t>subject_id (FK tutor_subjects)</a:t>
            </a:r>
          </a:p>
          <a:p>
            <a:pPr algn="l">
              <a:lnSpc>
                <a:spcPct val="100000"/>
              </a:lnSpc>
              <a:spcBef>
                <a:spcPts val="0"/>
              </a:spcBef>
              <a:spcAft>
                <a:spcPts val="0"/>
              </a:spcAft>
            </a:pPr>
            <a:r>
              <a:rPr sz="1000" b="0">
                <a:solidFill>
                  <a:srgbClr val="334155"/>
                </a:solidFill>
                <a:latin typeface="Arial"/>
              </a:rPr>
              <a:t>scheduled_date, start/end time, status</a:t>
            </a:r>
          </a:p>
        </p:txBody>
      </p:sp>
      <p:sp>
        <p:nvSpPr>
          <p:cNvPr id="21" name="Rectangle 20"/>
          <p:cNvSpPr/>
          <p:nvPr/>
        </p:nvSpPr>
        <p:spPr>
          <a:xfrm>
            <a:off x="7178040" y="1600200"/>
            <a:ext cx="2194560" cy="1234440"/>
          </a:xfrm>
          <a:prstGeom prst="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78040" y="1600200"/>
            <a:ext cx="219456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tutor_subjects</a:t>
            </a:r>
          </a:p>
        </p:txBody>
      </p:sp>
      <p:sp>
        <p:nvSpPr>
          <p:cNvPr id="23" name="TextBox 22"/>
          <p:cNvSpPr txBox="1"/>
          <p:nvPr/>
        </p:nvSpPr>
        <p:spPr>
          <a:xfrm>
            <a:off x="7232903" y="1965960"/>
            <a:ext cx="2084831" cy="83210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tutor_id (FK)</a:t>
            </a:r>
          </a:p>
          <a:p>
            <a:pPr algn="l">
              <a:lnSpc>
                <a:spcPct val="100000"/>
              </a:lnSpc>
              <a:spcBef>
                <a:spcPts val="0"/>
              </a:spcBef>
              <a:spcAft>
                <a:spcPts val="0"/>
              </a:spcAft>
            </a:pPr>
            <a:r>
              <a:rPr sz="1000" b="0">
                <a:solidFill>
                  <a:srgbClr val="334155"/>
                </a:solidFill>
                <a:latin typeface="Arial"/>
              </a:rPr>
              <a:t>subject_name, level</a:t>
            </a:r>
          </a:p>
        </p:txBody>
      </p:sp>
      <p:sp>
        <p:nvSpPr>
          <p:cNvPr id="24" name="Rectangle 23"/>
          <p:cNvSpPr/>
          <p:nvPr/>
        </p:nvSpPr>
        <p:spPr>
          <a:xfrm>
            <a:off x="7178040" y="3017520"/>
            <a:ext cx="2194560" cy="1188720"/>
          </a:xfrm>
          <a:prstGeom prst="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78040" y="3017520"/>
            <a:ext cx="219456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tutor_availability</a:t>
            </a:r>
          </a:p>
        </p:txBody>
      </p:sp>
      <p:sp>
        <p:nvSpPr>
          <p:cNvPr id="26" name="TextBox 25"/>
          <p:cNvSpPr txBox="1"/>
          <p:nvPr/>
        </p:nvSpPr>
        <p:spPr>
          <a:xfrm>
            <a:off x="7232903" y="3383279"/>
            <a:ext cx="2084831" cy="78638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tutor_id (FK)</a:t>
            </a:r>
          </a:p>
          <a:p>
            <a:pPr algn="l">
              <a:lnSpc>
                <a:spcPct val="100000"/>
              </a:lnSpc>
              <a:spcBef>
                <a:spcPts val="0"/>
              </a:spcBef>
              <a:spcAft>
                <a:spcPts val="0"/>
              </a:spcAft>
            </a:pPr>
            <a:r>
              <a:rPr sz="1000" b="0">
                <a:solidFill>
                  <a:srgbClr val="334155"/>
                </a:solidFill>
                <a:latin typeface="Arial"/>
              </a:rPr>
              <a:t>day_of_week, start/end</a:t>
            </a:r>
          </a:p>
        </p:txBody>
      </p:sp>
      <p:sp>
        <p:nvSpPr>
          <p:cNvPr id="27" name="Rectangle 26"/>
          <p:cNvSpPr/>
          <p:nvPr/>
        </p:nvSpPr>
        <p:spPr>
          <a:xfrm>
            <a:off x="7178040" y="4343400"/>
            <a:ext cx="2194560" cy="1554480"/>
          </a:xfrm>
          <a:prstGeom prst="rect">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78040" y="4343400"/>
            <a:ext cx="219456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reviews</a:t>
            </a:r>
          </a:p>
        </p:txBody>
      </p:sp>
      <p:sp>
        <p:nvSpPr>
          <p:cNvPr id="29" name="TextBox 28"/>
          <p:cNvSpPr txBox="1"/>
          <p:nvPr/>
        </p:nvSpPr>
        <p:spPr>
          <a:xfrm>
            <a:off x="7232903" y="4709160"/>
            <a:ext cx="2084831" cy="115214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booking_id (unique, FK)</a:t>
            </a:r>
          </a:p>
          <a:p>
            <a:pPr algn="l">
              <a:lnSpc>
                <a:spcPct val="100000"/>
              </a:lnSpc>
              <a:spcBef>
                <a:spcPts val="0"/>
              </a:spcBef>
              <a:spcAft>
                <a:spcPts val="0"/>
              </a:spcAft>
            </a:pPr>
            <a:r>
              <a:rPr sz="1000" b="0">
                <a:solidFill>
                  <a:srgbClr val="334155"/>
                </a:solidFill>
                <a:latin typeface="Arial"/>
              </a:rPr>
              <a:t>student_id, tutor_id</a:t>
            </a:r>
          </a:p>
          <a:p>
            <a:pPr algn="l">
              <a:lnSpc>
                <a:spcPct val="100000"/>
              </a:lnSpc>
              <a:spcBef>
                <a:spcPts val="0"/>
              </a:spcBef>
              <a:spcAft>
                <a:spcPts val="0"/>
              </a:spcAft>
            </a:pPr>
            <a:r>
              <a:rPr sz="1000" b="0">
                <a:solidFill>
                  <a:srgbClr val="334155"/>
                </a:solidFill>
                <a:latin typeface="Arial"/>
              </a:rPr>
              <a:t>rating 1–5, comment</a:t>
            </a:r>
          </a:p>
        </p:txBody>
      </p:sp>
      <p:sp>
        <p:nvSpPr>
          <p:cNvPr id="30" name="Rectangle 29"/>
          <p:cNvSpPr/>
          <p:nvPr/>
        </p:nvSpPr>
        <p:spPr>
          <a:xfrm>
            <a:off x="9692640" y="1600200"/>
            <a:ext cx="1947672" cy="1234440"/>
          </a:xfrm>
          <a:prstGeom prst="rect">
            <a:avLst/>
          </a:prstGeom>
          <a:solidFill>
            <a:srgbClr val="FFFFFF"/>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92640" y="1600200"/>
            <a:ext cx="1947672" cy="32918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tutor_documents</a:t>
            </a:r>
          </a:p>
        </p:txBody>
      </p:sp>
      <p:sp>
        <p:nvSpPr>
          <p:cNvPr id="32" name="TextBox 31"/>
          <p:cNvSpPr txBox="1"/>
          <p:nvPr/>
        </p:nvSpPr>
        <p:spPr>
          <a:xfrm>
            <a:off x="9747504" y="1965960"/>
            <a:ext cx="1837943" cy="83210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user_id (FK)</a:t>
            </a:r>
          </a:p>
          <a:p>
            <a:pPr algn="l">
              <a:lnSpc>
                <a:spcPct val="100000"/>
              </a:lnSpc>
              <a:spcBef>
                <a:spcPts val="0"/>
              </a:spcBef>
              <a:spcAft>
                <a:spcPts val="0"/>
              </a:spcAft>
            </a:pPr>
            <a:r>
              <a:rPr sz="1000" b="0">
                <a:solidFill>
                  <a:srgbClr val="334155"/>
                </a:solidFill>
                <a:latin typeface="Arial"/>
              </a:rPr>
              <a:t>doc_type, file_data</a:t>
            </a:r>
          </a:p>
        </p:txBody>
      </p:sp>
      <p:sp>
        <p:nvSpPr>
          <p:cNvPr id="33" name="Rectangle 32"/>
          <p:cNvSpPr/>
          <p:nvPr/>
        </p:nvSpPr>
        <p:spPr>
          <a:xfrm>
            <a:off x="9692640" y="3017520"/>
            <a:ext cx="1947672" cy="1188720"/>
          </a:xfrm>
          <a:prstGeom prst="rect">
            <a:avLst/>
          </a:prstGeom>
          <a:solidFill>
            <a:srgbClr val="FFFFFF"/>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92640" y="3017520"/>
            <a:ext cx="1947672" cy="32918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tutor_verifications</a:t>
            </a:r>
          </a:p>
        </p:txBody>
      </p:sp>
      <p:sp>
        <p:nvSpPr>
          <p:cNvPr id="35" name="TextBox 34"/>
          <p:cNvSpPr txBox="1"/>
          <p:nvPr/>
        </p:nvSpPr>
        <p:spPr>
          <a:xfrm>
            <a:off x="9747504" y="3383279"/>
            <a:ext cx="1837943" cy="78638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user_id (PK, FK)</a:t>
            </a:r>
          </a:p>
          <a:p>
            <a:pPr algn="l">
              <a:lnSpc>
                <a:spcPct val="100000"/>
              </a:lnSpc>
              <a:spcBef>
                <a:spcPts val="0"/>
              </a:spcBef>
              <a:spcAft>
                <a:spcPts val="0"/>
              </a:spcAft>
            </a:pPr>
            <a:r>
              <a:rPr sz="1000" b="0">
                <a:solidFill>
                  <a:srgbClr val="334155"/>
                </a:solidFill>
                <a:latin typeface="Arial"/>
              </a:rPr>
              <a:t>status, reviewed_at</a:t>
            </a:r>
          </a:p>
        </p:txBody>
      </p:sp>
      <p:sp>
        <p:nvSpPr>
          <p:cNvPr id="36" name="Rectangle 35"/>
          <p:cNvSpPr/>
          <p:nvPr/>
        </p:nvSpPr>
        <p:spPr>
          <a:xfrm>
            <a:off x="9692640" y="4343400"/>
            <a:ext cx="1947672" cy="1554480"/>
          </a:xfrm>
          <a:prstGeom prst="rect">
            <a:avLst/>
          </a:prstGeom>
          <a:solidFill>
            <a:srgbClr val="FFFFFF"/>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92640" y="4343400"/>
            <a:ext cx="1947672" cy="32918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FFFFFF"/>
                </a:solidFill>
                <a:latin typeface="Arial"/>
              </a:rPr>
              <a:t>messages</a:t>
            </a:r>
          </a:p>
        </p:txBody>
      </p:sp>
      <p:sp>
        <p:nvSpPr>
          <p:cNvPr id="38" name="TextBox 37"/>
          <p:cNvSpPr txBox="1"/>
          <p:nvPr/>
        </p:nvSpPr>
        <p:spPr>
          <a:xfrm>
            <a:off x="9747504" y="4709160"/>
            <a:ext cx="1837943" cy="1152144"/>
          </a:xfrm>
          <a:prstGeom prst="rect">
            <a:avLst/>
          </a:prstGeom>
          <a:noFill/>
        </p:spPr>
        <p:txBody>
          <a:bodyPr wrap="square" anchor="t" lIns="45720" rIns="45720"/>
          <a:lstStyle/>
          <a:p>
            <a:pPr algn="l">
              <a:lnSpc>
                <a:spcPct val="100000"/>
              </a:lnSpc>
              <a:spcBef>
                <a:spcPts val="0"/>
              </a:spcBef>
              <a:spcAft>
                <a:spcPts val="0"/>
              </a:spcAft>
            </a:pPr>
            <a:r>
              <a:rPr sz="1000" b="0">
                <a:solidFill>
                  <a:srgbClr val="334155"/>
                </a:solidFill>
                <a:latin typeface="Arial"/>
              </a:rPr>
              <a:t>sender_key, recipient_key</a:t>
            </a:r>
          </a:p>
          <a:p>
            <a:pPr algn="l">
              <a:lnSpc>
                <a:spcPct val="100000"/>
              </a:lnSpc>
              <a:spcBef>
                <a:spcPts val="0"/>
              </a:spcBef>
              <a:spcAft>
                <a:spcPts val="0"/>
              </a:spcAft>
            </a:pPr>
            <a:r>
              <a:rPr sz="1000" b="0">
                <a:solidFill>
                  <a:srgbClr val="334155"/>
                </a:solidFill>
                <a:latin typeface="Arial"/>
              </a:rPr>
              <a:t>body, created_at</a:t>
            </a:r>
          </a:p>
          <a:p>
            <a:pPr algn="l">
              <a:lnSpc>
                <a:spcPct val="100000"/>
              </a:lnSpc>
              <a:spcBef>
                <a:spcPts val="0"/>
              </a:spcBef>
              <a:spcAft>
                <a:spcPts val="0"/>
              </a:spcAft>
            </a:pPr>
            <a:r>
              <a:rPr sz="1000" b="0">
                <a:solidFill>
                  <a:srgbClr val="334155"/>
                </a:solidFill>
                <a:latin typeface="Arial"/>
              </a:rPr>
              <a:t>(participant keys, not FKs)</a:t>
            </a:r>
          </a:p>
        </p:txBody>
      </p:sp>
      <p:cxnSp>
        <p:nvCxnSpPr>
          <p:cNvPr id="39" name="Connector 38"/>
          <p:cNvCxnSpPr/>
          <p:nvPr/>
        </p:nvCxnSpPr>
        <p:spPr>
          <a:xfrm>
            <a:off x="3063240" y="2651760"/>
            <a:ext cx="777240" cy="0"/>
          </a:xfrm>
          <a:prstGeom prst="line">
            <a:avLst/>
          </a:prstGeom>
          <a:ln w="22225">
            <a:solidFill>
              <a:srgbClr val="1E3A8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017520" y="2331720"/>
            <a:ext cx="822960" cy="274320"/>
          </a:xfrm>
          <a:prstGeom prst="rect">
            <a:avLst/>
          </a:prstGeom>
          <a:noFill/>
        </p:spPr>
        <p:txBody>
          <a:bodyPr wrap="square" anchor="t" lIns="45720" rIns="45720"/>
          <a:lstStyle/>
          <a:p>
            <a:pPr algn="ctr">
              <a:lnSpc>
                <a:spcPct val="100000"/>
              </a:lnSpc>
              <a:spcBef>
                <a:spcPts val="0"/>
              </a:spcBef>
              <a:spcAft>
                <a:spcPts val="0"/>
              </a:spcAft>
            </a:pPr>
            <a:r>
              <a:rPr sz="950" b="1">
                <a:solidFill>
                  <a:srgbClr val="1E3A8A"/>
                </a:solidFill>
                <a:latin typeface="Arial"/>
              </a:rPr>
              <a:t>1 : 0..1</a:t>
            </a:r>
          </a:p>
        </p:txBody>
      </p:sp>
      <p:cxnSp>
        <p:nvCxnSpPr>
          <p:cNvPr id="41" name="Connector 40"/>
          <p:cNvCxnSpPr/>
          <p:nvPr/>
        </p:nvCxnSpPr>
        <p:spPr>
          <a:xfrm>
            <a:off x="1801368" y="3657600"/>
            <a:ext cx="0" cy="685800"/>
          </a:xfrm>
          <a:prstGeom prst="line">
            <a:avLst/>
          </a:prstGeom>
          <a:ln w="22225">
            <a:solidFill>
              <a:srgbClr val="7C3AED"/>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874519" y="3840480"/>
            <a:ext cx="1097280" cy="274320"/>
          </a:xfrm>
          <a:prstGeom prst="rect">
            <a:avLst/>
          </a:prstGeom>
          <a:noFill/>
        </p:spPr>
        <p:txBody>
          <a:bodyPr wrap="square" anchor="t" lIns="45720" rIns="45720"/>
          <a:lstStyle/>
          <a:p>
            <a:pPr algn="l">
              <a:lnSpc>
                <a:spcPct val="100000"/>
              </a:lnSpc>
              <a:spcBef>
                <a:spcPts val="0"/>
              </a:spcBef>
              <a:spcAft>
                <a:spcPts val="0"/>
              </a:spcAft>
            </a:pPr>
            <a:r>
              <a:rPr sz="950" b="1">
                <a:solidFill>
                  <a:srgbClr val="7C3AED"/>
                </a:solidFill>
                <a:latin typeface="Arial"/>
              </a:rPr>
              <a:t>1 : 0..1</a:t>
            </a:r>
          </a:p>
        </p:txBody>
      </p:sp>
      <p:cxnSp>
        <p:nvCxnSpPr>
          <p:cNvPr id="43" name="Connector 42"/>
          <p:cNvCxnSpPr/>
          <p:nvPr/>
        </p:nvCxnSpPr>
        <p:spPr>
          <a:xfrm>
            <a:off x="6446520" y="2286000"/>
            <a:ext cx="731520" cy="0"/>
          </a:xfrm>
          <a:prstGeom prst="line">
            <a:avLst/>
          </a:prstGeom>
          <a:ln w="22225">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38928" y="3840480"/>
            <a:ext cx="0" cy="502920"/>
          </a:xfrm>
          <a:prstGeom prst="line">
            <a:avLst/>
          </a:prstGeom>
          <a:ln w="22225">
            <a:solidFill>
              <a:srgbClr val="2563E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212080" y="3931920"/>
            <a:ext cx="1463040" cy="274320"/>
          </a:xfrm>
          <a:prstGeom prst="rect">
            <a:avLst/>
          </a:prstGeom>
          <a:noFill/>
        </p:spPr>
        <p:txBody>
          <a:bodyPr wrap="square" anchor="t" lIns="45720" rIns="45720"/>
          <a:lstStyle/>
          <a:p>
            <a:pPr algn="l">
              <a:lnSpc>
                <a:spcPct val="100000"/>
              </a:lnSpc>
              <a:spcBef>
                <a:spcPts val="0"/>
              </a:spcBef>
              <a:spcAft>
                <a:spcPts val="0"/>
              </a:spcAft>
            </a:pPr>
            <a:r>
              <a:rPr sz="950" b="1">
                <a:solidFill>
                  <a:srgbClr val="2563EB"/>
                </a:solidFill>
                <a:latin typeface="Arial"/>
              </a:rPr>
              <a:t>1 : many bookings</a:t>
            </a:r>
          </a:p>
        </p:txBody>
      </p:sp>
      <p:cxnSp>
        <p:nvCxnSpPr>
          <p:cNvPr id="46" name="Connector 45"/>
          <p:cNvCxnSpPr/>
          <p:nvPr/>
        </p:nvCxnSpPr>
        <p:spPr>
          <a:xfrm>
            <a:off x="6446520" y="5303520"/>
            <a:ext cx="731520" cy="0"/>
          </a:xfrm>
          <a:prstGeom prst="line">
            <a:avLst/>
          </a:prstGeom>
          <a:ln w="22225">
            <a:solidFill>
              <a:srgbClr val="F59E0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035040"/>
            <a:ext cx="11064240" cy="320040"/>
          </a:xfrm>
          <a:prstGeom prst="rect">
            <a:avLst/>
          </a:prstGeom>
          <a:noFill/>
        </p:spPr>
        <p:txBody>
          <a:bodyPr wrap="square" anchor="t" lIns="45720" rIns="45720"/>
          <a:lstStyle/>
          <a:p>
            <a:pPr algn="l">
              <a:lnSpc>
                <a:spcPct val="100000"/>
              </a:lnSpc>
              <a:spcBef>
                <a:spcPts val="0"/>
              </a:spcBef>
              <a:spcAft>
                <a:spcPts val="0"/>
              </a:spcAft>
            </a:pPr>
            <a:r>
              <a:rPr sz="1100" b="0">
                <a:solidFill>
                  <a:srgbClr val="64748B"/>
                </a:solidFill>
                <a:latin typeface="Arial"/>
              </a:rPr>
              <a:t>Key: 1 : many = one row links to many rows.  FK = foreign key.  PK = primary key.  Lines show the main links; other keys are listed inside each box.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5  —  DATABASE AND DEPLOYMENT</a:t>
            </a:r>
          </a:p>
        </p:txBody>
      </p:sp>
      <p:sp>
        <p:nvSpPr>
          <p:cNvPr id="4" name="Rounded Rectangle 3"/>
          <p:cNvSpPr/>
          <p:nvPr/>
        </p:nvSpPr>
        <p:spPr>
          <a:xfrm>
            <a:off x="6309360" y="274320"/>
            <a:ext cx="5330952" cy="41148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5  ·  Pius Kaosisochukwu Aminie</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Deployment, limitations, and future improvements</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21 / 23</a:t>
            </a:r>
          </a:p>
        </p:txBody>
      </p:sp>
      <p:sp>
        <p:nvSpPr>
          <p:cNvPr id="9" name="TextBox 8"/>
          <p:cNvSpPr txBox="1"/>
          <p:nvPr/>
        </p:nvSpPr>
        <p:spPr>
          <a:xfrm>
            <a:off x="548640" y="1554480"/>
            <a:ext cx="347472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HOW IT IS DEPLOYED</a:t>
            </a:r>
          </a:p>
        </p:txBody>
      </p:sp>
      <p:sp>
        <p:nvSpPr>
          <p:cNvPr id="10" name="Rectangle 9"/>
          <p:cNvSpPr/>
          <p:nvPr/>
        </p:nvSpPr>
        <p:spPr>
          <a:xfrm>
            <a:off x="548640" y="1965960"/>
            <a:ext cx="3474720" cy="38404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Arial"/>
              </a:rPr>
              <a:t>GitHub</a:t>
            </a:r>
          </a:p>
        </p:txBody>
      </p:sp>
      <p:sp>
        <p:nvSpPr>
          <p:cNvPr id="11" name="Rectangle 10"/>
          <p:cNvSpPr/>
          <p:nvPr/>
        </p:nvSpPr>
        <p:spPr>
          <a:xfrm>
            <a:off x="548640" y="2350008"/>
            <a:ext cx="3474720" cy="685800"/>
          </a:xfrm>
          <a:prstGeom prst="rect">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386584"/>
            <a:ext cx="3337560" cy="640080"/>
          </a:xfrm>
          <a:prstGeom prst="rect">
            <a:avLst/>
          </a:prstGeom>
          <a:noFill/>
        </p:spPr>
        <p:txBody>
          <a:bodyPr wrap="square" anchor="t" lIns="45720" rIns="45720"/>
          <a:lstStyle/>
          <a:p>
            <a:pPr algn="l">
              <a:lnSpc>
                <a:spcPct val="100000"/>
              </a:lnSpc>
              <a:spcBef>
                <a:spcPts val="0"/>
              </a:spcBef>
              <a:spcAft>
                <a:spcPts val="0"/>
              </a:spcAft>
            </a:pPr>
            <a:r>
              <a:rPr sz="1050" b="0">
                <a:solidFill>
                  <a:srgbClr val="334155"/>
                </a:solidFill>
                <a:latin typeface="Arial"/>
              </a:rPr>
              <a:t>Source code repository</a:t>
            </a:r>
          </a:p>
        </p:txBody>
      </p:sp>
      <p:cxnSp>
        <p:nvCxnSpPr>
          <p:cNvPr id="13" name="Connector 12"/>
          <p:cNvCxnSpPr/>
          <p:nvPr/>
        </p:nvCxnSpPr>
        <p:spPr>
          <a:xfrm>
            <a:off x="2286000" y="3035808"/>
            <a:ext cx="0" cy="164592"/>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48640" y="3200400"/>
            <a:ext cx="3474720"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Arial"/>
              </a:rPr>
              <a:t>Vercel</a:t>
            </a:r>
          </a:p>
        </p:txBody>
      </p:sp>
      <p:sp>
        <p:nvSpPr>
          <p:cNvPr id="15" name="Rectangle 14"/>
          <p:cNvSpPr/>
          <p:nvPr/>
        </p:nvSpPr>
        <p:spPr>
          <a:xfrm>
            <a:off x="548640" y="3584448"/>
            <a:ext cx="3474720" cy="68580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3621024"/>
            <a:ext cx="3337560" cy="640080"/>
          </a:xfrm>
          <a:prstGeom prst="rect">
            <a:avLst/>
          </a:prstGeom>
          <a:noFill/>
        </p:spPr>
        <p:txBody>
          <a:bodyPr wrap="square" anchor="t" lIns="45720" rIns="45720"/>
          <a:lstStyle/>
          <a:p>
            <a:pPr algn="l">
              <a:lnSpc>
                <a:spcPct val="100000"/>
              </a:lnSpc>
              <a:spcBef>
                <a:spcPts val="0"/>
              </a:spcBef>
              <a:spcAft>
                <a:spcPts val="0"/>
              </a:spcAft>
            </a:pPr>
            <a:r>
              <a:rPr sz="1050" b="0">
                <a:solidFill>
                  <a:srgbClr val="334155"/>
                </a:solidFill>
                <a:latin typeface="Arial"/>
              </a:rPr>
              <a:t>Builds with next build; runs pages and API routes as Node.js serverless functions</a:t>
            </a:r>
          </a:p>
        </p:txBody>
      </p:sp>
      <p:cxnSp>
        <p:nvCxnSpPr>
          <p:cNvPr id="17" name="Connector 16"/>
          <p:cNvCxnSpPr/>
          <p:nvPr/>
        </p:nvCxnSpPr>
        <p:spPr>
          <a:xfrm>
            <a:off x="2286000" y="4270248"/>
            <a:ext cx="0" cy="164592"/>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8640" y="4434840"/>
            <a:ext cx="3474720" cy="3840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Arial"/>
              </a:rPr>
              <a:t>Neon Postgres</a:t>
            </a:r>
          </a:p>
        </p:txBody>
      </p:sp>
      <p:sp>
        <p:nvSpPr>
          <p:cNvPr id="19" name="Rectangle 18"/>
          <p:cNvSpPr/>
          <p:nvPr/>
        </p:nvSpPr>
        <p:spPr>
          <a:xfrm>
            <a:off x="548640" y="4818888"/>
            <a:ext cx="3474720" cy="685800"/>
          </a:xfrm>
          <a:prstGeom prst="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855464"/>
            <a:ext cx="3337560" cy="640080"/>
          </a:xfrm>
          <a:prstGeom prst="rect">
            <a:avLst/>
          </a:prstGeom>
          <a:noFill/>
        </p:spPr>
        <p:txBody>
          <a:bodyPr wrap="square" anchor="t" lIns="45720" rIns="45720"/>
          <a:lstStyle/>
          <a:p>
            <a:pPr algn="l">
              <a:lnSpc>
                <a:spcPct val="100000"/>
              </a:lnSpc>
              <a:spcBef>
                <a:spcPts val="0"/>
              </a:spcBef>
              <a:spcAft>
                <a:spcPts val="0"/>
              </a:spcAft>
            </a:pPr>
            <a:r>
              <a:rPr sz="1050" b="0">
                <a:solidFill>
                  <a:srgbClr val="334155"/>
                </a:solidFill>
                <a:latin typeface="Arial"/>
              </a:rPr>
              <a:t>Hosted database; connected through the DATABASE_URL environment variable</a:t>
            </a:r>
          </a:p>
        </p:txBody>
      </p:sp>
      <p:sp>
        <p:nvSpPr>
          <p:cNvPr id="21" name="TextBox 20"/>
          <p:cNvSpPr txBox="1"/>
          <p:nvPr/>
        </p:nvSpPr>
        <p:spPr>
          <a:xfrm>
            <a:off x="548640" y="5669280"/>
            <a:ext cx="3474720" cy="64008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Environment variables are set in Vercel. Names only: DATABASE_URL, JWT_SECRET. Values are never shown.</a:t>
            </a:r>
          </a:p>
        </p:txBody>
      </p:sp>
      <p:sp>
        <p:nvSpPr>
          <p:cNvPr id="22" name="TextBox 21"/>
          <p:cNvSpPr txBox="1"/>
          <p:nvPr/>
        </p:nvSpPr>
        <p:spPr>
          <a:xfrm>
            <a:off x="4389120" y="1554480"/>
            <a:ext cx="356616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B91C1C"/>
                </a:solidFill>
                <a:latin typeface="Arial"/>
              </a:rPr>
              <a:t>LIMITATIONS TODAY</a:t>
            </a:r>
          </a:p>
        </p:txBody>
      </p:sp>
      <p:sp>
        <p:nvSpPr>
          <p:cNvPr id="23" name="TextBox 22"/>
          <p:cNvSpPr txBox="1"/>
          <p:nvPr/>
        </p:nvSpPr>
        <p:spPr>
          <a:xfrm>
            <a:off x="4389120" y="1920240"/>
            <a:ext cx="3611880" cy="4297680"/>
          </a:xfrm>
          <a:prstGeom prst="rect">
            <a:avLst/>
          </a:prstGeom>
          <a:noFill/>
        </p:spPr>
        <p:txBody>
          <a:bodyPr wrap="square" anchor="t" lIns="45720" rIns="45720"/>
          <a:lstStyle/>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Dashboards are not protected by server-side middleware; the browser checks the token.</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Booking status changes do not check ownership.</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Price is calculated in the browser and saved as sent.</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Login does not check account approval status.</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Signup accepts Gmail addresses only.</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No payment processing; the app records a price only.</a:t>
            </a:r>
          </a:p>
          <a:p>
            <a:pPr algn="l">
              <a:lnSpc>
                <a:spcPct val="100000"/>
              </a:lnSpc>
              <a:spcBef>
                <a:spcPts val="0"/>
              </a:spcBef>
              <a:spcAft>
                <a:spcPts val="0"/>
              </a:spcAft>
            </a:pPr>
            <a:r>
              <a:rPr sz="1200" b="0">
                <a:solidFill>
                  <a:srgbClr val="334155"/>
                </a:solidFill>
                <a:latin typeface="Arial"/>
              </a:rPr>
              <a:t>•  </a:t>
            </a:r>
            <a:r>
              <a:rPr sz="1200" b="0">
                <a:solidFill>
                  <a:srgbClr val="334155"/>
                </a:solidFill>
                <a:latin typeface="Arial"/>
              </a:rPr>
              <a:t>Homepage statistics and testimonials are static placeholder text, not live data.</a:t>
            </a:r>
          </a:p>
        </p:txBody>
      </p:sp>
      <p:sp>
        <p:nvSpPr>
          <p:cNvPr id="24" name="TextBox 23"/>
          <p:cNvSpPr txBox="1"/>
          <p:nvPr/>
        </p:nvSpPr>
        <p:spPr>
          <a:xfrm>
            <a:off x="8321040" y="1554480"/>
            <a:ext cx="329184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10B981"/>
                </a:solidFill>
                <a:latin typeface="Arial"/>
              </a:rPr>
              <a:t>REALISTIC NEXT STEPS</a:t>
            </a:r>
          </a:p>
        </p:txBody>
      </p:sp>
      <p:sp>
        <p:nvSpPr>
          <p:cNvPr id="25" name="TextBox 24"/>
          <p:cNvSpPr txBox="1"/>
          <p:nvPr/>
        </p:nvSpPr>
        <p:spPr>
          <a:xfrm>
            <a:off x="8321040" y="1920240"/>
            <a:ext cx="3337560" cy="4297680"/>
          </a:xfrm>
          <a:prstGeom prst="rect">
            <a:avLst/>
          </a:prstGeom>
          <a:noFill/>
        </p:spPr>
        <p:txBody>
          <a:bodyPr wrap="square" anchor="t" lIns="45720" rIns="45720"/>
          <a:lstStyle/>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Add middleware that checks the token and role before dashboards load.</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Check booking ownership on every status change.</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Calculate prices on the server from the tutor's rate.</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Block login for accounts that are not approved.</a:t>
            </a:r>
          </a:p>
          <a:p>
            <a:pPr algn="l">
              <a:lnSpc>
                <a:spcPct val="100000"/>
              </a:lnSpc>
              <a:spcBef>
                <a:spcPts val="0"/>
              </a:spcBef>
              <a:spcAft>
                <a:spcPts val="500"/>
              </a:spcAft>
            </a:pPr>
            <a:r>
              <a:rPr sz="1200" b="0">
                <a:solidFill>
                  <a:srgbClr val="334155"/>
                </a:solidFill>
                <a:latin typeface="Arial"/>
              </a:rPr>
              <a:t>•  </a:t>
            </a:r>
            <a:r>
              <a:rPr sz="1200" b="0">
                <a:solidFill>
                  <a:srgbClr val="334155"/>
                </a:solidFill>
                <a:latin typeface="Arial"/>
              </a:rPr>
              <a:t>Replace static homepage claims with real database counts or remove them.</a:t>
            </a:r>
          </a:p>
          <a:p>
            <a:pPr algn="l">
              <a:lnSpc>
                <a:spcPct val="100000"/>
              </a:lnSpc>
              <a:spcBef>
                <a:spcPts val="0"/>
              </a:spcBef>
              <a:spcAft>
                <a:spcPts val="0"/>
              </a:spcAft>
            </a:pPr>
            <a:r>
              <a:rPr sz="1200" b="0">
                <a:solidFill>
                  <a:srgbClr val="334155"/>
                </a:solidFill>
                <a:latin typeface="Arial"/>
              </a:rPr>
              <a:t>•  </a:t>
            </a:r>
            <a:r>
              <a:rPr sz="1200" b="0">
                <a:solidFill>
                  <a:srgbClr val="334155"/>
                </a:solidFill>
                <a:latin typeface="Arial"/>
              </a:rPr>
              <a:t>Add automated tests for the API routes.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PART 5  —  DATABASE AND DEPLOYMENT</a:t>
            </a:r>
          </a:p>
        </p:txBody>
      </p:sp>
      <p:sp>
        <p:nvSpPr>
          <p:cNvPr id="4" name="Rounded Rectangle 3"/>
          <p:cNvSpPr/>
          <p:nvPr/>
        </p:nvSpPr>
        <p:spPr>
          <a:xfrm>
            <a:off x="6309360" y="274320"/>
            <a:ext cx="5330952" cy="41148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5  ·  Pius Kaosisochukwu Aminie</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Proposed revenue model</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22 / 23</a:t>
            </a:r>
          </a:p>
        </p:txBody>
      </p:sp>
      <p:sp>
        <p:nvSpPr>
          <p:cNvPr id="9" name="Rectangle 8"/>
          <p:cNvSpPr/>
          <p:nvPr/>
        </p:nvSpPr>
        <p:spPr>
          <a:xfrm>
            <a:off x="548640" y="1554480"/>
            <a:ext cx="11091672" cy="5029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Arial"/>
              </a:rPr>
              <a:t>PROPOSED FUTURE MODEL. NOT IMPLEMENTED. The current code has no payment gateway, no commission calculation, and no subscriptions.</a:t>
            </a:r>
          </a:p>
        </p:txBody>
      </p:sp>
      <p:sp>
        <p:nvSpPr>
          <p:cNvPr id="10" name="Rounded Rectangle 9"/>
          <p:cNvSpPr/>
          <p:nvPr/>
        </p:nvSpPr>
        <p:spPr>
          <a:xfrm>
            <a:off x="548640" y="2286000"/>
            <a:ext cx="5440680" cy="16459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86000"/>
            <a:ext cx="91440" cy="1645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395728"/>
            <a:ext cx="502920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1E3A8A"/>
                </a:solidFill>
                <a:latin typeface="Arial"/>
              </a:rPr>
              <a:t>Commission per completed session</a:t>
            </a:r>
          </a:p>
        </p:txBody>
      </p:sp>
      <p:sp>
        <p:nvSpPr>
          <p:cNvPr id="13" name="TextBox 12"/>
          <p:cNvSpPr txBox="1"/>
          <p:nvPr/>
        </p:nvSpPr>
        <p:spPr>
          <a:xfrm>
            <a:off x="822959" y="2788920"/>
            <a:ext cx="5029200" cy="1097280"/>
          </a:xfrm>
          <a:prstGeom prst="rect">
            <a:avLst/>
          </a:prstGeom>
          <a:noFill/>
        </p:spPr>
        <p:txBody>
          <a:bodyPr wrap="square" anchor="t" lIns="45720" rIns="45720"/>
          <a:lstStyle/>
          <a:p>
            <a:pPr algn="l">
              <a:lnSpc>
                <a:spcPct val="100000"/>
              </a:lnSpc>
              <a:spcBef>
                <a:spcPts val="0"/>
              </a:spcBef>
              <a:spcAft>
                <a:spcPts val="0"/>
              </a:spcAft>
            </a:pPr>
            <a:r>
              <a:rPr sz="1300" b="0">
                <a:solidFill>
                  <a:srgbClr val="334155"/>
                </a:solidFill>
                <a:latin typeface="Arial"/>
              </a:rPr>
              <a:t>A percentage of each booking's total price, taken when a session is marked completed. Needs a payment flow that does not yet exist.</a:t>
            </a:r>
          </a:p>
        </p:txBody>
      </p:sp>
      <p:sp>
        <p:nvSpPr>
          <p:cNvPr id="14" name="Rounded Rectangle 13"/>
          <p:cNvSpPr/>
          <p:nvPr/>
        </p:nvSpPr>
        <p:spPr>
          <a:xfrm>
            <a:off x="6172200" y="2286000"/>
            <a:ext cx="5440680" cy="16459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286000"/>
            <a:ext cx="91440" cy="1645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395728"/>
            <a:ext cx="502920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1E3A8A"/>
                </a:solidFill>
                <a:latin typeface="Arial"/>
              </a:rPr>
              <a:t>Featured placement for tutors</a:t>
            </a:r>
          </a:p>
        </p:txBody>
      </p:sp>
      <p:sp>
        <p:nvSpPr>
          <p:cNvPr id="17" name="TextBox 16"/>
          <p:cNvSpPr txBox="1"/>
          <p:nvPr/>
        </p:nvSpPr>
        <p:spPr>
          <a:xfrm>
            <a:off x="6446520" y="2788920"/>
            <a:ext cx="5029200" cy="1097280"/>
          </a:xfrm>
          <a:prstGeom prst="rect">
            <a:avLst/>
          </a:prstGeom>
          <a:noFill/>
        </p:spPr>
        <p:txBody>
          <a:bodyPr wrap="square" anchor="t" lIns="45720" rIns="45720"/>
          <a:lstStyle/>
          <a:p>
            <a:pPr algn="l">
              <a:lnSpc>
                <a:spcPct val="100000"/>
              </a:lnSpc>
              <a:spcBef>
                <a:spcPts val="0"/>
              </a:spcBef>
              <a:spcAft>
                <a:spcPts val="0"/>
              </a:spcAft>
            </a:pPr>
            <a:r>
              <a:rPr sz="1300" b="0">
                <a:solidFill>
                  <a:srgbClr val="334155"/>
                </a:solidFill>
                <a:latin typeface="Arial"/>
              </a:rPr>
              <a:t>Verified tutors could pay to appear higher in search results. Must be clearly labelled so ranking stays fair.</a:t>
            </a:r>
          </a:p>
        </p:txBody>
      </p:sp>
      <p:sp>
        <p:nvSpPr>
          <p:cNvPr id="18" name="Rounded Rectangle 17"/>
          <p:cNvSpPr/>
          <p:nvPr/>
        </p:nvSpPr>
        <p:spPr>
          <a:xfrm>
            <a:off x="548640" y="4114800"/>
            <a:ext cx="5440680" cy="16459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114800"/>
            <a:ext cx="91440" cy="1645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224528"/>
            <a:ext cx="502920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1E3A8A"/>
                </a:solidFill>
                <a:latin typeface="Arial"/>
              </a:rPr>
              <a:t>Premium plan for parents</a:t>
            </a:r>
          </a:p>
        </p:txBody>
      </p:sp>
      <p:sp>
        <p:nvSpPr>
          <p:cNvPr id="21" name="TextBox 20"/>
          <p:cNvSpPr txBox="1"/>
          <p:nvPr/>
        </p:nvSpPr>
        <p:spPr>
          <a:xfrm>
            <a:off x="822959" y="4617720"/>
            <a:ext cx="5029200" cy="1097280"/>
          </a:xfrm>
          <a:prstGeom prst="rect">
            <a:avLst/>
          </a:prstGeom>
          <a:noFill/>
        </p:spPr>
        <p:txBody>
          <a:bodyPr wrap="square" anchor="t" lIns="45720" rIns="45720"/>
          <a:lstStyle/>
          <a:p>
            <a:pPr algn="l">
              <a:lnSpc>
                <a:spcPct val="100000"/>
              </a:lnSpc>
              <a:spcBef>
                <a:spcPts val="0"/>
              </a:spcBef>
              <a:spcAft>
                <a:spcPts val="0"/>
              </a:spcAft>
            </a:pPr>
            <a:r>
              <a:rPr sz="1300" b="0">
                <a:solidFill>
                  <a:srgbClr val="334155"/>
                </a:solidFill>
                <a:latin typeface="Arial"/>
              </a:rPr>
              <a:t>A paid plan with progress summaries and priority matching. Would need new features that are not built.</a:t>
            </a:r>
          </a:p>
        </p:txBody>
      </p:sp>
      <p:sp>
        <p:nvSpPr>
          <p:cNvPr id="22" name="Rounded Rectangle 21"/>
          <p:cNvSpPr/>
          <p:nvPr/>
        </p:nvSpPr>
        <p:spPr>
          <a:xfrm>
            <a:off x="6172200" y="4114800"/>
            <a:ext cx="5440680" cy="16459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114800"/>
            <a:ext cx="91440" cy="1645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224528"/>
            <a:ext cx="5029200" cy="365760"/>
          </a:xfrm>
          <a:prstGeom prst="rect">
            <a:avLst/>
          </a:prstGeom>
          <a:noFill/>
        </p:spPr>
        <p:txBody>
          <a:bodyPr wrap="square" anchor="t" lIns="45720" rIns="45720"/>
          <a:lstStyle/>
          <a:p>
            <a:pPr algn="l">
              <a:lnSpc>
                <a:spcPct val="100000"/>
              </a:lnSpc>
              <a:spcBef>
                <a:spcPts val="0"/>
              </a:spcBef>
              <a:spcAft>
                <a:spcPts val="0"/>
              </a:spcAft>
            </a:pPr>
            <a:r>
              <a:rPr sz="1500" b="1">
                <a:solidFill>
                  <a:srgbClr val="1E3A8A"/>
                </a:solidFill>
                <a:latin typeface="Arial"/>
              </a:rPr>
              <a:t>School and centre partnerships</a:t>
            </a:r>
          </a:p>
        </p:txBody>
      </p:sp>
      <p:sp>
        <p:nvSpPr>
          <p:cNvPr id="25" name="TextBox 24"/>
          <p:cNvSpPr txBox="1"/>
          <p:nvPr/>
        </p:nvSpPr>
        <p:spPr>
          <a:xfrm>
            <a:off x="6446520" y="4617720"/>
            <a:ext cx="5029200" cy="1097280"/>
          </a:xfrm>
          <a:prstGeom prst="rect">
            <a:avLst/>
          </a:prstGeom>
          <a:noFill/>
        </p:spPr>
        <p:txBody>
          <a:bodyPr wrap="square" anchor="t" lIns="45720" rIns="45720"/>
          <a:lstStyle/>
          <a:p>
            <a:pPr algn="l">
              <a:lnSpc>
                <a:spcPct val="100000"/>
              </a:lnSpc>
              <a:spcBef>
                <a:spcPts val="0"/>
              </a:spcBef>
              <a:spcAft>
                <a:spcPts val="0"/>
              </a:spcAft>
            </a:pPr>
            <a:r>
              <a:rPr sz="1300" b="0">
                <a:solidFill>
                  <a:srgbClr val="334155"/>
                </a:solidFill>
                <a:latin typeface="Arial"/>
              </a:rPr>
              <a:t>Licensed access for schools or tutoring centres to manage their own tutors and bookings.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5669280" cy="320040"/>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CONCLUSION</a:t>
            </a:r>
          </a:p>
        </p:txBody>
      </p:sp>
      <p:sp>
        <p:nvSpPr>
          <p:cNvPr id="4" name="Rounded Rectangle 3"/>
          <p:cNvSpPr/>
          <p:nvPr/>
        </p:nvSpPr>
        <p:spPr>
          <a:xfrm>
            <a:off x="6309360" y="274320"/>
            <a:ext cx="5330952" cy="41148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Arial"/>
              </a:rPr>
              <a:t>PRESENTER 1  ·  Uchekwe Uchechukwu Hephzibah</a:t>
            </a:r>
          </a:p>
        </p:txBody>
      </p:sp>
      <p:sp>
        <p:nvSpPr>
          <p:cNvPr id="5" name="TextBox 4"/>
          <p:cNvSpPr txBox="1"/>
          <p:nvPr/>
        </p:nvSpPr>
        <p:spPr>
          <a:xfrm>
            <a:off x="548640" y="713232"/>
            <a:ext cx="11064240" cy="685800"/>
          </a:xfrm>
          <a:prstGeom prst="rect">
            <a:avLst/>
          </a:prstGeom>
          <a:noFill/>
        </p:spPr>
        <p:txBody>
          <a:bodyPr wrap="square" anchor="ctr" lIns="45720" rIns="45720"/>
          <a:lstStyle/>
          <a:p>
            <a:pPr algn="l">
              <a:lnSpc>
                <a:spcPct val="100000"/>
              </a:lnSpc>
              <a:spcBef>
                <a:spcPts val="0"/>
              </a:spcBef>
              <a:spcAft>
                <a:spcPts val="0"/>
              </a:spcAft>
            </a:pPr>
            <a:r>
              <a:rPr sz="2800" b="1">
                <a:solidFill>
                  <a:srgbClr val="1E3A8A"/>
                </a:solidFill>
                <a:latin typeface="Arial"/>
              </a:rPr>
              <a:t>Conclusion, thank you, and questions</a:t>
            </a:r>
          </a:p>
        </p:txBody>
      </p:sp>
      <p:cxnSp>
        <p:nvCxnSpPr>
          <p:cNvPr id="6" name="Connector 5"/>
          <p:cNvCxnSpPr/>
          <p:nvPr/>
        </p:nvCxnSpPr>
        <p:spPr>
          <a:xfrm>
            <a:off x="548640" y="6382512"/>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19088"/>
            <a:ext cx="8229600" cy="274320"/>
          </a:xfrm>
          <a:prstGeom prst="rect">
            <a:avLst/>
          </a:prstGeom>
          <a:noFill/>
        </p:spPr>
        <p:txBody>
          <a:bodyPr wrap="square" anchor="t" lIns="45720" rIns="45720"/>
          <a:lstStyle/>
          <a:p>
            <a:pPr algn="l">
              <a:lnSpc>
                <a:spcPct val="100000"/>
              </a:lnSpc>
              <a:spcBef>
                <a:spcPts val="0"/>
              </a:spcBef>
              <a:spcAft>
                <a:spcPts val="0"/>
              </a:spcAft>
            </a:pPr>
            <a:r>
              <a:rPr sz="1000" b="0">
                <a:solidFill>
                  <a:srgbClr val="64748B"/>
                </a:solidFill>
                <a:latin typeface="Arial"/>
              </a:rPr>
              <a:t>TutorConnect Nigeria  |  Edumentry AI Hackathon 1.0</a:t>
            </a:r>
          </a:p>
        </p:txBody>
      </p:sp>
      <p:sp>
        <p:nvSpPr>
          <p:cNvPr id="8" name="TextBox 7"/>
          <p:cNvSpPr txBox="1"/>
          <p:nvPr/>
        </p:nvSpPr>
        <p:spPr>
          <a:xfrm>
            <a:off x="9784080" y="6419088"/>
            <a:ext cx="1856231" cy="274320"/>
          </a:xfrm>
          <a:prstGeom prst="rect">
            <a:avLst/>
          </a:prstGeom>
          <a:noFill/>
        </p:spPr>
        <p:txBody>
          <a:bodyPr wrap="square" anchor="t" lIns="45720" rIns="45720"/>
          <a:lstStyle/>
          <a:p>
            <a:pPr algn="r">
              <a:lnSpc>
                <a:spcPct val="100000"/>
              </a:lnSpc>
              <a:spcBef>
                <a:spcPts val="0"/>
              </a:spcBef>
              <a:spcAft>
                <a:spcPts val="0"/>
              </a:spcAft>
            </a:pPr>
            <a:r>
              <a:rPr sz="1000" b="0">
                <a:solidFill>
                  <a:srgbClr val="64748B"/>
                </a:solidFill>
                <a:latin typeface="Arial"/>
              </a:rPr>
              <a:t>23 / 23</a:t>
            </a:r>
          </a:p>
        </p:txBody>
      </p:sp>
      <p:sp>
        <p:nvSpPr>
          <p:cNvPr id="9" name="TextBox 8"/>
          <p:cNvSpPr txBox="1"/>
          <p:nvPr/>
        </p:nvSpPr>
        <p:spPr>
          <a:xfrm>
            <a:off x="548640" y="1600200"/>
            <a:ext cx="6583680" cy="365760"/>
          </a:xfrm>
          <a:prstGeom prst="rect">
            <a:avLst/>
          </a:prstGeom>
          <a:noFill/>
        </p:spPr>
        <p:txBody>
          <a:bodyPr wrap="square" anchor="t" lIns="45720" rIns="45720"/>
          <a:lstStyle/>
          <a:p>
            <a:pPr algn="l">
              <a:lnSpc>
                <a:spcPct val="100000"/>
              </a:lnSpc>
              <a:spcBef>
                <a:spcPts val="0"/>
              </a:spcBef>
              <a:spcAft>
                <a:spcPts val="0"/>
              </a:spcAft>
            </a:pPr>
            <a:r>
              <a:rPr sz="1300" b="1">
                <a:solidFill>
                  <a:srgbClr val="2563EB"/>
                </a:solidFill>
                <a:latin typeface="Arial"/>
              </a:rPr>
              <a:t>WHAT WE BUILT, IN ONE LOOK</a:t>
            </a:r>
          </a:p>
        </p:txBody>
      </p:sp>
      <p:sp>
        <p:nvSpPr>
          <p:cNvPr id="10" name="Rounded Rectangle 9"/>
          <p:cNvSpPr/>
          <p:nvPr/>
        </p:nvSpPr>
        <p:spPr>
          <a:xfrm>
            <a:off x="548640" y="2011680"/>
            <a:ext cx="6583680" cy="67665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109728"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57400"/>
            <a:ext cx="6217920" cy="329184"/>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Introduction:  </a:t>
            </a:r>
            <a:r>
              <a:rPr sz="1300" b="0">
                <a:solidFill>
                  <a:srgbClr val="334155"/>
                </a:solidFill>
                <a:latin typeface="Arial"/>
              </a:rPr>
              <a:t>The problem, our aim, and the users we serve</a:t>
            </a:r>
          </a:p>
        </p:txBody>
      </p:sp>
      <p:sp>
        <p:nvSpPr>
          <p:cNvPr id="13" name="TextBox 12"/>
          <p:cNvSpPr txBox="1"/>
          <p:nvPr/>
        </p:nvSpPr>
        <p:spPr>
          <a:xfrm>
            <a:off x="822960" y="2368296"/>
            <a:ext cx="6217920" cy="292608"/>
          </a:xfrm>
          <a:prstGeom prst="rect">
            <a:avLst/>
          </a:prstGeom>
          <a:noFill/>
        </p:spPr>
        <p:txBody>
          <a:bodyPr wrap="square" anchor="t" lIns="45720" rIns="45720"/>
          <a:lstStyle/>
          <a:p>
            <a:pPr algn="l">
              <a:lnSpc>
                <a:spcPct val="100000"/>
              </a:lnSpc>
              <a:spcBef>
                <a:spcPts val="0"/>
              </a:spcBef>
              <a:spcAft>
                <a:spcPts val="0"/>
              </a:spcAft>
            </a:pPr>
            <a:r>
              <a:rPr sz="1100" b="1">
                <a:solidFill>
                  <a:srgbClr val="2563EB"/>
                </a:solidFill>
                <a:latin typeface="Arial"/>
              </a:rPr>
              <a:t>Uchekwe Uchechukwu Hephzibah</a:t>
            </a:r>
          </a:p>
        </p:txBody>
      </p:sp>
      <p:sp>
        <p:nvSpPr>
          <p:cNvPr id="14" name="Rounded Rectangle 13"/>
          <p:cNvSpPr/>
          <p:nvPr/>
        </p:nvSpPr>
        <p:spPr>
          <a:xfrm>
            <a:off x="548640" y="2798064"/>
            <a:ext cx="6583680" cy="67665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98064"/>
            <a:ext cx="109728"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843784"/>
            <a:ext cx="6217920" cy="329184"/>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Frontend:  </a:t>
            </a:r>
            <a:r>
              <a:rPr sz="1300" b="0">
                <a:solidFill>
                  <a:srgbClr val="334155"/>
                </a:solidFill>
                <a:latin typeface="Arial"/>
              </a:rPr>
              <a:t>Next.js and React screens for every user type</a:t>
            </a:r>
          </a:p>
        </p:txBody>
      </p:sp>
      <p:sp>
        <p:nvSpPr>
          <p:cNvPr id="17" name="TextBox 16"/>
          <p:cNvSpPr txBox="1"/>
          <p:nvPr/>
        </p:nvSpPr>
        <p:spPr>
          <a:xfrm>
            <a:off x="822960" y="3154680"/>
            <a:ext cx="6217920" cy="292608"/>
          </a:xfrm>
          <a:prstGeom prst="rect">
            <a:avLst/>
          </a:prstGeom>
          <a:noFill/>
        </p:spPr>
        <p:txBody>
          <a:bodyPr wrap="square" anchor="t" lIns="45720" rIns="45720"/>
          <a:lstStyle/>
          <a:p>
            <a:pPr algn="l">
              <a:lnSpc>
                <a:spcPct val="100000"/>
              </a:lnSpc>
              <a:spcBef>
                <a:spcPts val="0"/>
              </a:spcBef>
              <a:spcAft>
                <a:spcPts val="0"/>
              </a:spcAft>
            </a:pPr>
            <a:r>
              <a:rPr sz="1100" b="1">
                <a:solidFill>
                  <a:srgbClr val="047857"/>
                </a:solidFill>
                <a:latin typeface="Arial"/>
              </a:rPr>
              <a:t>Chioma Helen Ezeufonna</a:t>
            </a:r>
          </a:p>
        </p:txBody>
      </p:sp>
      <p:sp>
        <p:nvSpPr>
          <p:cNvPr id="18" name="Rounded Rectangle 17"/>
          <p:cNvSpPr/>
          <p:nvPr/>
        </p:nvSpPr>
        <p:spPr>
          <a:xfrm>
            <a:off x="548640" y="3584448"/>
            <a:ext cx="6583680" cy="67665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84448"/>
            <a:ext cx="109728" cy="6766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30168"/>
            <a:ext cx="6217920" cy="329184"/>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Discovery and booking:  </a:t>
            </a:r>
            <a:r>
              <a:rPr sz="1300" b="0">
                <a:solidFill>
                  <a:srgbClr val="334155"/>
                </a:solidFill>
                <a:latin typeface="Arial"/>
              </a:rPr>
              <a:t>Search, profiles, and a clear request workflow</a:t>
            </a:r>
          </a:p>
        </p:txBody>
      </p:sp>
      <p:sp>
        <p:nvSpPr>
          <p:cNvPr id="21" name="TextBox 20"/>
          <p:cNvSpPr txBox="1"/>
          <p:nvPr/>
        </p:nvSpPr>
        <p:spPr>
          <a:xfrm>
            <a:off x="822960" y="3941063"/>
            <a:ext cx="6217920" cy="292608"/>
          </a:xfrm>
          <a:prstGeom prst="rect">
            <a:avLst/>
          </a:prstGeom>
          <a:noFill/>
        </p:spPr>
        <p:txBody>
          <a:bodyPr wrap="square" anchor="t" lIns="45720" rIns="45720"/>
          <a:lstStyle/>
          <a:p>
            <a:pPr algn="l">
              <a:lnSpc>
                <a:spcPct val="100000"/>
              </a:lnSpc>
              <a:spcBef>
                <a:spcPts val="0"/>
              </a:spcBef>
              <a:spcAft>
                <a:spcPts val="0"/>
              </a:spcAft>
            </a:pPr>
            <a:r>
              <a:rPr sz="1100" b="1">
                <a:solidFill>
                  <a:srgbClr val="F59E0B"/>
                </a:solidFill>
                <a:latin typeface="Arial"/>
              </a:rPr>
              <a:t>Uzochukwu Mary Cynthia Enyemakachukwu</a:t>
            </a:r>
          </a:p>
        </p:txBody>
      </p:sp>
      <p:sp>
        <p:nvSpPr>
          <p:cNvPr id="22" name="Rounded Rectangle 21"/>
          <p:cNvSpPr/>
          <p:nvPr/>
        </p:nvSpPr>
        <p:spPr>
          <a:xfrm>
            <a:off x="548640" y="4370832"/>
            <a:ext cx="6583680" cy="67665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370832"/>
            <a:ext cx="109728" cy="676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416552"/>
            <a:ext cx="6217920" cy="329184"/>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Backend:  </a:t>
            </a:r>
            <a:r>
              <a:rPr sz="1300" b="0">
                <a:solidFill>
                  <a:srgbClr val="334155"/>
                </a:solidFill>
                <a:latin typeface="Arial"/>
              </a:rPr>
              <a:t>API routes, bcrypt hashing, and JWT login</a:t>
            </a:r>
          </a:p>
        </p:txBody>
      </p:sp>
      <p:sp>
        <p:nvSpPr>
          <p:cNvPr id="25" name="TextBox 24"/>
          <p:cNvSpPr txBox="1"/>
          <p:nvPr/>
        </p:nvSpPr>
        <p:spPr>
          <a:xfrm>
            <a:off x="822960" y="4727448"/>
            <a:ext cx="6217920" cy="292608"/>
          </a:xfrm>
          <a:prstGeom prst="rect">
            <a:avLst/>
          </a:prstGeom>
          <a:noFill/>
        </p:spPr>
        <p:txBody>
          <a:bodyPr wrap="square" anchor="t" lIns="45720" rIns="45720"/>
          <a:lstStyle/>
          <a:p>
            <a:pPr algn="l">
              <a:lnSpc>
                <a:spcPct val="100000"/>
              </a:lnSpc>
              <a:spcBef>
                <a:spcPts val="0"/>
              </a:spcBef>
              <a:spcAft>
                <a:spcPts val="0"/>
              </a:spcAft>
            </a:pPr>
            <a:r>
              <a:rPr sz="1100" b="1">
                <a:solidFill>
                  <a:srgbClr val="7C3AED"/>
                </a:solidFill>
                <a:latin typeface="Arial"/>
              </a:rPr>
              <a:t>Bodman Ebuka Precous</a:t>
            </a:r>
          </a:p>
        </p:txBody>
      </p:sp>
      <p:sp>
        <p:nvSpPr>
          <p:cNvPr id="26" name="Rounded Rectangle 25"/>
          <p:cNvSpPr/>
          <p:nvPr/>
        </p:nvSpPr>
        <p:spPr>
          <a:xfrm>
            <a:off x="548640" y="5157216"/>
            <a:ext cx="6583680" cy="67665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157216"/>
            <a:ext cx="109728" cy="67665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02936"/>
            <a:ext cx="6217920" cy="329184"/>
          </a:xfrm>
          <a:prstGeom prst="rect">
            <a:avLst/>
          </a:prstGeom>
          <a:noFill/>
        </p:spPr>
        <p:txBody>
          <a:bodyPr wrap="square" anchor="t" lIns="45720" rIns="45720"/>
          <a:lstStyle/>
          <a:p>
            <a:pPr algn="l">
              <a:lnSpc>
                <a:spcPct val="100000"/>
              </a:lnSpc>
              <a:spcBef>
                <a:spcPts val="0"/>
              </a:spcBef>
              <a:spcAft>
                <a:spcPts val="0"/>
              </a:spcAft>
            </a:pPr>
            <a:r>
              <a:rPr sz="1300" b="1">
                <a:solidFill>
                  <a:srgbClr val="1E3A8A"/>
                </a:solidFill>
                <a:latin typeface="Arial"/>
              </a:rPr>
              <a:t>Database and deployment:  </a:t>
            </a:r>
            <a:r>
              <a:rPr sz="1300" b="0">
                <a:solidFill>
                  <a:srgbClr val="334155"/>
                </a:solidFill>
                <a:latin typeface="Arial"/>
              </a:rPr>
              <a:t>Neon PostgreSQL, Vercel, and a clear list of gaps</a:t>
            </a:r>
          </a:p>
        </p:txBody>
      </p:sp>
      <p:sp>
        <p:nvSpPr>
          <p:cNvPr id="29" name="TextBox 28"/>
          <p:cNvSpPr txBox="1"/>
          <p:nvPr/>
        </p:nvSpPr>
        <p:spPr>
          <a:xfrm>
            <a:off x="822960" y="5513832"/>
            <a:ext cx="6217920" cy="292608"/>
          </a:xfrm>
          <a:prstGeom prst="rect">
            <a:avLst/>
          </a:prstGeom>
          <a:noFill/>
        </p:spPr>
        <p:txBody>
          <a:bodyPr wrap="square" anchor="t" lIns="45720" rIns="45720"/>
          <a:lstStyle/>
          <a:p>
            <a:pPr algn="l">
              <a:lnSpc>
                <a:spcPct val="100000"/>
              </a:lnSpc>
              <a:spcBef>
                <a:spcPts val="0"/>
              </a:spcBef>
              <a:spcAft>
                <a:spcPts val="0"/>
              </a:spcAft>
            </a:pPr>
            <a:r>
              <a:rPr sz="1100" b="1">
                <a:solidFill>
                  <a:srgbClr val="0D9488"/>
                </a:solidFill>
                <a:latin typeface="Arial"/>
              </a:rPr>
              <a:t>Pius Kaosisochukwu Aminie</a:t>
            </a:r>
          </a:p>
        </p:txBody>
      </p:sp>
      <p:sp>
        <p:nvSpPr>
          <p:cNvPr id="30" name="Rounded Rectangle 29"/>
          <p:cNvSpPr/>
          <p:nvPr/>
        </p:nvSpPr>
        <p:spPr>
          <a:xfrm>
            <a:off x="7498079" y="1600200"/>
            <a:ext cx="4142232" cy="4434840"/>
          </a:xfrm>
          <a:prstGeom prst="roundRect">
            <a:avLst>
              <a:gd name="adj" fmla="val 5000"/>
            </a:avLst>
          </a:prstGeom>
          <a:solidFill>
            <a:srgbClr val="0B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0" y="2103120"/>
            <a:ext cx="3566160" cy="731520"/>
          </a:xfrm>
          <a:prstGeom prst="rect">
            <a:avLst/>
          </a:prstGeom>
          <a:noFill/>
        </p:spPr>
        <p:txBody>
          <a:bodyPr wrap="square" anchor="t" lIns="45720" rIns="45720"/>
          <a:lstStyle/>
          <a:p>
            <a:pPr algn="l">
              <a:lnSpc>
                <a:spcPct val="100000"/>
              </a:lnSpc>
              <a:spcBef>
                <a:spcPts val="0"/>
              </a:spcBef>
              <a:spcAft>
                <a:spcPts val="1000"/>
              </a:spcAft>
            </a:pPr>
            <a:r>
              <a:rPr sz="3000" b="1">
                <a:solidFill>
                  <a:srgbClr val="FFFFFF"/>
                </a:solidFill>
                <a:latin typeface="Arial"/>
              </a:rPr>
              <a:t>Thank you</a:t>
            </a:r>
          </a:p>
        </p:txBody>
      </p:sp>
      <p:sp>
        <p:nvSpPr>
          <p:cNvPr id="32" name="TextBox 31"/>
          <p:cNvSpPr txBox="1"/>
          <p:nvPr/>
        </p:nvSpPr>
        <p:spPr>
          <a:xfrm>
            <a:off x="7772400" y="2926080"/>
            <a:ext cx="3611880" cy="1463040"/>
          </a:xfrm>
          <a:prstGeom prst="rect">
            <a:avLst/>
          </a:prstGeom>
          <a:noFill/>
        </p:spPr>
        <p:txBody>
          <a:bodyPr wrap="square" anchor="t" lIns="45720" rIns="45720"/>
          <a:lstStyle/>
          <a:p>
            <a:pPr algn="l">
              <a:lnSpc>
                <a:spcPct val="100000"/>
              </a:lnSpc>
              <a:spcBef>
                <a:spcPts val="0"/>
              </a:spcBef>
              <a:spcAft>
                <a:spcPts val="0"/>
              </a:spcAft>
            </a:pPr>
            <a:r>
              <a:rPr sz="1500" b="0">
                <a:solidFill>
                  <a:srgbClr val="CBD5E1"/>
                </a:solidFill>
                <a:latin typeface="Arial"/>
              </a:rPr>
              <a:t>Thank you for listening. Our team is happy to take your questions.</a:t>
            </a:r>
          </a:p>
        </p:txBody>
      </p:sp>
      <p:sp>
        <p:nvSpPr>
          <p:cNvPr id="33" name="Rounded Rectangle 32"/>
          <p:cNvSpPr/>
          <p:nvPr/>
        </p:nvSpPr>
        <p:spPr>
          <a:xfrm>
            <a:off x="7772400" y="4572000"/>
            <a:ext cx="3566160" cy="1097280"/>
          </a:xfrm>
          <a:prstGeom prst="roundRect">
            <a:avLst>
              <a:gd name="adj" fmla="val 1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FFFFFF"/>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